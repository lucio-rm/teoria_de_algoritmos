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roxima Nova"/>
      <p:regular r:id="rId29"/>
      <p:bold r:id="rId30"/>
      <p:italic r:id="rId31"/>
      <p:boldItalic r:id="rId32"/>
    </p:embeddedFont>
    <p:embeddedFont>
      <p:font typeface="Old Standard TT"/>
      <p:regular r:id="rId33"/>
      <p:bold r:id="rId34"/>
      <p: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386A26-9171-42B4-A062-E9DC43A40066}">
  <a:tblStyle styleId="{AD386A26-9171-42B4-A062-E9DC43A400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roximaNova-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roximaNova-italic.fntdata"/><Relationship Id="rId30" Type="http://schemas.openxmlformats.org/officeDocument/2006/relationships/font" Target="fonts/ProximaNova-bold.fntdata"/><Relationship Id="rId11" Type="http://schemas.openxmlformats.org/officeDocument/2006/relationships/slide" Target="slides/slide5.xml"/><Relationship Id="rId33" Type="http://schemas.openxmlformats.org/officeDocument/2006/relationships/font" Target="fonts/OldStandardTT-regular.fntdata"/><Relationship Id="rId10" Type="http://schemas.openxmlformats.org/officeDocument/2006/relationships/slide" Target="slides/slide4.xml"/><Relationship Id="rId32" Type="http://schemas.openxmlformats.org/officeDocument/2006/relationships/font" Target="fonts/ProximaNova-boldItalic.fntdata"/><Relationship Id="rId13" Type="http://schemas.openxmlformats.org/officeDocument/2006/relationships/slide" Target="slides/slide7.xml"/><Relationship Id="rId35" Type="http://schemas.openxmlformats.org/officeDocument/2006/relationships/font" Target="fonts/OldStandardTT-italic.fntdata"/><Relationship Id="rId12" Type="http://schemas.openxmlformats.org/officeDocument/2006/relationships/slide" Target="slides/slide6.xml"/><Relationship Id="rId34" Type="http://schemas.openxmlformats.org/officeDocument/2006/relationships/font" Target="fonts/OldStandardTT-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e3612a4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e3612a4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3b8522c0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3b8522c0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3b8522c09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3b8522c0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a4c60dd1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a4c60dd1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76c44188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76c44188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a4c60dd12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a4c60dd12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3b8522c09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3b8522c09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b8522c09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3b8522c09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atado a eventuales modificaciones que serán informadas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dcdc5bde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dcdc5bde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3ba2656a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3ba2656a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a4c60dd12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a4c60dd12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9f55823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9f55823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e9f55823a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e9f55823a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b8522c09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b8522c09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dd79a592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dd79a59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3b8522c09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3b8522c09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ddd3d7db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ddd3d7db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99ea9cf9d9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99ea9cf9d9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da5c0ce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da5c0ce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680d29a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680d29a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52b7bd35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52b7bd35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lgoritmos-rw.github.io/tda_b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oogle.com/spreadsheets/u/1/d/e/2PACX-1vTmgWg5IR_ZmUdKLa8AeVsEUVpWSkVrLkEgHJOMuorOnDX8r58kiAXjUYV33BjfuYvBxMcVxhIjlKnu/pubhtml?gid=179168072&amp;single=tru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rive.google.com/drive/u/3/folders/1DtGSvPMobzgZwtzuqvWLu8Ed-K-f9Q5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myrpl.ar/" TargetMode="External"/><Relationship Id="rId4" Type="http://schemas.openxmlformats.org/officeDocument/2006/relationships/hyperlink" Target="https://docs.google.com/document/d/1NKvKERKkDekM-mFw5rC3GuKwmRmRBtNHKSiDBauYnuw/edi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myrpl.a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Bienvenida - 2026C1</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pic>
        <p:nvPicPr>
          <p:cNvPr id="62" name="Google Shape;62;p13"/>
          <p:cNvPicPr preferRelativeResize="0"/>
          <p:nvPr/>
        </p:nvPicPr>
        <p:blipFill>
          <a:blip r:embed="rId4">
            <a:alphaModFix/>
          </a:blip>
          <a:stretch>
            <a:fillRect/>
          </a:stretch>
        </p:blipFill>
        <p:spPr>
          <a:xfrm>
            <a:off x="5620517" y="1709525"/>
            <a:ext cx="3519835" cy="2639876"/>
          </a:xfrm>
          <a:prstGeom prst="rect">
            <a:avLst/>
          </a:prstGeom>
          <a:noFill/>
          <a:ln>
            <a:noFill/>
          </a:ln>
        </p:spPr>
      </p:pic>
      <p:sp>
        <p:nvSpPr>
          <p:cNvPr id="63" name="Google Shape;63;p13"/>
          <p:cNvSpPr txBox="1"/>
          <p:nvPr/>
        </p:nvSpPr>
        <p:spPr>
          <a:xfrm>
            <a:off x="5521200" y="1093925"/>
            <a:ext cx="362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Foto exclusiva de la gente anotándose a TDA:</a:t>
            </a:r>
            <a:endParaRPr>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momento que todos estábamos esperando</a:t>
            </a:r>
            <a:endParaRPr/>
          </a:p>
        </p:txBody>
      </p:sp>
      <p:pic>
        <p:nvPicPr>
          <p:cNvPr id="69" name="Google Shape;69;p14"/>
          <p:cNvPicPr preferRelativeResize="0"/>
          <p:nvPr/>
        </p:nvPicPr>
        <p:blipFill>
          <a:blip r:embed="rId3">
            <a:alphaModFix/>
          </a:blip>
          <a:stretch>
            <a:fillRect/>
          </a:stretch>
        </p:blipFill>
        <p:spPr>
          <a:xfrm>
            <a:off x="1211578" y="1210625"/>
            <a:ext cx="6720845" cy="3780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van a ser las clases?</a:t>
            </a:r>
            <a:endParaRPr/>
          </a:p>
        </p:txBody>
      </p:sp>
      <p:sp>
        <p:nvSpPr>
          <p:cNvPr id="75" name="Google Shape;75;p1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bien en sí la materia es bastante teórica, vamos a tratar de darle un enfoque teórico-práctico. </a:t>
            </a:r>
            <a:endParaRPr/>
          </a:p>
          <a:p>
            <a:pPr indent="0" lvl="0" marL="0" rtl="0" algn="l">
              <a:spcBef>
                <a:spcPts val="1600"/>
              </a:spcBef>
              <a:spcAft>
                <a:spcPts val="0"/>
              </a:spcAft>
              <a:buNone/>
            </a:pPr>
            <a:r>
              <a:rPr lang="es"/>
              <a:t>Clases Teórico-Prácticas</a:t>
            </a:r>
            <a:endParaRPr/>
          </a:p>
          <a:p>
            <a:pPr indent="0" lvl="0" marL="0" rtl="0" algn="l">
              <a:spcBef>
                <a:spcPts val="1600"/>
              </a:spcBef>
              <a:spcAft>
                <a:spcPts val="0"/>
              </a:spcAft>
              <a:buNone/>
            </a:pPr>
            <a:r>
              <a:rPr lang="es"/>
              <a:t>No hay régimen de asistencia, pero recomendamos estar</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Lunes de 17 a 20 virtual</a:t>
            </a:r>
            <a:endParaRPr/>
          </a:p>
          <a:p>
            <a:pPr indent="0" lvl="0" marL="0" rtl="0" algn="l">
              <a:spcBef>
                <a:spcPts val="1600"/>
              </a:spcBef>
              <a:spcAft>
                <a:spcPts val="1600"/>
              </a:spcAft>
              <a:buClr>
                <a:schemeClr val="dk1"/>
              </a:buClr>
              <a:buSzPts val="1100"/>
              <a:buFont typeface="Arial"/>
              <a:buNone/>
            </a:pPr>
            <a:r>
              <a:rPr lang="es"/>
              <a:t>Mi</a:t>
            </a:r>
            <a:r>
              <a:rPr lang="es"/>
              <a:t>ércoles</a:t>
            </a:r>
            <a:r>
              <a:rPr lang="es"/>
              <a:t> de 17 a 20 presencial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Página de la materia</a:t>
            </a:r>
            <a:endParaRPr/>
          </a:p>
        </p:txBody>
      </p:sp>
      <p:sp>
        <p:nvSpPr>
          <p:cNvPr id="81" name="Google Shape;81;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u="sng">
                <a:solidFill>
                  <a:schemeClr val="hlink"/>
                </a:solidFill>
                <a:hlinkClick r:id="rId3"/>
              </a:rPr>
              <a:t>https://algoritmos-rw.github.io/tda_bg/</a:t>
            </a:r>
            <a:r>
              <a:rPr lang="e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Régimen de la materia</a:t>
            </a:r>
            <a:endParaRPr/>
          </a:p>
        </p:txBody>
      </p:sp>
      <p:sp>
        <p:nvSpPr>
          <p:cNvPr id="87" name="Google Shape;87;p1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Tienen que tener Algoritmos y Estructuras de Datos </a:t>
            </a:r>
            <a:r>
              <a:rPr b="1" lang="es"/>
              <a:t>aprobada</a:t>
            </a:r>
            <a:r>
              <a:rPr lang="es"/>
              <a:t> para poder cursar (idem intro)... y recomendamos fuertemente </a:t>
            </a:r>
            <a:r>
              <a:rPr lang="es"/>
              <a:t>álgebra.</a:t>
            </a:r>
            <a:endParaRPr/>
          </a:p>
          <a:p>
            <a:pPr indent="-342900" lvl="0" marL="457200" rtl="0" algn="l">
              <a:spcBef>
                <a:spcPts val="0"/>
              </a:spcBef>
              <a:spcAft>
                <a:spcPts val="0"/>
              </a:spcAft>
              <a:buSzPts val="1800"/>
              <a:buChar char="-"/>
            </a:pPr>
            <a:r>
              <a:rPr lang="es"/>
              <a:t>TP0</a:t>
            </a:r>
            <a:endParaRPr/>
          </a:p>
          <a:p>
            <a:pPr indent="-342900" lvl="0" marL="457200" rtl="0" algn="l">
              <a:spcBef>
                <a:spcPts val="0"/>
              </a:spcBef>
              <a:spcAft>
                <a:spcPts val="0"/>
              </a:spcAft>
              <a:buSzPts val="1800"/>
              <a:buChar char="-"/>
            </a:pPr>
            <a:r>
              <a:rPr lang="es"/>
              <a:t>3 TPs → Pueden reentregar hasta fecha límite</a:t>
            </a:r>
            <a:endParaRPr/>
          </a:p>
          <a:p>
            <a:pPr indent="-342900" lvl="0" marL="457200" rtl="0" algn="l">
              <a:spcBef>
                <a:spcPts val="0"/>
              </a:spcBef>
              <a:spcAft>
                <a:spcPts val="0"/>
              </a:spcAft>
              <a:buSzPts val="1800"/>
              <a:buChar char="-"/>
            </a:pPr>
            <a:r>
              <a:rPr lang="es"/>
              <a:t>TPs grupales, de a 3. </a:t>
            </a:r>
            <a:endParaRPr/>
          </a:p>
          <a:p>
            <a:pPr indent="-342900" lvl="0" marL="457200" rtl="0" algn="l">
              <a:spcBef>
                <a:spcPts val="0"/>
              </a:spcBef>
              <a:spcAft>
                <a:spcPts val="0"/>
              </a:spcAft>
              <a:buSzPts val="1800"/>
              <a:buChar char="-"/>
            </a:pPr>
            <a:r>
              <a:rPr lang="es"/>
              <a:t>TPs → nos mandan link a repo (informe PDF). Informe de TPs en Latex. Les dejamos un template. </a:t>
            </a:r>
            <a:endParaRPr/>
          </a:p>
          <a:p>
            <a:pPr indent="-342900" lvl="0" marL="457200" rtl="0" algn="l">
              <a:spcBef>
                <a:spcPts val="0"/>
              </a:spcBef>
              <a:spcAft>
                <a:spcPts val="0"/>
              </a:spcAft>
              <a:buSzPts val="1800"/>
              <a:buChar char="-"/>
            </a:pPr>
            <a:r>
              <a:rPr lang="es"/>
              <a:t>Parciales: </a:t>
            </a:r>
            <a:r>
              <a:rPr lang="es"/>
              <a:t>7</a:t>
            </a:r>
            <a:r>
              <a:rPr lang="es"/>
              <a:t> temas que deben aprobar al menos 5 (2 recuperatorios por tema). Algunos ejercicios obligatorios de diferentes temas (RPL). </a:t>
            </a:r>
            <a:endParaRPr/>
          </a:p>
          <a:p>
            <a:pPr indent="-342900" lvl="0" marL="457200" rtl="0" algn="l">
              <a:spcBef>
                <a:spcPts val="0"/>
              </a:spcBef>
              <a:spcAft>
                <a:spcPts val="0"/>
              </a:spcAft>
              <a:buSzPts val="1800"/>
              <a:buChar char="-"/>
            </a:pPr>
            <a:r>
              <a:rPr lang="es"/>
              <a:t>Nota de la materia: 70% parcial, 30% TPs.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Effect filter="fade" transition="in">
                                      <p:cBhvr>
                                        <p:cTn dur="1000"/>
                                        <p:tgtEl>
                                          <p:spTgt spid="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animEffect filter="fade" transition="in">
                                      <p:cBhvr>
                                        <p:cTn dur="1000"/>
                                        <p:tgtEl>
                                          <p:spTgt spid="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animEffect filter="fade" transition="in">
                                      <p:cBhvr>
                                        <p:cTn dur="1000"/>
                                        <p:tgtEl>
                                          <p:spTgt spid="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animEffect filter="fade" transition="in">
                                      <p:cBhvr>
                                        <p:cTn dur="1000"/>
                                        <p:tgtEl>
                                          <p:spTgt spid="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animEffect filter="fade" transition="in">
                                      <p:cBhvr>
                                        <p:cTn dur="1000"/>
                                        <p:tgtEl>
                                          <p:spTgt spid="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animEffect filter="fade" transition="in">
                                      <p:cBhvr>
                                        <p:cTn dur="1000"/>
                                        <p:tgtEl>
                                          <p:spTgt spid="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animEffect filter="fade" transition="in">
                                      <p:cBhvr>
                                        <p:cTn dur="1000"/>
                                        <p:tgtEl>
                                          <p:spTgt spid="8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TPs</a:t>
            </a:r>
            <a:endParaRPr/>
          </a:p>
        </p:txBody>
      </p:sp>
      <p:sp>
        <p:nvSpPr>
          <p:cNvPr id="93" name="Google Shape;93;p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general, un problema un poco más complejo que lo que se tomaría en un parcial, donde esperamos algunos análisis más profundos y técnicos. A nivel código no suele ser muchas líneas de código, el tema es la expresión del análisis hecho según las técnicas vistas, y otras cosas más.</a:t>
            </a:r>
            <a:endParaRPr/>
          </a:p>
          <a:p>
            <a:pPr indent="0" lvl="0" marL="0" rtl="0" algn="l">
              <a:spcBef>
                <a:spcPts val="1600"/>
              </a:spcBef>
              <a:spcAft>
                <a:spcPts val="0"/>
              </a:spcAft>
              <a:buNone/>
            </a:pPr>
            <a:r>
              <a:rPr lang="es"/>
              <a:t>Mención: salvo excepciones, en caso de tener que reentregar, la nota máxima es un 8 (si entregan fuera de fecha, se considera como reentrega directa, salvo que sea uno o dos días de diferencia). A más reentrega/demora, más baja la nota. </a:t>
            </a:r>
            <a:endParaRPr/>
          </a:p>
          <a:p>
            <a:pPr indent="0" lvl="0" marL="0" rtl="0" algn="l">
              <a:spcBef>
                <a:spcPts val="1600"/>
              </a:spcBef>
              <a:spcAft>
                <a:spcPts val="0"/>
              </a:spcAft>
              <a:buNone/>
            </a:pPr>
            <a:r>
              <a:rPr lang="es"/>
              <a:t>A partir de 2026C1: se minimiza lo que es obligatorio para aprobar.</a:t>
            </a:r>
            <a:endParaRPr/>
          </a:p>
          <a:p>
            <a:pPr indent="0" lvl="0" marL="0" rtl="0" algn="l">
              <a:spcBef>
                <a:spcPts val="1600"/>
              </a:spcBef>
              <a:spcAft>
                <a:spcPts val="1600"/>
              </a:spcAft>
              <a:buNone/>
            </a:pPr>
            <a:r>
              <a:rPr lang="es"/>
              <a:t>Si no se entrega algo obligatorio para la fecha de entrega, no se puede entregar luego (el tp no se hace en cuotas)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Parciales</a:t>
            </a:r>
            <a:endParaRPr/>
          </a:p>
        </p:txBody>
      </p:sp>
      <p:sp>
        <p:nvSpPr>
          <p:cNvPr id="99" name="Google Shape;99;p1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Hay 2 parciales. </a:t>
            </a:r>
            <a:r>
              <a:rPr lang="es"/>
              <a:t>En cada examen entran 4 y 3 temas respectivamente (1 ejercicio por tema). Cada examen dura 3 horas. </a:t>
            </a:r>
            <a:endParaRPr/>
          </a:p>
          <a:p>
            <a:pPr indent="0" lvl="0" marL="0" rtl="0" algn="l">
              <a:spcBef>
                <a:spcPts val="1600"/>
              </a:spcBef>
              <a:spcAft>
                <a:spcPts val="0"/>
              </a:spcAft>
              <a:buNone/>
            </a:pPr>
            <a:r>
              <a:rPr lang="es"/>
              <a:t>El parcial no “se aprueba”. Se aprueban los temas.</a:t>
            </a:r>
            <a:endParaRPr/>
          </a:p>
          <a:p>
            <a:pPr indent="0" lvl="0" marL="0" rtl="0" algn="l">
              <a:spcBef>
                <a:spcPts val="1600"/>
              </a:spcBef>
              <a:spcAft>
                <a:spcPts val="0"/>
              </a:spcAft>
              <a:buNone/>
            </a:pPr>
            <a:r>
              <a:rPr lang="es"/>
              <a:t>Cada examen tiene 1 recuperatorio (recuperan por tema). </a:t>
            </a:r>
            <a:endParaRPr/>
          </a:p>
          <a:p>
            <a:pPr indent="0" lvl="0" marL="0" rtl="0" algn="l">
              <a:spcBef>
                <a:spcPts val="1600"/>
              </a:spcBef>
              <a:spcAft>
                <a:spcPts val="0"/>
              </a:spcAft>
              <a:buNone/>
            </a:pPr>
            <a:r>
              <a:rPr lang="es"/>
              <a:t>Deben tener </a:t>
            </a:r>
            <a:r>
              <a:rPr lang="es" u="sng"/>
              <a:t>al menos</a:t>
            </a:r>
            <a:r>
              <a:rPr lang="es"/>
              <a:t> 5 temas aprobados para aprobar la materia. </a:t>
            </a:r>
            <a:endParaRPr/>
          </a:p>
          <a:p>
            <a:pPr indent="0" lvl="0" marL="0" rtl="0" algn="l">
              <a:spcBef>
                <a:spcPts val="1600"/>
              </a:spcBef>
              <a:spcAft>
                <a:spcPts val="0"/>
              </a:spcAft>
              <a:buNone/>
            </a:pPr>
            <a:r>
              <a:rPr lang="es"/>
              <a:t>Hay una f</a:t>
            </a:r>
            <a:r>
              <a:rPr lang="es"/>
              <a:t>órmula</a:t>
            </a:r>
            <a:r>
              <a:rPr lang="es"/>
              <a:t> de conversión de “B, B-, M, R, …” a nota de los exámenes. </a:t>
            </a:r>
            <a:endParaRPr/>
          </a:p>
          <a:p>
            <a:pPr indent="0" lvl="0" marL="0" rtl="0" algn="l">
              <a:spcBef>
                <a:spcPts val="1600"/>
              </a:spcBef>
              <a:spcAft>
                <a:spcPts val="1600"/>
              </a:spcAft>
              <a:buNone/>
            </a:pPr>
            <a:r>
              <a:rPr lang="es"/>
              <a:t>Pueden venir a recuperar para subir nota, </a:t>
            </a:r>
            <a:r>
              <a:rPr b="1" lang="es"/>
              <a:t>sin temor a bajarla</a:t>
            </a:r>
            <a:r>
              <a:rPr lang="es"/>
              <a:t>. O si vienen a recuperar otro, ya que están pueden hacer algo que tenían B= tranquilamente.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Bibliografía</a:t>
            </a:r>
            <a:endParaRPr/>
          </a:p>
        </p:txBody>
      </p:sp>
      <p:sp>
        <p:nvSpPr>
          <p:cNvPr id="105" name="Google Shape;105;p2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
              <a:t>Algorithms Design </a:t>
            </a:r>
            <a:r>
              <a:rPr lang="es"/>
              <a:t>– Kleinberg, Tardos</a:t>
            </a:r>
            <a:endParaRPr/>
          </a:p>
          <a:p>
            <a:pPr indent="-342900" lvl="0" marL="457200" rtl="0" algn="l">
              <a:spcBef>
                <a:spcPts val="0"/>
              </a:spcBef>
              <a:spcAft>
                <a:spcPts val="0"/>
              </a:spcAft>
              <a:buSzPts val="1800"/>
              <a:buChar char="-"/>
            </a:pPr>
            <a:r>
              <a:rPr b="1" lang="es"/>
              <a:t>Introduction to Algorithms </a:t>
            </a:r>
            <a:r>
              <a:rPr lang="es"/>
              <a:t>(4th edition) - Cormen, Leiserson, Rivest, Stein</a:t>
            </a:r>
            <a:endParaRPr/>
          </a:p>
          <a:p>
            <a:pPr indent="-342900" lvl="0" marL="457200" rtl="0" algn="l">
              <a:spcBef>
                <a:spcPts val="0"/>
              </a:spcBef>
              <a:spcAft>
                <a:spcPts val="0"/>
              </a:spcAft>
              <a:buSzPts val="1800"/>
              <a:buChar char="-"/>
            </a:pPr>
            <a:r>
              <a:rPr b="1" lang="es"/>
              <a:t>Introduction to Theory of Computation </a:t>
            </a:r>
            <a:r>
              <a:rPr lang="es"/>
              <a:t>(3rd edition) – Sipser</a:t>
            </a:r>
            <a:endParaRPr/>
          </a:p>
          <a:p>
            <a:pPr indent="-342900" lvl="0" marL="457200" rtl="0" algn="l">
              <a:spcBef>
                <a:spcPts val="0"/>
              </a:spcBef>
              <a:spcAft>
                <a:spcPts val="0"/>
              </a:spcAft>
              <a:buSzPts val="1800"/>
              <a:buChar char="-"/>
            </a:pPr>
            <a:r>
              <a:rPr b="1" lang="es"/>
              <a:t>The Algorithms Design Manual</a:t>
            </a:r>
            <a:r>
              <a:rPr lang="es"/>
              <a:t> (3rd edition) –  Skiena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3"/>
              </a:rPr>
              <a:t>Calendario</a:t>
            </a:r>
            <a:endParaRPr/>
          </a:p>
        </p:txBody>
      </p:sp>
      <p:sp>
        <p:nvSpPr>
          <p:cNvPr id="111" name="Google Shape;111;p2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calendario detallado incluye bibliografía de cada uno de los temas. Incluye fechas de publicación, entrega y vencimiento (fecha final de aprobación) de cada TP.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Drive clases</a:t>
            </a:r>
            <a:endParaRPr/>
          </a:p>
        </p:txBody>
      </p:sp>
      <p:sp>
        <p:nvSpPr>
          <p:cNvPr id="117" name="Google Shape;117;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u="sng">
                <a:solidFill>
                  <a:schemeClr val="hlink"/>
                </a:solidFill>
                <a:hlinkClick r:id="rId3"/>
              </a:rPr>
              <a:t>Link acá</a:t>
            </a:r>
            <a:r>
              <a:rPr lang="es"/>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Guía de ejercicios</a:t>
            </a:r>
            <a:endParaRPr/>
          </a:p>
        </p:txBody>
      </p:sp>
      <p:sp>
        <p:nvSpPr>
          <p:cNvPr id="123" name="Google Shape;123;p2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Está en la página.</a:t>
            </a:r>
            <a:endParaRPr/>
          </a:p>
          <a:p>
            <a:pPr indent="0" lvl="0" marL="0" rtl="0" algn="l">
              <a:spcBef>
                <a:spcPts val="1600"/>
              </a:spcBef>
              <a:spcAft>
                <a:spcPts val="0"/>
              </a:spcAft>
              <a:buNone/>
            </a:pPr>
            <a:r>
              <a:rPr lang="es"/>
              <a:t>Aparte fuimos poniendo algunos (casi todos?) ejercicios en </a:t>
            </a:r>
            <a:r>
              <a:rPr lang="es" u="sng">
                <a:solidFill>
                  <a:schemeClr val="hlink"/>
                </a:solidFill>
                <a:hlinkClick r:id="rId3"/>
              </a:rPr>
              <a:t>RPL</a:t>
            </a:r>
            <a:r>
              <a:rPr lang="es"/>
              <a:t>.</a:t>
            </a:r>
            <a:endParaRPr/>
          </a:p>
          <a:p>
            <a:pPr indent="0" lvl="0" marL="0" rtl="0" algn="l">
              <a:spcBef>
                <a:spcPts val="1600"/>
              </a:spcBef>
              <a:spcAft>
                <a:spcPts val="1600"/>
              </a:spcAft>
              <a:buNone/>
            </a:pPr>
            <a:r>
              <a:rPr lang="es"/>
              <a:t>Aparte → </a:t>
            </a:r>
            <a:r>
              <a:rPr lang="es" u="sng">
                <a:solidFill>
                  <a:schemeClr val="hlink"/>
                </a:solidFill>
                <a:hlinkClick r:id="rId4"/>
              </a:rPr>
              <a:t>Guía de Víctor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Ejercicios Obligatorios</a:t>
            </a:r>
            <a:endParaRPr/>
          </a:p>
        </p:txBody>
      </p:sp>
      <p:sp>
        <p:nvSpPr>
          <p:cNvPr id="129" name="Google Shape;129;p2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Esperamos que practiquen, y que una vez term</a:t>
            </a:r>
            <a:r>
              <a:rPr lang="es"/>
              <a:t>inada la clase de un tema, hagan una mínima práctica del tema. En el calendario está el ejercicio que esperamos que hagan luego de esa clase.</a:t>
            </a:r>
            <a:endParaRPr/>
          </a:p>
          <a:p>
            <a:pPr indent="0" lvl="0" marL="0" rtl="0" algn="l">
              <a:spcBef>
                <a:spcPts val="1600"/>
              </a:spcBef>
              <a:spcAft>
                <a:spcPts val="1600"/>
              </a:spcAft>
              <a:buNone/>
            </a:pPr>
            <a:r>
              <a:rPr lang="es"/>
              <a:t>Esos ejercicios deben estar hechos para antes de la fecha límite (son pocos ejercicios). Esa fecha coincide con una clase de pura práctica de ese tema, lo cual asegura que hayan practicado algo antes de esa clase.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u="sng"/>
              <a:t>IMPORTANTE: Practiquen</a:t>
            </a:r>
            <a:endParaRPr b="1" u="sng"/>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Cuestionarios opcionales</a:t>
            </a:r>
            <a:endParaRPr/>
          </a:p>
        </p:txBody>
      </p:sp>
      <p:sp>
        <p:nvSpPr>
          <p:cNvPr id="140" name="Google Shape;140;p2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cada tema del parcial hay un cuestionario opcional (autoevaluación, si quieren), recomendamos mucho hacerlos, porque en el curso anual destapó algunas cosas que creían que habían entendido, y al final no!</a:t>
            </a:r>
            <a:endParaRPr/>
          </a:p>
          <a:p>
            <a:pPr indent="0" lvl="0" marL="0" rtl="0" algn="l">
              <a:spcBef>
                <a:spcPts val="1600"/>
              </a:spcBef>
              <a:spcAft>
                <a:spcPts val="1600"/>
              </a:spcAft>
              <a:buNone/>
            </a:pPr>
            <a:r>
              <a:rPr lang="es"/>
              <a:t>Todos en el drive de la materia para que hagan cuando gusten. Recomendamos hacerlos una vez terminadas las clases de cada tema.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aclaración necesaria</a:t>
            </a:r>
            <a:endParaRPr/>
          </a:p>
        </p:txBody>
      </p:sp>
      <p:sp>
        <p:nvSpPr>
          <p:cNvPr id="146" name="Google Shape;146;p2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se copian, hay tabla.</a:t>
            </a:r>
            <a:endParaRPr/>
          </a:p>
          <a:p>
            <a:pPr indent="0" lvl="0" marL="0" rtl="0" algn="l">
              <a:spcBef>
                <a:spcPts val="1600"/>
              </a:spcBef>
              <a:spcAft>
                <a:spcPts val="1600"/>
              </a:spcAft>
              <a:buNone/>
            </a:pPr>
            <a:r>
              <a:rPr lang="es"/>
              <a:t>En serio.</a:t>
            </a:r>
            <a:endParaRPr/>
          </a:p>
        </p:txBody>
      </p:sp>
      <p:pic>
        <p:nvPicPr>
          <p:cNvPr id="147" name="Google Shape;147;p27"/>
          <p:cNvPicPr preferRelativeResize="0"/>
          <p:nvPr/>
        </p:nvPicPr>
        <p:blipFill>
          <a:blip r:embed="rId3">
            <a:alphaModFix/>
          </a:blip>
          <a:stretch>
            <a:fillRect/>
          </a:stretch>
        </p:blipFill>
        <p:spPr>
          <a:xfrm>
            <a:off x="4650750" y="1092063"/>
            <a:ext cx="3556275" cy="3556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aclaración necesaria II</a:t>
            </a:r>
            <a:endParaRPr/>
          </a:p>
        </p:txBody>
      </p:sp>
      <p:sp>
        <p:nvSpPr>
          <p:cNvPr id="153" name="Google Shape;153;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Laburen en Linux/Unix. Si algo no anda por hacer cualquiera, van a reentrega. Corta la bocha.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Tarea: Formulario de inicio de cursada!</a:t>
            </a:r>
            <a:endParaRPr/>
          </a:p>
        </p:txBody>
      </p:sp>
      <p:sp>
        <p:nvSpPr>
          <p:cNvPr id="159" name="Google Shape;159;p2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TODOS </a:t>
            </a:r>
            <a:r>
              <a:rPr lang="es"/>
              <a:t>tienen que llenarlo. </a:t>
            </a:r>
            <a:r>
              <a:rPr lang="es" u="sng"/>
              <a:t>YA</a:t>
            </a:r>
            <a:r>
              <a:rPr lang="es"/>
              <a:t>.</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TP0 → </a:t>
            </a:r>
            <a:r>
              <a:rPr lang="es" u="sng">
                <a:solidFill>
                  <a:schemeClr val="hlink"/>
                </a:solidFill>
                <a:hlinkClick r:id="rId3"/>
              </a:rPr>
              <a:t>RPL</a:t>
            </a:r>
            <a:endParaRPr/>
          </a:p>
        </p:txBody>
      </p:sp>
      <p:sp>
        <p:nvSpPr>
          <p:cNvPr id="165" name="Google Shape;165;p3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¿Por qué un TP0?</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Proxima Nova"/>
                <a:ea typeface="Proxima Nova"/>
                <a:cs typeface="Proxima Nova"/>
                <a:sym typeface="Proxima Nova"/>
              </a:rPr>
              <a:t>¿Qué es lo que vamos a ver en la materia?</a:t>
            </a:r>
            <a:endParaRPr>
              <a:latin typeface="Proxima Nova"/>
              <a:ea typeface="Proxima Nova"/>
              <a:cs typeface="Proxima Nova"/>
              <a:sym typeface="Proxima Nova"/>
            </a:endParaRPr>
          </a:p>
        </p:txBody>
      </p:sp>
      <p:sp>
        <p:nvSpPr>
          <p:cNvPr id="171" name="Google Shape;171;p3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Algunos fundamentos matemáticos que se perdieron por no tener Discreta.</a:t>
            </a:r>
            <a:endParaRPr/>
          </a:p>
          <a:p>
            <a:pPr indent="-342900" lvl="0" marL="457200" rtl="0" algn="l">
              <a:spcBef>
                <a:spcPts val="0"/>
              </a:spcBef>
              <a:spcAft>
                <a:spcPts val="0"/>
              </a:spcAft>
              <a:buSzPts val="1800"/>
              <a:buChar char="-"/>
            </a:pPr>
            <a:r>
              <a:rPr lang="es"/>
              <a:t>Profundización de Algoritmos: Continuación sobre grafos, D&amp;C, Algoritmos aleatorios, Estructuras de Datos con nuevos análisis.</a:t>
            </a:r>
            <a:endParaRPr/>
          </a:p>
          <a:p>
            <a:pPr indent="-342900" lvl="0" marL="457200" rtl="0" algn="l">
              <a:spcBef>
                <a:spcPts val="0"/>
              </a:spcBef>
              <a:spcAft>
                <a:spcPts val="0"/>
              </a:spcAft>
              <a:buSzPts val="1800"/>
              <a:buFont typeface="Proxima Nova"/>
              <a:buChar char="-"/>
            </a:pPr>
            <a:r>
              <a:rPr lang="es"/>
              <a:t>Técnicas de Diseño de Algoritmos: D&amp;C, Greedy, </a:t>
            </a:r>
            <a:r>
              <a:rPr lang="es"/>
              <a:t>Backtracking, </a:t>
            </a:r>
            <a:r>
              <a:rPr lang="es"/>
              <a:t>Programación Dinámica, Redes de flujo, Programación Lineal.</a:t>
            </a:r>
            <a:endParaRPr/>
          </a:p>
          <a:p>
            <a:pPr indent="-342900" lvl="0" marL="457200" rtl="0" algn="l">
              <a:spcBef>
                <a:spcPts val="0"/>
              </a:spcBef>
              <a:spcAft>
                <a:spcPts val="0"/>
              </a:spcAft>
              <a:buSzPts val="1800"/>
              <a:buChar char="-"/>
            </a:pPr>
            <a:r>
              <a:rPr lang="es"/>
              <a:t>Clases de Complejidad y Reducción de problemas.</a:t>
            </a:r>
            <a:endParaRPr/>
          </a:p>
          <a:p>
            <a:pPr indent="-342900" lvl="0" marL="457200" rtl="0" algn="l">
              <a:spcBef>
                <a:spcPts val="0"/>
              </a:spcBef>
              <a:spcAft>
                <a:spcPts val="0"/>
              </a:spcAft>
              <a:buSzPts val="1800"/>
              <a:buChar char="-"/>
            </a:pPr>
            <a:r>
              <a:rPr lang="es"/>
              <a:t>Introducción a Computabilidad.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10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10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1000"/>
                                        <p:tgtEl>
                                          <p:spTgt spid="1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animEffect filter="fade" transition="in">
                                      <p:cBhvr>
                                        <p:cTn dur="1000"/>
                                        <p:tgtEl>
                                          <p:spTgt spid="1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animEffect filter="fade" transition="in">
                                      <p:cBhvr>
                                        <p:cTn dur="1000"/>
                                        <p:tgtEl>
                                          <p:spTgt spid="17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11598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Dificultad (estimada) de los temas</a:t>
            </a:r>
            <a:endParaRPr/>
          </a:p>
        </p:txBody>
      </p:sp>
      <p:graphicFrame>
        <p:nvGraphicFramePr>
          <p:cNvPr id="177" name="Google Shape;177;p32"/>
          <p:cNvGraphicFramePr/>
          <p:nvPr/>
        </p:nvGraphicFramePr>
        <p:xfrm>
          <a:off x="874575" y="729225"/>
          <a:ext cx="3000000" cy="3000000"/>
        </p:xfrm>
        <a:graphic>
          <a:graphicData uri="http://schemas.openxmlformats.org/drawingml/2006/table">
            <a:tbl>
              <a:tblPr>
                <a:noFill/>
                <a:tableStyleId>{AD386A26-9171-42B4-A062-E9DC43A40066}</a:tableStyleId>
              </a:tblPr>
              <a:tblGrid>
                <a:gridCol w="2413000"/>
                <a:gridCol w="2413000"/>
                <a:gridCol w="2413000"/>
              </a:tblGrid>
              <a:tr h="429100">
                <a:tc>
                  <a:txBody>
                    <a:bodyPr/>
                    <a:lstStyle/>
                    <a:p>
                      <a:pPr indent="0" lvl="0" marL="0" rtl="0" algn="l">
                        <a:spcBef>
                          <a:spcPts val="0"/>
                        </a:spcBef>
                        <a:spcAft>
                          <a:spcPts val="0"/>
                        </a:spcAft>
                        <a:buNone/>
                      </a:pPr>
                      <a:r>
                        <a:rPr lang="es"/>
                        <a:t>Tema</a:t>
                      </a:r>
                      <a:endParaRPr/>
                    </a:p>
                  </a:txBody>
                  <a:tcPr marT="91425" marB="91425" marR="91425" marL="91425"/>
                </a:tc>
                <a:tc>
                  <a:txBody>
                    <a:bodyPr/>
                    <a:lstStyle/>
                    <a:p>
                      <a:pPr indent="0" lvl="0" marL="0" rtl="0" algn="l">
                        <a:spcBef>
                          <a:spcPts val="0"/>
                        </a:spcBef>
                        <a:spcAft>
                          <a:spcPts val="0"/>
                        </a:spcAft>
                        <a:buNone/>
                      </a:pPr>
                      <a:r>
                        <a:rPr lang="es"/>
                        <a:t>Dif. Conceptual</a:t>
                      </a:r>
                      <a:endParaRPr/>
                    </a:p>
                  </a:txBody>
                  <a:tcPr marT="91425" marB="91425" marR="91425" marL="91425"/>
                </a:tc>
                <a:tc>
                  <a:txBody>
                    <a:bodyPr/>
                    <a:lstStyle/>
                    <a:p>
                      <a:pPr indent="0" lvl="0" marL="0" rtl="0" algn="l">
                        <a:spcBef>
                          <a:spcPts val="0"/>
                        </a:spcBef>
                        <a:spcAft>
                          <a:spcPts val="0"/>
                        </a:spcAft>
                        <a:buNone/>
                      </a:pPr>
                      <a:r>
                        <a:rPr lang="es"/>
                        <a:t>Dif. Programaci</a:t>
                      </a:r>
                      <a:r>
                        <a:rPr lang="es"/>
                        <a:t>ón</a:t>
                      </a:r>
                      <a:endParaRPr/>
                    </a:p>
                  </a:txBody>
                  <a:tcPr marT="91425" marB="91425" marR="91425" marL="91425"/>
                </a:tc>
              </a:tr>
              <a:tr h="429100">
                <a:tc>
                  <a:txBody>
                    <a:bodyPr/>
                    <a:lstStyle/>
                    <a:p>
                      <a:pPr indent="0" lvl="0" marL="0" rtl="0" algn="l">
                        <a:spcBef>
                          <a:spcPts val="0"/>
                        </a:spcBef>
                        <a:spcAft>
                          <a:spcPts val="0"/>
                        </a:spcAft>
                        <a:buNone/>
                      </a:pPr>
                      <a:r>
                        <a:rPr lang="es"/>
                        <a:t>Divisi</a:t>
                      </a:r>
                      <a:r>
                        <a:rPr lang="es"/>
                        <a:t>ón y Conquista</a:t>
                      </a:r>
                      <a:endParaRPr/>
                    </a:p>
                  </a:txBody>
                  <a:tcPr marT="91425" marB="91425" marR="91425" marL="91425"/>
                </a:tc>
                <a:tc>
                  <a:txBody>
                    <a:bodyPr/>
                    <a:lstStyle/>
                    <a:p>
                      <a:pPr indent="0" lvl="0" marL="0" rtl="0" algn="l">
                        <a:spcBef>
                          <a:spcPts val="0"/>
                        </a:spcBef>
                        <a:spcAft>
                          <a:spcPts val="0"/>
                        </a:spcAft>
                        <a:buNone/>
                      </a:pPr>
                      <a:r>
                        <a:rPr lang="es"/>
                        <a:t>⭐</a:t>
                      </a: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r>
              <a:tr h="429100">
                <a:tc>
                  <a:txBody>
                    <a:bodyPr/>
                    <a:lstStyle/>
                    <a:p>
                      <a:pPr indent="0" lvl="0" marL="0" rtl="0" algn="l">
                        <a:spcBef>
                          <a:spcPts val="0"/>
                        </a:spcBef>
                        <a:spcAft>
                          <a:spcPts val="0"/>
                        </a:spcAft>
                        <a:buNone/>
                      </a:pPr>
                      <a:r>
                        <a:rPr lang="es"/>
                        <a:t>Greedy</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r>
              <a:tr h="429100">
                <a:tc>
                  <a:txBody>
                    <a:bodyPr/>
                    <a:lstStyle/>
                    <a:p>
                      <a:pPr indent="0" lvl="0" marL="0" rtl="0" algn="l">
                        <a:spcBef>
                          <a:spcPts val="0"/>
                        </a:spcBef>
                        <a:spcAft>
                          <a:spcPts val="0"/>
                        </a:spcAft>
                        <a:buNone/>
                      </a:pPr>
                      <a:r>
                        <a:rPr lang="es"/>
                        <a:t>Backtracking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r>
              <a:tr h="429100">
                <a:tc>
                  <a:txBody>
                    <a:bodyPr/>
                    <a:lstStyle/>
                    <a:p>
                      <a:pPr indent="0" lvl="0" marL="0" rtl="0" algn="l">
                        <a:spcBef>
                          <a:spcPts val="0"/>
                        </a:spcBef>
                        <a:spcAft>
                          <a:spcPts val="0"/>
                        </a:spcAft>
                        <a:buNone/>
                      </a:pPr>
                      <a:r>
                        <a:rPr lang="es"/>
                        <a:t>Programaci</a:t>
                      </a:r>
                      <a:r>
                        <a:rPr lang="es"/>
                        <a:t>ón Dinámica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r>
              <a:tr h="429100">
                <a:tc>
                  <a:txBody>
                    <a:bodyPr/>
                    <a:lstStyle/>
                    <a:p>
                      <a:pPr indent="0" lvl="0" marL="0" rtl="0" algn="l">
                        <a:spcBef>
                          <a:spcPts val="0"/>
                        </a:spcBef>
                        <a:spcAft>
                          <a:spcPts val="0"/>
                        </a:spcAft>
                        <a:buNone/>
                      </a:pPr>
                      <a:r>
                        <a:rPr lang="es"/>
                        <a:t>Programaci</a:t>
                      </a:r>
                      <a:r>
                        <a:rPr lang="es"/>
                        <a:t>ón Lineal</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 (modelación)</a:t>
                      </a:r>
                      <a:endParaRPr/>
                    </a:p>
                  </a:txBody>
                  <a:tcPr marT="91425" marB="91425" marR="91425" marL="91425"/>
                </a:tc>
              </a:tr>
              <a:tr h="429100">
                <a:tc>
                  <a:txBody>
                    <a:bodyPr/>
                    <a:lstStyle/>
                    <a:p>
                      <a:pPr indent="0" lvl="0" marL="0" rtl="0" algn="l">
                        <a:spcBef>
                          <a:spcPts val="0"/>
                        </a:spcBef>
                        <a:spcAft>
                          <a:spcPts val="0"/>
                        </a:spcAft>
                        <a:buNone/>
                      </a:pPr>
                      <a:r>
                        <a:rPr lang="es"/>
                        <a:t>Redes de Flujo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r>
              <a:tr h="429100">
                <a:tc>
                  <a:txBody>
                    <a:bodyPr/>
                    <a:lstStyle/>
                    <a:p>
                      <a:pPr indent="0" lvl="0" marL="0" rtl="0" algn="l">
                        <a:spcBef>
                          <a:spcPts val="0"/>
                        </a:spcBef>
                        <a:spcAft>
                          <a:spcPts val="0"/>
                        </a:spcAft>
                        <a:buNone/>
                      </a:pPr>
                      <a:r>
                        <a:rPr lang="es"/>
                        <a:t>Reducciones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 (o N/A)</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a:t>
            </a:r>
            <a:r>
              <a:rPr lang="es"/>
              <a:t>é esperamos que pase? </a:t>
            </a:r>
            <a:endParaRPr/>
          </a:p>
        </p:txBody>
      </p:sp>
      <p:sp>
        <p:nvSpPr>
          <p:cNvPr id="183" name="Google Shape;183;p3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La materia tiene temas m</a:t>
            </a:r>
            <a:r>
              <a:rPr lang="es" sz="1600"/>
              <a:t>ás o menos complicados. Todos necesitan que "les caiga la ficha". Eso no lo podemos acelerar, necesitan practicar y bastante. </a:t>
            </a:r>
            <a:endParaRPr sz="1600"/>
          </a:p>
          <a:p>
            <a:pPr indent="0" lvl="0" marL="0" rtl="0" algn="l">
              <a:spcBef>
                <a:spcPts val="1600"/>
              </a:spcBef>
              <a:spcAft>
                <a:spcPts val="0"/>
              </a:spcAft>
              <a:buNone/>
            </a:pPr>
            <a:r>
              <a:rPr lang="es" sz="1600"/>
              <a:t>Lo que esperamos que suceda es que se topen con cosas que no entiendan, no les salgan. Y a partir de eso consulten. </a:t>
            </a:r>
            <a:r>
              <a:rPr b="1" lang="es" sz="1600"/>
              <a:t>Los vamos a guiar y vamos a estar presentes</a:t>
            </a:r>
            <a:r>
              <a:rPr lang="es" sz="1600"/>
              <a:t>. Cuando necesiten más ayuda, más respuesta, más guía, o incluso repreguntas, vamos a irles regulando un poco para poder </a:t>
            </a:r>
            <a:r>
              <a:rPr lang="es" sz="1600"/>
              <a:t>encauzarlos</a:t>
            </a:r>
            <a:r>
              <a:rPr lang="es" sz="1600"/>
              <a:t>, o incluso dar un poco más según cómo los veamos. </a:t>
            </a:r>
            <a:br>
              <a:rPr lang="es" sz="1600"/>
            </a:br>
            <a:r>
              <a:rPr lang="es" sz="1600"/>
              <a:t>Les pedimos que eviten en general caer en el uso de IA que sólo les va a dar la respuesta. Muchos temas con la respuesta no hacen nada. Déjennos ayudarlos, y detectar dónde hay que ir reforzando, y detectarles qué problema conceptual los está limitando. </a:t>
            </a:r>
            <a:endParaRPr sz="1600"/>
          </a:p>
          <a:p>
            <a:pPr indent="0" lvl="0" marL="0" rtl="0" algn="l">
              <a:spcBef>
                <a:spcPts val="1600"/>
              </a:spcBef>
              <a:spcAft>
                <a:spcPts val="1600"/>
              </a:spcAft>
              <a:buNone/>
            </a:pPr>
            <a:r>
              <a:rPr lang="es" sz="1600"/>
              <a:t>Cada ejercicio que les genera una traba que luego logramos resolver, cada AHHHH que logramos que tengan, es un pacito más para llegar a ese "que les caiga la ficha". </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Cambios 2026C2</a:t>
            </a:r>
            <a:endParaRPr/>
          </a:p>
        </p:txBody>
      </p:sp>
      <p:sp>
        <p:nvSpPr>
          <p:cNvPr id="189" name="Google Shape;189;p3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Ampliación de guía de ejercicios</a:t>
            </a:r>
            <a:endParaRPr/>
          </a:p>
          <a:p>
            <a:pPr indent="-342900" lvl="0" marL="457200" rtl="0" algn="l">
              <a:spcBef>
                <a:spcPts val="0"/>
              </a:spcBef>
              <a:spcAft>
                <a:spcPts val="0"/>
              </a:spcAft>
              <a:buSzPts val="1800"/>
              <a:buChar char="●"/>
            </a:pPr>
            <a:r>
              <a:rPr lang="es"/>
              <a:t>"Syllabus" de diferentes temas que vemos en clases (</a:t>
            </a:r>
            <a:r>
              <a:rPr i="1" lang="es"/>
              <a:t>in progress</a:t>
            </a:r>
            <a:r>
              <a:rPr lang="es"/>
              <a:t>)</a:t>
            </a:r>
            <a:endParaRPr/>
          </a:p>
          <a:p>
            <a:pPr indent="-342900" lvl="0" marL="457200" rtl="0" algn="l">
              <a:spcBef>
                <a:spcPts val="0"/>
              </a:spcBef>
              <a:spcAft>
                <a:spcPts val="0"/>
              </a:spcAft>
              <a:buSzPts val="1800"/>
              <a:buChar char="●"/>
            </a:pPr>
            <a:r>
              <a:rPr lang="es"/>
              <a:t>Sacamos evaluaci</a:t>
            </a:r>
            <a:r>
              <a:rPr lang="es"/>
              <a:t>ón de Aproximaciones. ¿Por qué?</a:t>
            </a:r>
            <a:endParaRPr/>
          </a:p>
          <a:p>
            <a:pPr indent="-342900" lvl="0" marL="457200" rtl="0" algn="l">
              <a:spcBef>
                <a:spcPts val="0"/>
              </a:spcBef>
              <a:spcAft>
                <a:spcPts val="0"/>
              </a:spcAft>
              <a:buSzPts val="1800"/>
              <a:buChar char="●"/>
            </a:pPr>
            <a:r>
              <a:rPr lang="es"/>
              <a:t>Recuperatorios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