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5143500" cx="9144000"/>
  <p:notesSz cx="6858000" cy="9144000"/>
  <p:embeddedFontLst>
    <p:embeddedFont>
      <p:font typeface="Proxima Nova"/>
      <p:regular r:id="rId20"/>
      <p:bold r:id="rId21"/>
      <p:italic r:id="rId22"/>
      <p:boldItalic r:id="rId23"/>
    </p:embeddedFont>
    <p:embeddedFont>
      <p:font typeface="Old Standard TT"/>
      <p:regular r:id="rId24"/>
      <p:bold r:id="rId25"/>
      <p: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6E9B2C2-BC05-43B8-B1A4-059FD3ECD7DE}">
  <a:tblStyle styleId="{56E9B2C2-BC05-43B8-B1A4-059FD3ECD7D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roximaNova-regular.fntdata"/><Relationship Id="rId22" Type="http://schemas.openxmlformats.org/officeDocument/2006/relationships/font" Target="fonts/ProximaNova-italic.fntdata"/><Relationship Id="rId21" Type="http://schemas.openxmlformats.org/officeDocument/2006/relationships/font" Target="fonts/ProximaNova-bold.fntdata"/><Relationship Id="rId24" Type="http://schemas.openxmlformats.org/officeDocument/2006/relationships/font" Target="fonts/OldStandardTT-regular.fntdata"/><Relationship Id="rId23" Type="http://schemas.openxmlformats.org/officeDocument/2006/relationships/font" Target="fonts/ProximaNova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OldStandardTT-italic.fntdata"/><Relationship Id="rId25" Type="http://schemas.openxmlformats.org/officeDocument/2006/relationships/font" Target="fonts/OldStandardTT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9b03970df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9b03970df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138d3e5a84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138d3e5a84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38d3e5a849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138d3e5a849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13b8522c09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13b8522c09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38d3e5a849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38d3e5a84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13ca7761d9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13ca7761d9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38d3e5a849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138d3e5a849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38d3e5a849_1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138d3e5a849_1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138d3e5a849_1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138d3e5a849_1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138d3e5a849_1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138d3e5a849_1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138d3e5a849_1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138d3e5a849_1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1a6e346303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21a6e346303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2dd2746bbdb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2dd2746bbdb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100"/>
            <a:ext cx="9144000" cy="1711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" name="Google Shape;12;p2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Proxima Nova"/>
              <a:buNone/>
              <a:defRPr sz="42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Proxima Nova"/>
              <a:buNone/>
              <a:defRPr sz="2400">
                <a:solidFill>
                  <a:schemeClr val="accent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" name="Google Shape;17;p3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Font typeface="Proxima Nova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Font typeface="Proxima Nova"/>
              <a:buChar char="●"/>
              <a:defRPr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○"/>
              <a:defRPr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■"/>
              <a:defRPr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●"/>
              <a:defRPr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○"/>
              <a:defRPr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■"/>
              <a:defRPr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●"/>
              <a:defRPr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○"/>
              <a:defRPr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Font typeface="Proxima Nova"/>
              <a:buChar char="■"/>
              <a:defRPr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Font typeface="Proxima Nova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Proxima Nova"/>
              <a:buChar char="●"/>
              <a:defRPr sz="1400"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●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●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Proxima Nova"/>
              <a:buChar char="●"/>
              <a:defRPr sz="1400"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●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●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Proxima Nova"/>
              <a:buNone/>
              <a:defRPr sz="5400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6864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039650"/>
            <a:ext cx="8520600" cy="21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perback">
    <p:bg>
      <p:bgPr>
        <a:solidFill>
          <a:srgbClr val="EFEFE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●"/>
              <a:defRPr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2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11.png"/><Relationship Id="rId10" Type="http://schemas.openxmlformats.org/officeDocument/2006/relationships/image" Target="../media/image18.png"/><Relationship Id="rId9" Type="http://schemas.openxmlformats.org/officeDocument/2006/relationships/image" Target="../media/image15.png"/><Relationship Id="rId5" Type="http://schemas.openxmlformats.org/officeDocument/2006/relationships/image" Target="../media/image10.png"/><Relationship Id="rId6" Type="http://schemas.openxmlformats.org/officeDocument/2006/relationships/image" Target="../media/image12.png"/><Relationship Id="rId7" Type="http://schemas.openxmlformats.org/officeDocument/2006/relationships/image" Target="../media/image16.png"/><Relationship Id="rId8" Type="http://schemas.openxmlformats.org/officeDocument/2006/relationships/image" Target="../media/image1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Inducción Matemática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Teoría de Algoritmos</a:t>
            </a:r>
            <a:endParaRPr/>
          </a:p>
        </p:txBody>
      </p:sp>
      <p:pic>
        <p:nvPicPr>
          <p:cNvPr id="61" name="Google Shape;61;p13"/>
          <p:cNvPicPr preferRelativeResize="0"/>
          <p:nvPr/>
        </p:nvPicPr>
        <p:blipFill rotWithShape="1">
          <a:blip r:embed="rId3">
            <a:alphaModFix/>
          </a:blip>
          <a:srcRect b="80" l="0" r="0" t="70"/>
          <a:stretch/>
        </p:blipFill>
        <p:spPr>
          <a:xfrm>
            <a:off x="7060492" y="4349400"/>
            <a:ext cx="2079858" cy="787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Demostraciones en Matemáticas</a:t>
            </a:r>
            <a:endParaRPr/>
          </a:p>
        </p:txBody>
      </p:sp>
      <p:sp>
        <p:nvSpPr>
          <p:cNvPr id="67" name="Google Shape;67;p14"/>
          <p:cNvSpPr txBox="1"/>
          <p:nvPr>
            <p:ph idx="1" type="body"/>
          </p:nvPr>
        </p:nvSpPr>
        <p:spPr>
          <a:xfrm>
            <a:off x="311700" y="1171600"/>
            <a:ext cx="8520600" cy="150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Nos interesa tener una mínima base y entendimiento de esto.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¿Por qué vemos esto acá? </a:t>
            </a:r>
            <a:endParaRPr/>
          </a:p>
        </p:txBody>
      </p:sp>
      <p:pic>
        <p:nvPicPr>
          <p:cNvPr id="68" name="Google Shape;68;p14"/>
          <p:cNvPicPr preferRelativeResize="0"/>
          <p:nvPr/>
        </p:nvPicPr>
        <p:blipFill rotWithShape="1">
          <a:blip r:embed="rId3">
            <a:alphaModFix/>
          </a:blip>
          <a:srcRect b="6024" l="0" r="0" t="0"/>
          <a:stretch/>
        </p:blipFill>
        <p:spPr>
          <a:xfrm>
            <a:off x="5271075" y="1679400"/>
            <a:ext cx="2780325" cy="19899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4"/>
          <p:cNvSpPr txBox="1"/>
          <p:nvPr/>
        </p:nvSpPr>
        <p:spPr>
          <a:xfrm>
            <a:off x="364500" y="3118500"/>
            <a:ext cx="504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s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Porque sacaron Discreta de correlativa. </a:t>
            </a:r>
            <a:endParaRPr/>
          </a:p>
        </p:txBody>
      </p:sp>
      <p:pic>
        <p:nvPicPr>
          <p:cNvPr id="70" name="Google Shape;70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71075" y="1688527"/>
            <a:ext cx="3537600" cy="198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Implicaciones lógicas</a:t>
            </a:r>
            <a:endParaRPr/>
          </a:p>
        </p:txBody>
      </p:sp>
      <p:sp>
        <p:nvSpPr>
          <p:cNvPr id="76" name="Google Shape;76;p15"/>
          <p:cNvSpPr txBox="1"/>
          <p:nvPr>
            <p:ph idx="1" type="body"/>
          </p:nvPr>
        </p:nvSpPr>
        <p:spPr>
          <a:xfrm>
            <a:off x="311700" y="1171600"/>
            <a:ext cx="8520600" cy="14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H → T "Si H, entonces T"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Si H es falsa, la implicación es verdadera (no importa el valor de T)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Si T es verdadera, la implicación es verdadera (no importa el valor de H)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Si H es verdadera, entonces T debe ser verdadera.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77" name="Google Shape;7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3253600"/>
            <a:ext cx="4419600" cy="7048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8" name="Google Shape;78;p15"/>
          <p:cNvGraphicFramePr/>
          <p:nvPr/>
        </p:nvGraphicFramePr>
        <p:xfrm>
          <a:off x="7076250" y="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{56E9B2C2-BC05-43B8-B1A4-059FD3ECD7DE}</a:tableStyleId>
              </a:tblPr>
              <a:tblGrid>
                <a:gridCol w="689250"/>
                <a:gridCol w="689250"/>
                <a:gridCol w="6892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H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T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600">
                          <a:solidFill>
                            <a:schemeClr val="dk1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H → T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F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V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V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F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F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V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V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V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V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V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F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F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Hipótesis → Tesis</a:t>
            </a:r>
            <a:endParaRPr/>
          </a:p>
        </p:txBody>
      </p:sp>
      <p:sp>
        <p:nvSpPr>
          <p:cNvPr id="84" name="Google Shape;84;p16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Método directo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Método indirecto (o contrarrecíproco) 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Por el absurdo/contradicción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Inducción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/>
          <p:nvPr>
            <p:ph idx="1" type="body"/>
          </p:nvPr>
        </p:nvSpPr>
        <p:spPr>
          <a:xfrm>
            <a:off x="311700" y="1171600"/>
            <a:ext cx="6471900" cy="12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s"/>
              <a:t>Asumimos que la hipótesis es verdadera, y demostramos que la tesis también lo es. Ejemplo:</a:t>
            </a:r>
            <a:endParaRPr/>
          </a:p>
        </p:txBody>
      </p:sp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Método directo</a:t>
            </a:r>
            <a:endParaRPr/>
          </a:p>
        </p:txBody>
      </p:sp>
      <p:pic>
        <p:nvPicPr>
          <p:cNvPr id="91" name="Google Shape;9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9825" y="1862500"/>
            <a:ext cx="5592350" cy="2366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7"/>
          <p:cNvSpPr txBox="1"/>
          <p:nvPr/>
        </p:nvSpPr>
        <p:spPr>
          <a:xfrm>
            <a:off x="6473050" y="3312675"/>
            <a:ext cx="252300" cy="4311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4</a:t>
            </a:r>
            <a:endParaRPr sz="16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93" name="Google Shape;93;p17"/>
          <p:cNvSpPr txBox="1"/>
          <p:nvPr/>
        </p:nvSpPr>
        <p:spPr>
          <a:xfrm>
            <a:off x="3213330" y="3724366"/>
            <a:ext cx="1057800" cy="4464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+2K</a:t>
            </a:r>
            <a:r>
              <a:rPr b="1" lang="es" sz="17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)</a:t>
            </a:r>
            <a:r>
              <a:rPr lang="es" sz="15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+1</a:t>
            </a:r>
            <a:endParaRPr sz="15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graphicFrame>
        <p:nvGraphicFramePr>
          <p:cNvPr id="94" name="Google Shape;94;p17"/>
          <p:cNvGraphicFramePr/>
          <p:nvPr/>
        </p:nvGraphicFramePr>
        <p:xfrm>
          <a:off x="7076250" y="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{56E9B2C2-BC05-43B8-B1A4-059FD3ECD7DE}</a:tableStyleId>
              </a:tblPr>
              <a:tblGrid>
                <a:gridCol w="689250"/>
                <a:gridCol w="689250"/>
                <a:gridCol w="6892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H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T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s" sz="1600">
                          <a:solidFill>
                            <a:schemeClr val="dk1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H → T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F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V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V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F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F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V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V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V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V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V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F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F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Método del </a:t>
            </a:r>
            <a:r>
              <a:rPr lang="es"/>
              <a:t>contrarrecíproco</a:t>
            </a:r>
            <a:endParaRPr/>
          </a:p>
        </p:txBody>
      </p:sp>
      <p:sp>
        <p:nvSpPr>
          <p:cNvPr id="100" name="Google Shape;100;p18"/>
          <p:cNvSpPr txBox="1"/>
          <p:nvPr>
            <p:ph idx="1" type="body"/>
          </p:nvPr>
        </p:nvSpPr>
        <p:spPr>
          <a:xfrm>
            <a:off x="311700" y="1171600"/>
            <a:ext cx="85206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Demostramos que ~T → ~H, por método directo. Ejemplo: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01" name="Google Shape;10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6900" y="1728350"/>
            <a:ext cx="7256250" cy="30186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2" name="Google Shape;102;p18"/>
          <p:cNvGraphicFramePr/>
          <p:nvPr/>
        </p:nvGraphicFramePr>
        <p:xfrm>
          <a:off x="7076250" y="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{56E9B2C2-BC05-43B8-B1A4-059FD3ECD7DE}</a:tableStyleId>
              </a:tblPr>
              <a:tblGrid>
                <a:gridCol w="689250"/>
                <a:gridCol w="689250"/>
                <a:gridCol w="6892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H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T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s" sz="1600">
                          <a:solidFill>
                            <a:schemeClr val="dk1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H → T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F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V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V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F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F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V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V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V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V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V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F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F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9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Por el absurdo/contradicción</a:t>
            </a:r>
            <a:endParaRPr/>
          </a:p>
        </p:txBody>
      </p:sp>
      <p:sp>
        <p:nvSpPr>
          <p:cNvPr id="108" name="Google Shape;108;p19"/>
          <p:cNvSpPr txBox="1"/>
          <p:nvPr>
            <p:ph idx="1" type="body"/>
          </p:nvPr>
        </p:nvSpPr>
        <p:spPr>
          <a:xfrm>
            <a:off x="311700" y="1171600"/>
            <a:ext cx="6462300" cy="7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s"/>
              <a:t>Asumimos que la hipótesis es verdadera y la tesis es falsa, y llegamos a una contradicción (en el sentido lógico). Ejemplo:</a:t>
            </a:r>
            <a:endParaRPr/>
          </a:p>
        </p:txBody>
      </p:sp>
      <p:pic>
        <p:nvPicPr>
          <p:cNvPr id="109" name="Google Shape;10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72550" y="1904700"/>
            <a:ext cx="3998900" cy="308639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0" name="Google Shape;110;p19"/>
          <p:cNvGraphicFramePr/>
          <p:nvPr/>
        </p:nvGraphicFramePr>
        <p:xfrm>
          <a:off x="7076250" y="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{56E9B2C2-BC05-43B8-B1A4-059FD3ECD7DE}</a:tableStyleId>
              </a:tblPr>
              <a:tblGrid>
                <a:gridCol w="689250"/>
                <a:gridCol w="689250"/>
                <a:gridCol w="6892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H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T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s" sz="1600">
                          <a:solidFill>
                            <a:schemeClr val="dk1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H → T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F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V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V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F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F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V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V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V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V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V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F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F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Principio de Inducción Matemática</a:t>
            </a:r>
            <a:endParaRPr/>
          </a:p>
        </p:txBody>
      </p:sp>
      <p:sp>
        <p:nvSpPr>
          <p:cNvPr id="116" name="Google Shape;116;p20"/>
          <p:cNvSpPr txBox="1"/>
          <p:nvPr>
            <p:ph idx="1" type="body"/>
          </p:nvPr>
        </p:nvSpPr>
        <p:spPr>
          <a:xfrm>
            <a:off x="311700" y="1171600"/>
            <a:ext cx="8520600" cy="151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Se puede demostrar por inducción la proposición P(n) (n Naturales incl. 0):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Se demuestra que P(n</a:t>
            </a:r>
            <a:r>
              <a:rPr baseline="-25000" lang="es"/>
              <a:t>0</a:t>
            </a:r>
            <a:r>
              <a:rPr lang="es"/>
              <a:t>) es verdadero (Paso base)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                                                                              (paso inductivo)</a:t>
            </a:r>
            <a:endParaRPr/>
          </a:p>
        </p:txBody>
      </p:sp>
      <p:pic>
        <p:nvPicPr>
          <p:cNvPr id="117" name="Google Shape;11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5825" y="2089552"/>
            <a:ext cx="4571999" cy="31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Ejemplo 1</a:t>
            </a:r>
            <a:endParaRPr/>
          </a:p>
        </p:txBody>
      </p:sp>
      <p:sp>
        <p:nvSpPr>
          <p:cNvPr id="123" name="Google Shape;123;p21"/>
          <p:cNvSpPr txBox="1"/>
          <p:nvPr>
            <p:ph idx="1" type="body"/>
          </p:nvPr>
        </p:nvSpPr>
        <p:spPr>
          <a:xfrm>
            <a:off x="311700" y="1171600"/>
            <a:ext cx="8520600" cy="58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Demostramos que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24" name="Google Shape;12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82750" y="1058225"/>
            <a:ext cx="1837525" cy="752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46660" y="1988363"/>
            <a:ext cx="2083856" cy="75217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1"/>
          <p:cNvSpPr txBox="1"/>
          <p:nvPr/>
        </p:nvSpPr>
        <p:spPr>
          <a:xfrm>
            <a:off x="311700" y="2133600"/>
            <a:ext cx="3624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s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Vemos el paso/caso base: n = 1</a:t>
            </a:r>
            <a:endParaRPr/>
          </a:p>
        </p:txBody>
      </p:sp>
      <p:sp>
        <p:nvSpPr>
          <p:cNvPr id="127" name="Google Shape;127;p21"/>
          <p:cNvSpPr txBox="1"/>
          <p:nvPr/>
        </p:nvSpPr>
        <p:spPr>
          <a:xfrm>
            <a:off x="311700" y="2918500"/>
            <a:ext cx="8609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s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Vemos el paso inductivo: P(h) → P(h+1)... </a:t>
            </a:r>
            <a:r>
              <a:rPr b="1" lang="es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Sólo tengo que demostrar la implicancia!!</a:t>
            </a:r>
            <a:endParaRPr b="1"/>
          </a:p>
        </p:txBody>
      </p:sp>
      <p:sp>
        <p:nvSpPr>
          <p:cNvPr id="128" name="Google Shape;128;p21"/>
          <p:cNvSpPr txBox="1"/>
          <p:nvPr/>
        </p:nvSpPr>
        <p:spPr>
          <a:xfrm>
            <a:off x="311700" y="3623950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s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Método directo:</a:t>
            </a:r>
            <a:endParaRPr/>
          </a:p>
        </p:txBody>
      </p:sp>
      <p:pic>
        <p:nvPicPr>
          <p:cNvPr id="129" name="Google Shape;129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91479" y="3478725"/>
            <a:ext cx="2547004" cy="752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09525" y="3741207"/>
            <a:ext cx="3624598" cy="245895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1"/>
          <p:cNvSpPr txBox="1"/>
          <p:nvPr>
            <p:ph idx="1" type="body"/>
          </p:nvPr>
        </p:nvSpPr>
        <p:spPr>
          <a:xfrm>
            <a:off x="6628275" y="4039225"/>
            <a:ext cx="1979100" cy="58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s"/>
              <a:t>Esto es P(h+1)!!</a:t>
            </a:r>
            <a:endParaRPr/>
          </a:p>
        </p:txBody>
      </p:sp>
      <p:sp>
        <p:nvSpPr>
          <p:cNvPr id="132" name="Google Shape;132;p21"/>
          <p:cNvSpPr txBox="1"/>
          <p:nvPr>
            <p:ph idx="1" type="body"/>
          </p:nvPr>
        </p:nvSpPr>
        <p:spPr>
          <a:xfrm>
            <a:off x="3961275" y="4191625"/>
            <a:ext cx="1979100" cy="58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s"/>
              <a:t>Acá asumo P(h) siendo verdadera</a:t>
            </a:r>
            <a:endParaRPr/>
          </a:p>
        </p:txBody>
      </p:sp>
      <p:cxnSp>
        <p:nvCxnSpPr>
          <p:cNvPr id="133" name="Google Shape;133;p21"/>
          <p:cNvCxnSpPr/>
          <p:nvPr/>
        </p:nvCxnSpPr>
        <p:spPr>
          <a:xfrm rot="10800000">
            <a:off x="4854350" y="3978275"/>
            <a:ext cx="15900" cy="36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4" name="Google Shape;134;p21"/>
          <p:cNvSpPr txBox="1"/>
          <p:nvPr/>
        </p:nvSpPr>
        <p:spPr>
          <a:xfrm>
            <a:off x="1984275" y="3283400"/>
            <a:ext cx="227100" cy="4002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s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h</a:t>
            </a:r>
            <a:endParaRPr sz="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2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Ejemplo 2</a:t>
            </a:r>
            <a:endParaRPr/>
          </a:p>
        </p:txBody>
      </p:sp>
      <p:sp>
        <p:nvSpPr>
          <p:cNvPr id="140" name="Google Shape;140;p22"/>
          <p:cNvSpPr txBox="1"/>
          <p:nvPr>
            <p:ph idx="1" type="body"/>
          </p:nvPr>
        </p:nvSpPr>
        <p:spPr>
          <a:xfrm>
            <a:off x="311700" y="1171600"/>
            <a:ext cx="81270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s"/>
              <a:t>Demostrar que:                                        es divisible por 3</a:t>
            </a:r>
            <a:endParaRPr/>
          </a:p>
        </p:txBody>
      </p:sp>
      <p:pic>
        <p:nvPicPr>
          <p:cNvPr id="141" name="Google Shape;14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73175" y="1277400"/>
            <a:ext cx="2155550" cy="25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21181" y="1792000"/>
            <a:ext cx="5501639" cy="3199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3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Ejemplo 2</a:t>
            </a:r>
            <a:endParaRPr/>
          </a:p>
        </p:txBody>
      </p:sp>
      <p:sp>
        <p:nvSpPr>
          <p:cNvPr id="148" name="Google Shape;148;p23"/>
          <p:cNvSpPr txBox="1"/>
          <p:nvPr>
            <p:ph idx="1" type="body"/>
          </p:nvPr>
        </p:nvSpPr>
        <p:spPr>
          <a:xfrm>
            <a:off x="311700" y="1171600"/>
            <a:ext cx="81270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s"/>
              <a:t>Demostrar que:                                        es divisible por 3</a:t>
            </a:r>
            <a:endParaRPr/>
          </a:p>
        </p:txBody>
      </p:sp>
      <p:pic>
        <p:nvPicPr>
          <p:cNvPr id="149" name="Google Shape;14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73175" y="1277400"/>
            <a:ext cx="2155550" cy="256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3"/>
          <p:cNvSpPr txBox="1"/>
          <p:nvPr>
            <p:ph idx="1" type="body"/>
          </p:nvPr>
        </p:nvSpPr>
        <p:spPr>
          <a:xfrm>
            <a:off x="311700" y="1857400"/>
            <a:ext cx="81270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s"/>
              <a:t>Caso base: n = 1</a:t>
            </a:r>
            <a:endParaRPr/>
          </a:p>
        </p:txBody>
      </p:sp>
      <p:pic>
        <p:nvPicPr>
          <p:cNvPr id="151" name="Google Shape;151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45500" y="1889722"/>
            <a:ext cx="1488854" cy="315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3"/>
          <p:cNvSpPr txBox="1"/>
          <p:nvPr>
            <p:ph idx="1" type="body"/>
          </p:nvPr>
        </p:nvSpPr>
        <p:spPr>
          <a:xfrm>
            <a:off x="311700" y="2619400"/>
            <a:ext cx="81270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s"/>
              <a:t>Paso inductivo (método directo): </a:t>
            </a:r>
            <a:endParaRPr/>
          </a:p>
        </p:txBody>
      </p:sp>
      <p:pic>
        <p:nvPicPr>
          <p:cNvPr id="153" name="Google Shape;153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20700" y="2649000"/>
            <a:ext cx="2081800" cy="39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93375" y="2689975"/>
            <a:ext cx="2517025" cy="39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9375" y="3553270"/>
            <a:ext cx="3203585" cy="31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2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720700" y="3595645"/>
            <a:ext cx="3756101" cy="31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9377" y="4067201"/>
            <a:ext cx="4482622" cy="39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2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905275" y="4097857"/>
            <a:ext cx="2081800" cy="336108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3"/>
          <p:cNvSpPr txBox="1"/>
          <p:nvPr>
            <p:ph idx="1" type="body"/>
          </p:nvPr>
        </p:nvSpPr>
        <p:spPr>
          <a:xfrm>
            <a:off x="3333000" y="3065850"/>
            <a:ext cx="1239000" cy="33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s" sz="1200"/>
              <a:t>8</a:t>
            </a:r>
            <a:r>
              <a:rPr baseline="30000" lang="es" sz="1200"/>
              <a:t>h</a:t>
            </a:r>
            <a:r>
              <a:rPr lang="es" sz="1200"/>
              <a:t> = 5</a:t>
            </a:r>
            <a:r>
              <a:rPr baseline="30000" lang="es" sz="1200"/>
              <a:t>h</a:t>
            </a:r>
            <a:r>
              <a:rPr lang="es" sz="1200"/>
              <a:t> + </a:t>
            </a:r>
            <a:r>
              <a:rPr lang="es" sz="1200"/>
              <a:t>3k</a:t>
            </a:r>
            <a:endParaRPr sz="1200"/>
          </a:p>
        </p:txBody>
      </p:sp>
      <p:cxnSp>
        <p:nvCxnSpPr>
          <p:cNvPr id="160" name="Google Shape;160;p23"/>
          <p:cNvCxnSpPr>
            <a:endCxn id="159" idx="1"/>
          </p:cNvCxnSpPr>
          <p:nvPr/>
        </p:nvCxnSpPr>
        <p:spPr>
          <a:xfrm flipH="1" rot="10800000">
            <a:off x="2587800" y="3233850"/>
            <a:ext cx="745200" cy="32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61" name="Google Shape;161;p23"/>
          <p:cNvPicPr preferRelativeResize="0"/>
          <p:nvPr/>
        </p:nvPicPr>
        <p:blipFill rotWithShape="1">
          <a:blip r:embed="rId8">
            <a:alphaModFix/>
          </a:blip>
          <a:srcRect b="0" l="0" r="50843" t="0"/>
          <a:stretch/>
        </p:blipFill>
        <p:spPr>
          <a:xfrm>
            <a:off x="3720700" y="3595650"/>
            <a:ext cx="1846375" cy="31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3"/>
          <p:cNvPicPr preferRelativeResize="0"/>
          <p:nvPr/>
        </p:nvPicPr>
        <p:blipFill rotWithShape="1">
          <a:blip r:embed="rId9">
            <a:alphaModFix/>
          </a:blip>
          <a:srcRect b="0" l="0" r="46820" t="0"/>
          <a:stretch/>
        </p:blipFill>
        <p:spPr>
          <a:xfrm>
            <a:off x="369376" y="4067200"/>
            <a:ext cx="2383927" cy="3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Ahora en serio, ¿para qué necesitamos esto acá?</a:t>
            </a:r>
            <a:endParaRPr/>
          </a:p>
        </p:txBody>
      </p:sp>
      <p:sp>
        <p:nvSpPr>
          <p:cNvPr id="168" name="Google Shape;168;p24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Hay varias cosas donde ustedes pueden tirar un "te creo", pero en otras ya es demasiado.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Hay una técnica de diseño que se basa en inducción.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Algunas demostraciones para determinar que un algoritmo sea </a:t>
            </a:r>
            <a:r>
              <a:rPr lang="es"/>
              <a:t>óptimo pueden implicar ir por inducción.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Hay un tema que vamos a retomar más adelante que implica demostrar, no resolver un problema.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Metamos un descanso de 5</a:t>
            </a:r>
            <a:r>
              <a:rPr lang="es"/>
              <a:t>' para remojar el cebrelo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perback">
  <a:themeElements>
    <a:clrScheme name="Paperback">
      <a:dk1>
        <a:srgbClr val="000000"/>
      </a:dk1>
      <a:lt1>
        <a:srgbClr val="FFFFFF"/>
      </a:lt1>
      <a:dk2>
        <a:srgbClr val="00695C"/>
      </a:dk2>
      <a:lt2>
        <a:srgbClr val="26A69A"/>
      </a:lt2>
      <a:accent1>
        <a:srgbClr val="FFFBF0"/>
      </a:accent1>
      <a:accent2>
        <a:srgbClr val="B7B7B7"/>
      </a:accent2>
      <a:accent3>
        <a:srgbClr val="FB8C00"/>
      </a:accent3>
      <a:accent4>
        <a:srgbClr val="80CBC4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