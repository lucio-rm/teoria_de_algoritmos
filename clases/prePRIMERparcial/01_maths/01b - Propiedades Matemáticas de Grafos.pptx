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embeddedFontLst>
    <p:embeddedFont>
      <p:font typeface="Proxima Nova"/>
      <p:regular r:id="rId47"/>
      <p:bold r:id="rId48"/>
      <p:italic r:id="rId49"/>
      <p:boldItalic r:id="rId50"/>
    </p:embeddedFont>
    <p:embeddedFont>
      <p:font typeface="Old Standard TT"/>
      <p:regular r:id="rId51"/>
      <p:bold r:id="rId52"/>
      <p: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ProximaNova-bold.fntdata"/><Relationship Id="rId47" Type="http://schemas.openxmlformats.org/officeDocument/2006/relationships/font" Target="fonts/ProximaNova-regular.fntdata"/><Relationship Id="rId49" Type="http://schemas.openxmlformats.org/officeDocument/2006/relationships/font" Target="fonts/ProximaNova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ldStandardTT-regular.fntdata"/><Relationship Id="rId50" Type="http://schemas.openxmlformats.org/officeDocument/2006/relationships/font" Target="fonts/ProximaNova-boldItalic.fntdata"/><Relationship Id="rId53" Type="http://schemas.openxmlformats.org/officeDocument/2006/relationships/font" Target="fonts/OldStandardTT-italic.fntdata"/><Relationship Id="rId52" Type="http://schemas.openxmlformats.org/officeDocument/2006/relationships/font" Target="fonts/OldStandardT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9b03970d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9b03970d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d272a36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dd272a36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3b8522c09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3b8522c09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3b8da5354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3b8da5354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b8da53540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3b8da53540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3b8da53540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3b8da53540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3b8da53540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3b8da5354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3b8da53540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3b8da53540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3be05e65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3be05e65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3b8da53540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3b8da53540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3be05e65a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3be05e65a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3b8da53540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3b8da53540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3be05e65a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3be05e65a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3b8da53540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3b8da53540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3b8da53540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3b8da53540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3b8da535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3b8da535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3b8da53540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3b8da53540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3beb89021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3beb89021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3be05e65a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3be05e65a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3be05e65a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3be05e65a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3d5de78e2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3d5de78e2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3beb89021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3beb89021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3d5de78e2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3d5de78e2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3be05e65a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3be05e65a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dade0d0b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dade0d0b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c112c4ce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c112c4ce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c112c4ce4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c112c4ce4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dade0d0be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dade0d0be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dade0d0be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dade0d0be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3be05e65a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13be05e65a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5909d1a1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5909d1a1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3be05e65a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3be05e65a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e3f84f8874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e3f84f887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3d5de78e2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3d5de78e2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3be05e65a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3be05e65a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be05e65a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3be05e65a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f3f099e1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f3f099e1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e3f84f8874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e3f84f8874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3beb8902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13beb8902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dd272a361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dd272a36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14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4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15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" name="Google Shape;91;p21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21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4" name="Google Shape;94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101" name="Google Shape;101;p23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Repaso de Grafos y Propiedades</a:t>
            </a:r>
            <a:endParaRPr/>
          </a:p>
        </p:txBody>
      </p:sp>
      <p:sp>
        <p:nvSpPr>
          <p:cNvPr id="110" name="Google Shape;110;p25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Algoritmos</a:t>
            </a:r>
            <a:endParaRPr/>
          </a:p>
        </p:txBody>
      </p:sp>
      <p:pic>
        <p:nvPicPr>
          <p:cNvPr id="111" name="Google Shape;111;p25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7060492" y="4349400"/>
            <a:ext cx="2079858" cy="7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275" y="685800"/>
            <a:ext cx="7029450" cy="351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Hoy</a:t>
            </a:r>
            <a:endParaRPr/>
          </a:p>
        </p:txBody>
      </p:sp>
      <p:sp>
        <p:nvSpPr>
          <p:cNvPr id="122" name="Google Shape;122;p2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Repaso de Grafos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Propiedades Matemáticas de Grafos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TDA Grafo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Repaso de Grafos</a:t>
            </a:r>
            <a:endParaRPr/>
          </a:p>
        </p:txBody>
      </p:sp>
      <p:sp>
        <p:nvSpPr>
          <p:cNvPr id="133" name="Google Shape;133;p2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Grafo: TDA con entidades (vértices/nodos) y relaciones entre esas entidades (aristas/links).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Tipos de Grafos (relaciones):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Pesados, no pesados (numérico, flags, valor positivo o negativo, etc…)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Dirigidos, no dirigidos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 bucles o sin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Simples o compuestos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Ejemplos</a:t>
            </a:r>
            <a:endParaRPr/>
          </a:p>
        </p:txBody>
      </p:sp>
      <p:pic>
        <p:nvPicPr>
          <p:cNvPr id="139" name="Google Shape;13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4140520" cy="378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5320" y="1210625"/>
            <a:ext cx="4546279" cy="3321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Formas de recorrer un grafo</a:t>
            </a:r>
            <a:endParaRPr/>
          </a:p>
        </p:txBody>
      </p:sp>
      <p:sp>
        <p:nvSpPr>
          <p:cNvPr id="146" name="Google Shape;146;p3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BFS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DFS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Random Walks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Conectividad en Grafos</a:t>
            </a:r>
            <a:endParaRPr/>
          </a:p>
        </p:txBody>
      </p:sp>
      <p:sp>
        <p:nvSpPr>
          <p:cNvPr id="152" name="Google Shape;152;p3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Grafos no dirigidos → Componentes conexas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Grafos dirigidos → Componentes fuertemente conexas (y débilmente…)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Algoritmo de Tarjan, </a:t>
            </a:r>
            <a:r>
              <a:rPr lang="es"/>
              <a:t>Algoritmo de Kosaraju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3"/>
          <p:cNvSpPr txBox="1"/>
          <p:nvPr>
            <p:ph type="title"/>
          </p:nvPr>
        </p:nvSpPr>
        <p:spPr>
          <a:xfrm>
            <a:off x="311700" y="1402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Orden Topológico</a:t>
            </a:r>
            <a:endParaRPr/>
          </a:p>
        </p:txBody>
      </p:sp>
      <p:sp>
        <p:nvSpPr>
          <p:cNvPr id="158" name="Google Shape;158;p3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¿Qué es? ¿Cómo se obtiene?</a:t>
            </a:r>
            <a:endParaRPr/>
          </a:p>
        </p:txBody>
      </p:sp>
      <p:pic>
        <p:nvPicPr>
          <p:cNvPr id="159" name="Google Shape;15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8900"/>
            <a:ext cx="8839200" cy="4162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Grafos Bipartitos</a:t>
            </a:r>
            <a:endParaRPr/>
          </a:p>
        </p:txBody>
      </p:sp>
      <p:pic>
        <p:nvPicPr>
          <p:cNvPr id="165" name="Google Shape;16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3780474" cy="378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4"/>
          <p:cNvSpPr txBox="1"/>
          <p:nvPr/>
        </p:nvSpPr>
        <p:spPr>
          <a:xfrm>
            <a:off x="4377275" y="1693100"/>
            <a:ext cx="462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Nota: se llama grafo K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m,n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a un grafo bipartito "completo" con m y n vértices en cada conjunto.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Puntos de Articulación</a:t>
            </a:r>
            <a:endParaRPr/>
          </a:p>
        </p:txBody>
      </p:sp>
      <p:sp>
        <p:nvSpPr>
          <p:cNvPr id="172" name="Google Shape;172;p3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¿Qué son? ¿Cómo los podemos obtener?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Repaso de Distancia</a:t>
            </a:r>
            <a:endParaRPr/>
          </a:p>
        </p:txBody>
      </p:sp>
      <p:sp>
        <p:nvSpPr>
          <p:cNvPr id="178" name="Google Shape;178;p3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¿Cómo podemos obtener la distancia de un vértice hacia otro en un grafo?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Árboles de Tendido mínimo</a:t>
            </a:r>
            <a:endParaRPr/>
          </a:p>
        </p:txBody>
      </p:sp>
      <p:sp>
        <p:nvSpPr>
          <p:cNvPr id="184" name="Google Shape;184;p3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¿Qué algoritmos vimos en Algoritmos y Estructuras de Datos?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Representaciones:</a:t>
            </a:r>
            <a:endParaRPr/>
          </a:p>
        </p:txBody>
      </p:sp>
      <p:sp>
        <p:nvSpPr>
          <p:cNvPr id="190" name="Google Shape;190;p3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Matriz de Adyacencia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Listas de Adyacencia (con diccionarios)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9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Propiedades Matemáticas de los Grafos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Propiedades matemáticas de la </a:t>
            </a:r>
            <a:r>
              <a:rPr b="1" lang="es"/>
              <a:t>matriz de adyacencia</a:t>
            </a:r>
            <a:endParaRPr/>
          </a:p>
        </p:txBody>
      </p:sp>
      <p:sp>
        <p:nvSpPr>
          <p:cNvPr id="201" name="Google Shape;201;p40"/>
          <p:cNvSpPr txBox="1"/>
          <p:nvPr>
            <p:ph idx="1" type="body"/>
          </p:nvPr>
        </p:nvSpPr>
        <p:spPr>
          <a:xfrm>
            <a:off x="311700" y="14764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 obvio: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La matriz de adyacencia es cuadrada (VxV)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Si el grafo es no dirigido, la matriz es simétrica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Si no hay bucles, la diagonal son todos ceros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Momento teorema – Potenciación de la M.A.</a:t>
            </a:r>
            <a:endParaRPr/>
          </a:p>
        </p:txBody>
      </p:sp>
      <p:sp>
        <p:nvSpPr>
          <p:cNvPr id="207" name="Google Shape;207;p4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Siendo A la matriz de adyacencia de un grafo G → A</a:t>
            </a:r>
            <a:r>
              <a:rPr baseline="30000" lang="es"/>
              <a:t>n</a:t>
            </a:r>
            <a:r>
              <a:rPr baseline="-25000" lang="es"/>
              <a:t>ij</a:t>
            </a:r>
            <a:r>
              <a:rPr lang="es"/>
              <a:t> nos indica la cantidad de caminos de largo </a:t>
            </a:r>
            <a:r>
              <a:rPr i="1" lang="es"/>
              <a:t>n</a:t>
            </a:r>
            <a:r>
              <a:rPr lang="es"/>
              <a:t> de </a:t>
            </a:r>
            <a:r>
              <a:rPr i="1" lang="es"/>
              <a:t>i</a:t>
            </a:r>
            <a:r>
              <a:rPr lang="es"/>
              <a:t> a </a:t>
            </a:r>
            <a:r>
              <a:rPr i="1" lang="es"/>
              <a:t>j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Demostramos por inducción: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¿Vale para caso inicial (A</a:t>
            </a:r>
            <a:r>
              <a:rPr baseline="30000" lang="es"/>
              <a:t>1</a:t>
            </a:r>
            <a:r>
              <a:rPr lang="es"/>
              <a:t>)?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Si vale para A</a:t>
            </a:r>
            <a:r>
              <a:rPr baseline="30000" lang="es"/>
              <a:t>n</a:t>
            </a:r>
            <a:r>
              <a:rPr lang="es"/>
              <a:t>, ¿vale para </a:t>
            </a:r>
            <a:r>
              <a:rPr lang="es"/>
              <a:t>A</a:t>
            </a:r>
            <a:r>
              <a:rPr baseline="30000" lang="es"/>
              <a:t>n+1</a:t>
            </a:r>
            <a:r>
              <a:rPr lang="es"/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Paso inductivo</a:t>
            </a:r>
            <a:endParaRPr/>
          </a:p>
        </p:txBody>
      </p:sp>
      <p:sp>
        <p:nvSpPr>
          <p:cNvPr id="213" name="Google Shape;213;p4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Suponemos que tenemos una matriz F</a:t>
            </a:r>
            <a:r>
              <a:rPr baseline="30000" lang="es"/>
              <a:t>n</a:t>
            </a:r>
            <a:r>
              <a:rPr lang="es"/>
              <a:t> que nos indica la cantidad de caminos que hay entre i y j de largo n en el grafo G.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Si la propiedad vale para </a:t>
            </a:r>
            <a:r>
              <a:rPr lang="es"/>
              <a:t>A</a:t>
            </a:r>
            <a:r>
              <a:rPr baseline="30000" lang="es"/>
              <a:t>n</a:t>
            </a:r>
            <a:r>
              <a:rPr lang="es"/>
              <a:t>, entonces F</a:t>
            </a:r>
            <a:r>
              <a:rPr baseline="30000" lang="es"/>
              <a:t>n</a:t>
            </a:r>
            <a:r>
              <a:rPr lang="es"/>
              <a:t> = </a:t>
            </a:r>
            <a:r>
              <a:rPr lang="es"/>
              <a:t>A</a:t>
            </a:r>
            <a:r>
              <a:rPr baseline="30000" lang="es"/>
              <a:t>n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Podemos expresar un camino de n+1 de </a:t>
            </a:r>
            <a:r>
              <a:rPr i="1" lang="es"/>
              <a:t>i</a:t>
            </a:r>
            <a:r>
              <a:rPr lang="es"/>
              <a:t> a </a:t>
            </a:r>
            <a:r>
              <a:rPr i="1" lang="es"/>
              <a:t>j</a:t>
            </a:r>
            <a:r>
              <a:rPr lang="es"/>
              <a:t> como los caminos de largo n de </a:t>
            </a:r>
            <a:r>
              <a:rPr i="1" lang="es"/>
              <a:t>i</a:t>
            </a:r>
            <a:r>
              <a:rPr lang="es"/>
              <a:t> a </a:t>
            </a:r>
            <a:r>
              <a:rPr i="1" lang="es"/>
              <a:t>k</a:t>
            </a:r>
            <a:r>
              <a:rPr lang="es"/>
              <a:t>, y luego un camino de largo 1 de </a:t>
            </a:r>
            <a:r>
              <a:rPr i="1" lang="es"/>
              <a:t>k</a:t>
            </a:r>
            <a:r>
              <a:rPr lang="es"/>
              <a:t> a </a:t>
            </a:r>
            <a:r>
              <a:rPr i="1" lang="es"/>
              <a:t>j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Entonces, la cantidad de caminos de largo n+1  de i a j es la suma de la cantidad de caminos de largo n, multiplicado por la formas que hay para llegar de k a j en un paso ( → A)</a:t>
            </a:r>
            <a:endParaRPr/>
          </a:p>
        </p:txBody>
      </p:sp>
      <p:pic>
        <p:nvPicPr>
          <p:cNvPr id="214" name="Google Shape;21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1300" y="4176629"/>
            <a:ext cx="4454852" cy="61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5523" y="4144528"/>
            <a:ext cx="1050782" cy="50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Propiedades de los Autovectores y Autovalores</a:t>
            </a:r>
            <a:endParaRPr/>
          </a:p>
        </p:txBody>
      </p:sp>
      <p:sp>
        <p:nvSpPr>
          <p:cNvPr id="221" name="Google Shape;221;p4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autovectores y autovalores de la matriz de adyacencia nos permiten obtener: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Una medida de centralidad de los nodos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Una forma de clusterizar (comunidades)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Más sobre esto en Redes Complejas.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Definición formal de Árbol</a:t>
            </a:r>
            <a:endParaRPr/>
          </a:p>
        </p:txBody>
      </p:sp>
      <p:sp>
        <p:nvSpPr>
          <p:cNvPr id="227" name="Google Shape;227;p44"/>
          <p:cNvSpPr txBox="1"/>
          <p:nvPr>
            <p:ph idx="1" type="body"/>
          </p:nvPr>
        </p:nvSpPr>
        <p:spPr>
          <a:xfrm>
            <a:off x="311700" y="1171600"/>
            <a:ext cx="8520600" cy="4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Un Árbol es un Grafo no dirigido tal que: </a:t>
            </a:r>
            <a:endParaRPr/>
          </a:p>
        </p:txBody>
      </p:sp>
      <p:pic>
        <p:nvPicPr>
          <p:cNvPr id="228" name="Google Shape;22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9327" y="1219178"/>
            <a:ext cx="4429324" cy="42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4"/>
          <p:cNvSpPr txBox="1"/>
          <p:nvPr>
            <p:ph idx="1" type="body"/>
          </p:nvPr>
        </p:nvSpPr>
        <p:spPr>
          <a:xfrm>
            <a:off x="311700" y="2009800"/>
            <a:ext cx="8520600" cy="24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Esto implica las siguientes 3 propiedades: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árbol es conexo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árbol es acíclico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árbol tiene E = V - 1</a:t>
            </a:r>
            <a:endParaRPr/>
          </a:p>
        </p:txBody>
      </p:sp>
      <p:sp>
        <p:nvSpPr>
          <p:cNvPr id="230" name="Google Shape;230;p44"/>
          <p:cNvSpPr txBox="1"/>
          <p:nvPr/>
        </p:nvSpPr>
        <p:spPr>
          <a:xfrm>
            <a:off x="3217700" y="2571750"/>
            <a:ext cx="58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→ Por el absurdo, si no fuera conexo no existiría camino para todo v, w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1" name="Google Shape;231;p44"/>
          <p:cNvSpPr txBox="1"/>
          <p:nvPr/>
        </p:nvSpPr>
        <p:spPr>
          <a:xfrm>
            <a:off x="3225729" y="2804325"/>
            <a:ext cx="580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→ Por el absurdo, si hubiera ciclo, necesariamente hay dos vértices con más de un camino posible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</a:t>
            </a:r>
            <a:endParaRPr/>
          </a:p>
        </p:txBody>
      </p:sp>
      <p:sp>
        <p:nvSpPr>
          <p:cNvPr id="237" name="Google Shape;237;p45"/>
          <p:cNvSpPr txBox="1"/>
          <p:nvPr>
            <p:ph idx="1" type="body"/>
          </p:nvPr>
        </p:nvSpPr>
        <p:spPr>
          <a:xfrm>
            <a:off x="311700" y="1171600"/>
            <a:ext cx="8520600" cy="3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Teorema: todo árbol de al menos dos vértices, tiene al menos 2 vértices de grado 1.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Demostración por el absurdo: Suponemos se trata de un árbol que tiene menos de dos vértices con grado 1.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¿Qué pasa con el caso donde ningún vértice tiene grado 1?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Ok, no puede ser 0, entonces va a tener que ser 1.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Hacemos un recorrido, digamos DFS desde esa única hoja. Necesariamente ese DFS termina en un vértice de grado 1, o bien ese vértice final tiene que tener una arista a un vértice ya visitado → existe más de un camino entre ese par de vértices.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Volviendo… Demostramos E = V-1 por inducción</a:t>
            </a:r>
            <a:endParaRPr/>
          </a:p>
        </p:txBody>
      </p:sp>
      <p:sp>
        <p:nvSpPr>
          <p:cNvPr id="243" name="Google Shape;243;p4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Caso base: V = 1, E = 0 → ok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Caso inductivo: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Asumimos que esto es cierto para árboles con V vértices, … ¿V+1?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Aprovechando el Teorema</a:t>
            </a:r>
            <a:endParaRPr/>
          </a:p>
        </p:txBody>
      </p:sp>
      <p:sp>
        <p:nvSpPr>
          <p:cNvPr id="249" name="Google Shape;249;p4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T</a:t>
            </a:r>
            <a:r>
              <a:rPr lang="es"/>
              <a:t>odo árbol de al menos dos vértices, tiene al menos 2 vértices de grado 1.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Como T con V &gt;= 2, v una "hoja", vértice con grado 1 → T - {v} también es árbol.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T - {v}, es árbol, </a:t>
            </a:r>
            <a:endParaRPr/>
          </a:p>
          <a:p>
            <a:pPr indent="45720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y por hipótesis de inducción, tiene V-2 aristas.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Y nuestro árbol original T tenía un vértice y </a:t>
            </a:r>
            <a:r>
              <a:rPr b="1" lang="es"/>
              <a:t>una arista</a:t>
            </a:r>
            <a:r>
              <a:rPr lang="es"/>
              <a:t> más, por ende también cumple la propiedad → Demostrado por inducción.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Más detalles de árboles</a:t>
            </a:r>
            <a:endParaRPr/>
          </a:p>
        </p:txBody>
      </p:sp>
      <p:sp>
        <p:nvSpPr>
          <p:cNvPr id="255" name="Google Shape;255;p4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árbol es conexo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árbol es acíclico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árbol tiene E = V - 1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Si un grafo cumple 2 de esas 3 propiedades, cumple la tercera (y por ende, es un árbol). (También se puede demostrar que cumpliendo 2 es un árbol)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romanUcPeriod"/>
            </a:pPr>
            <a:r>
              <a:rPr lang="es"/>
              <a:t>G es conexo y acíclico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romanUcPeriod"/>
            </a:pPr>
            <a:r>
              <a:rPr lang="es"/>
              <a:t>G es acíclico y E = V - 1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romanUcPeriod"/>
            </a:pPr>
            <a:r>
              <a:rPr lang="es"/>
              <a:t>G es conexo y E = V - 1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 → II </a:t>
            </a:r>
            <a:r>
              <a:rPr lang="es" sz="1800"/>
              <a:t>G es conexo y acíclico → G es acíclico y E = V - 1</a:t>
            </a:r>
            <a:endParaRPr/>
          </a:p>
        </p:txBody>
      </p:sp>
      <p:sp>
        <p:nvSpPr>
          <p:cNvPr id="261" name="Google Shape;261;p4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 es acíclico por hipótesis.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 = V - 1 es lo demostrado antes en base a esto.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 es conexo y acíclico</a:t>
            </a:r>
            <a:r>
              <a:rPr lang="es" sz="1800"/>
              <a:t> → </a:t>
            </a:r>
            <a:r>
              <a:rPr lang="es"/>
              <a:t>E = V-1 por inducción</a:t>
            </a:r>
            <a:endParaRPr/>
          </a:p>
        </p:txBody>
      </p:sp>
      <p:sp>
        <p:nvSpPr>
          <p:cNvPr id="267" name="Google Shape;267;p50"/>
          <p:cNvSpPr txBox="1"/>
          <p:nvPr>
            <p:ph idx="1" type="body"/>
          </p:nvPr>
        </p:nvSpPr>
        <p:spPr>
          <a:xfrm>
            <a:off x="129175" y="1171600"/>
            <a:ext cx="87030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Caso base: V = 1, E = 0 → ok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Caso inductivo: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Asumimos que esto es cierto para un grafo conexo y acíclico con V vértices, … ¿V+1?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Caso Inductivo</a:t>
            </a:r>
            <a:endParaRPr/>
          </a:p>
        </p:txBody>
      </p:sp>
      <p:sp>
        <p:nvSpPr>
          <p:cNvPr id="273" name="Google Shape;273;p51"/>
          <p:cNvSpPr txBox="1"/>
          <p:nvPr>
            <p:ph idx="1" type="body"/>
          </p:nvPr>
        </p:nvSpPr>
        <p:spPr>
          <a:xfrm>
            <a:off x="311700" y="1171600"/>
            <a:ext cx="8520600" cy="36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Todo grafo conexo y acíclico de al menos dos vértices, tiene al menos 2 vértices de grado 1.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Como T con V &gt;= 2, v un vértice con grado 1 → T - {v} también es </a:t>
            </a:r>
            <a:r>
              <a:rPr lang="es"/>
              <a:t>conexo y acíclico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T - {v}, es </a:t>
            </a:r>
            <a:r>
              <a:rPr lang="es"/>
              <a:t>conexo y acíclico</a:t>
            </a:r>
            <a:r>
              <a:rPr lang="es"/>
              <a:t>, </a:t>
            </a:r>
            <a:endParaRPr/>
          </a:p>
          <a:p>
            <a:pPr indent="457200" lvl="0" marL="13716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y por hipótesis de inducción, tiene V-2 aristas.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Y nuestro grafo </a:t>
            </a:r>
            <a:r>
              <a:rPr lang="es"/>
              <a:t>conexo y acíclico </a:t>
            </a:r>
            <a:r>
              <a:rPr lang="es"/>
              <a:t>original T tenía un vértice y </a:t>
            </a:r>
            <a:r>
              <a:rPr b="1" lang="es"/>
              <a:t>una arista</a:t>
            </a:r>
            <a:r>
              <a:rPr lang="es"/>
              <a:t> más, por ende también cumple la propiedad → Demostrado por inducción.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II → III </a:t>
            </a:r>
            <a:r>
              <a:rPr lang="es" sz="1800"/>
              <a:t>G es acíclico y E = V - 1 →</a:t>
            </a:r>
            <a:r>
              <a:rPr lang="es"/>
              <a:t> </a:t>
            </a:r>
            <a:r>
              <a:rPr lang="es" sz="1800"/>
              <a:t>G es conexo y E = V - 1</a:t>
            </a:r>
            <a:endParaRPr/>
          </a:p>
        </p:txBody>
      </p:sp>
      <p:sp>
        <p:nvSpPr>
          <p:cNvPr id="279" name="Google Shape;279;p52"/>
          <p:cNvSpPr txBox="1"/>
          <p:nvPr>
            <p:ph idx="1" type="body"/>
          </p:nvPr>
        </p:nvSpPr>
        <p:spPr>
          <a:xfrm>
            <a:off x="311700" y="1171600"/>
            <a:ext cx="8520600" cy="21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 = V - 1 por hipótesis.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Vemos que es conexo por método directo: veamos cuántas K componentes conexas tenemos.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Cada componente conexa es acíclica (por hipótesis), y debe ser conexa (por definición). Entonces [Acabamos de probar I → II]: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80" name="Google Shape;28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381100"/>
            <a:ext cx="2126279" cy="4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973576"/>
            <a:ext cx="4218799" cy="82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8900" y="4082375"/>
            <a:ext cx="2754276" cy="27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III → I </a:t>
            </a:r>
            <a:r>
              <a:rPr lang="es" sz="1800"/>
              <a:t>G es conexo y E = V - 1 → G es conexo y acíclico</a:t>
            </a:r>
            <a:endParaRPr/>
          </a:p>
        </p:txBody>
      </p:sp>
      <p:sp>
        <p:nvSpPr>
          <p:cNvPr id="288" name="Google Shape;288;p5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 es conexo por </a:t>
            </a:r>
            <a:r>
              <a:rPr lang="es"/>
              <a:t>hipótesis</a:t>
            </a:r>
            <a:r>
              <a:rPr lang="es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Suponemos que G tiene t ciclos.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Sacando una arista por ciclo el grafo pasa a ser acíclico, y se mantiene conexo.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Como es acíclico y conexo entonces (I → II)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89" name="Google Shape;28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48" y="2823250"/>
            <a:ext cx="1495450" cy="25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500" y="3527949"/>
            <a:ext cx="3404178" cy="28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6575" y="3519850"/>
            <a:ext cx="1667044" cy="28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53"/>
          <p:cNvSpPr txBox="1"/>
          <p:nvPr>
            <p:ph idx="1" type="body"/>
          </p:nvPr>
        </p:nvSpPr>
        <p:spPr>
          <a:xfrm>
            <a:off x="311700" y="3808725"/>
            <a:ext cx="8520600" cy="7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Por hipótesis:</a:t>
            </a:r>
            <a:endParaRPr/>
          </a:p>
        </p:txBody>
      </p:sp>
      <p:pic>
        <p:nvPicPr>
          <p:cNvPr id="293" name="Google Shape;293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100" y="4348975"/>
            <a:ext cx="2843474" cy="28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Handshaking Lemma</a:t>
            </a:r>
            <a:endParaRPr/>
          </a:p>
        </p:txBody>
      </p:sp>
      <p:sp>
        <p:nvSpPr>
          <p:cNvPr id="299" name="Google Shape;299;p54"/>
          <p:cNvSpPr txBox="1"/>
          <p:nvPr>
            <p:ph idx="1" type="body"/>
          </p:nvPr>
        </p:nvSpPr>
        <p:spPr>
          <a:xfrm>
            <a:off x="311700" y="1171600"/>
            <a:ext cx="8520600" cy="10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todo grafo no dirigido, la cantidad de vértices con un grado impar, es par.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Por método directo: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34425"/>
            <a:ext cx="2640100" cy="72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972097"/>
            <a:ext cx="3767123" cy="56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651100"/>
            <a:ext cx="3287718" cy="561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4"/>
          <p:cNvSpPr txBox="1"/>
          <p:nvPr/>
        </p:nvSpPr>
        <p:spPr>
          <a:xfrm rot="5402411">
            <a:off x="3288644" y="3842102"/>
            <a:ext cx="42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}</a:t>
            </a:r>
            <a:endParaRPr sz="22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4" name="Google Shape;304;p54"/>
          <p:cNvSpPr txBox="1"/>
          <p:nvPr/>
        </p:nvSpPr>
        <p:spPr>
          <a:xfrm rot="5402411">
            <a:off x="2150244" y="3909377"/>
            <a:ext cx="427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}</a:t>
            </a:r>
            <a:endParaRPr sz="50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5" name="Google Shape;305;p54"/>
          <p:cNvSpPr txBox="1"/>
          <p:nvPr/>
        </p:nvSpPr>
        <p:spPr>
          <a:xfrm rot="5402411">
            <a:off x="834194" y="3949502"/>
            <a:ext cx="427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}</a:t>
            </a:r>
            <a:endParaRPr sz="50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6" name="Google Shape;306;p54"/>
          <p:cNvSpPr txBox="1"/>
          <p:nvPr/>
        </p:nvSpPr>
        <p:spPr>
          <a:xfrm>
            <a:off x="3256097" y="3947950"/>
            <a:ext cx="55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Par</a:t>
            </a:r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7" name="Google Shape;307;p54"/>
          <p:cNvSpPr txBox="1"/>
          <p:nvPr/>
        </p:nvSpPr>
        <p:spPr>
          <a:xfrm>
            <a:off x="2096150" y="4330100"/>
            <a:ext cx="55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Par</a:t>
            </a:r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8" name="Google Shape;308;p54"/>
          <p:cNvSpPr txBox="1"/>
          <p:nvPr/>
        </p:nvSpPr>
        <p:spPr>
          <a:xfrm>
            <a:off x="728350" y="4365025"/>
            <a:ext cx="7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→ </a:t>
            </a:r>
            <a:r>
              <a:rPr lang="e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Par</a:t>
            </a:r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09" name="Google Shape;309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16450" y="1627350"/>
            <a:ext cx="3183175" cy="33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grafo es bipartito sii no tiene ciclos impares</a:t>
            </a:r>
            <a:endParaRPr/>
          </a:p>
        </p:txBody>
      </p:sp>
      <p:sp>
        <p:nvSpPr>
          <p:cNvPr id="315" name="Google Shape;315;p55"/>
          <p:cNvSpPr txBox="1"/>
          <p:nvPr>
            <p:ph idx="1" type="body"/>
          </p:nvPr>
        </p:nvSpPr>
        <p:spPr>
          <a:xfrm>
            <a:off x="311700" y="1171600"/>
            <a:ext cx="8520600" cy="3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Si es bipartito → no tiene ciclos impares: método directo. 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600"/>
              <a:t>Si el grafo es bipartito, cualquier camino que vaya de una subcomponente otra vez a la misma tiene que ser de longitud par, y un ciclo empieza y termina en el mismo vértice ( → misma subcomponente) → de existir ciclo, debe ser de longitud par.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600"/>
              <a:t>Si todos los ciclos son de long par → es bipartito: Método directo, por construcción. 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600"/>
              <a:t>Tomemos cualquier vértice v</a:t>
            </a:r>
            <a:r>
              <a:rPr baseline="-25000" lang="es" sz="1600"/>
              <a:t>0</a:t>
            </a:r>
            <a:r>
              <a:rPr lang="es" sz="1600"/>
              <a:t>, tomemos la distancia en aristas de v</a:t>
            </a:r>
            <a:r>
              <a:rPr baseline="-25000" lang="es" sz="1600"/>
              <a:t>0</a:t>
            </a:r>
            <a:r>
              <a:rPr lang="es" sz="1600"/>
              <a:t> al resto de los vértices. Pintamos todos los vértices a distancia par de rojo, a los demás de azul. Los vértices que pertenezcan a cualquier ciclo, sin importar cuántas veces se atraviese el ciclo, conservan su paridad. Como no puede pasar, y lo separamos en 2 subconjuntos → es bipartito (validando para todos los vértices / CompConex)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Grafo Completo</a:t>
            </a:r>
            <a:endParaRPr/>
          </a:p>
        </p:txBody>
      </p:sp>
      <p:sp>
        <p:nvSpPr>
          <p:cNvPr id="321" name="Google Shape;321;p5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Un grafo en el que todos los vértices se conectan con todos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Cliques</a:t>
            </a:r>
            <a:endParaRPr/>
          </a:p>
        </p:txBody>
      </p:sp>
      <p:sp>
        <p:nvSpPr>
          <p:cNvPr id="327" name="Google Shape;327;p5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clique es un subgrafo completo.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Un 3-clique implica un subgrafo completo de 3 vértices, un 4-clique un subgrafo completo de 4, y así…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Grafos Hamiltonianos y Eulerianos</a:t>
            </a:r>
            <a:endParaRPr/>
          </a:p>
        </p:txBody>
      </p:sp>
      <p:sp>
        <p:nvSpPr>
          <p:cNvPr id="333" name="Google Shape;333;p5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Camino de Euler: Un camino que pasa por todas las aristas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Ciclo de Euler: Idem anterior, pero que empieza y termina en el mismo vértice.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Un grafo no dirigido tiene ciclo de Euler sii todos sus nodos tienen grado par. Un grafo tiene camino de Euler (no ciclo) sii tiene exactamente 2 vértices de grado impar.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Camino/Ciclo Hamiltoniano: similar, pero es un camino/ciclo que pasa por todos los vértices una única vez (en caso de ciclo, salvo al final, cerrando)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Tan similar… seguro son igual de dif</a:t>
            </a:r>
            <a:r>
              <a:rPr lang="es"/>
              <a:t>íciles de resolver estos problemas, ¿o no?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Grafos Regulares</a:t>
            </a:r>
            <a:endParaRPr/>
          </a:p>
        </p:txBody>
      </p:sp>
      <p:sp>
        <p:nvSpPr>
          <p:cNvPr id="339" name="Google Shape;339;p5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grafo d-regular es un grafo en el que todos los nodos tienen grado d. No implica que el grafo sea conexo.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Datazos de un grafo d-regular: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El vector unitario es autovector de la matriz de adyacencia, cuyo autovalor es d, y es el autovalor más grande (se usa esta noción para clusterizar).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Un grafo completo es un grafo regular.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Teorema Nash-Williams: todo grafo k-regular en un grafo con 2k+1 vértices tiene un ciclo Hamiltoniano.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Isomorfismos en Grafos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463" y="152400"/>
            <a:ext cx="4301065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Isomorfismos en Grafos</a:t>
            </a:r>
            <a:endParaRPr/>
          </a:p>
        </p:txBody>
      </p:sp>
      <p:pic>
        <p:nvPicPr>
          <p:cNvPr id="355" name="Google Shape;35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850" y="1538900"/>
            <a:ext cx="5029200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62"/>
          <p:cNvSpPr txBox="1"/>
          <p:nvPr/>
        </p:nvSpPr>
        <p:spPr>
          <a:xfrm>
            <a:off x="5548500" y="672300"/>
            <a:ext cx="361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latin typeface="Proxima Nova"/>
                <a:ea typeface="Proxima Nova"/>
                <a:cs typeface="Proxima Nova"/>
                <a:sym typeface="Proxima Nova"/>
              </a:rPr>
              <a:t>Vamos a hablar más adelante de cómo obtener esto.</a:t>
            </a:r>
            <a:endParaRPr i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57" name="Google Shape;357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5300" y="1515700"/>
            <a:ext cx="3582250" cy="28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de Isomorfismos</a:t>
            </a:r>
            <a:endParaRPr/>
          </a:p>
        </p:txBody>
      </p:sp>
      <p:sp>
        <p:nvSpPr>
          <p:cNvPr id="363" name="Google Shape;363;p6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 y H son dos grafos con matrices de adyacencia A y B, respectivamente.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G y H isomórficos sii existe matriz de Permutación P tal que B = PAP</a:t>
            </a:r>
            <a:r>
              <a:rPr baseline="30000" lang="es"/>
              <a:t>-1</a:t>
            </a:r>
            <a:endParaRPr baseline="30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¿Okey qu</a:t>
            </a:r>
            <a:r>
              <a:rPr lang="es"/>
              <a:t>é acaba de pasar hoy?</a:t>
            </a:r>
            <a:endParaRPr/>
          </a:p>
        </p:txBody>
      </p:sp>
      <p:sp>
        <p:nvSpPr>
          <p:cNvPr id="369" name="Google Shape;369;p6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Vimos muchas demostraciones de propiedades de grafos… ¿por qu</a:t>
            </a:r>
            <a:r>
              <a:rPr lang="es"/>
              <a:t>é?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Más allá que sea útil haber </a:t>
            </a:r>
            <a:r>
              <a:rPr lang="es"/>
              <a:t>visto</a:t>
            </a:r>
            <a:r>
              <a:rPr lang="es"/>
              <a:t> algunas cosas, la idea es mostrar la metodología de como se </a:t>
            </a:r>
            <a:r>
              <a:rPr b="1" lang="es"/>
              <a:t>demuestra</a:t>
            </a:r>
            <a:r>
              <a:rPr lang="es"/>
              <a:t> algo. Es un procedimiento lógico, no es un "se me reveló en un sueño" o "pude escribirlo, entonces es correcto".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¿Van a ser todas las clases así?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No tan así, pero hay clases y clases…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