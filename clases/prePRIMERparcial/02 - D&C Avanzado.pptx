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Lst>
  <p:sldSz cy="5143500" cx="9144000"/>
  <p:notesSz cx="6858000" cy="9144000"/>
  <p:embeddedFontLst>
    <p:embeddedFont>
      <p:font typeface="Proxima Nova"/>
      <p:regular r:id="rId78"/>
      <p:bold r:id="rId79"/>
      <p:italic r:id="rId80"/>
      <p:boldItalic r:id="rId81"/>
    </p:embeddedFont>
    <p:embeddedFont>
      <p:font typeface="Varela Round"/>
      <p:regular r:id="rId82"/>
    </p:embeddedFont>
    <p:embeddedFont>
      <p:font typeface="Old Standard TT"/>
      <p:regular r:id="rId83"/>
      <p:bold r:id="rId84"/>
      <p:italic r:id="rId85"/>
    </p:embeddedFont>
    <p:embeddedFont>
      <p:font typeface="Roboto Mono"/>
      <p:regular r:id="rId86"/>
      <p:bold r:id="rId87"/>
      <p:italic r:id="rId88"/>
      <p:boldItalic r:id="rId8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OldStandardTT-bold.fntdata"/><Relationship Id="rId83" Type="http://schemas.openxmlformats.org/officeDocument/2006/relationships/font" Target="fonts/OldStandardTT-regular.fntdata"/><Relationship Id="rId42" Type="http://schemas.openxmlformats.org/officeDocument/2006/relationships/slide" Target="slides/slide36.xml"/><Relationship Id="rId86" Type="http://schemas.openxmlformats.org/officeDocument/2006/relationships/font" Target="fonts/RobotoMono-regular.fntdata"/><Relationship Id="rId41" Type="http://schemas.openxmlformats.org/officeDocument/2006/relationships/slide" Target="slides/slide35.xml"/><Relationship Id="rId85" Type="http://schemas.openxmlformats.org/officeDocument/2006/relationships/font" Target="fonts/OldStandardTT-italic.fntdata"/><Relationship Id="rId44" Type="http://schemas.openxmlformats.org/officeDocument/2006/relationships/slide" Target="slides/slide38.xml"/><Relationship Id="rId88" Type="http://schemas.openxmlformats.org/officeDocument/2006/relationships/font" Target="fonts/RobotoMono-italic.fntdata"/><Relationship Id="rId43" Type="http://schemas.openxmlformats.org/officeDocument/2006/relationships/slide" Target="slides/slide37.xml"/><Relationship Id="rId87" Type="http://schemas.openxmlformats.org/officeDocument/2006/relationships/font" Target="fonts/RobotoMono-bold.fntdata"/><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font" Target="fonts/RobotoMono-boldItalic.fntdata"/><Relationship Id="rId80" Type="http://schemas.openxmlformats.org/officeDocument/2006/relationships/font" Target="fonts/ProximaNova-italic.fntdata"/><Relationship Id="rId82" Type="http://schemas.openxmlformats.org/officeDocument/2006/relationships/font" Target="fonts/VarelaRound-regular.fntdata"/><Relationship Id="rId81" Type="http://schemas.openxmlformats.org/officeDocument/2006/relationships/font" Target="fonts/ProximaNova-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font" Target="fonts/ProximaNova-bold.fntdata"/><Relationship Id="rId34" Type="http://schemas.openxmlformats.org/officeDocument/2006/relationships/slide" Target="slides/slide28.xml"/><Relationship Id="rId78" Type="http://schemas.openxmlformats.org/officeDocument/2006/relationships/font" Target="fonts/ProximaNova-regular.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9b03970d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9b03970d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cf73ae9cd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cf73ae9cd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1d1780cf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1d1780cf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3b8522c09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3b8522c09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f43ae5d80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f43ae5d80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f43ae5d80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f43ae5d80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a:solidFill>
                  <a:schemeClr val="dk1"/>
                </a:solidFill>
              </a:rPr>
              <a:t>Son otro tipo de algoritmos, técnicas que suelen utilizarse para resolver ciertos tipos de problemas en particular. En general, si el problema tiene ciertas características, uno sabe que puede utilizar uno u otro. D&amp;C es un tipo de técnica.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3b8da53540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3b8da5354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3b8da53540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3b8da53540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d4124c898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d4124c898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d4124c898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d4124c898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d4124c898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d4124c898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dcce2741e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dcce2741e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d4124c898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d4124c898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d4124c898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d4124c898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d4124c8986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d4124c8986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d4124c8986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d4124c8986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d4124c8986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d4124c8986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d4124c8986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d4124c8986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f43ae5d80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f43ae5d80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3b8da53540_0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13b8da53540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3b8da535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3b8da535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1d4124c8986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1d4124c8986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d4124c8986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1d4124c8986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d4124c8986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d4124c8986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d4124c8986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d4124c8986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1e3cd9604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1e3cd9604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1e3cd96044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21e3cd96044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Por fuerza bruta calcular distancia, obteniendo la proyección.</a:t>
            </a:r>
            <a:endParaRPr/>
          </a:p>
          <a:p>
            <a:pPr indent="0" lvl="0" marL="0" rtl="0" algn="l">
              <a:spcBef>
                <a:spcPts val="0"/>
              </a:spcBef>
              <a:spcAft>
                <a:spcPts val="0"/>
              </a:spcAft>
              <a:buNone/>
            </a:pPr>
            <a:r>
              <a:rPr lang="es"/>
              <a:t>Luego ver el máximo → O(n)</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1e3cd9604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21e3cd9604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1e3cd9604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1e3cd9604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1e3cd96044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1e3cd96044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1e3cd96044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21e3cd96044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1d4124c8986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1d4124c8986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d4124c8986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1d4124c8986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d4124c8986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1d4124c8986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d4124c8986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1d4124c8986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d4124c8986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1d4124c8986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1d4124c8986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1d4124c8986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1d9d35196c0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1d9d35196c0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d9d35196c0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1d9d35196c0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1d9d35196c0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1d9d35196c0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d9d35196c0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1d9d35196c0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1d9d35196c0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1d9d35196c0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f6813a024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f6813a024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f6813a024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f6813a024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f6813a024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f6813a024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f6813a024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f6813a024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f6813a024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f6813a024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f6813a024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f6813a024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f6813a0245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f6813a0245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f6813a0245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f6813a0245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21e3cd96044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21e3cd9604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21e3cd96044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21e3cd96044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21e3cd96044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21e3cd9604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21e3cd96044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21e3cd96044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21e3cd96044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21e3cd96044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21e3cd96044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21e3cd96044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21e3cd96044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21e3cd96044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21e3cd96044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21e3cd96044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21e3cd96044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21e3cd96044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21e3cd96044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21e3cd96044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21e3cd96044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21e3cd96044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21e3cd96044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21e3cd96044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21e3cd96044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21e3cd96044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21e3cd96044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21e3cd96044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21e3cd96044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21e3cd96044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21e3cd96044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21e3cd96044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21e3cd96044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21e3cd96044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21e3cd96044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21e3cd96044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21e3cd96044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21e3cd96044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21e3cd96044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21e3cd96044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21e3cd96044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21e3cd96044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rgbClr val="FFFFFF"/>
              </a:buClr>
              <a:buSzPts val="4200"/>
              <a:buFont typeface="Proxima Nova"/>
              <a:buNone/>
              <a:defRPr sz="4200">
                <a:solidFill>
                  <a:srgbClr val="FFFFFF"/>
                </a:solidFill>
                <a:latin typeface="Proxima Nova"/>
                <a:ea typeface="Proxima Nova"/>
                <a:cs typeface="Proxima Nova"/>
                <a:sym typeface="Proxima Nova"/>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Font typeface="Proxima Nova"/>
              <a:buNone/>
              <a:defRPr sz="2400">
                <a:solidFill>
                  <a:schemeClr val="accent2"/>
                </a:solidFill>
                <a:latin typeface="Proxima Nova"/>
                <a:ea typeface="Proxima Nova"/>
                <a:cs typeface="Proxima Nova"/>
                <a:sym typeface="Proxima Nova"/>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Font typeface="Proxima Nova"/>
              <a:buChar char="●"/>
              <a:defRPr>
                <a:latin typeface="Proxima Nova"/>
                <a:ea typeface="Proxima Nova"/>
                <a:cs typeface="Proxima Nova"/>
                <a:sym typeface="Proxima Nova"/>
              </a:defRPr>
            </a:lvl1pPr>
            <a:lvl2pPr indent="-317500" lvl="1" marL="914400">
              <a:spcBef>
                <a:spcPts val="1600"/>
              </a:spcBef>
              <a:spcAft>
                <a:spcPts val="0"/>
              </a:spcAft>
              <a:buSzPts val="1400"/>
              <a:buFont typeface="Proxima Nova"/>
              <a:buChar char="○"/>
              <a:defRPr>
                <a:latin typeface="Proxima Nova"/>
                <a:ea typeface="Proxima Nova"/>
                <a:cs typeface="Proxima Nova"/>
                <a:sym typeface="Proxima Nova"/>
              </a:defRPr>
            </a:lvl2pPr>
            <a:lvl3pPr indent="-317500" lvl="2" marL="1371600">
              <a:spcBef>
                <a:spcPts val="1600"/>
              </a:spcBef>
              <a:spcAft>
                <a:spcPts val="0"/>
              </a:spcAft>
              <a:buSzPts val="1400"/>
              <a:buFont typeface="Proxima Nova"/>
              <a:buChar char="■"/>
              <a:defRPr>
                <a:latin typeface="Proxima Nova"/>
                <a:ea typeface="Proxima Nova"/>
                <a:cs typeface="Proxima Nova"/>
                <a:sym typeface="Proxima Nova"/>
              </a:defRPr>
            </a:lvl3pPr>
            <a:lvl4pPr indent="-317500" lvl="3" marL="1828800">
              <a:spcBef>
                <a:spcPts val="1600"/>
              </a:spcBef>
              <a:spcAft>
                <a:spcPts val="0"/>
              </a:spcAft>
              <a:buSzPts val="1400"/>
              <a:buFont typeface="Proxima Nova"/>
              <a:buChar char="●"/>
              <a:defRPr>
                <a:latin typeface="Proxima Nova"/>
                <a:ea typeface="Proxima Nova"/>
                <a:cs typeface="Proxima Nova"/>
                <a:sym typeface="Proxima Nova"/>
              </a:defRPr>
            </a:lvl4pPr>
            <a:lvl5pPr indent="-317500" lvl="4" marL="2286000">
              <a:spcBef>
                <a:spcPts val="1600"/>
              </a:spcBef>
              <a:spcAft>
                <a:spcPts val="0"/>
              </a:spcAft>
              <a:buSzPts val="1400"/>
              <a:buFont typeface="Proxima Nova"/>
              <a:buChar char="○"/>
              <a:defRPr>
                <a:latin typeface="Proxima Nova"/>
                <a:ea typeface="Proxima Nova"/>
                <a:cs typeface="Proxima Nova"/>
                <a:sym typeface="Proxima Nova"/>
              </a:defRPr>
            </a:lvl5pPr>
            <a:lvl6pPr indent="-317500" lvl="5" marL="2743200">
              <a:spcBef>
                <a:spcPts val="1600"/>
              </a:spcBef>
              <a:spcAft>
                <a:spcPts val="0"/>
              </a:spcAft>
              <a:buSzPts val="1400"/>
              <a:buFont typeface="Proxima Nova"/>
              <a:buChar char="■"/>
              <a:defRPr>
                <a:latin typeface="Proxima Nova"/>
                <a:ea typeface="Proxima Nova"/>
                <a:cs typeface="Proxima Nova"/>
                <a:sym typeface="Proxima Nova"/>
              </a:defRPr>
            </a:lvl6pPr>
            <a:lvl7pPr indent="-317500" lvl="6" marL="3200400">
              <a:spcBef>
                <a:spcPts val="1600"/>
              </a:spcBef>
              <a:spcAft>
                <a:spcPts val="0"/>
              </a:spcAft>
              <a:buSzPts val="1400"/>
              <a:buFont typeface="Proxima Nova"/>
              <a:buChar char="●"/>
              <a:defRPr>
                <a:latin typeface="Proxima Nova"/>
                <a:ea typeface="Proxima Nova"/>
                <a:cs typeface="Proxima Nova"/>
                <a:sym typeface="Proxima Nova"/>
              </a:defRPr>
            </a:lvl7pPr>
            <a:lvl8pPr indent="-317500" lvl="7" marL="3657600">
              <a:spcBef>
                <a:spcPts val="1600"/>
              </a:spcBef>
              <a:spcAft>
                <a:spcPts val="0"/>
              </a:spcAft>
              <a:buSzPts val="1400"/>
              <a:buFont typeface="Proxima Nova"/>
              <a:buChar char="○"/>
              <a:defRPr>
                <a:latin typeface="Proxima Nova"/>
                <a:ea typeface="Proxima Nova"/>
                <a:cs typeface="Proxima Nova"/>
                <a:sym typeface="Proxima Nova"/>
              </a:defRPr>
            </a:lvl8pPr>
            <a:lvl9pPr indent="-317500" lvl="8" marL="4114800">
              <a:spcBef>
                <a:spcPts val="1600"/>
              </a:spcBef>
              <a:spcAft>
                <a:spcPts val="1600"/>
              </a:spcAft>
              <a:buSzPts val="1400"/>
              <a:buFont typeface="Proxima Nova"/>
              <a:buChar char="■"/>
              <a:defRPr>
                <a:latin typeface="Proxima Nova"/>
                <a:ea typeface="Proxima Nova"/>
                <a:cs typeface="Proxima Nova"/>
                <a:sym typeface="Proxima Nova"/>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Font typeface="Proxima Nova"/>
              <a:buNone/>
              <a:defRPr sz="5400">
                <a:solidFill>
                  <a:schemeClr val="accent1"/>
                </a:solidFill>
                <a:latin typeface="Proxima Nova"/>
                <a:ea typeface="Proxima Nova"/>
                <a:cs typeface="Proxima Nova"/>
                <a:sym typeface="Proxima Nova"/>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59" name="Shape 59"/>
        <p:cNvGrpSpPr/>
        <p:nvPr/>
      </p:nvGrpSpPr>
      <p:grpSpPr>
        <a:xfrm>
          <a:off x="0" y="0"/>
          <a:ext cx="0" cy="0"/>
          <a:chOff x="0" y="0"/>
          <a:chExt cx="0" cy="0"/>
        </a:xfrm>
      </p:grpSpPr>
      <p:sp>
        <p:nvSpPr>
          <p:cNvPr id="60" name="Google Shape;60;p14"/>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14"/>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62" name="Google Shape;62;p14"/>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4200"/>
              <a:buFont typeface="Proxima Nova"/>
              <a:buNone/>
              <a:defRPr sz="4200">
                <a:solidFill>
                  <a:srgbClr val="FFFFFF"/>
                </a:solidFill>
                <a:latin typeface="Proxima Nova"/>
                <a:ea typeface="Proxima Nova"/>
                <a:cs typeface="Proxima Nova"/>
                <a:sym typeface="Proxima Nova"/>
              </a:defRPr>
            </a:lvl1pPr>
            <a:lvl2pPr lvl="1" rtl="0">
              <a:spcBef>
                <a:spcPts val="0"/>
              </a:spcBef>
              <a:spcAft>
                <a:spcPts val="0"/>
              </a:spcAft>
              <a:buClr>
                <a:schemeClr val="accent1"/>
              </a:buClr>
              <a:buSzPts val="4200"/>
              <a:buNone/>
              <a:defRPr sz="4200">
                <a:solidFill>
                  <a:schemeClr val="accent1"/>
                </a:solidFill>
              </a:defRPr>
            </a:lvl2pPr>
            <a:lvl3pPr lvl="2" rtl="0">
              <a:spcBef>
                <a:spcPts val="0"/>
              </a:spcBef>
              <a:spcAft>
                <a:spcPts val="0"/>
              </a:spcAft>
              <a:buClr>
                <a:schemeClr val="accent1"/>
              </a:buClr>
              <a:buSzPts val="4200"/>
              <a:buNone/>
              <a:defRPr sz="4200">
                <a:solidFill>
                  <a:schemeClr val="accent1"/>
                </a:solidFill>
              </a:defRPr>
            </a:lvl3pPr>
            <a:lvl4pPr lvl="3" rtl="0">
              <a:spcBef>
                <a:spcPts val="0"/>
              </a:spcBef>
              <a:spcAft>
                <a:spcPts val="0"/>
              </a:spcAft>
              <a:buClr>
                <a:schemeClr val="accent1"/>
              </a:buClr>
              <a:buSzPts val="4200"/>
              <a:buNone/>
              <a:defRPr sz="4200">
                <a:solidFill>
                  <a:schemeClr val="accent1"/>
                </a:solidFill>
              </a:defRPr>
            </a:lvl4pPr>
            <a:lvl5pPr lvl="4" rtl="0">
              <a:spcBef>
                <a:spcPts val="0"/>
              </a:spcBef>
              <a:spcAft>
                <a:spcPts val="0"/>
              </a:spcAft>
              <a:buClr>
                <a:schemeClr val="accent1"/>
              </a:buClr>
              <a:buSzPts val="4200"/>
              <a:buNone/>
              <a:defRPr sz="4200">
                <a:solidFill>
                  <a:schemeClr val="accent1"/>
                </a:solidFill>
              </a:defRPr>
            </a:lvl5pPr>
            <a:lvl6pPr lvl="5" rtl="0">
              <a:spcBef>
                <a:spcPts val="0"/>
              </a:spcBef>
              <a:spcAft>
                <a:spcPts val="0"/>
              </a:spcAft>
              <a:buClr>
                <a:schemeClr val="accent1"/>
              </a:buClr>
              <a:buSzPts val="4200"/>
              <a:buNone/>
              <a:defRPr sz="4200">
                <a:solidFill>
                  <a:schemeClr val="accent1"/>
                </a:solidFill>
              </a:defRPr>
            </a:lvl6pPr>
            <a:lvl7pPr lvl="6" rtl="0">
              <a:spcBef>
                <a:spcPts val="0"/>
              </a:spcBef>
              <a:spcAft>
                <a:spcPts val="0"/>
              </a:spcAft>
              <a:buClr>
                <a:schemeClr val="accent1"/>
              </a:buClr>
              <a:buSzPts val="4200"/>
              <a:buNone/>
              <a:defRPr sz="4200">
                <a:solidFill>
                  <a:schemeClr val="accent1"/>
                </a:solidFill>
              </a:defRPr>
            </a:lvl7pPr>
            <a:lvl8pPr lvl="7" rtl="0">
              <a:spcBef>
                <a:spcPts val="0"/>
              </a:spcBef>
              <a:spcAft>
                <a:spcPts val="0"/>
              </a:spcAft>
              <a:buClr>
                <a:schemeClr val="accent1"/>
              </a:buClr>
              <a:buSzPts val="4200"/>
              <a:buNone/>
              <a:defRPr sz="4200">
                <a:solidFill>
                  <a:schemeClr val="accent1"/>
                </a:solidFill>
              </a:defRPr>
            </a:lvl8pPr>
            <a:lvl9pPr lvl="8" rtl="0">
              <a:spcBef>
                <a:spcPts val="0"/>
              </a:spcBef>
              <a:spcAft>
                <a:spcPts val="0"/>
              </a:spcAft>
              <a:buClr>
                <a:schemeClr val="accent1"/>
              </a:buClr>
              <a:buSzPts val="4200"/>
              <a:buNone/>
              <a:defRPr sz="4200">
                <a:solidFill>
                  <a:schemeClr val="accent1"/>
                </a:solidFill>
              </a:defRPr>
            </a:lvl9pPr>
          </a:lstStyle>
          <a:p/>
        </p:txBody>
      </p:sp>
      <p:sp>
        <p:nvSpPr>
          <p:cNvPr id="63" name="Google Shape;63;p14"/>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2400"/>
              <a:buFont typeface="Proxima Nova"/>
              <a:buNone/>
              <a:defRPr sz="2400">
                <a:solidFill>
                  <a:schemeClr val="accent2"/>
                </a:solidFill>
                <a:latin typeface="Proxima Nova"/>
                <a:ea typeface="Proxima Nova"/>
                <a:cs typeface="Proxima Nova"/>
                <a:sym typeface="Proxima Nova"/>
              </a:defRPr>
            </a:lvl1pPr>
            <a:lvl2pPr lvl="1" rtl="0">
              <a:lnSpc>
                <a:spcPct val="100000"/>
              </a:lnSpc>
              <a:spcBef>
                <a:spcPts val="0"/>
              </a:spcBef>
              <a:spcAft>
                <a:spcPts val="0"/>
              </a:spcAft>
              <a:buClr>
                <a:schemeClr val="accent2"/>
              </a:buClr>
              <a:buSzPts val="2400"/>
              <a:buNone/>
              <a:defRPr sz="2400">
                <a:solidFill>
                  <a:schemeClr val="accent2"/>
                </a:solidFill>
              </a:defRPr>
            </a:lvl2pPr>
            <a:lvl3pPr lvl="2" rtl="0">
              <a:lnSpc>
                <a:spcPct val="100000"/>
              </a:lnSpc>
              <a:spcBef>
                <a:spcPts val="0"/>
              </a:spcBef>
              <a:spcAft>
                <a:spcPts val="0"/>
              </a:spcAft>
              <a:buClr>
                <a:schemeClr val="accent2"/>
              </a:buClr>
              <a:buSzPts val="2400"/>
              <a:buNone/>
              <a:defRPr sz="2400">
                <a:solidFill>
                  <a:schemeClr val="accent2"/>
                </a:solidFill>
              </a:defRPr>
            </a:lvl3pPr>
            <a:lvl4pPr lvl="3" rtl="0">
              <a:lnSpc>
                <a:spcPct val="100000"/>
              </a:lnSpc>
              <a:spcBef>
                <a:spcPts val="0"/>
              </a:spcBef>
              <a:spcAft>
                <a:spcPts val="0"/>
              </a:spcAft>
              <a:buClr>
                <a:schemeClr val="accent2"/>
              </a:buClr>
              <a:buSzPts val="2400"/>
              <a:buNone/>
              <a:defRPr sz="2400">
                <a:solidFill>
                  <a:schemeClr val="accent2"/>
                </a:solidFill>
              </a:defRPr>
            </a:lvl4pPr>
            <a:lvl5pPr lvl="4" rtl="0">
              <a:lnSpc>
                <a:spcPct val="100000"/>
              </a:lnSpc>
              <a:spcBef>
                <a:spcPts val="0"/>
              </a:spcBef>
              <a:spcAft>
                <a:spcPts val="0"/>
              </a:spcAft>
              <a:buClr>
                <a:schemeClr val="accent2"/>
              </a:buClr>
              <a:buSzPts val="2400"/>
              <a:buNone/>
              <a:defRPr sz="2400">
                <a:solidFill>
                  <a:schemeClr val="accent2"/>
                </a:solidFill>
              </a:defRPr>
            </a:lvl5pPr>
            <a:lvl6pPr lvl="5" rtl="0">
              <a:lnSpc>
                <a:spcPct val="100000"/>
              </a:lnSpc>
              <a:spcBef>
                <a:spcPts val="0"/>
              </a:spcBef>
              <a:spcAft>
                <a:spcPts val="0"/>
              </a:spcAft>
              <a:buClr>
                <a:schemeClr val="accent2"/>
              </a:buClr>
              <a:buSzPts val="2400"/>
              <a:buNone/>
              <a:defRPr sz="2400">
                <a:solidFill>
                  <a:schemeClr val="accent2"/>
                </a:solidFill>
              </a:defRPr>
            </a:lvl6pPr>
            <a:lvl7pPr lvl="6" rtl="0">
              <a:lnSpc>
                <a:spcPct val="100000"/>
              </a:lnSpc>
              <a:spcBef>
                <a:spcPts val="0"/>
              </a:spcBef>
              <a:spcAft>
                <a:spcPts val="0"/>
              </a:spcAft>
              <a:buClr>
                <a:schemeClr val="accent2"/>
              </a:buClr>
              <a:buSzPts val="2400"/>
              <a:buNone/>
              <a:defRPr sz="2400">
                <a:solidFill>
                  <a:schemeClr val="accent2"/>
                </a:solidFill>
              </a:defRPr>
            </a:lvl7pPr>
            <a:lvl8pPr lvl="7" rtl="0">
              <a:lnSpc>
                <a:spcPct val="100000"/>
              </a:lnSpc>
              <a:spcBef>
                <a:spcPts val="0"/>
              </a:spcBef>
              <a:spcAft>
                <a:spcPts val="0"/>
              </a:spcAft>
              <a:buClr>
                <a:schemeClr val="accent2"/>
              </a:buClr>
              <a:buSzPts val="2400"/>
              <a:buNone/>
              <a:defRPr sz="2400">
                <a:solidFill>
                  <a:schemeClr val="accent2"/>
                </a:solidFill>
              </a:defRPr>
            </a:lvl8pPr>
            <a:lvl9pPr lvl="8" rtl="0">
              <a:lnSpc>
                <a:spcPct val="100000"/>
              </a:lnSpc>
              <a:spcBef>
                <a:spcPts val="0"/>
              </a:spcBef>
              <a:spcAft>
                <a:spcPts val="0"/>
              </a:spcAft>
              <a:buClr>
                <a:schemeClr val="accent2"/>
              </a:buClr>
              <a:buSzPts val="2400"/>
              <a:buNone/>
              <a:defRPr sz="2400">
                <a:solidFill>
                  <a:schemeClr val="accent2"/>
                </a:solidFill>
              </a:defRPr>
            </a:lvl9pPr>
          </a:lstStyle>
          <a:p/>
        </p:txBody>
      </p:sp>
      <p:sp>
        <p:nvSpPr>
          <p:cNvPr id="64" name="Google Shape;64;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 name="Shape 65"/>
        <p:cNvGrpSpPr/>
        <p:nvPr/>
      </p:nvGrpSpPr>
      <p:grpSpPr>
        <a:xfrm>
          <a:off x="0" y="0"/>
          <a:ext cx="0" cy="0"/>
          <a:chOff x="0" y="0"/>
          <a:chExt cx="0" cy="0"/>
        </a:xfrm>
      </p:grpSpPr>
      <p:cxnSp>
        <p:nvCxnSpPr>
          <p:cNvPr id="66" name="Google Shape;66;p15"/>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67" name="Google Shape;67;p15"/>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accent1"/>
              </a:buClr>
              <a:buSzPts val="6000"/>
              <a:buNone/>
              <a:defRPr sz="6000">
                <a:solidFill>
                  <a:schemeClr val="accent1"/>
                </a:solidFill>
              </a:defRPr>
            </a:lvl1pPr>
            <a:lvl2pPr lvl="1" rtl="0">
              <a:spcBef>
                <a:spcPts val="0"/>
              </a:spcBef>
              <a:spcAft>
                <a:spcPts val="0"/>
              </a:spcAft>
              <a:buClr>
                <a:schemeClr val="accent1"/>
              </a:buClr>
              <a:buSzPts val="6000"/>
              <a:buNone/>
              <a:defRPr sz="6000">
                <a:solidFill>
                  <a:schemeClr val="accent1"/>
                </a:solidFill>
              </a:defRPr>
            </a:lvl2pPr>
            <a:lvl3pPr lvl="2" rtl="0">
              <a:spcBef>
                <a:spcPts val="0"/>
              </a:spcBef>
              <a:spcAft>
                <a:spcPts val="0"/>
              </a:spcAft>
              <a:buClr>
                <a:schemeClr val="accent1"/>
              </a:buClr>
              <a:buSzPts val="6000"/>
              <a:buNone/>
              <a:defRPr sz="6000">
                <a:solidFill>
                  <a:schemeClr val="accent1"/>
                </a:solidFill>
              </a:defRPr>
            </a:lvl3pPr>
            <a:lvl4pPr lvl="3" rtl="0">
              <a:spcBef>
                <a:spcPts val="0"/>
              </a:spcBef>
              <a:spcAft>
                <a:spcPts val="0"/>
              </a:spcAft>
              <a:buClr>
                <a:schemeClr val="accent1"/>
              </a:buClr>
              <a:buSzPts val="6000"/>
              <a:buNone/>
              <a:defRPr sz="6000">
                <a:solidFill>
                  <a:schemeClr val="accent1"/>
                </a:solidFill>
              </a:defRPr>
            </a:lvl4pPr>
            <a:lvl5pPr lvl="4" rtl="0">
              <a:spcBef>
                <a:spcPts val="0"/>
              </a:spcBef>
              <a:spcAft>
                <a:spcPts val="0"/>
              </a:spcAft>
              <a:buClr>
                <a:schemeClr val="accent1"/>
              </a:buClr>
              <a:buSzPts val="6000"/>
              <a:buNone/>
              <a:defRPr sz="6000">
                <a:solidFill>
                  <a:schemeClr val="accent1"/>
                </a:solidFill>
              </a:defRPr>
            </a:lvl5pPr>
            <a:lvl6pPr lvl="5" rtl="0">
              <a:spcBef>
                <a:spcPts val="0"/>
              </a:spcBef>
              <a:spcAft>
                <a:spcPts val="0"/>
              </a:spcAft>
              <a:buClr>
                <a:schemeClr val="accent1"/>
              </a:buClr>
              <a:buSzPts val="6000"/>
              <a:buNone/>
              <a:defRPr sz="6000">
                <a:solidFill>
                  <a:schemeClr val="accent1"/>
                </a:solidFill>
              </a:defRPr>
            </a:lvl6pPr>
            <a:lvl7pPr lvl="6" rtl="0">
              <a:spcBef>
                <a:spcPts val="0"/>
              </a:spcBef>
              <a:spcAft>
                <a:spcPts val="0"/>
              </a:spcAft>
              <a:buClr>
                <a:schemeClr val="accent1"/>
              </a:buClr>
              <a:buSzPts val="6000"/>
              <a:buNone/>
              <a:defRPr sz="6000">
                <a:solidFill>
                  <a:schemeClr val="accent1"/>
                </a:solidFill>
              </a:defRPr>
            </a:lvl7pPr>
            <a:lvl8pPr lvl="7" rtl="0">
              <a:spcBef>
                <a:spcPts val="0"/>
              </a:spcBef>
              <a:spcAft>
                <a:spcPts val="0"/>
              </a:spcAft>
              <a:buClr>
                <a:schemeClr val="accent1"/>
              </a:buClr>
              <a:buSzPts val="6000"/>
              <a:buNone/>
              <a:defRPr sz="6000">
                <a:solidFill>
                  <a:schemeClr val="accent1"/>
                </a:solidFill>
              </a:defRPr>
            </a:lvl8pPr>
            <a:lvl9pPr lvl="8" rtl="0">
              <a:spcBef>
                <a:spcPts val="0"/>
              </a:spcBef>
              <a:spcAft>
                <a:spcPts val="0"/>
              </a:spcAft>
              <a:buClr>
                <a:schemeClr val="accent1"/>
              </a:buClr>
              <a:buSzPts val="6000"/>
              <a:buNone/>
              <a:defRPr sz="6000">
                <a:solidFill>
                  <a:schemeClr val="accent1"/>
                </a:solidFill>
              </a:defRPr>
            </a:lvl9pPr>
          </a:lstStyle>
          <a:p/>
        </p:txBody>
      </p:sp>
      <p:sp>
        <p:nvSpPr>
          <p:cNvPr id="68" name="Google Shape;68;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9" name="Shape 69"/>
        <p:cNvGrpSpPr/>
        <p:nvPr/>
      </p:nvGrpSpPr>
      <p:grpSpPr>
        <a:xfrm>
          <a:off x="0" y="0"/>
          <a:ext cx="0" cy="0"/>
          <a:chOff x="0" y="0"/>
          <a:chExt cx="0" cy="0"/>
        </a:xfrm>
      </p:grpSpPr>
      <p:sp>
        <p:nvSpPr>
          <p:cNvPr id="70" name="Google Shape;70;p1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Font typeface="Proxima Nova"/>
              <a:buNone/>
              <a:defRPr>
                <a:latin typeface="Proxima Nova"/>
                <a:ea typeface="Proxima Nova"/>
                <a:cs typeface="Proxima Nova"/>
                <a:sym typeface="Proxima Nova"/>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2" name="Google Shape;72;p1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Font typeface="Proxima Nova"/>
              <a:buChar char="●"/>
              <a:defRPr>
                <a:latin typeface="Proxima Nova"/>
                <a:ea typeface="Proxima Nova"/>
                <a:cs typeface="Proxima Nova"/>
                <a:sym typeface="Proxima Nova"/>
              </a:defRPr>
            </a:lvl1pPr>
            <a:lvl2pPr indent="-317500" lvl="1" marL="914400" rtl="0">
              <a:spcBef>
                <a:spcPts val="1600"/>
              </a:spcBef>
              <a:spcAft>
                <a:spcPts val="0"/>
              </a:spcAft>
              <a:buSzPts val="1400"/>
              <a:buFont typeface="Proxima Nova"/>
              <a:buChar char="○"/>
              <a:defRPr>
                <a:latin typeface="Proxima Nova"/>
                <a:ea typeface="Proxima Nova"/>
                <a:cs typeface="Proxima Nova"/>
                <a:sym typeface="Proxima Nova"/>
              </a:defRPr>
            </a:lvl2pPr>
            <a:lvl3pPr indent="-317500" lvl="2" marL="1371600" rtl="0">
              <a:spcBef>
                <a:spcPts val="1600"/>
              </a:spcBef>
              <a:spcAft>
                <a:spcPts val="0"/>
              </a:spcAft>
              <a:buSzPts val="1400"/>
              <a:buFont typeface="Proxima Nova"/>
              <a:buChar char="■"/>
              <a:defRPr>
                <a:latin typeface="Proxima Nova"/>
                <a:ea typeface="Proxima Nova"/>
                <a:cs typeface="Proxima Nova"/>
                <a:sym typeface="Proxima Nova"/>
              </a:defRPr>
            </a:lvl3pPr>
            <a:lvl4pPr indent="-317500" lvl="3" marL="1828800" rtl="0">
              <a:spcBef>
                <a:spcPts val="1600"/>
              </a:spcBef>
              <a:spcAft>
                <a:spcPts val="0"/>
              </a:spcAft>
              <a:buSzPts val="1400"/>
              <a:buFont typeface="Proxima Nova"/>
              <a:buChar char="●"/>
              <a:defRPr>
                <a:latin typeface="Proxima Nova"/>
                <a:ea typeface="Proxima Nova"/>
                <a:cs typeface="Proxima Nova"/>
                <a:sym typeface="Proxima Nova"/>
              </a:defRPr>
            </a:lvl4pPr>
            <a:lvl5pPr indent="-317500" lvl="4" marL="2286000" rtl="0">
              <a:spcBef>
                <a:spcPts val="1600"/>
              </a:spcBef>
              <a:spcAft>
                <a:spcPts val="0"/>
              </a:spcAft>
              <a:buSzPts val="1400"/>
              <a:buFont typeface="Proxima Nova"/>
              <a:buChar char="○"/>
              <a:defRPr>
                <a:latin typeface="Proxima Nova"/>
                <a:ea typeface="Proxima Nova"/>
                <a:cs typeface="Proxima Nova"/>
                <a:sym typeface="Proxima Nova"/>
              </a:defRPr>
            </a:lvl5pPr>
            <a:lvl6pPr indent="-317500" lvl="5" marL="2743200" rtl="0">
              <a:spcBef>
                <a:spcPts val="1600"/>
              </a:spcBef>
              <a:spcAft>
                <a:spcPts val="0"/>
              </a:spcAft>
              <a:buSzPts val="1400"/>
              <a:buFont typeface="Proxima Nova"/>
              <a:buChar char="■"/>
              <a:defRPr>
                <a:latin typeface="Proxima Nova"/>
                <a:ea typeface="Proxima Nova"/>
                <a:cs typeface="Proxima Nova"/>
                <a:sym typeface="Proxima Nova"/>
              </a:defRPr>
            </a:lvl6pPr>
            <a:lvl7pPr indent="-317500" lvl="6" marL="3200400" rtl="0">
              <a:spcBef>
                <a:spcPts val="1600"/>
              </a:spcBef>
              <a:spcAft>
                <a:spcPts val="0"/>
              </a:spcAft>
              <a:buSzPts val="1400"/>
              <a:buFont typeface="Proxima Nova"/>
              <a:buChar char="●"/>
              <a:defRPr>
                <a:latin typeface="Proxima Nova"/>
                <a:ea typeface="Proxima Nova"/>
                <a:cs typeface="Proxima Nova"/>
                <a:sym typeface="Proxima Nova"/>
              </a:defRPr>
            </a:lvl7pPr>
            <a:lvl8pPr indent="-317500" lvl="7" marL="3657600" rtl="0">
              <a:spcBef>
                <a:spcPts val="1600"/>
              </a:spcBef>
              <a:spcAft>
                <a:spcPts val="0"/>
              </a:spcAft>
              <a:buSzPts val="1400"/>
              <a:buFont typeface="Proxima Nova"/>
              <a:buChar char="○"/>
              <a:defRPr>
                <a:latin typeface="Proxima Nova"/>
                <a:ea typeface="Proxima Nova"/>
                <a:cs typeface="Proxima Nova"/>
                <a:sym typeface="Proxima Nova"/>
              </a:defRPr>
            </a:lvl8pPr>
            <a:lvl9pPr indent="-317500" lvl="8" marL="4114800" rtl="0">
              <a:spcBef>
                <a:spcPts val="1600"/>
              </a:spcBef>
              <a:spcAft>
                <a:spcPts val="1600"/>
              </a:spcAft>
              <a:buSzPts val="1400"/>
              <a:buFont typeface="Proxima Nova"/>
              <a:buChar char="■"/>
              <a:defRPr>
                <a:latin typeface="Proxima Nova"/>
                <a:ea typeface="Proxima Nova"/>
                <a:cs typeface="Proxima Nova"/>
                <a:sym typeface="Proxima Nova"/>
              </a:defRPr>
            </a:lvl9pPr>
          </a:lstStyle>
          <a:p/>
        </p:txBody>
      </p:sp>
      <p:sp>
        <p:nvSpPr>
          <p:cNvPr id="73" name="Google Shape;73;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4" name="Shape 74"/>
        <p:cNvGrpSpPr/>
        <p:nvPr/>
      </p:nvGrpSpPr>
      <p:grpSpPr>
        <a:xfrm>
          <a:off x="0" y="0"/>
          <a:ext cx="0" cy="0"/>
          <a:chOff x="0" y="0"/>
          <a:chExt cx="0" cy="0"/>
        </a:xfrm>
      </p:grpSpPr>
      <p:sp>
        <p:nvSpPr>
          <p:cNvPr id="75" name="Google Shape;75;p1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Font typeface="Proxima Nova"/>
              <a:buNone/>
              <a:defRPr>
                <a:latin typeface="Proxima Nova"/>
                <a:ea typeface="Proxima Nova"/>
                <a:cs typeface="Proxima Nova"/>
                <a:sym typeface="Proxima Nova"/>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6" name="Google Shape;76;p17"/>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rtl="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rtl="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rtl="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rtl="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rtl="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rtl="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rtl="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rtl="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77" name="Google Shape;77;p17"/>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rtl="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rtl="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rtl="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rtl="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rtl="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rtl="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rtl="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rtl="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78" name="Google Shape;78;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 name="Shape 79"/>
        <p:cNvGrpSpPr/>
        <p:nvPr/>
      </p:nvGrpSpPr>
      <p:grpSpPr>
        <a:xfrm>
          <a:off x="0" y="0"/>
          <a:ext cx="0" cy="0"/>
          <a:chOff x="0" y="0"/>
          <a:chExt cx="0" cy="0"/>
        </a:xfrm>
      </p:grpSpPr>
      <p:sp>
        <p:nvSpPr>
          <p:cNvPr id="80" name="Google Shape;80;p1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1" name="Google Shape;81;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2" name="Shape 82"/>
        <p:cNvGrpSpPr/>
        <p:nvPr/>
      </p:nvGrpSpPr>
      <p:grpSpPr>
        <a:xfrm>
          <a:off x="0" y="0"/>
          <a:ext cx="0" cy="0"/>
          <a:chOff x="0" y="0"/>
          <a:chExt cx="0" cy="0"/>
        </a:xfrm>
      </p:grpSpPr>
      <p:sp>
        <p:nvSpPr>
          <p:cNvPr id="83" name="Google Shape;83;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4" name="Google Shape;84;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85" name="Google Shape;85;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86" name="Shape 86"/>
        <p:cNvGrpSpPr/>
        <p:nvPr/>
      </p:nvGrpSpPr>
      <p:grpSpPr>
        <a:xfrm>
          <a:off x="0" y="0"/>
          <a:ext cx="0" cy="0"/>
          <a:chOff x="0" y="0"/>
          <a:chExt cx="0" cy="0"/>
        </a:xfrm>
      </p:grpSpPr>
      <p:sp>
        <p:nvSpPr>
          <p:cNvPr id="87" name="Google Shape;87;p20"/>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400"/>
              <a:buFont typeface="Proxima Nova"/>
              <a:buNone/>
              <a:defRPr sz="5400">
                <a:solidFill>
                  <a:schemeClr val="accent1"/>
                </a:solidFill>
                <a:latin typeface="Proxima Nova"/>
                <a:ea typeface="Proxima Nova"/>
                <a:cs typeface="Proxima Nova"/>
                <a:sym typeface="Proxima Nova"/>
              </a:defRPr>
            </a:lvl1pPr>
            <a:lvl2pPr lvl="1" rtl="0">
              <a:spcBef>
                <a:spcPts val="0"/>
              </a:spcBef>
              <a:spcAft>
                <a:spcPts val="0"/>
              </a:spcAft>
              <a:buClr>
                <a:schemeClr val="accent1"/>
              </a:buClr>
              <a:buSzPts val="5400"/>
              <a:buNone/>
              <a:defRPr sz="5400">
                <a:solidFill>
                  <a:schemeClr val="accent1"/>
                </a:solidFill>
              </a:defRPr>
            </a:lvl2pPr>
            <a:lvl3pPr lvl="2" rtl="0">
              <a:spcBef>
                <a:spcPts val="0"/>
              </a:spcBef>
              <a:spcAft>
                <a:spcPts val="0"/>
              </a:spcAft>
              <a:buClr>
                <a:schemeClr val="accent1"/>
              </a:buClr>
              <a:buSzPts val="5400"/>
              <a:buNone/>
              <a:defRPr sz="5400">
                <a:solidFill>
                  <a:schemeClr val="accent1"/>
                </a:solidFill>
              </a:defRPr>
            </a:lvl3pPr>
            <a:lvl4pPr lvl="3" rtl="0">
              <a:spcBef>
                <a:spcPts val="0"/>
              </a:spcBef>
              <a:spcAft>
                <a:spcPts val="0"/>
              </a:spcAft>
              <a:buClr>
                <a:schemeClr val="accent1"/>
              </a:buClr>
              <a:buSzPts val="5400"/>
              <a:buNone/>
              <a:defRPr sz="5400">
                <a:solidFill>
                  <a:schemeClr val="accent1"/>
                </a:solidFill>
              </a:defRPr>
            </a:lvl4pPr>
            <a:lvl5pPr lvl="4" rtl="0">
              <a:spcBef>
                <a:spcPts val="0"/>
              </a:spcBef>
              <a:spcAft>
                <a:spcPts val="0"/>
              </a:spcAft>
              <a:buClr>
                <a:schemeClr val="accent1"/>
              </a:buClr>
              <a:buSzPts val="5400"/>
              <a:buNone/>
              <a:defRPr sz="5400">
                <a:solidFill>
                  <a:schemeClr val="accent1"/>
                </a:solidFill>
              </a:defRPr>
            </a:lvl5pPr>
            <a:lvl6pPr lvl="5" rtl="0">
              <a:spcBef>
                <a:spcPts val="0"/>
              </a:spcBef>
              <a:spcAft>
                <a:spcPts val="0"/>
              </a:spcAft>
              <a:buClr>
                <a:schemeClr val="accent1"/>
              </a:buClr>
              <a:buSzPts val="5400"/>
              <a:buNone/>
              <a:defRPr sz="5400">
                <a:solidFill>
                  <a:schemeClr val="accent1"/>
                </a:solidFill>
              </a:defRPr>
            </a:lvl6pPr>
            <a:lvl7pPr lvl="6" rtl="0">
              <a:spcBef>
                <a:spcPts val="0"/>
              </a:spcBef>
              <a:spcAft>
                <a:spcPts val="0"/>
              </a:spcAft>
              <a:buClr>
                <a:schemeClr val="accent1"/>
              </a:buClr>
              <a:buSzPts val="5400"/>
              <a:buNone/>
              <a:defRPr sz="5400">
                <a:solidFill>
                  <a:schemeClr val="accent1"/>
                </a:solidFill>
              </a:defRPr>
            </a:lvl7pPr>
            <a:lvl8pPr lvl="7" rtl="0">
              <a:spcBef>
                <a:spcPts val="0"/>
              </a:spcBef>
              <a:spcAft>
                <a:spcPts val="0"/>
              </a:spcAft>
              <a:buClr>
                <a:schemeClr val="accent1"/>
              </a:buClr>
              <a:buSzPts val="5400"/>
              <a:buNone/>
              <a:defRPr sz="5400">
                <a:solidFill>
                  <a:schemeClr val="accent1"/>
                </a:solidFill>
              </a:defRPr>
            </a:lvl8pPr>
            <a:lvl9pPr lvl="8" rtl="0">
              <a:spcBef>
                <a:spcPts val="0"/>
              </a:spcBef>
              <a:spcAft>
                <a:spcPts val="0"/>
              </a:spcAft>
              <a:buClr>
                <a:schemeClr val="accent1"/>
              </a:buClr>
              <a:buSzPts val="5400"/>
              <a:buNone/>
              <a:defRPr sz="5400">
                <a:solidFill>
                  <a:schemeClr val="accent1"/>
                </a:solidFill>
              </a:defRPr>
            </a:lvl9pPr>
          </a:lstStyle>
          <a:p/>
        </p:txBody>
      </p:sp>
      <p:sp>
        <p:nvSpPr>
          <p:cNvPr id="88" name="Google Shape;88;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9" name="Shape 89"/>
        <p:cNvGrpSpPr/>
        <p:nvPr/>
      </p:nvGrpSpPr>
      <p:grpSpPr>
        <a:xfrm>
          <a:off x="0" y="0"/>
          <a:ext cx="0" cy="0"/>
          <a:chOff x="0" y="0"/>
          <a:chExt cx="0" cy="0"/>
        </a:xfrm>
      </p:grpSpPr>
      <p:sp>
        <p:nvSpPr>
          <p:cNvPr id="90" name="Google Shape;90;p21"/>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 name="Google Shape;91;p21"/>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92" name="Google Shape;92;p21"/>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2"/>
              </a:buClr>
              <a:buSzPts val="4200"/>
              <a:buNone/>
              <a:defRPr sz="4200">
                <a:solidFill>
                  <a:schemeClr val="lt2"/>
                </a:solidFill>
              </a:defRPr>
            </a:lvl1pPr>
            <a:lvl2pPr lvl="1" rtl="0" algn="ctr">
              <a:spcBef>
                <a:spcPts val="0"/>
              </a:spcBef>
              <a:spcAft>
                <a:spcPts val="0"/>
              </a:spcAft>
              <a:buClr>
                <a:schemeClr val="lt2"/>
              </a:buClr>
              <a:buSzPts val="4200"/>
              <a:buNone/>
              <a:defRPr sz="4200">
                <a:solidFill>
                  <a:schemeClr val="lt2"/>
                </a:solidFill>
              </a:defRPr>
            </a:lvl2pPr>
            <a:lvl3pPr lvl="2" rtl="0" algn="ctr">
              <a:spcBef>
                <a:spcPts val="0"/>
              </a:spcBef>
              <a:spcAft>
                <a:spcPts val="0"/>
              </a:spcAft>
              <a:buClr>
                <a:schemeClr val="lt2"/>
              </a:buClr>
              <a:buSzPts val="4200"/>
              <a:buNone/>
              <a:defRPr sz="4200">
                <a:solidFill>
                  <a:schemeClr val="lt2"/>
                </a:solidFill>
              </a:defRPr>
            </a:lvl3pPr>
            <a:lvl4pPr lvl="3" rtl="0" algn="ctr">
              <a:spcBef>
                <a:spcPts val="0"/>
              </a:spcBef>
              <a:spcAft>
                <a:spcPts val="0"/>
              </a:spcAft>
              <a:buClr>
                <a:schemeClr val="lt2"/>
              </a:buClr>
              <a:buSzPts val="4200"/>
              <a:buNone/>
              <a:defRPr sz="4200">
                <a:solidFill>
                  <a:schemeClr val="lt2"/>
                </a:solidFill>
              </a:defRPr>
            </a:lvl4pPr>
            <a:lvl5pPr lvl="4" rtl="0" algn="ctr">
              <a:spcBef>
                <a:spcPts val="0"/>
              </a:spcBef>
              <a:spcAft>
                <a:spcPts val="0"/>
              </a:spcAft>
              <a:buClr>
                <a:schemeClr val="lt2"/>
              </a:buClr>
              <a:buSzPts val="4200"/>
              <a:buNone/>
              <a:defRPr sz="4200">
                <a:solidFill>
                  <a:schemeClr val="lt2"/>
                </a:solidFill>
              </a:defRPr>
            </a:lvl5pPr>
            <a:lvl6pPr lvl="5" rtl="0" algn="ctr">
              <a:spcBef>
                <a:spcPts val="0"/>
              </a:spcBef>
              <a:spcAft>
                <a:spcPts val="0"/>
              </a:spcAft>
              <a:buClr>
                <a:schemeClr val="lt2"/>
              </a:buClr>
              <a:buSzPts val="4200"/>
              <a:buNone/>
              <a:defRPr sz="4200">
                <a:solidFill>
                  <a:schemeClr val="lt2"/>
                </a:solidFill>
              </a:defRPr>
            </a:lvl6pPr>
            <a:lvl7pPr lvl="6" rtl="0" algn="ctr">
              <a:spcBef>
                <a:spcPts val="0"/>
              </a:spcBef>
              <a:spcAft>
                <a:spcPts val="0"/>
              </a:spcAft>
              <a:buClr>
                <a:schemeClr val="lt2"/>
              </a:buClr>
              <a:buSzPts val="4200"/>
              <a:buNone/>
              <a:defRPr sz="4200">
                <a:solidFill>
                  <a:schemeClr val="lt2"/>
                </a:solidFill>
              </a:defRPr>
            </a:lvl7pPr>
            <a:lvl8pPr lvl="7" rtl="0" algn="ctr">
              <a:spcBef>
                <a:spcPts val="0"/>
              </a:spcBef>
              <a:spcAft>
                <a:spcPts val="0"/>
              </a:spcAft>
              <a:buClr>
                <a:schemeClr val="lt2"/>
              </a:buClr>
              <a:buSzPts val="4200"/>
              <a:buNone/>
              <a:defRPr sz="4200">
                <a:solidFill>
                  <a:schemeClr val="lt2"/>
                </a:solidFill>
              </a:defRPr>
            </a:lvl8pPr>
            <a:lvl9pPr lvl="8" rtl="0" algn="ctr">
              <a:spcBef>
                <a:spcPts val="0"/>
              </a:spcBef>
              <a:spcAft>
                <a:spcPts val="0"/>
              </a:spcAft>
              <a:buClr>
                <a:schemeClr val="lt2"/>
              </a:buClr>
              <a:buSzPts val="4200"/>
              <a:buNone/>
              <a:defRPr sz="4200">
                <a:solidFill>
                  <a:schemeClr val="lt2"/>
                </a:solidFill>
              </a:defRPr>
            </a:lvl9pPr>
          </a:lstStyle>
          <a:p/>
        </p:txBody>
      </p:sp>
      <p:sp>
        <p:nvSpPr>
          <p:cNvPr id="93" name="Google Shape;93;p21"/>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94" name="Google Shape;94;p21"/>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accent1"/>
              </a:buClr>
              <a:buSzPts val="1800"/>
              <a:buChar char="●"/>
              <a:defRPr>
                <a:solidFill>
                  <a:schemeClr val="accent1"/>
                </a:solidFill>
              </a:defRPr>
            </a:lvl1pPr>
            <a:lvl2pPr indent="-317500" lvl="1" marL="914400" rtl="0">
              <a:spcBef>
                <a:spcPts val="1600"/>
              </a:spcBef>
              <a:spcAft>
                <a:spcPts val="0"/>
              </a:spcAft>
              <a:buClr>
                <a:schemeClr val="accent1"/>
              </a:buClr>
              <a:buSzPts val="1400"/>
              <a:buChar char="○"/>
              <a:defRPr>
                <a:solidFill>
                  <a:schemeClr val="accent1"/>
                </a:solidFill>
              </a:defRPr>
            </a:lvl2pPr>
            <a:lvl3pPr indent="-317500" lvl="2" marL="1371600" rtl="0">
              <a:spcBef>
                <a:spcPts val="1600"/>
              </a:spcBef>
              <a:spcAft>
                <a:spcPts val="0"/>
              </a:spcAft>
              <a:buClr>
                <a:schemeClr val="accent1"/>
              </a:buClr>
              <a:buSzPts val="1400"/>
              <a:buChar char="■"/>
              <a:defRPr>
                <a:solidFill>
                  <a:schemeClr val="accent1"/>
                </a:solidFill>
              </a:defRPr>
            </a:lvl3pPr>
            <a:lvl4pPr indent="-317500" lvl="3" marL="1828800" rtl="0">
              <a:spcBef>
                <a:spcPts val="1600"/>
              </a:spcBef>
              <a:spcAft>
                <a:spcPts val="0"/>
              </a:spcAft>
              <a:buClr>
                <a:schemeClr val="accent1"/>
              </a:buClr>
              <a:buSzPts val="1400"/>
              <a:buChar char="●"/>
              <a:defRPr>
                <a:solidFill>
                  <a:schemeClr val="accent1"/>
                </a:solidFill>
              </a:defRPr>
            </a:lvl4pPr>
            <a:lvl5pPr indent="-317500" lvl="4" marL="2286000" rtl="0">
              <a:spcBef>
                <a:spcPts val="1600"/>
              </a:spcBef>
              <a:spcAft>
                <a:spcPts val="0"/>
              </a:spcAft>
              <a:buClr>
                <a:schemeClr val="accent1"/>
              </a:buClr>
              <a:buSzPts val="1400"/>
              <a:buChar char="○"/>
              <a:defRPr>
                <a:solidFill>
                  <a:schemeClr val="accent1"/>
                </a:solidFill>
              </a:defRPr>
            </a:lvl5pPr>
            <a:lvl6pPr indent="-317500" lvl="5" marL="2743200" rtl="0">
              <a:spcBef>
                <a:spcPts val="1600"/>
              </a:spcBef>
              <a:spcAft>
                <a:spcPts val="0"/>
              </a:spcAft>
              <a:buClr>
                <a:schemeClr val="accent1"/>
              </a:buClr>
              <a:buSzPts val="1400"/>
              <a:buChar char="■"/>
              <a:defRPr>
                <a:solidFill>
                  <a:schemeClr val="accent1"/>
                </a:solidFill>
              </a:defRPr>
            </a:lvl6pPr>
            <a:lvl7pPr indent="-317500" lvl="6" marL="3200400" rtl="0">
              <a:spcBef>
                <a:spcPts val="1600"/>
              </a:spcBef>
              <a:spcAft>
                <a:spcPts val="0"/>
              </a:spcAft>
              <a:buClr>
                <a:schemeClr val="accent1"/>
              </a:buClr>
              <a:buSzPts val="1400"/>
              <a:buChar char="●"/>
              <a:defRPr>
                <a:solidFill>
                  <a:schemeClr val="accent1"/>
                </a:solidFill>
              </a:defRPr>
            </a:lvl7pPr>
            <a:lvl8pPr indent="-317500" lvl="7" marL="3657600" rtl="0">
              <a:spcBef>
                <a:spcPts val="1600"/>
              </a:spcBef>
              <a:spcAft>
                <a:spcPts val="0"/>
              </a:spcAft>
              <a:buClr>
                <a:schemeClr val="accent1"/>
              </a:buClr>
              <a:buSzPts val="1400"/>
              <a:buChar char="○"/>
              <a:defRPr>
                <a:solidFill>
                  <a:schemeClr val="accent1"/>
                </a:solidFill>
              </a:defRPr>
            </a:lvl8pPr>
            <a:lvl9pPr indent="-317500" lvl="8" marL="4114800" rtl="0">
              <a:spcBef>
                <a:spcPts val="1600"/>
              </a:spcBef>
              <a:spcAft>
                <a:spcPts val="1600"/>
              </a:spcAft>
              <a:buClr>
                <a:schemeClr val="accent1"/>
              </a:buClr>
              <a:buSzPts val="1400"/>
              <a:buChar char="■"/>
              <a:defRPr>
                <a:solidFill>
                  <a:schemeClr val="accent1"/>
                </a:solidFill>
              </a:defRPr>
            </a:lvl9pPr>
          </a:lstStyle>
          <a:p/>
        </p:txBody>
      </p:sp>
      <p:sp>
        <p:nvSpPr>
          <p:cNvPr id="95" name="Google Shape;9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6" name="Shape 96"/>
        <p:cNvGrpSpPr/>
        <p:nvPr/>
      </p:nvGrpSpPr>
      <p:grpSpPr>
        <a:xfrm>
          <a:off x="0" y="0"/>
          <a:ext cx="0" cy="0"/>
          <a:chOff x="0" y="0"/>
          <a:chExt cx="0" cy="0"/>
        </a:xfrm>
      </p:grpSpPr>
      <p:sp>
        <p:nvSpPr>
          <p:cNvPr id="97" name="Google Shape;97;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98" name="Google Shape;98;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9" name="Shape 99"/>
        <p:cNvGrpSpPr/>
        <p:nvPr/>
      </p:nvGrpSpPr>
      <p:grpSpPr>
        <a:xfrm>
          <a:off x="0" y="0"/>
          <a:ext cx="0" cy="0"/>
          <a:chOff x="0" y="0"/>
          <a:chExt cx="0" cy="0"/>
        </a:xfrm>
      </p:grpSpPr>
      <p:sp>
        <p:nvSpPr>
          <p:cNvPr id="100" name="Google Shape;100;p23"/>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0"/>
              <a:buNone/>
              <a:defRPr b="1" sz="14000"/>
            </a:lvl1pPr>
            <a:lvl2pPr lvl="1" rtl="0" algn="ctr">
              <a:spcBef>
                <a:spcPts val="0"/>
              </a:spcBef>
              <a:spcAft>
                <a:spcPts val="0"/>
              </a:spcAft>
              <a:buSzPts val="14000"/>
              <a:buNone/>
              <a:defRPr b="1" sz="14000"/>
            </a:lvl2pPr>
            <a:lvl3pPr lvl="2" rtl="0" algn="ctr">
              <a:spcBef>
                <a:spcPts val="0"/>
              </a:spcBef>
              <a:spcAft>
                <a:spcPts val="0"/>
              </a:spcAft>
              <a:buSzPts val="14000"/>
              <a:buNone/>
              <a:defRPr b="1" sz="14000"/>
            </a:lvl3pPr>
            <a:lvl4pPr lvl="3" rtl="0" algn="ctr">
              <a:spcBef>
                <a:spcPts val="0"/>
              </a:spcBef>
              <a:spcAft>
                <a:spcPts val="0"/>
              </a:spcAft>
              <a:buSzPts val="14000"/>
              <a:buNone/>
              <a:defRPr b="1" sz="14000"/>
            </a:lvl4pPr>
            <a:lvl5pPr lvl="4" rtl="0" algn="ctr">
              <a:spcBef>
                <a:spcPts val="0"/>
              </a:spcBef>
              <a:spcAft>
                <a:spcPts val="0"/>
              </a:spcAft>
              <a:buSzPts val="14000"/>
              <a:buNone/>
              <a:defRPr b="1" sz="14000"/>
            </a:lvl5pPr>
            <a:lvl6pPr lvl="5" rtl="0" algn="ctr">
              <a:spcBef>
                <a:spcPts val="0"/>
              </a:spcBef>
              <a:spcAft>
                <a:spcPts val="0"/>
              </a:spcAft>
              <a:buSzPts val="14000"/>
              <a:buNone/>
              <a:defRPr b="1" sz="14000"/>
            </a:lvl6pPr>
            <a:lvl7pPr lvl="6" rtl="0" algn="ctr">
              <a:spcBef>
                <a:spcPts val="0"/>
              </a:spcBef>
              <a:spcAft>
                <a:spcPts val="0"/>
              </a:spcAft>
              <a:buSzPts val="14000"/>
              <a:buNone/>
              <a:defRPr b="1" sz="14000"/>
            </a:lvl7pPr>
            <a:lvl8pPr lvl="7" rtl="0" algn="ctr">
              <a:spcBef>
                <a:spcPts val="0"/>
              </a:spcBef>
              <a:spcAft>
                <a:spcPts val="0"/>
              </a:spcAft>
              <a:buSzPts val="14000"/>
              <a:buNone/>
              <a:defRPr b="1" sz="14000"/>
            </a:lvl8pPr>
            <a:lvl9pPr lvl="8" rtl="0" algn="ctr">
              <a:spcBef>
                <a:spcPts val="0"/>
              </a:spcBef>
              <a:spcAft>
                <a:spcPts val="0"/>
              </a:spcAft>
              <a:buSzPts val="14000"/>
              <a:buNone/>
              <a:defRPr b="1" sz="14000"/>
            </a:lvl9pPr>
          </a:lstStyle>
          <a:p>
            <a:r>
              <a:t>xx%</a:t>
            </a:r>
          </a:p>
        </p:txBody>
      </p:sp>
      <p:sp>
        <p:nvSpPr>
          <p:cNvPr id="101" name="Google Shape;101;p23"/>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02" name="Google Shape;102;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3" name="Shape 103"/>
        <p:cNvGrpSpPr/>
        <p:nvPr/>
      </p:nvGrpSpPr>
      <p:grpSpPr>
        <a:xfrm>
          <a:off x="0" y="0"/>
          <a:ext cx="0" cy="0"/>
          <a:chOff x="0" y="0"/>
          <a:chExt cx="0" cy="0"/>
        </a:xfrm>
      </p:grpSpPr>
      <p:sp>
        <p:nvSpPr>
          <p:cNvPr id="104" name="Google Shape;104;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rgbClr val="EFEFE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rgbClr val="EFEFEF"/>
        </a:solidFill>
      </p:bgPr>
    </p:bg>
    <p:spTree>
      <p:nvGrpSpPr>
        <p:cNvPr id="55" name="Shape 55"/>
        <p:cNvGrpSpPr/>
        <p:nvPr/>
      </p:nvGrpSpPr>
      <p:grpSpPr>
        <a:xfrm>
          <a:off x="0" y="0"/>
          <a:ext cx="0" cy="0"/>
          <a:chOff x="0" y="0"/>
          <a:chExt cx="0" cy="0"/>
        </a:xfrm>
      </p:grpSpPr>
      <p:sp>
        <p:nvSpPr>
          <p:cNvPr id="56" name="Google Shape;56;p13"/>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57" name="Google Shape;57;p13"/>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rtl="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58" name="Google Shape;5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Old Standard TT"/>
                <a:ea typeface="Old Standard TT"/>
                <a:cs typeface="Old Standard TT"/>
                <a:sym typeface="Old Standard TT"/>
              </a:defRPr>
            </a:lvl1pPr>
            <a:lvl2pPr lvl="1" rtl="0" algn="r">
              <a:buNone/>
              <a:defRPr sz="1000">
                <a:solidFill>
                  <a:schemeClr val="dk1"/>
                </a:solidFill>
                <a:latin typeface="Old Standard TT"/>
                <a:ea typeface="Old Standard TT"/>
                <a:cs typeface="Old Standard TT"/>
                <a:sym typeface="Old Standard TT"/>
              </a:defRPr>
            </a:lvl2pPr>
            <a:lvl3pPr lvl="2" rtl="0" algn="r">
              <a:buNone/>
              <a:defRPr sz="1000">
                <a:solidFill>
                  <a:schemeClr val="dk1"/>
                </a:solidFill>
                <a:latin typeface="Old Standard TT"/>
                <a:ea typeface="Old Standard TT"/>
                <a:cs typeface="Old Standard TT"/>
                <a:sym typeface="Old Standard TT"/>
              </a:defRPr>
            </a:lvl3pPr>
            <a:lvl4pPr lvl="3" rtl="0" algn="r">
              <a:buNone/>
              <a:defRPr sz="1000">
                <a:solidFill>
                  <a:schemeClr val="dk1"/>
                </a:solidFill>
                <a:latin typeface="Old Standard TT"/>
                <a:ea typeface="Old Standard TT"/>
                <a:cs typeface="Old Standard TT"/>
                <a:sym typeface="Old Standard TT"/>
              </a:defRPr>
            </a:lvl4pPr>
            <a:lvl5pPr lvl="4" rtl="0" algn="r">
              <a:buNone/>
              <a:defRPr sz="1000">
                <a:solidFill>
                  <a:schemeClr val="dk1"/>
                </a:solidFill>
                <a:latin typeface="Old Standard TT"/>
                <a:ea typeface="Old Standard TT"/>
                <a:cs typeface="Old Standard TT"/>
                <a:sym typeface="Old Standard TT"/>
              </a:defRPr>
            </a:lvl5pPr>
            <a:lvl6pPr lvl="5" rtl="0" algn="r">
              <a:buNone/>
              <a:defRPr sz="1000">
                <a:solidFill>
                  <a:schemeClr val="dk1"/>
                </a:solidFill>
                <a:latin typeface="Old Standard TT"/>
                <a:ea typeface="Old Standard TT"/>
                <a:cs typeface="Old Standard TT"/>
                <a:sym typeface="Old Standard TT"/>
              </a:defRPr>
            </a:lvl6pPr>
            <a:lvl7pPr lvl="6" rtl="0" algn="r">
              <a:buNone/>
              <a:defRPr sz="1000">
                <a:solidFill>
                  <a:schemeClr val="dk1"/>
                </a:solidFill>
                <a:latin typeface="Old Standard TT"/>
                <a:ea typeface="Old Standard TT"/>
                <a:cs typeface="Old Standard TT"/>
                <a:sym typeface="Old Standard TT"/>
              </a:defRPr>
            </a:lvl7pPr>
            <a:lvl8pPr lvl="7" rtl="0" algn="r">
              <a:buNone/>
              <a:defRPr sz="1000">
                <a:solidFill>
                  <a:schemeClr val="dk1"/>
                </a:solidFill>
                <a:latin typeface="Old Standard TT"/>
                <a:ea typeface="Old Standard TT"/>
                <a:cs typeface="Old Standard TT"/>
                <a:sym typeface="Old Standard TT"/>
              </a:defRPr>
            </a:lvl8pPr>
            <a:lvl9pPr lvl="8" rtl="0"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1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10.png"/><Relationship Id="rId13" Type="http://schemas.openxmlformats.org/officeDocument/2006/relationships/image" Target="../media/image5.png"/><Relationship Id="rId12" Type="http://schemas.openxmlformats.org/officeDocument/2006/relationships/image" Target="../media/image6.png"/><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png"/><Relationship Id="rId9" Type="http://schemas.openxmlformats.org/officeDocument/2006/relationships/image" Target="../media/image8.png"/><Relationship Id="rId1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4.png"/><Relationship Id="rId7" Type="http://schemas.openxmlformats.org/officeDocument/2006/relationships/image" Target="../media/image13.png"/><Relationship Id="rId8"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2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10" Type="http://schemas.openxmlformats.org/officeDocument/2006/relationships/image" Target="../media/image23.png"/><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27.png"/><Relationship Id="rId4" Type="http://schemas.openxmlformats.org/officeDocument/2006/relationships/image" Target="../media/image19.png"/><Relationship Id="rId9" Type="http://schemas.openxmlformats.org/officeDocument/2006/relationships/image" Target="../media/image31.png"/><Relationship Id="rId5" Type="http://schemas.openxmlformats.org/officeDocument/2006/relationships/image" Target="../media/image17.png"/><Relationship Id="rId6" Type="http://schemas.openxmlformats.org/officeDocument/2006/relationships/image" Target="../media/image26.png"/><Relationship Id="rId7" Type="http://schemas.openxmlformats.org/officeDocument/2006/relationships/image" Target="../media/image28.png"/><Relationship Id="rId8" Type="http://schemas.openxmlformats.org/officeDocument/2006/relationships/image" Target="../media/image25.png"/></Relationships>
</file>

<file path=ppt/slides/_rels/slide18.xml.rels><?xml version="1.0" encoding="UTF-8" standalone="yes"?><Relationships xmlns="http://schemas.openxmlformats.org/package/2006/relationships"><Relationship Id="rId10" Type="http://schemas.openxmlformats.org/officeDocument/2006/relationships/image" Target="../media/image23.png"/><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image" Target="../media/image19.png"/><Relationship Id="rId9" Type="http://schemas.openxmlformats.org/officeDocument/2006/relationships/image" Target="../media/image31.png"/><Relationship Id="rId5" Type="http://schemas.openxmlformats.org/officeDocument/2006/relationships/image" Target="../media/image17.png"/><Relationship Id="rId6" Type="http://schemas.openxmlformats.org/officeDocument/2006/relationships/image" Target="../media/image26.png"/><Relationship Id="rId7" Type="http://schemas.openxmlformats.org/officeDocument/2006/relationships/image" Target="../media/image28.png"/><Relationship Id="rId8"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9.png"/><Relationship Id="rId4" Type="http://schemas.openxmlformats.org/officeDocument/2006/relationships/image" Target="../media/image36.png"/><Relationship Id="rId5"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3.png"/><Relationship Id="rId4" Type="http://schemas.openxmlformats.org/officeDocument/2006/relationships/image" Target="../media/image35.png"/><Relationship Id="rId5" Type="http://schemas.openxmlformats.org/officeDocument/2006/relationships/image" Target="../media/image4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4.png"/><Relationship Id="rId4" Type="http://schemas.openxmlformats.org/officeDocument/2006/relationships/image" Target="../media/image38.png"/><Relationship Id="rId5" Type="http://schemas.openxmlformats.org/officeDocument/2006/relationships/image" Target="../media/image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4.gif"/><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4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3.png"/><Relationship Id="rId4" Type="http://schemas.openxmlformats.org/officeDocument/2006/relationships/image" Target="../media/image4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1.png"/><Relationship Id="rId4" Type="http://schemas.openxmlformats.org/officeDocument/2006/relationships/image" Target="../media/image4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5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4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8" name="Shape 108"/>
        <p:cNvGrpSpPr/>
        <p:nvPr/>
      </p:nvGrpSpPr>
      <p:grpSpPr>
        <a:xfrm>
          <a:off x="0" y="0"/>
          <a:ext cx="0" cy="0"/>
          <a:chOff x="0" y="0"/>
          <a:chExt cx="0" cy="0"/>
        </a:xfrm>
      </p:grpSpPr>
      <p:sp>
        <p:nvSpPr>
          <p:cNvPr id="109" name="Google Shape;109;p25"/>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División y Conquista (Avanzada)</a:t>
            </a:r>
            <a:endParaRPr/>
          </a:p>
        </p:txBody>
      </p:sp>
      <p:sp>
        <p:nvSpPr>
          <p:cNvPr id="110" name="Google Shape;110;p25"/>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Teoría de Algoritmos</a:t>
            </a:r>
            <a:endParaRPr/>
          </a:p>
        </p:txBody>
      </p:sp>
      <p:pic>
        <p:nvPicPr>
          <p:cNvPr id="111" name="Google Shape;111;p25"/>
          <p:cNvPicPr preferRelativeResize="0"/>
          <p:nvPr/>
        </p:nvPicPr>
        <p:blipFill rotWithShape="1">
          <a:blip r:embed="rId3">
            <a:alphaModFix/>
          </a:blip>
          <a:srcRect b="80" l="0" r="0" t="70"/>
          <a:stretch/>
        </p:blipFill>
        <p:spPr>
          <a:xfrm>
            <a:off x="7060492" y="4349400"/>
            <a:ext cx="2079858" cy="787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Primera clase posta posta, pero… ¿no falta algo?</a:t>
            </a:r>
            <a:endParaRPr/>
          </a:p>
        </p:txBody>
      </p:sp>
      <p:pic>
        <p:nvPicPr>
          <p:cNvPr id="117" name="Google Shape;117;p26" title="WhatsApp Image 2026-03-12 at 11.26.14.jpeg"/>
          <p:cNvPicPr preferRelativeResize="0"/>
          <p:nvPr/>
        </p:nvPicPr>
        <p:blipFill>
          <a:blip r:embed="rId3">
            <a:alphaModFix/>
          </a:blip>
          <a:stretch>
            <a:fillRect/>
          </a:stretch>
        </p:blipFill>
        <p:spPr>
          <a:xfrm>
            <a:off x="1725675" y="1132825"/>
            <a:ext cx="2835358" cy="3780477"/>
          </a:xfrm>
          <a:prstGeom prst="rect">
            <a:avLst/>
          </a:prstGeom>
          <a:noFill/>
          <a:ln>
            <a:noFill/>
          </a:ln>
        </p:spPr>
      </p:pic>
      <p:pic>
        <p:nvPicPr>
          <p:cNvPr id="118" name="Google Shape;118;p26" title="WhatsApp Image 2026-03-12 at 11.26.00.jpeg"/>
          <p:cNvPicPr preferRelativeResize="0"/>
          <p:nvPr/>
        </p:nvPicPr>
        <p:blipFill>
          <a:blip r:embed="rId4">
            <a:alphaModFix/>
          </a:blip>
          <a:stretch>
            <a:fillRect/>
          </a:stretch>
        </p:blipFill>
        <p:spPr>
          <a:xfrm>
            <a:off x="4713433" y="1132825"/>
            <a:ext cx="2835358" cy="3780477"/>
          </a:xfrm>
          <a:prstGeom prst="rect">
            <a:avLst/>
          </a:prstGeom>
          <a:noFill/>
          <a:ln>
            <a:noFill/>
          </a:ln>
        </p:spPr>
      </p:pic>
      <p:sp>
        <p:nvSpPr>
          <p:cNvPr id="119" name="Google Shape;119;p26"/>
          <p:cNvSpPr txBox="1"/>
          <p:nvPr/>
        </p:nvSpPr>
        <p:spPr>
          <a:xfrm>
            <a:off x="259325" y="1599250"/>
            <a:ext cx="12621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latin typeface="Varela Round"/>
                <a:ea typeface="Varela Round"/>
                <a:cs typeface="Varela Round"/>
                <a:sym typeface="Varela Round"/>
              </a:rPr>
              <a:t>FOTOS</a:t>
            </a:r>
            <a:endParaRPr sz="1800">
              <a:solidFill>
                <a:schemeClr val="dk1"/>
              </a:solidFill>
              <a:latin typeface="Varela Round"/>
              <a:ea typeface="Varela Round"/>
              <a:cs typeface="Varela Round"/>
              <a:sym typeface="Varela Round"/>
            </a:endParaRPr>
          </a:p>
          <a:p>
            <a:pPr indent="0" lvl="0" marL="0" rtl="0" algn="l">
              <a:spcBef>
                <a:spcPts val="0"/>
              </a:spcBef>
              <a:spcAft>
                <a:spcPts val="0"/>
              </a:spcAft>
              <a:buNone/>
            </a:pPr>
            <a:r>
              <a:rPr lang="es" sz="1800">
                <a:solidFill>
                  <a:schemeClr val="dk1"/>
                </a:solidFill>
                <a:latin typeface="Varela Round"/>
                <a:ea typeface="Varela Round"/>
                <a:cs typeface="Varela Round"/>
                <a:sym typeface="Varela Round"/>
              </a:rPr>
              <a:t>DE</a:t>
            </a:r>
            <a:endParaRPr sz="1800">
              <a:solidFill>
                <a:schemeClr val="dk1"/>
              </a:solidFill>
              <a:latin typeface="Varela Round"/>
              <a:ea typeface="Varela Round"/>
              <a:cs typeface="Varela Round"/>
              <a:sym typeface="Varela Round"/>
            </a:endParaRPr>
          </a:p>
          <a:p>
            <a:pPr indent="0" lvl="0" marL="0" rtl="0" algn="l">
              <a:spcBef>
                <a:spcPts val="0"/>
              </a:spcBef>
              <a:spcAft>
                <a:spcPts val="0"/>
              </a:spcAft>
              <a:buNone/>
            </a:pPr>
            <a:r>
              <a:rPr lang="es" sz="1800">
                <a:solidFill>
                  <a:schemeClr val="dk1"/>
                </a:solidFill>
                <a:latin typeface="Varela Round"/>
                <a:ea typeface="Varela Round"/>
                <a:cs typeface="Varela Round"/>
                <a:sym typeface="Varela Round"/>
              </a:rPr>
              <a:t>MICHIS</a:t>
            </a:r>
            <a:endParaRPr sz="1800">
              <a:solidFill>
                <a:schemeClr val="dk1"/>
              </a:solidFill>
              <a:latin typeface="Varela Round"/>
              <a:ea typeface="Varela Round"/>
              <a:cs typeface="Varela Round"/>
              <a:sym typeface="Varela Rou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1000"/>
                                        <p:tgtEl>
                                          <p:spTgt spid="117"/>
                                        </p:tgtEl>
                                      </p:cBhvr>
                                    </p:animEffect>
                                  </p:childTnLst>
                                </p:cTn>
                              </p:par>
                              <p:par>
                                <p:cTn fill="hold" nodeType="with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1000"/>
                                        <p:tgtEl>
                                          <p:spTgt spid="1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Antes de arrancar</a:t>
            </a:r>
            <a:endParaRPr/>
          </a:p>
        </p:txBody>
      </p:sp>
      <p:sp>
        <p:nvSpPr>
          <p:cNvPr id="125" name="Google Shape;125;p27"/>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¿Qué ondis el tp0?</a:t>
            </a:r>
            <a:endParaRPr/>
          </a:p>
          <a:p>
            <a:pPr indent="0" lvl="0" marL="0" rtl="0" algn="l">
              <a:spcBef>
                <a:spcPts val="1600"/>
              </a:spcBef>
              <a:spcAft>
                <a:spcPts val="1600"/>
              </a:spcAft>
              <a:buNone/>
            </a:pPr>
            <a:r>
              <a:rPr lang="es"/>
              <a:t>¿Hicieron el D&amp;C 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Agenda</a:t>
            </a:r>
            <a:endParaRPr/>
          </a:p>
        </p:txBody>
      </p:sp>
      <p:sp>
        <p:nvSpPr>
          <p:cNvPr id="131" name="Google Shape;131;p2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Técnicas de Diseño</a:t>
            </a:r>
            <a:endParaRPr/>
          </a:p>
          <a:p>
            <a:pPr indent="-342900" lvl="0" marL="457200" rtl="0" algn="l">
              <a:spcBef>
                <a:spcPts val="0"/>
              </a:spcBef>
              <a:spcAft>
                <a:spcPts val="0"/>
              </a:spcAft>
              <a:buSzPts val="1800"/>
              <a:buChar char="-"/>
            </a:pPr>
            <a:r>
              <a:rPr lang="es"/>
              <a:t>Repaso de D&amp;C y TM</a:t>
            </a:r>
            <a:endParaRPr/>
          </a:p>
          <a:p>
            <a:pPr indent="-342900" lvl="0" marL="457200" rtl="0" algn="l">
              <a:spcBef>
                <a:spcPts val="0"/>
              </a:spcBef>
              <a:spcAft>
                <a:spcPts val="0"/>
              </a:spcAft>
              <a:buSzPts val="1800"/>
              <a:buChar char="-"/>
            </a:pPr>
            <a:r>
              <a:rPr lang="es"/>
              <a:t>Ejercicios más avanzados</a:t>
            </a:r>
            <a:endParaRPr/>
          </a:p>
          <a:p>
            <a:pPr indent="-317500" lvl="1" marL="914400" rtl="0" algn="l">
              <a:spcBef>
                <a:spcPts val="0"/>
              </a:spcBef>
              <a:spcAft>
                <a:spcPts val="0"/>
              </a:spcAft>
              <a:buSzPts val="1400"/>
              <a:buChar char="-"/>
            </a:pPr>
            <a:r>
              <a:rPr lang="es"/>
              <a:t>Multiplicación de enteros grandes</a:t>
            </a:r>
            <a:endParaRPr/>
          </a:p>
          <a:p>
            <a:pPr indent="-317500" lvl="1" marL="914400" rtl="0" algn="l">
              <a:spcBef>
                <a:spcPts val="0"/>
              </a:spcBef>
              <a:spcAft>
                <a:spcPts val="0"/>
              </a:spcAft>
              <a:buSzPts val="1400"/>
              <a:buChar char="-"/>
            </a:pPr>
            <a:r>
              <a:rPr lang="es"/>
              <a:t>Extremos de polígonos</a:t>
            </a:r>
            <a:endParaRPr/>
          </a:p>
          <a:p>
            <a:pPr indent="-317500" lvl="1" marL="914400" rtl="0" algn="l">
              <a:spcBef>
                <a:spcPts val="0"/>
              </a:spcBef>
              <a:spcAft>
                <a:spcPts val="0"/>
              </a:spcAft>
              <a:buSzPts val="1400"/>
              <a:buChar char="-"/>
            </a:pPr>
            <a:r>
              <a:rPr lang="es"/>
              <a:t>Multiplicación de matrices</a:t>
            </a:r>
            <a:endParaRPr/>
          </a:p>
          <a:p>
            <a:pPr indent="-317500" lvl="1" marL="914400" rtl="0" algn="l">
              <a:spcBef>
                <a:spcPts val="0"/>
              </a:spcBef>
              <a:spcAft>
                <a:spcPts val="0"/>
              </a:spcAft>
              <a:buSzPts val="1400"/>
              <a:buChar char="-"/>
            </a:pPr>
            <a:r>
              <a:rPr lang="es"/>
              <a:t>Puntos cercanos en un plano</a:t>
            </a:r>
            <a:endParaRPr/>
          </a:p>
          <a:p>
            <a:pPr indent="-317500" lvl="1" marL="914400" rtl="0" algn="l">
              <a:spcBef>
                <a:spcPts val="0"/>
              </a:spcBef>
              <a:spcAft>
                <a:spcPts val="0"/>
              </a:spcAft>
              <a:buSzPts val="1400"/>
              <a:buChar char="-"/>
            </a:pPr>
            <a:r>
              <a:rPr lang="es"/>
              <a:t>Ejercicio de examen</a:t>
            </a:r>
            <a:endParaRPr/>
          </a:p>
          <a:p>
            <a:pPr indent="-317500" lvl="1" marL="914400" rtl="0" algn="l">
              <a:spcBef>
                <a:spcPts val="0"/>
              </a:spcBef>
              <a:spcAft>
                <a:spcPts val="0"/>
              </a:spcAft>
              <a:buSzPts val="1400"/>
              <a:buChar char="-"/>
            </a:pPr>
            <a:r>
              <a:rPr lang="es"/>
              <a:t>Conteo de inversiones</a:t>
            </a:r>
            <a:endParaRPr/>
          </a:p>
          <a:p>
            <a:pPr indent="0" lvl="0" marL="0" rtl="0" algn="l">
              <a:spcBef>
                <a:spcPts val="1600"/>
              </a:spcBef>
              <a:spcAft>
                <a:spcPts val="16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9"/>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t>Técnicas de Diseño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¿Qué son?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31"/>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t>Repaso D&amp;C</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División y Conquista</a:t>
            </a:r>
            <a:endParaRPr/>
          </a:p>
        </p:txBody>
      </p:sp>
      <p:sp>
        <p:nvSpPr>
          <p:cNvPr id="152" name="Google Shape;152;p32"/>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Técnica de diseño en la que: </a:t>
            </a:r>
            <a:endParaRPr/>
          </a:p>
          <a:p>
            <a:pPr indent="-342900" lvl="0" marL="457200" rtl="0" algn="l">
              <a:spcBef>
                <a:spcPts val="1600"/>
              </a:spcBef>
              <a:spcAft>
                <a:spcPts val="0"/>
              </a:spcAft>
              <a:buSzPts val="1800"/>
              <a:buAutoNum type="arabicPeriod"/>
            </a:pPr>
            <a:r>
              <a:rPr lang="es"/>
              <a:t>Dividimos el problema en subproblemas</a:t>
            </a:r>
            <a:endParaRPr/>
          </a:p>
          <a:p>
            <a:pPr indent="-342900" lvl="0" marL="457200" rtl="0" algn="l">
              <a:spcBef>
                <a:spcPts val="0"/>
              </a:spcBef>
              <a:spcAft>
                <a:spcPts val="0"/>
              </a:spcAft>
              <a:buSzPts val="1800"/>
              <a:buAutoNum type="arabicPeriod"/>
            </a:pPr>
            <a:r>
              <a:rPr lang="es"/>
              <a:t>Resolvemos cada subproblema recursivamente (*)</a:t>
            </a:r>
            <a:endParaRPr/>
          </a:p>
          <a:p>
            <a:pPr indent="-342900" lvl="0" marL="457200" rtl="0" algn="l">
              <a:spcBef>
                <a:spcPts val="0"/>
              </a:spcBef>
              <a:spcAft>
                <a:spcPts val="0"/>
              </a:spcAft>
              <a:buSzPts val="1800"/>
              <a:buAutoNum type="arabicPeriod"/>
            </a:pPr>
            <a:r>
              <a:rPr lang="es"/>
              <a:t>Combinamos las soluciones a cada subproblema. </a:t>
            </a:r>
            <a:endParaRPr/>
          </a:p>
          <a:p>
            <a:pPr indent="0" lvl="0" marL="0" rtl="0" algn="l">
              <a:spcBef>
                <a:spcPts val="1600"/>
              </a:spcBef>
              <a:spcAft>
                <a:spcPts val="1600"/>
              </a:spcAft>
              <a:buNone/>
            </a:pPr>
            <a:r>
              <a:rPr lang="es"/>
              <a:t>Siempre, para analizar la complejidad debemos analizar la ecuación de recurrencia que representa al algoritmo.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animEffect filter="fade" transition="in">
                                      <p:cBhvr>
                                        <p:cTn dur="1000"/>
                                        <p:tgtEl>
                                          <p:spTgt spid="1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animEffect filter="fade" transition="in">
                                      <p:cBhvr>
                                        <p:cTn dur="1000"/>
                                        <p:tgtEl>
                                          <p:spTgt spid="1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animEffect filter="fade" transition="in">
                                      <p:cBhvr>
                                        <p:cTn dur="1000"/>
                                        <p:tgtEl>
                                          <p:spTgt spid="15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3" st="3"/>
                                            </p:txEl>
                                          </p:spTgt>
                                        </p:tgtEl>
                                        <p:attrNameLst>
                                          <p:attrName>style.visibility</p:attrName>
                                        </p:attrNameLst>
                                      </p:cBhvr>
                                      <p:to>
                                        <p:strVal val="visible"/>
                                      </p:to>
                                    </p:set>
                                    <p:animEffect filter="fade" transition="in">
                                      <p:cBhvr>
                                        <p:cTn dur="1000"/>
                                        <p:tgtEl>
                                          <p:spTgt spid="15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4" st="4"/>
                                            </p:txEl>
                                          </p:spTgt>
                                        </p:tgtEl>
                                        <p:attrNameLst>
                                          <p:attrName>style.visibility</p:attrName>
                                        </p:attrNameLst>
                                      </p:cBhvr>
                                      <p:to>
                                        <p:strVal val="visible"/>
                                      </p:to>
                                    </p:set>
                                    <p:animEffect filter="fade" transition="in">
                                      <p:cBhvr>
                                        <p:cTn dur="1000"/>
                                        <p:tgtEl>
                                          <p:spTgt spid="152">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Ejemplos de Algoritmos</a:t>
            </a:r>
            <a:endParaRPr/>
          </a:p>
        </p:txBody>
      </p:sp>
      <p:sp>
        <p:nvSpPr>
          <p:cNvPr id="158" name="Google Shape;158;p33"/>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s"/>
              <a:t>Búsqueda Binaria (fundamentos)</a:t>
            </a:r>
            <a:endParaRPr/>
          </a:p>
          <a:p>
            <a:pPr indent="-342900" lvl="0" marL="457200" rtl="0" algn="l">
              <a:spcBef>
                <a:spcPts val="0"/>
              </a:spcBef>
              <a:spcAft>
                <a:spcPts val="0"/>
              </a:spcAft>
              <a:buSzPts val="1800"/>
              <a:buAutoNum type="arabicPeriod"/>
            </a:pPr>
            <a:r>
              <a:rPr lang="es"/>
              <a:t>Mergesort y Quicksort</a:t>
            </a:r>
            <a:endParaRPr/>
          </a:p>
          <a:p>
            <a:pPr indent="-342900" lvl="0" marL="457200" rtl="0" algn="l">
              <a:spcBef>
                <a:spcPts val="0"/>
              </a:spcBef>
              <a:spcAft>
                <a:spcPts val="0"/>
              </a:spcAft>
              <a:buSzPts val="1800"/>
              <a:buAutoNum type="arabicPeriod"/>
            </a:pPr>
            <a:r>
              <a:rPr lang="es"/>
              <a:t>Otros algoritmos de dificultad similar</a:t>
            </a:r>
            <a:endParaRPr/>
          </a:p>
          <a:p>
            <a:pPr indent="-342900" lvl="0" marL="457200" rtl="0" algn="l">
              <a:spcBef>
                <a:spcPts val="0"/>
              </a:spcBef>
              <a:spcAft>
                <a:spcPts val="0"/>
              </a:spcAft>
              <a:buSzPts val="1800"/>
              <a:buAutoNum type="arabicPeriod"/>
            </a:pPr>
            <a:r>
              <a:rPr lang="es"/>
              <a:t>Árboles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0" st="0"/>
                                            </p:txEl>
                                          </p:spTgt>
                                        </p:tgtEl>
                                        <p:attrNameLst>
                                          <p:attrName>style.visibility</p:attrName>
                                        </p:attrNameLst>
                                      </p:cBhvr>
                                      <p:to>
                                        <p:strVal val="visible"/>
                                      </p:to>
                                    </p:set>
                                    <p:animEffect filter="fade" transition="in">
                                      <p:cBhvr>
                                        <p:cTn dur="1000"/>
                                        <p:tgtEl>
                                          <p:spTgt spid="1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1" st="1"/>
                                            </p:txEl>
                                          </p:spTgt>
                                        </p:tgtEl>
                                        <p:attrNameLst>
                                          <p:attrName>style.visibility</p:attrName>
                                        </p:attrNameLst>
                                      </p:cBhvr>
                                      <p:to>
                                        <p:strVal val="visible"/>
                                      </p:to>
                                    </p:set>
                                    <p:animEffect filter="fade" transition="in">
                                      <p:cBhvr>
                                        <p:cTn dur="1000"/>
                                        <p:tgtEl>
                                          <p:spTgt spid="1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2" st="2"/>
                                            </p:txEl>
                                          </p:spTgt>
                                        </p:tgtEl>
                                        <p:attrNameLst>
                                          <p:attrName>style.visibility</p:attrName>
                                        </p:attrNameLst>
                                      </p:cBhvr>
                                      <p:to>
                                        <p:strVal val="visible"/>
                                      </p:to>
                                    </p:set>
                                    <p:animEffect filter="fade" transition="in">
                                      <p:cBhvr>
                                        <p:cTn dur="1000"/>
                                        <p:tgtEl>
                                          <p:spTgt spid="1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3" st="3"/>
                                            </p:txEl>
                                          </p:spTgt>
                                        </p:tgtEl>
                                        <p:attrNameLst>
                                          <p:attrName>style.visibility</p:attrName>
                                        </p:attrNameLst>
                                      </p:cBhvr>
                                      <p:to>
                                        <p:strVal val="visible"/>
                                      </p:to>
                                    </p:set>
                                    <p:animEffect filter="fade" transition="in">
                                      <p:cBhvr>
                                        <p:cTn dur="1000"/>
                                        <p:tgtEl>
                                          <p:spTgt spid="158">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 con Mergesort</a:t>
            </a:r>
            <a:endParaRPr/>
          </a:p>
        </p:txBody>
      </p:sp>
      <p:sp>
        <p:nvSpPr>
          <p:cNvPr id="164" name="Google Shape;164;p34"/>
          <p:cNvSpPr txBox="1"/>
          <p:nvPr>
            <p:ph idx="1" type="body"/>
          </p:nvPr>
        </p:nvSpPr>
        <p:spPr>
          <a:xfrm>
            <a:off x="311700" y="1171600"/>
            <a:ext cx="8520600" cy="249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latin typeface="Courier New"/>
                <a:ea typeface="Courier New"/>
                <a:cs typeface="Courier New"/>
                <a:sym typeface="Courier New"/>
              </a:rPr>
              <a:t>def mergesort(arr):</a:t>
            </a:r>
            <a:endParaRPr>
              <a:latin typeface="Courier New"/>
              <a:ea typeface="Courier New"/>
              <a:cs typeface="Courier New"/>
              <a:sym typeface="Courier New"/>
            </a:endParaRPr>
          </a:p>
          <a:p>
            <a:pPr indent="0" lvl="0" marL="0" rtl="0" algn="l">
              <a:spcBef>
                <a:spcPts val="0"/>
              </a:spcBef>
              <a:spcAft>
                <a:spcPts val="0"/>
              </a:spcAft>
              <a:buNone/>
            </a:pPr>
            <a:r>
              <a:rPr lang="es">
                <a:latin typeface="Courier New"/>
                <a:ea typeface="Courier New"/>
                <a:cs typeface="Courier New"/>
                <a:sym typeface="Courier New"/>
              </a:rPr>
              <a:t>	if len(arr) &lt;= 1:</a:t>
            </a:r>
            <a:endParaRPr>
              <a:latin typeface="Courier New"/>
              <a:ea typeface="Courier New"/>
              <a:cs typeface="Courier New"/>
              <a:sym typeface="Courier New"/>
            </a:endParaRPr>
          </a:p>
          <a:p>
            <a:pPr indent="0" lvl="0" marL="0" rtl="0" algn="l">
              <a:spcBef>
                <a:spcPts val="0"/>
              </a:spcBef>
              <a:spcAft>
                <a:spcPts val="0"/>
              </a:spcAft>
              <a:buNone/>
            </a:pPr>
            <a:r>
              <a:rPr lang="es">
                <a:latin typeface="Courier New"/>
                <a:ea typeface="Courier New"/>
                <a:cs typeface="Courier New"/>
                <a:sym typeface="Courier New"/>
              </a:rPr>
              <a:t>		</a:t>
            </a:r>
            <a:r>
              <a:rPr lang="es">
                <a:latin typeface="Courier New"/>
                <a:ea typeface="Courier New"/>
                <a:cs typeface="Courier New"/>
                <a:sym typeface="Courier New"/>
              </a:rPr>
              <a:t>return</a:t>
            </a:r>
            <a:r>
              <a:rPr lang="es">
                <a:latin typeface="Courier New"/>
                <a:ea typeface="Courier New"/>
                <a:cs typeface="Courier New"/>
                <a:sym typeface="Courier New"/>
              </a:rPr>
              <a:t> arr</a:t>
            </a:r>
            <a:endParaRPr>
              <a:latin typeface="Courier New"/>
              <a:ea typeface="Courier New"/>
              <a:cs typeface="Courier New"/>
              <a:sym typeface="Courier New"/>
            </a:endParaRPr>
          </a:p>
          <a:p>
            <a:pPr indent="0" lvl="0" marL="0" rtl="0" algn="l">
              <a:spcBef>
                <a:spcPts val="0"/>
              </a:spcBef>
              <a:spcAft>
                <a:spcPts val="0"/>
              </a:spcAft>
              <a:buNone/>
            </a:pPr>
            <a:r>
              <a:rPr lang="es">
                <a:latin typeface="Courier New"/>
                <a:ea typeface="Courier New"/>
                <a:cs typeface="Courier New"/>
                <a:sym typeface="Courier New"/>
              </a:rPr>
              <a:t>	medio = len(arr) / 2</a:t>
            </a:r>
            <a:endParaRPr>
              <a:latin typeface="Courier New"/>
              <a:ea typeface="Courier New"/>
              <a:cs typeface="Courier New"/>
              <a:sym typeface="Courier New"/>
            </a:endParaRPr>
          </a:p>
          <a:p>
            <a:pPr indent="0" lvl="0" marL="0" rtl="0" algn="l">
              <a:spcBef>
                <a:spcPts val="0"/>
              </a:spcBef>
              <a:spcAft>
                <a:spcPts val="0"/>
              </a:spcAft>
              <a:buNone/>
            </a:pPr>
            <a:r>
              <a:rPr lang="es">
                <a:latin typeface="Courier New"/>
                <a:ea typeface="Courier New"/>
                <a:cs typeface="Courier New"/>
                <a:sym typeface="Courier New"/>
              </a:rPr>
              <a:t>	izq = mergesort(arr[:medio])</a:t>
            </a:r>
            <a:endParaRPr>
              <a:latin typeface="Courier New"/>
              <a:ea typeface="Courier New"/>
              <a:cs typeface="Courier New"/>
              <a:sym typeface="Courier New"/>
            </a:endParaRPr>
          </a:p>
          <a:p>
            <a:pPr indent="0" lvl="0" marL="0" rtl="0" algn="l">
              <a:spcBef>
                <a:spcPts val="0"/>
              </a:spcBef>
              <a:spcAft>
                <a:spcPts val="0"/>
              </a:spcAft>
              <a:buNone/>
            </a:pPr>
            <a:r>
              <a:rPr lang="es">
                <a:latin typeface="Courier New"/>
                <a:ea typeface="Courier New"/>
                <a:cs typeface="Courier New"/>
                <a:sym typeface="Courier New"/>
              </a:rPr>
              <a:t>	der = mergesort(arr[medio:])</a:t>
            </a:r>
            <a:endParaRPr>
              <a:latin typeface="Courier New"/>
              <a:ea typeface="Courier New"/>
              <a:cs typeface="Courier New"/>
              <a:sym typeface="Courier New"/>
            </a:endParaRPr>
          </a:p>
          <a:p>
            <a:pPr indent="0" lvl="0" marL="0" rtl="0" algn="l">
              <a:spcBef>
                <a:spcPts val="0"/>
              </a:spcBef>
              <a:spcAft>
                <a:spcPts val="0"/>
              </a:spcAft>
              <a:buNone/>
            </a:pPr>
            <a:r>
              <a:rPr lang="es">
                <a:latin typeface="Courier New"/>
                <a:ea typeface="Courier New"/>
                <a:cs typeface="Courier New"/>
                <a:sym typeface="Courier New"/>
              </a:rPr>
              <a:t>	return intercalar_ordenado(izq, der)</a:t>
            </a:r>
            <a:endParaRPr>
              <a:latin typeface="Courier New"/>
              <a:ea typeface="Courier New"/>
              <a:cs typeface="Courier New"/>
              <a:sym typeface="Courier New"/>
            </a:endParaRPr>
          </a:p>
        </p:txBody>
      </p:sp>
      <p:pic>
        <p:nvPicPr>
          <p:cNvPr id="165" name="Google Shape;165;p34"/>
          <p:cNvPicPr preferRelativeResize="0"/>
          <p:nvPr/>
        </p:nvPicPr>
        <p:blipFill>
          <a:blip r:embed="rId3">
            <a:alphaModFix/>
          </a:blip>
          <a:stretch>
            <a:fillRect/>
          </a:stretch>
        </p:blipFill>
        <p:spPr>
          <a:xfrm>
            <a:off x="5333571" y="1703650"/>
            <a:ext cx="3207257" cy="613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Resolución analítica</a:t>
            </a:r>
            <a:endParaRPr/>
          </a:p>
        </p:txBody>
      </p:sp>
      <p:pic>
        <p:nvPicPr>
          <p:cNvPr id="171" name="Google Shape;171;p35"/>
          <p:cNvPicPr preferRelativeResize="0"/>
          <p:nvPr/>
        </p:nvPicPr>
        <p:blipFill>
          <a:blip r:embed="rId3">
            <a:alphaModFix/>
          </a:blip>
          <a:stretch>
            <a:fillRect/>
          </a:stretch>
        </p:blipFill>
        <p:spPr>
          <a:xfrm>
            <a:off x="311700" y="1977079"/>
            <a:ext cx="2333669" cy="405009"/>
          </a:xfrm>
          <a:prstGeom prst="rect">
            <a:avLst/>
          </a:prstGeom>
          <a:noFill/>
          <a:ln>
            <a:noFill/>
          </a:ln>
        </p:spPr>
      </p:pic>
      <p:pic>
        <p:nvPicPr>
          <p:cNvPr id="172" name="Google Shape;172;p35"/>
          <p:cNvPicPr preferRelativeResize="0"/>
          <p:nvPr/>
        </p:nvPicPr>
        <p:blipFill>
          <a:blip r:embed="rId4">
            <a:alphaModFix/>
          </a:blip>
          <a:stretch>
            <a:fillRect/>
          </a:stretch>
        </p:blipFill>
        <p:spPr>
          <a:xfrm>
            <a:off x="2729013" y="1885950"/>
            <a:ext cx="1934572" cy="587265"/>
          </a:xfrm>
          <a:prstGeom prst="rect">
            <a:avLst/>
          </a:prstGeom>
          <a:noFill/>
          <a:ln>
            <a:noFill/>
          </a:ln>
        </p:spPr>
      </p:pic>
      <p:pic>
        <p:nvPicPr>
          <p:cNvPr id="173" name="Google Shape;173;p35"/>
          <p:cNvPicPr preferRelativeResize="0"/>
          <p:nvPr/>
        </p:nvPicPr>
        <p:blipFill>
          <a:blip r:embed="rId5">
            <a:alphaModFix/>
          </a:blip>
          <a:stretch>
            <a:fillRect/>
          </a:stretch>
        </p:blipFill>
        <p:spPr>
          <a:xfrm>
            <a:off x="311700" y="2557705"/>
            <a:ext cx="3638528" cy="405009"/>
          </a:xfrm>
          <a:prstGeom prst="rect">
            <a:avLst/>
          </a:prstGeom>
          <a:noFill/>
          <a:ln>
            <a:noFill/>
          </a:ln>
        </p:spPr>
      </p:pic>
      <p:pic>
        <p:nvPicPr>
          <p:cNvPr id="174" name="Google Shape;174;p35"/>
          <p:cNvPicPr preferRelativeResize="0"/>
          <p:nvPr/>
        </p:nvPicPr>
        <p:blipFill>
          <a:blip r:embed="rId6">
            <a:alphaModFix/>
          </a:blip>
          <a:stretch>
            <a:fillRect/>
          </a:stretch>
        </p:blipFill>
        <p:spPr>
          <a:xfrm>
            <a:off x="311700" y="3092238"/>
            <a:ext cx="2236840" cy="481722"/>
          </a:xfrm>
          <a:prstGeom prst="rect">
            <a:avLst/>
          </a:prstGeom>
          <a:noFill/>
          <a:ln>
            <a:noFill/>
          </a:ln>
        </p:spPr>
      </p:pic>
      <p:pic>
        <p:nvPicPr>
          <p:cNvPr id="175" name="Google Shape;175;p35"/>
          <p:cNvPicPr preferRelativeResize="0"/>
          <p:nvPr/>
        </p:nvPicPr>
        <p:blipFill>
          <a:blip r:embed="rId7">
            <a:alphaModFix/>
          </a:blip>
          <a:stretch>
            <a:fillRect/>
          </a:stretch>
        </p:blipFill>
        <p:spPr>
          <a:xfrm>
            <a:off x="2608133" y="3155665"/>
            <a:ext cx="781878" cy="354869"/>
          </a:xfrm>
          <a:prstGeom prst="rect">
            <a:avLst/>
          </a:prstGeom>
          <a:noFill/>
          <a:ln>
            <a:noFill/>
          </a:ln>
        </p:spPr>
      </p:pic>
      <p:pic>
        <p:nvPicPr>
          <p:cNvPr id="176" name="Google Shape;176;p35"/>
          <p:cNvPicPr preferRelativeResize="0"/>
          <p:nvPr/>
        </p:nvPicPr>
        <p:blipFill>
          <a:blip r:embed="rId8">
            <a:alphaModFix/>
          </a:blip>
          <a:stretch>
            <a:fillRect/>
          </a:stretch>
        </p:blipFill>
        <p:spPr>
          <a:xfrm>
            <a:off x="3467771" y="3110011"/>
            <a:ext cx="1960719" cy="481722"/>
          </a:xfrm>
          <a:prstGeom prst="rect">
            <a:avLst/>
          </a:prstGeom>
          <a:noFill/>
          <a:ln>
            <a:noFill/>
          </a:ln>
        </p:spPr>
      </p:pic>
      <p:pic>
        <p:nvPicPr>
          <p:cNvPr id="177" name="Google Shape;177;p35"/>
          <p:cNvPicPr preferRelativeResize="0"/>
          <p:nvPr/>
        </p:nvPicPr>
        <p:blipFill>
          <a:blip r:embed="rId9">
            <a:alphaModFix/>
          </a:blip>
          <a:stretch>
            <a:fillRect/>
          </a:stretch>
        </p:blipFill>
        <p:spPr>
          <a:xfrm>
            <a:off x="5525300" y="3110013"/>
            <a:ext cx="2054959" cy="481722"/>
          </a:xfrm>
          <a:prstGeom prst="rect">
            <a:avLst/>
          </a:prstGeom>
          <a:noFill/>
          <a:ln>
            <a:noFill/>
          </a:ln>
        </p:spPr>
      </p:pic>
      <p:pic>
        <p:nvPicPr>
          <p:cNvPr id="178" name="Google Shape;178;p35"/>
          <p:cNvPicPr preferRelativeResize="0"/>
          <p:nvPr/>
        </p:nvPicPr>
        <p:blipFill>
          <a:blip r:embed="rId10">
            <a:alphaModFix/>
          </a:blip>
          <a:stretch>
            <a:fillRect/>
          </a:stretch>
        </p:blipFill>
        <p:spPr>
          <a:xfrm>
            <a:off x="311702" y="3776145"/>
            <a:ext cx="2069819" cy="481722"/>
          </a:xfrm>
          <a:prstGeom prst="rect">
            <a:avLst/>
          </a:prstGeom>
          <a:noFill/>
          <a:ln>
            <a:noFill/>
          </a:ln>
        </p:spPr>
      </p:pic>
      <p:pic>
        <p:nvPicPr>
          <p:cNvPr id="179" name="Google Shape;179;p35"/>
          <p:cNvPicPr preferRelativeResize="0"/>
          <p:nvPr/>
        </p:nvPicPr>
        <p:blipFill>
          <a:blip r:embed="rId11">
            <a:alphaModFix/>
          </a:blip>
          <a:stretch>
            <a:fillRect/>
          </a:stretch>
        </p:blipFill>
        <p:spPr>
          <a:xfrm>
            <a:off x="2454337" y="3776143"/>
            <a:ext cx="940684" cy="481722"/>
          </a:xfrm>
          <a:prstGeom prst="rect">
            <a:avLst/>
          </a:prstGeom>
          <a:noFill/>
          <a:ln>
            <a:noFill/>
          </a:ln>
        </p:spPr>
      </p:pic>
      <p:pic>
        <p:nvPicPr>
          <p:cNvPr id="180" name="Google Shape;180;p35"/>
          <p:cNvPicPr preferRelativeResize="0"/>
          <p:nvPr/>
        </p:nvPicPr>
        <p:blipFill>
          <a:blip r:embed="rId12">
            <a:alphaModFix/>
          </a:blip>
          <a:stretch>
            <a:fillRect/>
          </a:stretch>
        </p:blipFill>
        <p:spPr>
          <a:xfrm>
            <a:off x="3512417" y="3776153"/>
            <a:ext cx="4350531" cy="481722"/>
          </a:xfrm>
          <a:prstGeom prst="rect">
            <a:avLst/>
          </a:prstGeom>
          <a:noFill/>
          <a:ln>
            <a:noFill/>
          </a:ln>
        </p:spPr>
      </p:pic>
      <p:sp>
        <p:nvSpPr>
          <p:cNvPr id="181" name="Google Shape;181;p35"/>
          <p:cNvSpPr txBox="1"/>
          <p:nvPr/>
        </p:nvSpPr>
        <p:spPr>
          <a:xfrm>
            <a:off x="494100" y="1449900"/>
            <a:ext cx="466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Proxima Nova"/>
                <a:ea typeface="Proxima Nova"/>
                <a:cs typeface="Proxima Nova"/>
                <a:sym typeface="Proxima Nova"/>
              </a:rPr>
              <a:t>Suponiendo </a:t>
            </a:r>
            <a:endParaRPr>
              <a:latin typeface="Proxima Nova"/>
              <a:ea typeface="Proxima Nova"/>
              <a:cs typeface="Proxima Nova"/>
              <a:sym typeface="Proxima Nova"/>
            </a:endParaRPr>
          </a:p>
        </p:txBody>
      </p:sp>
      <p:pic>
        <p:nvPicPr>
          <p:cNvPr id="182" name="Google Shape;182;p35"/>
          <p:cNvPicPr preferRelativeResize="0"/>
          <p:nvPr/>
        </p:nvPicPr>
        <p:blipFill>
          <a:blip r:embed="rId13">
            <a:alphaModFix/>
          </a:blip>
          <a:stretch>
            <a:fillRect/>
          </a:stretch>
        </p:blipFill>
        <p:spPr>
          <a:xfrm>
            <a:off x="1557000" y="1376210"/>
            <a:ext cx="781875" cy="481978"/>
          </a:xfrm>
          <a:prstGeom prst="rect">
            <a:avLst/>
          </a:prstGeom>
          <a:noFill/>
          <a:ln>
            <a:noFill/>
          </a:ln>
        </p:spPr>
      </p:pic>
      <p:pic>
        <p:nvPicPr>
          <p:cNvPr id="183" name="Google Shape;183;p35"/>
          <p:cNvPicPr preferRelativeResize="0"/>
          <p:nvPr/>
        </p:nvPicPr>
        <p:blipFill>
          <a:blip r:embed="rId14">
            <a:alphaModFix/>
          </a:blip>
          <a:stretch>
            <a:fillRect/>
          </a:stretch>
        </p:blipFill>
        <p:spPr>
          <a:xfrm>
            <a:off x="6498464" y="0"/>
            <a:ext cx="2645541" cy="1746988"/>
          </a:xfrm>
          <a:prstGeom prst="rect">
            <a:avLst/>
          </a:prstGeom>
          <a:noFill/>
          <a:ln>
            <a:noFill/>
          </a:ln>
        </p:spPr>
      </p:pic>
      <p:sp>
        <p:nvSpPr>
          <p:cNvPr id="184" name="Google Shape;184;p35"/>
          <p:cNvSpPr txBox="1"/>
          <p:nvPr/>
        </p:nvSpPr>
        <p:spPr>
          <a:xfrm>
            <a:off x="6498475" y="1697700"/>
            <a:ext cx="2389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000">
                <a:latin typeface="Proxima Nova"/>
                <a:ea typeface="Proxima Nova"/>
                <a:cs typeface="Proxima Nova"/>
                <a:sym typeface="Proxima Nova"/>
              </a:rPr>
              <a:t>War flashbacks de algoritmos</a:t>
            </a:r>
            <a:endParaRPr sz="1000">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1000"/>
                                        <p:tgtEl>
                                          <p:spTgt spid="184"/>
                                        </p:tgtEl>
                                      </p:cBhvr>
                                    </p:animEffect>
                                  </p:childTnLst>
                                </p:cTn>
                              </p:par>
                              <p:par>
                                <p:cTn fill="hold" nodeType="with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1000"/>
                                        <p:tgtEl>
                                          <p:spTgt spid="1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Teorema Maestro</a:t>
            </a:r>
            <a:endParaRPr/>
          </a:p>
        </p:txBody>
      </p:sp>
      <p:pic>
        <p:nvPicPr>
          <p:cNvPr id="190" name="Google Shape;190;p36"/>
          <p:cNvPicPr preferRelativeResize="0"/>
          <p:nvPr/>
        </p:nvPicPr>
        <p:blipFill rotWithShape="1">
          <a:blip r:embed="rId3">
            <a:alphaModFix/>
          </a:blip>
          <a:srcRect b="3512" l="0" r="0" t="0"/>
          <a:stretch/>
        </p:blipFill>
        <p:spPr>
          <a:xfrm>
            <a:off x="2160050" y="1210625"/>
            <a:ext cx="4823900" cy="3647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Teorema Maestro</a:t>
            </a:r>
            <a:endParaRPr/>
          </a:p>
        </p:txBody>
      </p:sp>
      <p:sp>
        <p:nvSpPr>
          <p:cNvPr id="196" name="Google Shape;196;p37"/>
          <p:cNvSpPr txBox="1"/>
          <p:nvPr/>
        </p:nvSpPr>
        <p:spPr>
          <a:xfrm>
            <a:off x="311700" y="1552600"/>
            <a:ext cx="8520600" cy="339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roxima Nova"/>
              <a:ea typeface="Proxima Nova"/>
              <a:cs typeface="Proxima Nova"/>
              <a:sym typeface="Proxima Nova"/>
            </a:endParaRPr>
          </a:p>
          <a:p>
            <a:pPr indent="0" lvl="0" marL="0" rtl="0" algn="l">
              <a:lnSpc>
                <a:spcPct val="115000"/>
              </a:lnSpc>
              <a:spcBef>
                <a:spcPts val="1600"/>
              </a:spcBef>
              <a:spcAft>
                <a:spcPts val="0"/>
              </a:spcAft>
              <a:buNone/>
            </a:pPr>
            <a:r>
              <a:t/>
            </a:r>
            <a:endParaRPr sz="1800">
              <a:solidFill>
                <a:srgbClr val="000000"/>
              </a:solidFill>
              <a:latin typeface="Roboto Mono"/>
              <a:ea typeface="Roboto Mono"/>
              <a:cs typeface="Roboto Mono"/>
              <a:sym typeface="Roboto Mono"/>
            </a:endParaRPr>
          </a:p>
          <a:p>
            <a:pPr indent="0" lvl="0" marL="0" rtl="0" algn="l">
              <a:lnSpc>
                <a:spcPct val="115000"/>
              </a:lnSpc>
              <a:spcBef>
                <a:spcPts val="1600"/>
              </a:spcBef>
              <a:spcAft>
                <a:spcPts val="0"/>
              </a:spcAft>
              <a:buNone/>
            </a:pPr>
            <a:r>
              <a:rPr lang="es" sz="1800">
                <a:solidFill>
                  <a:srgbClr val="0000FF"/>
                </a:solidFill>
                <a:latin typeface="Roboto Mono"/>
                <a:ea typeface="Roboto Mono"/>
                <a:cs typeface="Roboto Mono"/>
                <a:sym typeface="Roboto Mono"/>
              </a:rPr>
              <a:t>A</a:t>
            </a:r>
            <a:r>
              <a:rPr lang="es" sz="1800">
                <a:solidFill>
                  <a:srgbClr val="000000"/>
                </a:solidFill>
                <a:latin typeface="Proxima Nova"/>
                <a:ea typeface="Proxima Nova"/>
                <a:cs typeface="Proxima Nova"/>
                <a:sym typeface="Proxima Nova"/>
              </a:rPr>
              <a:t>: cantidad de llamados recursivos</a:t>
            </a:r>
            <a:endParaRPr sz="1800">
              <a:solidFill>
                <a:srgbClr val="000000"/>
              </a:solidFill>
              <a:latin typeface="Proxima Nova"/>
              <a:ea typeface="Proxima Nova"/>
              <a:cs typeface="Proxima Nova"/>
              <a:sym typeface="Proxima Nova"/>
            </a:endParaRPr>
          </a:p>
          <a:p>
            <a:pPr indent="0" lvl="0" marL="0" rtl="0" algn="l">
              <a:lnSpc>
                <a:spcPct val="115000"/>
              </a:lnSpc>
              <a:spcBef>
                <a:spcPts val="1600"/>
              </a:spcBef>
              <a:spcAft>
                <a:spcPts val="0"/>
              </a:spcAft>
              <a:buNone/>
            </a:pPr>
            <a:r>
              <a:rPr lang="es" sz="1800">
                <a:solidFill>
                  <a:srgbClr val="FF0000"/>
                </a:solidFill>
                <a:latin typeface="Roboto Mono"/>
                <a:ea typeface="Roboto Mono"/>
                <a:cs typeface="Roboto Mono"/>
                <a:sym typeface="Roboto Mono"/>
              </a:rPr>
              <a:t>B</a:t>
            </a:r>
            <a:r>
              <a:rPr lang="es" sz="1800">
                <a:solidFill>
                  <a:srgbClr val="000000"/>
                </a:solidFill>
                <a:latin typeface="Proxima Nova"/>
                <a:ea typeface="Proxima Nova"/>
                <a:cs typeface="Proxima Nova"/>
                <a:sym typeface="Proxima Nova"/>
              </a:rPr>
              <a:t>: proporción del tamaño original con el que llamamos recursivamente</a:t>
            </a:r>
            <a:endParaRPr sz="1800">
              <a:solidFill>
                <a:srgbClr val="000000"/>
              </a:solidFill>
              <a:latin typeface="Proxima Nova"/>
              <a:ea typeface="Proxima Nova"/>
              <a:cs typeface="Proxima Nova"/>
              <a:sym typeface="Proxima Nova"/>
            </a:endParaRPr>
          </a:p>
          <a:p>
            <a:pPr indent="0" lvl="0" marL="0" rtl="0" algn="l">
              <a:lnSpc>
                <a:spcPct val="115000"/>
              </a:lnSpc>
              <a:spcBef>
                <a:spcPts val="1600"/>
              </a:spcBef>
              <a:spcAft>
                <a:spcPts val="1600"/>
              </a:spcAft>
              <a:buNone/>
            </a:pPr>
            <a:r>
              <a:rPr lang="es" sz="1800">
                <a:solidFill>
                  <a:srgbClr val="000000"/>
                </a:solidFill>
                <a:latin typeface="Roboto Mono"/>
                <a:ea typeface="Roboto Mono"/>
                <a:cs typeface="Roboto Mono"/>
                <a:sym typeface="Roboto Mono"/>
              </a:rPr>
              <a:t>𝒪(</a:t>
            </a:r>
            <a:r>
              <a:rPr lang="es" sz="1800">
                <a:solidFill>
                  <a:srgbClr val="000000"/>
                </a:solidFill>
                <a:latin typeface="Calibri"/>
                <a:ea typeface="Calibri"/>
                <a:cs typeface="Calibri"/>
                <a:sym typeface="Calibri"/>
              </a:rPr>
              <a:t>n</a:t>
            </a:r>
            <a:r>
              <a:rPr baseline="30000" lang="es" sz="1800">
                <a:solidFill>
                  <a:srgbClr val="76A5AF"/>
                </a:solidFill>
                <a:latin typeface="Roboto Mono"/>
                <a:ea typeface="Roboto Mono"/>
                <a:cs typeface="Roboto Mono"/>
                <a:sym typeface="Roboto Mono"/>
              </a:rPr>
              <a:t>C</a:t>
            </a:r>
            <a:r>
              <a:rPr lang="es" sz="1800">
                <a:solidFill>
                  <a:srgbClr val="000000"/>
                </a:solidFill>
                <a:latin typeface="Roboto Mono"/>
                <a:ea typeface="Roboto Mono"/>
                <a:cs typeface="Roboto Mono"/>
                <a:sym typeface="Roboto Mono"/>
              </a:rPr>
              <a:t>)</a:t>
            </a:r>
            <a:r>
              <a:rPr lang="es" sz="1800">
                <a:solidFill>
                  <a:srgbClr val="000000"/>
                </a:solidFill>
                <a:latin typeface="Proxima Nova"/>
                <a:ea typeface="Proxima Nova"/>
                <a:cs typeface="Proxima Nova"/>
                <a:sym typeface="Proxima Nova"/>
              </a:rPr>
              <a:t>: el costo de </a:t>
            </a:r>
            <a:r>
              <a:rPr i="1" lang="es" sz="1800">
                <a:solidFill>
                  <a:srgbClr val="000000"/>
                </a:solidFill>
                <a:latin typeface="Proxima Nova"/>
                <a:ea typeface="Proxima Nova"/>
                <a:cs typeface="Proxima Nova"/>
                <a:sym typeface="Proxima Nova"/>
              </a:rPr>
              <a:t>partir y juntar</a:t>
            </a:r>
            <a:r>
              <a:rPr lang="es" sz="1800">
                <a:solidFill>
                  <a:srgbClr val="000000"/>
                </a:solidFill>
                <a:latin typeface="Proxima Nova"/>
                <a:ea typeface="Proxima Nova"/>
                <a:cs typeface="Proxima Nova"/>
                <a:sym typeface="Proxima Nova"/>
              </a:rPr>
              <a:t> (todo lo que no son llamados recursivos)</a:t>
            </a:r>
            <a:endParaRPr sz="1800">
              <a:solidFill>
                <a:srgbClr val="000000"/>
              </a:solidFill>
              <a:latin typeface="Proxima Nova"/>
              <a:ea typeface="Proxima Nova"/>
              <a:cs typeface="Proxima Nova"/>
              <a:sym typeface="Proxima Nova"/>
            </a:endParaRPr>
          </a:p>
        </p:txBody>
      </p:sp>
      <p:pic>
        <p:nvPicPr>
          <p:cNvPr id="197" name="Google Shape;197;p37"/>
          <p:cNvPicPr preferRelativeResize="0"/>
          <p:nvPr/>
        </p:nvPicPr>
        <p:blipFill>
          <a:blip r:embed="rId3">
            <a:alphaModFix/>
          </a:blip>
          <a:stretch>
            <a:fillRect/>
          </a:stretch>
        </p:blipFill>
        <p:spPr>
          <a:xfrm>
            <a:off x="1583775" y="1565450"/>
            <a:ext cx="4564176" cy="1043875"/>
          </a:xfrm>
          <a:prstGeom prst="rect">
            <a:avLst/>
          </a:prstGeom>
          <a:noFill/>
          <a:ln>
            <a:noFill/>
          </a:ln>
        </p:spPr>
      </p:pic>
      <p:sp>
        <p:nvSpPr>
          <p:cNvPr id="198" name="Google Shape;198;p37"/>
          <p:cNvSpPr txBox="1"/>
          <p:nvPr/>
        </p:nvSpPr>
        <p:spPr>
          <a:xfrm>
            <a:off x="311700" y="1170725"/>
            <a:ext cx="6295200" cy="50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800">
                <a:solidFill>
                  <a:srgbClr val="000000"/>
                </a:solidFill>
                <a:latin typeface="Proxima Nova"/>
                <a:ea typeface="Proxima Nova"/>
                <a:cs typeface="Proxima Nova"/>
                <a:sym typeface="Proxima Nova"/>
              </a:rPr>
              <a:t>Si tenemos un algoritmo cuya ecuación de recurrencia es: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Teorema Maestro</a:t>
            </a:r>
            <a:endParaRPr/>
          </a:p>
        </p:txBody>
      </p:sp>
      <p:sp>
        <p:nvSpPr>
          <p:cNvPr id="204" name="Google Shape;204;p3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800"/>
              <a:t>Si tenemos un algoritmo cuya ecuación de recurrencia es: </a:t>
            </a:r>
            <a:endParaRPr sz="1800"/>
          </a:p>
          <a:p>
            <a:pPr indent="0" lvl="0" marL="0" rtl="0" algn="ctr">
              <a:spcBef>
                <a:spcPts val="1600"/>
              </a:spcBef>
              <a:spcAft>
                <a:spcPts val="0"/>
              </a:spcAft>
              <a:buNone/>
            </a:pPr>
            <a:r>
              <a:t/>
            </a:r>
            <a:endParaRPr sz="1800">
              <a:latin typeface="Roboto Mono"/>
              <a:ea typeface="Roboto Mono"/>
              <a:cs typeface="Roboto Mono"/>
              <a:sym typeface="Roboto Mono"/>
            </a:endParaRPr>
          </a:p>
          <a:p>
            <a:pPr indent="0" lvl="0" marL="0" rtl="0" algn="ctr">
              <a:spcBef>
                <a:spcPts val="1600"/>
              </a:spcBef>
              <a:spcAft>
                <a:spcPts val="0"/>
              </a:spcAft>
              <a:buNone/>
            </a:pPr>
            <a:r>
              <a:t/>
            </a:r>
            <a:endParaRPr sz="1800">
              <a:latin typeface="Roboto Mono"/>
              <a:ea typeface="Roboto Mono"/>
              <a:cs typeface="Roboto Mono"/>
              <a:sym typeface="Roboto Mono"/>
            </a:endParaRPr>
          </a:p>
          <a:p>
            <a:pPr indent="0" lvl="0" marL="0" rtl="0" algn="l">
              <a:spcBef>
                <a:spcPts val="1600"/>
              </a:spcBef>
              <a:spcAft>
                <a:spcPts val="1600"/>
              </a:spcAft>
              <a:buNone/>
            </a:pPr>
            <a:r>
              <a:t/>
            </a:r>
            <a:endParaRPr sz="1800">
              <a:solidFill>
                <a:srgbClr val="000000"/>
              </a:solidFill>
              <a:latin typeface="Roboto Mono"/>
              <a:ea typeface="Roboto Mono"/>
              <a:cs typeface="Roboto Mono"/>
              <a:sym typeface="Roboto Mono"/>
            </a:endParaRPr>
          </a:p>
        </p:txBody>
      </p:sp>
      <p:pic>
        <p:nvPicPr>
          <p:cNvPr id="205" name="Google Shape;205;p38"/>
          <p:cNvPicPr preferRelativeResize="0"/>
          <p:nvPr/>
        </p:nvPicPr>
        <p:blipFill>
          <a:blip r:embed="rId3">
            <a:alphaModFix/>
          </a:blip>
          <a:stretch>
            <a:fillRect/>
          </a:stretch>
        </p:blipFill>
        <p:spPr>
          <a:xfrm>
            <a:off x="0" y="2700418"/>
            <a:ext cx="9144002" cy="1798264"/>
          </a:xfrm>
          <a:prstGeom prst="rect">
            <a:avLst/>
          </a:prstGeom>
          <a:noFill/>
          <a:ln>
            <a:noFill/>
          </a:ln>
        </p:spPr>
      </p:pic>
      <p:pic>
        <p:nvPicPr>
          <p:cNvPr id="206" name="Google Shape;206;p38"/>
          <p:cNvPicPr preferRelativeResize="0"/>
          <p:nvPr/>
        </p:nvPicPr>
        <p:blipFill>
          <a:blip r:embed="rId4">
            <a:alphaModFix/>
          </a:blip>
          <a:stretch>
            <a:fillRect/>
          </a:stretch>
        </p:blipFill>
        <p:spPr>
          <a:xfrm>
            <a:off x="1583775" y="1565450"/>
            <a:ext cx="4564176" cy="10438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Condiciones para aplicar el teorema</a:t>
            </a:r>
            <a:endParaRPr/>
          </a:p>
        </p:txBody>
      </p:sp>
      <p:sp>
        <p:nvSpPr>
          <p:cNvPr id="212" name="Google Shape;212;p39"/>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s"/>
              <a:t>A es natural</a:t>
            </a:r>
            <a:endParaRPr/>
          </a:p>
          <a:p>
            <a:pPr indent="-342900" lvl="0" marL="457200" rtl="0" algn="l">
              <a:spcBef>
                <a:spcPts val="0"/>
              </a:spcBef>
              <a:spcAft>
                <a:spcPts val="0"/>
              </a:spcAft>
              <a:buSzPts val="1800"/>
              <a:buAutoNum type="arabicPeriod"/>
            </a:pPr>
            <a:r>
              <a:rPr lang="es"/>
              <a:t>B es real mayor a 1, y es constante (siempre el mismo)</a:t>
            </a:r>
            <a:endParaRPr/>
          </a:p>
          <a:p>
            <a:pPr indent="-342900" lvl="0" marL="457200" rtl="0" algn="l">
              <a:spcBef>
                <a:spcPts val="0"/>
              </a:spcBef>
              <a:spcAft>
                <a:spcPts val="0"/>
              </a:spcAft>
              <a:buSzPts val="1800"/>
              <a:buAutoNum type="arabicPeriod"/>
            </a:pPr>
            <a:r>
              <a:rPr lang="es"/>
              <a:t>El caso base es constante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 con Mergesort</a:t>
            </a:r>
            <a:endParaRPr/>
          </a:p>
        </p:txBody>
      </p:sp>
      <p:pic>
        <p:nvPicPr>
          <p:cNvPr id="218" name="Google Shape;218;p40"/>
          <p:cNvPicPr preferRelativeResize="0"/>
          <p:nvPr/>
        </p:nvPicPr>
        <p:blipFill>
          <a:blip r:embed="rId3">
            <a:alphaModFix/>
          </a:blip>
          <a:stretch>
            <a:fillRect/>
          </a:stretch>
        </p:blipFill>
        <p:spPr>
          <a:xfrm>
            <a:off x="152400" y="1269507"/>
            <a:ext cx="7071362" cy="860861"/>
          </a:xfrm>
          <a:prstGeom prst="rect">
            <a:avLst/>
          </a:prstGeom>
          <a:noFill/>
          <a:ln>
            <a:noFill/>
          </a:ln>
        </p:spPr>
      </p:pic>
      <p:pic>
        <p:nvPicPr>
          <p:cNvPr id="219" name="Google Shape;219;p40"/>
          <p:cNvPicPr preferRelativeResize="0"/>
          <p:nvPr/>
        </p:nvPicPr>
        <p:blipFill rotWithShape="1">
          <a:blip r:embed="rId3">
            <a:alphaModFix/>
          </a:blip>
          <a:srcRect b="0" l="0" r="49413" t="0"/>
          <a:stretch/>
        </p:blipFill>
        <p:spPr>
          <a:xfrm>
            <a:off x="152400" y="1246975"/>
            <a:ext cx="3577239" cy="860860"/>
          </a:xfrm>
          <a:prstGeom prst="rect">
            <a:avLst/>
          </a:prstGeom>
          <a:noFill/>
          <a:ln>
            <a:noFill/>
          </a:ln>
        </p:spPr>
      </p:pic>
      <p:pic>
        <p:nvPicPr>
          <p:cNvPr id="220" name="Google Shape;220;p40"/>
          <p:cNvPicPr preferRelativeResize="0"/>
          <p:nvPr/>
        </p:nvPicPr>
        <p:blipFill>
          <a:blip r:embed="rId4">
            <a:alphaModFix/>
          </a:blip>
          <a:stretch>
            <a:fillRect/>
          </a:stretch>
        </p:blipFill>
        <p:spPr>
          <a:xfrm>
            <a:off x="152400" y="2097043"/>
            <a:ext cx="7071358" cy="949395"/>
          </a:xfrm>
          <a:prstGeom prst="rect">
            <a:avLst/>
          </a:prstGeom>
          <a:noFill/>
          <a:ln>
            <a:noFill/>
          </a:ln>
        </p:spPr>
      </p:pic>
      <p:pic>
        <p:nvPicPr>
          <p:cNvPr id="221" name="Google Shape;221;p40"/>
          <p:cNvPicPr preferRelativeResize="0"/>
          <p:nvPr/>
        </p:nvPicPr>
        <p:blipFill rotWithShape="1">
          <a:blip r:embed="rId4">
            <a:alphaModFix/>
          </a:blip>
          <a:srcRect b="-16060" l="0" r="63460" t="16060"/>
          <a:stretch/>
        </p:blipFill>
        <p:spPr>
          <a:xfrm>
            <a:off x="152400" y="2259825"/>
            <a:ext cx="2583874" cy="949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1000"/>
                                        <p:tgtEl>
                                          <p:spTgt spid="2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000"/>
                                        <p:tgtEl>
                                          <p:spTgt spid="2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1000"/>
                                        <p:tgtEl>
                                          <p:spTgt spid="2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Teorema Maestro general</a:t>
            </a:r>
            <a:endParaRPr/>
          </a:p>
        </p:txBody>
      </p:sp>
      <p:sp>
        <p:nvSpPr>
          <p:cNvPr id="227" name="Google Shape;227;p41"/>
          <p:cNvSpPr txBox="1"/>
          <p:nvPr>
            <p:ph idx="1" type="body"/>
          </p:nvPr>
        </p:nvSpPr>
        <p:spPr>
          <a:xfrm>
            <a:off x="311700" y="2013300"/>
            <a:ext cx="8520600" cy="558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A y B lo mismo de antes, f(n) siendo el costo de partir y juntar los resultados. </a:t>
            </a:r>
            <a:endParaRPr/>
          </a:p>
        </p:txBody>
      </p:sp>
      <p:pic>
        <p:nvPicPr>
          <p:cNvPr id="228" name="Google Shape;228;p41"/>
          <p:cNvPicPr preferRelativeResize="0"/>
          <p:nvPr/>
        </p:nvPicPr>
        <p:blipFill>
          <a:blip r:embed="rId3">
            <a:alphaModFix/>
          </a:blip>
          <a:stretch>
            <a:fillRect/>
          </a:stretch>
        </p:blipFill>
        <p:spPr>
          <a:xfrm>
            <a:off x="2899337" y="1209002"/>
            <a:ext cx="3345325" cy="613200"/>
          </a:xfrm>
          <a:prstGeom prst="rect">
            <a:avLst/>
          </a:prstGeom>
          <a:noFill/>
          <a:ln>
            <a:noFill/>
          </a:ln>
        </p:spPr>
      </p:pic>
      <p:pic>
        <p:nvPicPr>
          <p:cNvPr id="229" name="Google Shape;229;p41"/>
          <p:cNvPicPr preferRelativeResize="0"/>
          <p:nvPr/>
        </p:nvPicPr>
        <p:blipFill>
          <a:blip r:embed="rId4">
            <a:alphaModFix/>
          </a:blip>
          <a:stretch>
            <a:fillRect/>
          </a:stretch>
        </p:blipFill>
        <p:spPr>
          <a:xfrm>
            <a:off x="4622742" y="2450479"/>
            <a:ext cx="2679061" cy="613200"/>
          </a:xfrm>
          <a:prstGeom prst="rect">
            <a:avLst/>
          </a:prstGeom>
          <a:noFill/>
          <a:ln>
            <a:noFill/>
          </a:ln>
        </p:spPr>
      </p:pic>
      <p:pic>
        <p:nvPicPr>
          <p:cNvPr id="230" name="Google Shape;230;p41"/>
          <p:cNvPicPr preferRelativeResize="0"/>
          <p:nvPr/>
        </p:nvPicPr>
        <p:blipFill>
          <a:blip r:embed="rId5">
            <a:alphaModFix/>
          </a:blip>
          <a:stretch>
            <a:fillRect/>
          </a:stretch>
        </p:blipFill>
        <p:spPr>
          <a:xfrm>
            <a:off x="198300" y="3220500"/>
            <a:ext cx="5003987" cy="613200"/>
          </a:xfrm>
          <a:prstGeom prst="rect">
            <a:avLst/>
          </a:prstGeom>
          <a:noFill/>
          <a:ln>
            <a:noFill/>
          </a:ln>
        </p:spPr>
      </p:pic>
      <p:pic>
        <p:nvPicPr>
          <p:cNvPr id="231" name="Google Shape;231;p41"/>
          <p:cNvPicPr preferRelativeResize="0"/>
          <p:nvPr/>
        </p:nvPicPr>
        <p:blipFill>
          <a:blip r:embed="rId6">
            <a:alphaModFix/>
          </a:blip>
          <a:stretch>
            <a:fillRect/>
          </a:stretch>
        </p:blipFill>
        <p:spPr>
          <a:xfrm>
            <a:off x="255650" y="2572187"/>
            <a:ext cx="4316354" cy="369775"/>
          </a:xfrm>
          <a:prstGeom prst="rect">
            <a:avLst/>
          </a:prstGeom>
          <a:noFill/>
          <a:ln>
            <a:noFill/>
          </a:ln>
        </p:spPr>
      </p:pic>
      <p:pic>
        <p:nvPicPr>
          <p:cNvPr id="232" name="Google Shape;232;p41"/>
          <p:cNvPicPr preferRelativeResize="0"/>
          <p:nvPr/>
        </p:nvPicPr>
        <p:blipFill>
          <a:blip r:embed="rId7">
            <a:alphaModFix/>
          </a:blip>
          <a:stretch>
            <a:fillRect/>
          </a:stretch>
        </p:blipFill>
        <p:spPr>
          <a:xfrm>
            <a:off x="5331642" y="3257282"/>
            <a:ext cx="3220157" cy="613200"/>
          </a:xfrm>
          <a:prstGeom prst="rect">
            <a:avLst/>
          </a:prstGeom>
          <a:noFill/>
          <a:ln>
            <a:noFill/>
          </a:ln>
        </p:spPr>
      </p:pic>
      <p:pic>
        <p:nvPicPr>
          <p:cNvPr id="233" name="Google Shape;233;p41"/>
          <p:cNvPicPr preferRelativeResize="0"/>
          <p:nvPr/>
        </p:nvPicPr>
        <p:blipFill>
          <a:blip r:embed="rId8">
            <a:alphaModFix/>
          </a:blip>
          <a:stretch>
            <a:fillRect/>
          </a:stretch>
        </p:blipFill>
        <p:spPr>
          <a:xfrm>
            <a:off x="198300" y="3984484"/>
            <a:ext cx="3345349" cy="317341"/>
          </a:xfrm>
          <a:prstGeom prst="rect">
            <a:avLst/>
          </a:prstGeom>
          <a:noFill/>
          <a:ln>
            <a:noFill/>
          </a:ln>
        </p:spPr>
      </p:pic>
      <p:pic>
        <p:nvPicPr>
          <p:cNvPr id="234" name="Google Shape;234;p41"/>
          <p:cNvPicPr preferRelativeResize="0"/>
          <p:nvPr/>
        </p:nvPicPr>
        <p:blipFill>
          <a:blip r:embed="rId9">
            <a:alphaModFix/>
          </a:blip>
          <a:stretch>
            <a:fillRect/>
          </a:stretch>
        </p:blipFill>
        <p:spPr>
          <a:xfrm>
            <a:off x="3613937" y="3940553"/>
            <a:ext cx="3413401" cy="405200"/>
          </a:xfrm>
          <a:prstGeom prst="rect">
            <a:avLst/>
          </a:prstGeom>
          <a:noFill/>
          <a:ln>
            <a:noFill/>
          </a:ln>
        </p:spPr>
      </p:pic>
      <p:pic>
        <p:nvPicPr>
          <p:cNvPr id="235" name="Google Shape;235;p41"/>
          <p:cNvPicPr preferRelativeResize="0"/>
          <p:nvPr/>
        </p:nvPicPr>
        <p:blipFill>
          <a:blip r:embed="rId10">
            <a:alphaModFix/>
          </a:blip>
          <a:stretch>
            <a:fillRect/>
          </a:stretch>
        </p:blipFill>
        <p:spPr>
          <a:xfrm>
            <a:off x="7097617" y="3940550"/>
            <a:ext cx="1995635" cy="3173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Ejemplo</a:t>
            </a:r>
            <a:endParaRPr/>
          </a:p>
        </p:txBody>
      </p:sp>
      <p:pic>
        <p:nvPicPr>
          <p:cNvPr id="241" name="Google Shape;241;p42"/>
          <p:cNvPicPr preferRelativeResize="0"/>
          <p:nvPr/>
        </p:nvPicPr>
        <p:blipFill>
          <a:blip r:embed="rId3">
            <a:alphaModFix/>
          </a:blip>
          <a:stretch>
            <a:fillRect/>
          </a:stretch>
        </p:blipFill>
        <p:spPr>
          <a:xfrm>
            <a:off x="41113" y="1264024"/>
            <a:ext cx="3659716" cy="696925"/>
          </a:xfrm>
          <a:prstGeom prst="rect">
            <a:avLst/>
          </a:prstGeom>
          <a:noFill/>
          <a:ln>
            <a:noFill/>
          </a:ln>
        </p:spPr>
      </p:pic>
      <p:sp>
        <p:nvSpPr>
          <p:cNvPr id="242" name="Google Shape;242;p42"/>
          <p:cNvSpPr txBox="1"/>
          <p:nvPr/>
        </p:nvSpPr>
        <p:spPr>
          <a:xfrm>
            <a:off x="3798025" y="445025"/>
            <a:ext cx="49257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latin typeface="Proxima Nova"/>
                <a:ea typeface="Proxima Nova"/>
                <a:cs typeface="Proxima Nova"/>
                <a:sym typeface="Proxima Nova"/>
              </a:rPr>
              <a:t>log</a:t>
            </a:r>
            <a:r>
              <a:rPr baseline="-25000" lang="es" sz="1600">
                <a:latin typeface="Proxima Nova"/>
                <a:ea typeface="Proxima Nova"/>
                <a:cs typeface="Proxima Nova"/>
                <a:sym typeface="Proxima Nova"/>
              </a:rPr>
              <a:t>B</a:t>
            </a:r>
            <a:r>
              <a:rPr lang="es" sz="1600">
                <a:latin typeface="Proxima Nova"/>
                <a:ea typeface="Proxima Nova"/>
                <a:cs typeface="Proxima Nova"/>
                <a:sym typeface="Proxima Nova"/>
              </a:rPr>
              <a:t>A = 1</a:t>
            </a:r>
            <a:endParaRPr sz="1600">
              <a:latin typeface="Proxima Nova"/>
              <a:ea typeface="Proxima Nova"/>
              <a:cs typeface="Proxima Nova"/>
              <a:sym typeface="Proxima Nova"/>
            </a:endParaRPr>
          </a:p>
          <a:p>
            <a:pPr indent="0" lvl="0" marL="0" rtl="0" algn="l">
              <a:spcBef>
                <a:spcPts val="0"/>
              </a:spcBef>
              <a:spcAft>
                <a:spcPts val="0"/>
              </a:spcAft>
              <a:buNone/>
            </a:pPr>
            <a:r>
              <a:rPr lang="es" sz="1600">
                <a:latin typeface="Proxima Nova"/>
                <a:ea typeface="Proxima Nova"/>
                <a:cs typeface="Proxima Nova"/>
                <a:sym typeface="Proxima Nova"/>
              </a:rPr>
              <a:t>1er</a:t>
            </a:r>
            <a:r>
              <a:rPr lang="es" sz="1600">
                <a:latin typeface="Proxima Nova"/>
                <a:ea typeface="Proxima Nova"/>
                <a:cs typeface="Proxima Nova"/>
                <a:sym typeface="Proxima Nova"/>
              </a:rPr>
              <a:t> caso → f(n) = O(n) → C = </a:t>
            </a:r>
            <a:r>
              <a:rPr lang="es" sz="1600">
                <a:solidFill>
                  <a:schemeClr val="dk1"/>
                </a:solidFill>
                <a:latin typeface="Proxima Nova"/>
                <a:ea typeface="Proxima Nova"/>
                <a:cs typeface="Proxima Nova"/>
                <a:sym typeface="Proxima Nova"/>
              </a:rPr>
              <a:t>log</a:t>
            </a:r>
            <a:r>
              <a:rPr baseline="-25000" lang="es" sz="1600">
                <a:solidFill>
                  <a:schemeClr val="dk1"/>
                </a:solidFill>
                <a:latin typeface="Proxima Nova"/>
                <a:ea typeface="Proxima Nova"/>
                <a:cs typeface="Proxima Nova"/>
                <a:sym typeface="Proxima Nova"/>
              </a:rPr>
              <a:t>B</a:t>
            </a:r>
            <a:r>
              <a:rPr lang="es" sz="1600">
                <a:solidFill>
                  <a:schemeClr val="dk1"/>
                </a:solidFill>
                <a:latin typeface="Proxima Nova"/>
                <a:ea typeface="Proxima Nova"/>
                <a:cs typeface="Proxima Nova"/>
                <a:sym typeface="Proxima Nova"/>
              </a:rPr>
              <a:t>A</a:t>
            </a:r>
            <a:r>
              <a:rPr lang="es" sz="1600">
                <a:latin typeface="Proxima Nova"/>
                <a:ea typeface="Proxima Nova"/>
                <a:cs typeface="Proxima Nova"/>
                <a:sym typeface="Proxima Nova"/>
              </a:rPr>
              <a:t> → no aplica</a:t>
            </a:r>
            <a:endParaRPr sz="1600">
              <a:latin typeface="Proxima Nova"/>
              <a:ea typeface="Proxima Nova"/>
              <a:cs typeface="Proxima Nova"/>
              <a:sym typeface="Proxima Nova"/>
            </a:endParaRPr>
          </a:p>
          <a:p>
            <a:pPr indent="0" lvl="0" marL="0" rtl="0" algn="l">
              <a:spcBef>
                <a:spcPts val="0"/>
              </a:spcBef>
              <a:spcAft>
                <a:spcPts val="0"/>
              </a:spcAft>
              <a:buNone/>
            </a:pPr>
            <a:r>
              <a:rPr lang="es" sz="1600">
                <a:latin typeface="Proxima Nova"/>
                <a:ea typeface="Proxima Nova"/>
                <a:cs typeface="Proxima Nova"/>
                <a:sym typeface="Proxima Nova"/>
              </a:rPr>
              <a:t>2do caso → f(n) = ϴ(n</a:t>
            </a:r>
            <a:r>
              <a:rPr baseline="30000" lang="es" sz="1600">
                <a:latin typeface="Proxima Nova"/>
                <a:ea typeface="Proxima Nova"/>
                <a:cs typeface="Proxima Nova"/>
                <a:sym typeface="Proxima Nova"/>
              </a:rPr>
              <a:t>0</a:t>
            </a:r>
            <a:r>
              <a:rPr lang="es" sz="1600">
                <a:latin typeface="Proxima Nova"/>
                <a:ea typeface="Proxima Nova"/>
                <a:cs typeface="Proxima Nova"/>
                <a:sym typeface="Proxima Nova"/>
              </a:rPr>
              <a:t>log</a:t>
            </a:r>
            <a:r>
              <a:rPr baseline="30000" lang="es" sz="1600">
                <a:latin typeface="Proxima Nova"/>
                <a:ea typeface="Proxima Nova"/>
                <a:cs typeface="Proxima Nova"/>
                <a:sym typeface="Proxima Nova"/>
              </a:rPr>
              <a:t>1</a:t>
            </a:r>
            <a:r>
              <a:rPr lang="es" sz="1600">
                <a:latin typeface="Proxima Nova"/>
                <a:ea typeface="Proxima Nova"/>
                <a:cs typeface="Proxima Nova"/>
                <a:sym typeface="Proxima Nova"/>
              </a:rPr>
              <a:t>n), c = 0 != </a:t>
            </a:r>
            <a:r>
              <a:rPr lang="es" sz="1600">
                <a:solidFill>
                  <a:schemeClr val="dk1"/>
                </a:solidFill>
                <a:latin typeface="Proxima Nova"/>
                <a:ea typeface="Proxima Nova"/>
                <a:cs typeface="Proxima Nova"/>
                <a:sym typeface="Proxima Nova"/>
              </a:rPr>
              <a:t>log</a:t>
            </a:r>
            <a:r>
              <a:rPr baseline="-25000" lang="es" sz="1600">
                <a:solidFill>
                  <a:schemeClr val="dk1"/>
                </a:solidFill>
                <a:latin typeface="Proxima Nova"/>
                <a:ea typeface="Proxima Nova"/>
                <a:cs typeface="Proxima Nova"/>
                <a:sym typeface="Proxima Nova"/>
              </a:rPr>
              <a:t>B</a:t>
            </a:r>
            <a:r>
              <a:rPr lang="es" sz="1600">
                <a:solidFill>
                  <a:schemeClr val="dk1"/>
                </a:solidFill>
                <a:latin typeface="Proxima Nova"/>
                <a:ea typeface="Proxima Nova"/>
                <a:cs typeface="Proxima Nova"/>
                <a:sym typeface="Proxima Nova"/>
              </a:rPr>
              <a:t>A</a:t>
            </a:r>
            <a:r>
              <a:rPr lang="es" sz="1600">
                <a:latin typeface="Proxima Nova"/>
                <a:ea typeface="Proxima Nova"/>
                <a:cs typeface="Proxima Nova"/>
                <a:sym typeface="Proxima Nova"/>
              </a:rPr>
              <a:t> → no aplica</a:t>
            </a:r>
            <a:endParaRPr sz="1600">
              <a:latin typeface="Proxima Nova"/>
              <a:ea typeface="Proxima Nova"/>
              <a:cs typeface="Proxima Nova"/>
              <a:sym typeface="Proxima Nova"/>
            </a:endParaRPr>
          </a:p>
          <a:p>
            <a:pPr indent="0" lvl="0" marL="0" rtl="0" algn="l">
              <a:spcBef>
                <a:spcPts val="0"/>
              </a:spcBef>
              <a:spcAft>
                <a:spcPts val="0"/>
              </a:spcAft>
              <a:buNone/>
            </a:pPr>
            <a:r>
              <a:rPr lang="es" sz="1600">
                <a:latin typeface="Proxima Nova"/>
                <a:ea typeface="Proxima Nova"/>
                <a:cs typeface="Proxima Nova"/>
                <a:sym typeface="Proxima Nova"/>
              </a:rPr>
              <a:t>3er caso → f(n) = Ω(1) → c = 0 → no aplica</a:t>
            </a:r>
            <a:endParaRPr sz="1600">
              <a:latin typeface="Proxima Nova"/>
              <a:ea typeface="Proxima Nova"/>
              <a:cs typeface="Proxima Nova"/>
              <a:sym typeface="Proxima Nova"/>
            </a:endParaRPr>
          </a:p>
          <a:p>
            <a:pPr indent="0" lvl="0" marL="0" rtl="0" algn="l">
              <a:spcBef>
                <a:spcPts val="0"/>
              </a:spcBef>
              <a:spcAft>
                <a:spcPts val="0"/>
              </a:spcAft>
              <a:buNone/>
            </a:pPr>
            <a:r>
              <a:rPr lang="es" sz="1600">
                <a:latin typeface="Proxima Nova"/>
                <a:ea typeface="Proxima Nova"/>
                <a:cs typeface="Proxima Nova"/>
                <a:sym typeface="Proxima Nova"/>
              </a:rPr>
              <a:t>¿Cagamos?</a:t>
            </a:r>
            <a:endParaRPr sz="1600">
              <a:latin typeface="Proxima Nova"/>
              <a:ea typeface="Proxima Nova"/>
              <a:cs typeface="Proxima Nova"/>
              <a:sym typeface="Proxima Nova"/>
            </a:endParaRPr>
          </a:p>
          <a:p>
            <a:pPr indent="0" lvl="0" marL="0" rtl="0" algn="l">
              <a:spcBef>
                <a:spcPts val="0"/>
              </a:spcBef>
              <a:spcAft>
                <a:spcPts val="0"/>
              </a:spcAft>
              <a:buNone/>
            </a:pPr>
            <a:r>
              <a:rPr lang="es" sz="1600">
                <a:latin typeface="Proxima Nova"/>
                <a:ea typeface="Proxima Nova"/>
                <a:cs typeface="Proxima Nova"/>
                <a:sym typeface="Proxima Nova"/>
              </a:rPr>
              <a:t>No!</a:t>
            </a:r>
            <a:endParaRPr sz="1600">
              <a:latin typeface="Proxima Nova"/>
              <a:ea typeface="Proxima Nova"/>
              <a:cs typeface="Proxima Nova"/>
              <a:sym typeface="Proxima Nova"/>
            </a:endParaRPr>
          </a:p>
          <a:p>
            <a:pPr indent="0" lvl="0" marL="0" rtl="0" algn="l">
              <a:spcBef>
                <a:spcPts val="0"/>
              </a:spcBef>
              <a:spcAft>
                <a:spcPts val="0"/>
              </a:spcAft>
              <a:buNone/>
            </a:pPr>
            <a:r>
              <a:rPr lang="es" sz="1600">
                <a:latin typeface="Proxima Nova"/>
                <a:ea typeface="Proxima Nova"/>
                <a:cs typeface="Proxima Nova"/>
                <a:sym typeface="Proxima Nova"/>
              </a:rPr>
              <a:t>1er caso → f(c) = O(n</a:t>
            </a:r>
            <a:r>
              <a:rPr baseline="30000" lang="es" sz="1600">
                <a:latin typeface="Proxima Nova"/>
                <a:ea typeface="Proxima Nova"/>
                <a:cs typeface="Proxima Nova"/>
                <a:sym typeface="Proxima Nova"/>
              </a:rPr>
              <a:t>0,1</a:t>
            </a:r>
            <a:r>
              <a:rPr lang="es" sz="1600">
                <a:latin typeface="Proxima Nova"/>
                <a:ea typeface="Proxima Nova"/>
                <a:cs typeface="Proxima Nova"/>
                <a:sym typeface="Proxima Nova"/>
              </a:rPr>
              <a:t>) → C &lt; </a:t>
            </a:r>
            <a:r>
              <a:rPr lang="es" sz="1600">
                <a:solidFill>
                  <a:schemeClr val="dk1"/>
                </a:solidFill>
                <a:latin typeface="Proxima Nova"/>
                <a:ea typeface="Proxima Nova"/>
                <a:cs typeface="Proxima Nova"/>
                <a:sym typeface="Proxima Nova"/>
              </a:rPr>
              <a:t>log</a:t>
            </a:r>
            <a:r>
              <a:rPr baseline="-25000" lang="es" sz="1600">
                <a:solidFill>
                  <a:schemeClr val="dk1"/>
                </a:solidFill>
                <a:latin typeface="Proxima Nova"/>
                <a:ea typeface="Proxima Nova"/>
                <a:cs typeface="Proxima Nova"/>
                <a:sym typeface="Proxima Nova"/>
              </a:rPr>
              <a:t>B</a:t>
            </a:r>
            <a:r>
              <a:rPr lang="es" sz="1600">
                <a:solidFill>
                  <a:schemeClr val="dk1"/>
                </a:solidFill>
                <a:latin typeface="Proxima Nova"/>
                <a:ea typeface="Proxima Nova"/>
                <a:cs typeface="Proxima Nova"/>
                <a:sym typeface="Proxima Nova"/>
              </a:rPr>
              <a:t>A</a:t>
            </a:r>
            <a:r>
              <a:rPr lang="es" sz="1600">
                <a:latin typeface="Proxima Nova"/>
                <a:ea typeface="Proxima Nova"/>
                <a:cs typeface="Proxima Nova"/>
                <a:sym typeface="Proxima Nova"/>
              </a:rPr>
              <a:t> → T(n) = </a:t>
            </a:r>
            <a:r>
              <a:rPr lang="es" sz="1600">
                <a:solidFill>
                  <a:schemeClr val="dk1"/>
                </a:solidFill>
                <a:latin typeface="Proxima Nova"/>
                <a:ea typeface="Proxima Nova"/>
                <a:cs typeface="Proxima Nova"/>
                <a:sym typeface="Proxima Nova"/>
              </a:rPr>
              <a:t>ϴ</a:t>
            </a:r>
            <a:r>
              <a:rPr lang="es" sz="1600">
                <a:latin typeface="Proxima Nova"/>
                <a:ea typeface="Proxima Nova"/>
                <a:cs typeface="Proxima Nova"/>
                <a:sym typeface="Proxima Nova"/>
              </a:rPr>
              <a:t>(n)</a:t>
            </a:r>
            <a:endParaRPr sz="1600">
              <a:latin typeface="Proxima Nova"/>
              <a:ea typeface="Proxima Nova"/>
              <a:cs typeface="Proxima Nova"/>
              <a:sym typeface="Proxima Nova"/>
            </a:endParaRPr>
          </a:p>
        </p:txBody>
      </p:sp>
      <p:pic>
        <p:nvPicPr>
          <p:cNvPr id="243" name="Google Shape;243;p42"/>
          <p:cNvPicPr preferRelativeResize="0"/>
          <p:nvPr/>
        </p:nvPicPr>
        <p:blipFill>
          <a:blip r:embed="rId4">
            <a:alphaModFix/>
          </a:blip>
          <a:stretch>
            <a:fillRect/>
          </a:stretch>
        </p:blipFill>
        <p:spPr>
          <a:xfrm>
            <a:off x="4622742" y="2450479"/>
            <a:ext cx="2679061" cy="613200"/>
          </a:xfrm>
          <a:prstGeom prst="rect">
            <a:avLst/>
          </a:prstGeom>
          <a:noFill/>
          <a:ln>
            <a:noFill/>
          </a:ln>
        </p:spPr>
      </p:pic>
      <p:pic>
        <p:nvPicPr>
          <p:cNvPr id="244" name="Google Shape;244;p42"/>
          <p:cNvPicPr preferRelativeResize="0"/>
          <p:nvPr/>
        </p:nvPicPr>
        <p:blipFill>
          <a:blip r:embed="rId5">
            <a:alphaModFix/>
          </a:blip>
          <a:stretch>
            <a:fillRect/>
          </a:stretch>
        </p:blipFill>
        <p:spPr>
          <a:xfrm>
            <a:off x="198300" y="3220500"/>
            <a:ext cx="5003987" cy="613200"/>
          </a:xfrm>
          <a:prstGeom prst="rect">
            <a:avLst/>
          </a:prstGeom>
          <a:noFill/>
          <a:ln>
            <a:noFill/>
          </a:ln>
        </p:spPr>
      </p:pic>
      <p:pic>
        <p:nvPicPr>
          <p:cNvPr id="245" name="Google Shape;245;p42"/>
          <p:cNvPicPr preferRelativeResize="0"/>
          <p:nvPr/>
        </p:nvPicPr>
        <p:blipFill>
          <a:blip r:embed="rId6">
            <a:alphaModFix/>
          </a:blip>
          <a:stretch>
            <a:fillRect/>
          </a:stretch>
        </p:blipFill>
        <p:spPr>
          <a:xfrm>
            <a:off x="255650" y="2572187"/>
            <a:ext cx="4316354" cy="369775"/>
          </a:xfrm>
          <a:prstGeom prst="rect">
            <a:avLst/>
          </a:prstGeom>
          <a:noFill/>
          <a:ln>
            <a:noFill/>
          </a:ln>
        </p:spPr>
      </p:pic>
      <p:pic>
        <p:nvPicPr>
          <p:cNvPr id="246" name="Google Shape;246;p42"/>
          <p:cNvPicPr preferRelativeResize="0"/>
          <p:nvPr/>
        </p:nvPicPr>
        <p:blipFill>
          <a:blip r:embed="rId7">
            <a:alphaModFix/>
          </a:blip>
          <a:stretch>
            <a:fillRect/>
          </a:stretch>
        </p:blipFill>
        <p:spPr>
          <a:xfrm>
            <a:off x="5331642" y="3257282"/>
            <a:ext cx="3220157" cy="613200"/>
          </a:xfrm>
          <a:prstGeom prst="rect">
            <a:avLst/>
          </a:prstGeom>
          <a:noFill/>
          <a:ln>
            <a:noFill/>
          </a:ln>
        </p:spPr>
      </p:pic>
      <p:pic>
        <p:nvPicPr>
          <p:cNvPr id="247" name="Google Shape;247;p42"/>
          <p:cNvPicPr preferRelativeResize="0"/>
          <p:nvPr/>
        </p:nvPicPr>
        <p:blipFill>
          <a:blip r:embed="rId8">
            <a:alphaModFix/>
          </a:blip>
          <a:stretch>
            <a:fillRect/>
          </a:stretch>
        </p:blipFill>
        <p:spPr>
          <a:xfrm>
            <a:off x="198300" y="3984484"/>
            <a:ext cx="3345349" cy="317341"/>
          </a:xfrm>
          <a:prstGeom prst="rect">
            <a:avLst/>
          </a:prstGeom>
          <a:noFill/>
          <a:ln>
            <a:noFill/>
          </a:ln>
        </p:spPr>
      </p:pic>
      <p:pic>
        <p:nvPicPr>
          <p:cNvPr id="248" name="Google Shape;248;p42"/>
          <p:cNvPicPr preferRelativeResize="0"/>
          <p:nvPr/>
        </p:nvPicPr>
        <p:blipFill>
          <a:blip r:embed="rId9">
            <a:alphaModFix/>
          </a:blip>
          <a:stretch>
            <a:fillRect/>
          </a:stretch>
        </p:blipFill>
        <p:spPr>
          <a:xfrm>
            <a:off x="3613937" y="3940553"/>
            <a:ext cx="3413401" cy="405200"/>
          </a:xfrm>
          <a:prstGeom prst="rect">
            <a:avLst/>
          </a:prstGeom>
          <a:noFill/>
          <a:ln>
            <a:noFill/>
          </a:ln>
        </p:spPr>
      </p:pic>
      <p:pic>
        <p:nvPicPr>
          <p:cNvPr id="249" name="Google Shape;249;p42"/>
          <p:cNvPicPr preferRelativeResize="0"/>
          <p:nvPr/>
        </p:nvPicPr>
        <p:blipFill>
          <a:blip r:embed="rId10">
            <a:alphaModFix/>
          </a:blip>
          <a:stretch>
            <a:fillRect/>
          </a:stretch>
        </p:blipFill>
        <p:spPr>
          <a:xfrm>
            <a:off x="7097617" y="3940550"/>
            <a:ext cx="1995635" cy="317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xEl>
                                              <p:pRg end="0" st="0"/>
                                            </p:txEl>
                                          </p:spTgt>
                                        </p:tgtEl>
                                        <p:attrNameLst>
                                          <p:attrName>style.visibility</p:attrName>
                                        </p:attrNameLst>
                                      </p:cBhvr>
                                      <p:to>
                                        <p:strVal val="visible"/>
                                      </p:to>
                                    </p:set>
                                    <p:animEffect filter="fade" transition="in">
                                      <p:cBhvr>
                                        <p:cTn dur="1000"/>
                                        <p:tgtEl>
                                          <p:spTgt spid="2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xEl>
                                              <p:pRg end="1" st="1"/>
                                            </p:txEl>
                                          </p:spTgt>
                                        </p:tgtEl>
                                        <p:attrNameLst>
                                          <p:attrName>style.visibility</p:attrName>
                                        </p:attrNameLst>
                                      </p:cBhvr>
                                      <p:to>
                                        <p:strVal val="visible"/>
                                      </p:to>
                                    </p:set>
                                    <p:animEffect filter="fade" transition="in">
                                      <p:cBhvr>
                                        <p:cTn dur="1000"/>
                                        <p:tgtEl>
                                          <p:spTgt spid="24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xEl>
                                              <p:pRg end="2" st="2"/>
                                            </p:txEl>
                                          </p:spTgt>
                                        </p:tgtEl>
                                        <p:attrNameLst>
                                          <p:attrName>style.visibility</p:attrName>
                                        </p:attrNameLst>
                                      </p:cBhvr>
                                      <p:to>
                                        <p:strVal val="visible"/>
                                      </p:to>
                                    </p:set>
                                    <p:animEffect filter="fade" transition="in">
                                      <p:cBhvr>
                                        <p:cTn dur="1000"/>
                                        <p:tgtEl>
                                          <p:spTgt spid="24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xEl>
                                              <p:pRg end="3" st="3"/>
                                            </p:txEl>
                                          </p:spTgt>
                                        </p:tgtEl>
                                        <p:attrNameLst>
                                          <p:attrName>style.visibility</p:attrName>
                                        </p:attrNameLst>
                                      </p:cBhvr>
                                      <p:to>
                                        <p:strVal val="visible"/>
                                      </p:to>
                                    </p:set>
                                    <p:animEffect filter="fade" transition="in">
                                      <p:cBhvr>
                                        <p:cTn dur="1000"/>
                                        <p:tgtEl>
                                          <p:spTgt spid="24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xEl>
                                              <p:pRg end="4" st="4"/>
                                            </p:txEl>
                                          </p:spTgt>
                                        </p:tgtEl>
                                        <p:attrNameLst>
                                          <p:attrName>style.visibility</p:attrName>
                                        </p:attrNameLst>
                                      </p:cBhvr>
                                      <p:to>
                                        <p:strVal val="visible"/>
                                      </p:to>
                                    </p:set>
                                    <p:animEffect filter="fade" transition="in">
                                      <p:cBhvr>
                                        <p:cTn dur="1000"/>
                                        <p:tgtEl>
                                          <p:spTgt spid="24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xEl>
                                              <p:pRg end="5" st="5"/>
                                            </p:txEl>
                                          </p:spTgt>
                                        </p:tgtEl>
                                        <p:attrNameLst>
                                          <p:attrName>style.visibility</p:attrName>
                                        </p:attrNameLst>
                                      </p:cBhvr>
                                      <p:to>
                                        <p:strVal val="visible"/>
                                      </p:to>
                                    </p:set>
                                    <p:animEffect filter="fade" transition="in">
                                      <p:cBhvr>
                                        <p:cTn dur="1000"/>
                                        <p:tgtEl>
                                          <p:spTgt spid="24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xEl>
                                              <p:pRg end="6" st="6"/>
                                            </p:txEl>
                                          </p:spTgt>
                                        </p:tgtEl>
                                        <p:attrNameLst>
                                          <p:attrName>style.visibility</p:attrName>
                                        </p:attrNameLst>
                                      </p:cBhvr>
                                      <p:to>
                                        <p:strVal val="visible"/>
                                      </p:to>
                                    </p:set>
                                    <p:animEffect filter="fade" transition="in">
                                      <p:cBhvr>
                                        <p:cTn dur="1000"/>
                                        <p:tgtEl>
                                          <p:spTgt spid="24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Pero…</a:t>
            </a:r>
            <a:endParaRPr/>
          </a:p>
        </p:txBody>
      </p:sp>
      <p:sp>
        <p:nvSpPr>
          <p:cNvPr id="255" name="Google Shape;255;p43"/>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Si D&amp;C es una técnica de diseño… y técnicas de diseño es un tema de TDA… ¿por qué lo vemos en Algoritmos?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4"/>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t>Problemas avanzados de D&amp;C</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I: Multiplicación de números </a:t>
            </a:r>
            <a:r>
              <a:rPr b="1" lang="es"/>
              <a:t>muy</a:t>
            </a:r>
            <a:r>
              <a:rPr lang="es"/>
              <a:t> grandes</a:t>
            </a:r>
            <a:endParaRPr/>
          </a:p>
        </p:txBody>
      </p:sp>
      <p:sp>
        <p:nvSpPr>
          <p:cNvPr id="266" name="Google Shape;266;p45"/>
          <p:cNvSpPr txBox="1"/>
          <p:nvPr>
            <p:ph idx="1" type="body"/>
          </p:nvPr>
        </p:nvSpPr>
        <p:spPr>
          <a:xfrm>
            <a:off x="311700" y="14764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Cuando multiplicamos dos enteros de largos m y n, ¿Cómo es el algoritmo? ¿cuánto tiempo consume?</a:t>
            </a:r>
            <a:endParaRPr/>
          </a:p>
          <a:p>
            <a:pPr indent="0" lvl="0" marL="0" rtl="0" algn="l">
              <a:spcBef>
                <a:spcPts val="1600"/>
              </a:spcBef>
              <a:spcAft>
                <a:spcPts val="1600"/>
              </a:spcAft>
              <a:buNone/>
            </a:pPr>
            <a:r>
              <a:rPr lang="es"/>
              <a:t>¿Hay alguna forma mejor de hacerlo?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0" st="0"/>
                                            </p:txEl>
                                          </p:spTgt>
                                        </p:tgtEl>
                                        <p:attrNameLst>
                                          <p:attrName>style.visibility</p:attrName>
                                        </p:attrNameLst>
                                      </p:cBhvr>
                                      <p:to>
                                        <p:strVal val="visible"/>
                                      </p:to>
                                    </p:set>
                                    <p:animEffect filter="fade" transition="in">
                                      <p:cBhvr>
                                        <p:cTn dur="1000"/>
                                        <p:tgtEl>
                                          <p:spTgt spid="26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1" st="1"/>
                                            </p:txEl>
                                          </p:spTgt>
                                        </p:tgtEl>
                                        <p:attrNameLst>
                                          <p:attrName>style.visibility</p:attrName>
                                        </p:attrNameLst>
                                      </p:cBhvr>
                                      <p:to>
                                        <p:strVal val="visible"/>
                                      </p:to>
                                    </p:set>
                                    <p:animEffect filter="fade" transition="in">
                                      <p:cBhvr>
                                        <p:cTn dur="1000"/>
                                        <p:tgtEl>
                                          <p:spTgt spid="266">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 de multiplicación de la primaria</a:t>
            </a:r>
            <a:endParaRPr/>
          </a:p>
        </p:txBody>
      </p:sp>
      <p:sp>
        <p:nvSpPr>
          <p:cNvPr id="272" name="Google Shape;272;p4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Calculamos productos parciales por cada dígito, vamos multiplicando por la base (10) y luego sumamos. </a:t>
            </a:r>
            <a:endParaRPr/>
          </a:p>
          <a:p>
            <a:pPr indent="0" lvl="0" marL="0" rtl="0" algn="l">
              <a:spcBef>
                <a:spcPts val="1600"/>
              </a:spcBef>
              <a:spcAft>
                <a:spcPts val="0"/>
              </a:spcAft>
              <a:buNone/>
            </a:pPr>
            <a:r>
              <a:rPr lang="es"/>
              <a:t>Agarramos cada m dígito y lo multiplicamos contra los n dígitos, y luego sumamos los n resultados parciales → O(m x n) </a:t>
            </a:r>
            <a:endParaRPr/>
          </a:p>
          <a:p>
            <a:pPr indent="0" lvl="0" marL="0" rtl="0" algn="l">
              <a:spcBef>
                <a:spcPts val="1600"/>
              </a:spcBef>
              <a:spcAft>
                <a:spcPts val="0"/>
              </a:spcAft>
              <a:buNone/>
            </a:pPr>
            <a:r>
              <a:rPr lang="es"/>
              <a:t>¿Son necesarios todos los resultados parciales?</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273" name="Google Shape;273;p46"/>
          <p:cNvSpPr txBox="1"/>
          <p:nvPr/>
        </p:nvSpPr>
        <p:spPr>
          <a:xfrm>
            <a:off x="5451100" y="2713175"/>
            <a:ext cx="17619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latin typeface="Old Standard TT"/>
                <a:ea typeface="Old Standard TT"/>
                <a:cs typeface="Old Standard TT"/>
                <a:sym typeface="Old Standard TT"/>
              </a:rPr>
              <a:t> </a:t>
            </a:r>
            <a:r>
              <a:rPr lang="es" sz="2100">
                <a:latin typeface="Old Standard TT"/>
                <a:ea typeface="Old Standard TT"/>
                <a:cs typeface="Old Standard TT"/>
                <a:sym typeface="Old Standard TT"/>
              </a:rPr>
              <a:t>  1 2 3 </a:t>
            </a:r>
            <a:r>
              <a:rPr lang="es" sz="2100">
                <a:latin typeface="Old Standard TT"/>
                <a:ea typeface="Old Standard TT"/>
                <a:cs typeface="Old Standard TT"/>
                <a:sym typeface="Old Standard TT"/>
              </a:rPr>
              <a:t>4</a:t>
            </a:r>
            <a:br>
              <a:rPr lang="es" sz="2100">
                <a:latin typeface="Old Standard TT"/>
                <a:ea typeface="Old Standard TT"/>
                <a:cs typeface="Old Standard TT"/>
                <a:sym typeface="Old Standard TT"/>
              </a:rPr>
            </a:br>
            <a:r>
              <a:rPr lang="es" sz="2100">
                <a:latin typeface="Old Standard TT"/>
                <a:ea typeface="Old Standard TT"/>
                <a:cs typeface="Old Standard TT"/>
                <a:sym typeface="Old Standard TT"/>
              </a:rPr>
              <a:t>   </a:t>
            </a:r>
            <a:r>
              <a:rPr lang="es" sz="2100" u="sng">
                <a:latin typeface="Old Standard TT"/>
                <a:ea typeface="Old Standard TT"/>
                <a:cs typeface="Old Standard TT"/>
                <a:sym typeface="Old Standard TT"/>
              </a:rPr>
              <a:t>x_  5 6</a:t>
            </a:r>
            <a:endParaRPr sz="2100" u="sng">
              <a:latin typeface="Old Standard TT"/>
              <a:ea typeface="Old Standard TT"/>
              <a:cs typeface="Old Standard TT"/>
              <a:sym typeface="Old Standard TT"/>
            </a:endParaRPr>
          </a:p>
          <a:p>
            <a:pPr indent="0" lvl="0" marL="0" rtl="0" algn="l">
              <a:spcBef>
                <a:spcPts val="0"/>
              </a:spcBef>
              <a:spcAft>
                <a:spcPts val="0"/>
              </a:spcAft>
              <a:buNone/>
            </a:pPr>
            <a:r>
              <a:rPr lang="es" sz="2100">
                <a:latin typeface="Old Standard TT"/>
                <a:ea typeface="Old Standard TT"/>
                <a:cs typeface="Old Standard TT"/>
                <a:sym typeface="Old Standard TT"/>
              </a:rPr>
              <a:t>   7 4 0 4</a:t>
            </a:r>
            <a:br>
              <a:rPr lang="es" sz="2100">
                <a:latin typeface="Old Standard TT"/>
                <a:ea typeface="Old Standard TT"/>
                <a:cs typeface="Old Standard TT"/>
                <a:sym typeface="Old Standard TT"/>
              </a:rPr>
            </a:br>
            <a:r>
              <a:rPr lang="es" sz="2100">
                <a:latin typeface="Old Standard TT"/>
                <a:ea typeface="Old Standard TT"/>
                <a:cs typeface="Old Standard TT"/>
                <a:sym typeface="Old Standard TT"/>
              </a:rPr>
              <a:t>6 1 7 0|</a:t>
            </a:r>
            <a:r>
              <a:rPr lang="es" sz="2100" u="sng">
                <a:latin typeface="Old Standard TT"/>
                <a:ea typeface="Old Standard TT"/>
                <a:cs typeface="Old Standard TT"/>
                <a:sym typeface="Old Standard TT"/>
              </a:rPr>
              <a:t>0</a:t>
            </a:r>
            <a:endParaRPr sz="2100" u="sng">
              <a:latin typeface="Old Standard TT"/>
              <a:ea typeface="Old Standard TT"/>
              <a:cs typeface="Old Standard TT"/>
              <a:sym typeface="Old Standard T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0" st="0"/>
                                            </p:txEl>
                                          </p:spTgt>
                                        </p:tgtEl>
                                        <p:attrNameLst>
                                          <p:attrName>style.visibility</p:attrName>
                                        </p:attrNameLst>
                                      </p:cBhvr>
                                      <p:to>
                                        <p:strVal val="visible"/>
                                      </p:to>
                                    </p:set>
                                    <p:animEffect filter="fade" transition="in">
                                      <p:cBhvr>
                                        <p:cTn dur="1000"/>
                                        <p:tgtEl>
                                          <p:spTgt spid="2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1" st="1"/>
                                            </p:txEl>
                                          </p:spTgt>
                                        </p:tgtEl>
                                        <p:attrNameLst>
                                          <p:attrName>style.visibility</p:attrName>
                                        </p:attrNameLst>
                                      </p:cBhvr>
                                      <p:to>
                                        <p:strVal val="visible"/>
                                      </p:to>
                                    </p:set>
                                    <p:animEffect filter="fade" transition="in">
                                      <p:cBhvr>
                                        <p:cTn dur="1000"/>
                                        <p:tgtEl>
                                          <p:spTgt spid="27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2" st="2"/>
                                            </p:txEl>
                                          </p:spTgt>
                                        </p:tgtEl>
                                        <p:attrNameLst>
                                          <p:attrName>style.visibility</p:attrName>
                                        </p:attrNameLst>
                                      </p:cBhvr>
                                      <p:to>
                                        <p:strVal val="visible"/>
                                      </p:to>
                                    </p:set>
                                    <p:animEffect filter="fade" transition="in">
                                      <p:cBhvr>
                                        <p:cTn dur="1000"/>
                                        <p:tgtEl>
                                          <p:spTgt spid="27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3" st="3"/>
                                            </p:txEl>
                                          </p:spTgt>
                                        </p:tgtEl>
                                        <p:attrNameLst>
                                          <p:attrName>style.visibility</p:attrName>
                                        </p:attrNameLst>
                                      </p:cBhvr>
                                      <p:to>
                                        <p:strVal val="visible"/>
                                      </p:to>
                                    </p:set>
                                    <p:animEffect filter="fade" transition="in">
                                      <p:cBhvr>
                                        <p:cTn dur="1000"/>
                                        <p:tgtEl>
                                          <p:spTgt spid="27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4" st="4"/>
                                            </p:txEl>
                                          </p:spTgt>
                                        </p:tgtEl>
                                        <p:attrNameLst>
                                          <p:attrName>style.visibility</p:attrName>
                                        </p:attrNameLst>
                                      </p:cBhvr>
                                      <p:to>
                                        <p:strVal val="visible"/>
                                      </p:to>
                                    </p:set>
                                    <p:animEffect filter="fade" transition="in">
                                      <p:cBhvr>
                                        <p:cTn dur="1000"/>
                                        <p:tgtEl>
                                          <p:spTgt spid="27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7"/>
          <p:cNvSpPr txBox="1"/>
          <p:nvPr>
            <p:ph idx="1" type="body"/>
          </p:nvPr>
        </p:nvSpPr>
        <p:spPr>
          <a:xfrm>
            <a:off x="464100" y="3483600"/>
            <a:ext cx="8520600" cy="13137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s"/>
              <a:t>Ahí podemos ver que hay 4 multiplicaciones de las subpartes. </a:t>
            </a:r>
            <a:endParaRPr/>
          </a:p>
          <a:p>
            <a:pPr indent="0" lvl="0" marL="0" rtl="0" algn="l">
              <a:lnSpc>
                <a:spcPct val="150000"/>
              </a:lnSpc>
              <a:spcBef>
                <a:spcPts val="1600"/>
              </a:spcBef>
              <a:spcAft>
                <a:spcPts val="1600"/>
              </a:spcAft>
              <a:buNone/>
            </a:pPr>
            <a:r>
              <a:rPr lang="es"/>
              <a:t>Entonces tenemos: T(n) = 4 T(n/2) + O(n) → O(n</a:t>
            </a:r>
            <a:r>
              <a:rPr baseline="30000" lang="es"/>
              <a:t>2</a:t>
            </a:r>
            <a:r>
              <a:rPr lang="es"/>
              <a:t>)</a:t>
            </a:r>
            <a:endParaRPr/>
          </a:p>
        </p:txBody>
      </p:sp>
      <p:sp>
        <p:nvSpPr>
          <p:cNvPr id="279" name="Google Shape;279;p4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Un algoritmo mejor</a:t>
            </a:r>
            <a:endParaRPr/>
          </a:p>
        </p:txBody>
      </p:sp>
      <p:sp>
        <p:nvSpPr>
          <p:cNvPr id="280" name="Google Shape;280;p47"/>
          <p:cNvSpPr txBox="1"/>
          <p:nvPr>
            <p:ph idx="1" type="body"/>
          </p:nvPr>
        </p:nvSpPr>
        <p:spPr>
          <a:xfrm>
            <a:off x="311700" y="1171600"/>
            <a:ext cx="8520600" cy="8826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1600"/>
              </a:spcAft>
              <a:buNone/>
            </a:pPr>
            <a:r>
              <a:rPr lang="es"/>
              <a:t>Escribimos la multiplicación como si estuviéramos trabajando en base 2, y separamos en primera mitad y segunda mitad: </a:t>
            </a:r>
            <a:endParaRPr/>
          </a:p>
        </p:txBody>
      </p:sp>
      <p:pic>
        <p:nvPicPr>
          <p:cNvPr id="281" name="Google Shape;281;p47"/>
          <p:cNvPicPr preferRelativeResize="0"/>
          <p:nvPr/>
        </p:nvPicPr>
        <p:blipFill>
          <a:blip r:embed="rId3">
            <a:alphaModFix/>
          </a:blip>
          <a:stretch>
            <a:fillRect/>
          </a:stretch>
        </p:blipFill>
        <p:spPr>
          <a:xfrm>
            <a:off x="5121425" y="1617464"/>
            <a:ext cx="1773800" cy="338500"/>
          </a:xfrm>
          <a:prstGeom prst="rect">
            <a:avLst/>
          </a:prstGeom>
          <a:noFill/>
          <a:ln>
            <a:noFill/>
          </a:ln>
        </p:spPr>
      </p:pic>
      <p:pic>
        <p:nvPicPr>
          <p:cNvPr id="282" name="Google Shape;282;p47"/>
          <p:cNvPicPr preferRelativeResize="0"/>
          <p:nvPr/>
        </p:nvPicPr>
        <p:blipFill>
          <a:blip r:embed="rId4">
            <a:alphaModFix/>
          </a:blip>
          <a:stretch>
            <a:fillRect/>
          </a:stretch>
        </p:blipFill>
        <p:spPr>
          <a:xfrm>
            <a:off x="1645450" y="2176079"/>
            <a:ext cx="4313051" cy="528875"/>
          </a:xfrm>
          <a:prstGeom prst="rect">
            <a:avLst/>
          </a:prstGeom>
          <a:noFill/>
          <a:ln>
            <a:noFill/>
          </a:ln>
        </p:spPr>
      </p:pic>
      <p:pic>
        <p:nvPicPr>
          <p:cNvPr id="283" name="Google Shape;283;p47"/>
          <p:cNvPicPr preferRelativeResize="0"/>
          <p:nvPr/>
        </p:nvPicPr>
        <p:blipFill>
          <a:blip r:embed="rId5">
            <a:alphaModFix/>
          </a:blip>
          <a:stretch>
            <a:fillRect/>
          </a:stretch>
        </p:blipFill>
        <p:spPr>
          <a:xfrm>
            <a:off x="2217421" y="2796575"/>
            <a:ext cx="5053126" cy="437250"/>
          </a:xfrm>
          <a:prstGeom prst="rect">
            <a:avLst/>
          </a:prstGeom>
          <a:noFill/>
          <a:ln>
            <a:noFill/>
          </a:ln>
        </p:spPr>
      </p:pic>
      <p:cxnSp>
        <p:nvCxnSpPr>
          <p:cNvPr id="284" name="Google Shape;284;p47"/>
          <p:cNvCxnSpPr/>
          <p:nvPr/>
        </p:nvCxnSpPr>
        <p:spPr>
          <a:xfrm flipH="1" rot="10800000">
            <a:off x="4382425" y="3976200"/>
            <a:ext cx="1794300" cy="219300"/>
          </a:xfrm>
          <a:prstGeom prst="straightConnector1">
            <a:avLst/>
          </a:prstGeom>
          <a:noFill/>
          <a:ln cap="flat" cmpd="sng" w="9525">
            <a:solidFill>
              <a:schemeClr val="dk2"/>
            </a:solidFill>
            <a:prstDash val="solid"/>
            <a:round/>
            <a:headEnd len="med" w="med" type="none"/>
            <a:tailEnd len="med" w="med" type="triangle"/>
          </a:ln>
        </p:spPr>
      </p:cxnSp>
      <p:sp>
        <p:nvSpPr>
          <p:cNvPr id="285" name="Google Shape;285;p47"/>
          <p:cNvSpPr txBox="1"/>
          <p:nvPr/>
        </p:nvSpPr>
        <p:spPr>
          <a:xfrm>
            <a:off x="6244725" y="1960613"/>
            <a:ext cx="3040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FF0000"/>
                </a:solidFill>
                <a:latin typeface="Proxima Nova"/>
                <a:ea typeface="Proxima Nova"/>
                <a:cs typeface="Proxima Nova"/>
                <a:sym typeface="Proxima Nova"/>
              </a:rPr>
              <a:t>obtener la mitad 0 es hacer un &amp; contra 2</a:t>
            </a:r>
            <a:r>
              <a:rPr baseline="30000" lang="es">
                <a:solidFill>
                  <a:srgbClr val="FF0000"/>
                </a:solidFill>
                <a:latin typeface="Proxima Nova"/>
                <a:ea typeface="Proxima Nova"/>
                <a:cs typeface="Proxima Nova"/>
                <a:sym typeface="Proxima Nova"/>
              </a:rPr>
              <a:t>n/2</a:t>
            </a:r>
            <a:r>
              <a:rPr lang="es">
                <a:solidFill>
                  <a:srgbClr val="FF0000"/>
                </a:solidFill>
                <a:latin typeface="Proxima Nova"/>
                <a:ea typeface="Proxima Nova"/>
                <a:cs typeface="Proxima Nova"/>
                <a:sym typeface="Proxima Nova"/>
              </a:rPr>
              <a:t>-1, la mitad 1 es hacer n/2 shift rights</a:t>
            </a:r>
            <a:endParaRPr>
              <a:solidFill>
                <a:srgbClr val="FF0000"/>
              </a:solidFill>
              <a:latin typeface="Proxima Nova"/>
              <a:ea typeface="Proxima Nova"/>
              <a:cs typeface="Proxima Nova"/>
              <a:sym typeface="Proxima Nova"/>
            </a:endParaRPr>
          </a:p>
        </p:txBody>
      </p:sp>
      <p:sp>
        <p:nvSpPr>
          <p:cNvPr id="286" name="Google Shape;286;p47"/>
          <p:cNvSpPr txBox="1"/>
          <p:nvPr>
            <p:ph idx="1" type="body"/>
          </p:nvPr>
        </p:nvSpPr>
        <p:spPr>
          <a:xfrm>
            <a:off x="349950" y="2225977"/>
            <a:ext cx="1394400" cy="477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1600"/>
              </a:spcAft>
              <a:buNone/>
            </a:pPr>
            <a:r>
              <a:rPr lang="es"/>
              <a:t>Entonces: </a:t>
            </a:r>
            <a:endParaRPr/>
          </a:p>
        </p:txBody>
      </p:sp>
      <p:sp>
        <p:nvSpPr>
          <p:cNvPr id="287" name="Google Shape;287;p47"/>
          <p:cNvSpPr txBox="1"/>
          <p:nvPr/>
        </p:nvSpPr>
        <p:spPr>
          <a:xfrm>
            <a:off x="6133725" y="3884150"/>
            <a:ext cx="3040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FF0000"/>
                </a:solidFill>
                <a:latin typeface="Proxima Nova"/>
                <a:ea typeface="Proxima Nova"/>
                <a:cs typeface="Proxima Nova"/>
                <a:sym typeface="Proxima Nova"/>
              </a:rPr>
              <a:t>Separar es lo dicho antes, juntar es multiplicar por 2^algo (#algo shift lefts) y hacer sumas → O(algo) → O(n)</a:t>
            </a:r>
            <a:endParaRPr>
              <a:solidFill>
                <a:srgbClr val="FF0000"/>
              </a:solidFill>
              <a:latin typeface="Proxima Nova"/>
              <a:ea typeface="Proxima Nova"/>
              <a:cs typeface="Proxima Nova"/>
              <a:sym typeface="Proxima Nova"/>
            </a:endParaRPr>
          </a:p>
        </p:txBody>
      </p:sp>
      <p:cxnSp>
        <p:nvCxnSpPr>
          <p:cNvPr id="288" name="Google Shape;288;p47"/>
          <p:cNvCxnSpPr>
            <a:stCxn id="281" idx="3"/>
            <a:endCxn id="285" idx="0"/>
          </p:cNvCxnSpPr>
          <p:nvPr/>
        </p:nvCxnSpPr>
        <p:spPr>
          <a:xfrm>
            <a:off x="6895225" y="1786714"/>
            <a:ext cx="869700" cy="174000"/>
          </a:xfrm>
          <a:prstGeom prst="straightConnector1">
            <a:avLst/>
          </a:prstGeom>
          <a:noFill/>
          <a:ln cap="flat" cmpd="sng" w="9525">
            <a:solidFill>
              <a:schemeClr val="dk2"/>
            </a:solidFill>
            <a:prstDash val="solid"/>
            <a:round/>
            <a:headEnd len="med" w="med" type="none"/>
            <a:tailEnd len="med" w="med" type="triangle"/>
          </a:ln>
        </p:spPr>
      </p:cxnSp>
      <p:grpSp>
        <p:nvGrpSpPr>
          <p:cNvPr id="289" name="Google Shape;289;p47"/>
          <p:cNvGrpSpPr/>
          <p:nvPr/>
        </p:nvGrpSpPr>
        <p:grpSpPr>
          <a:xfrm>
            <a:off x="3874026" y="2062950"/>
            <a:ext cx="4718635" cy="1313690"/>
            <a:chOff x="5015159" y="280222"/>
            <a:chExt cx="3767975" cy="769500"/>
          </a:xfrm>
        </p:grpSpPr>
        <p:sp>
          <p:nvSpPr>
            <p:cNvPr id="290" name="Google Shape;290;p47"/>
            <p:cNvSpPr txBox="1"/>
            <p:nvPr/>
          </p:nvSpPr>
          <p:spPr>
            <a:xfrm>
              <a:off x="5044534" y="280222"/>
              <a:ext cx="3738600" cy="76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100">
                  <a:latin typeface="Old Standard TT"/>
                  <a:ea typeface="Old Standard TT"/>
                  <a:cs typeface="Old Standard TT"/>
                  <a:sym typeface="Old Standard TT"/>
                </a:rPr>
                <a:t>   = </a:t>
              </a:r>
              <a:r>
                <a:rPr lang="es" sz="2100">
                  <a:solidFill>
                    <a:srgbClr val="3C78D8"/>
                  </a:solidFill>
                  <a:latin typeface="Old Standard TT"/>
                  <a:ea typeface="Old Standard TT"/>
                  <a:cs typeface="Old Standard TT"/>
                  <a:sym typeface="Old Standard TT"/>
                </a:rPr>
                <a:t>abcd</a:t>
              </a:r>
              <a:r>
                <a:rPr lang="es" sz="2100">
                  <a:solidFill>
                    <a:srgbClr val="A64D79"/>
                  </a:solidFill>
                  <a:latin typeface="Old Standard TT"/>
                  <a:ea typeface="Old Standard TT"/>
                  <a:cs typeface="Old Standard TT"/>
                  <a:sym typeface="Old Standard TT"/>
                </a:rPr>
                <a:t>efgh</a:t>
              </a:r>
              <a:br>
                <a:rPr lang="es" sz="2100">
                  <a:solidFill>
                    <a:srgbClr val="A64D79"/>
                  </a:solidFill>
                  <a:latin typeface="Old Standard TT"/>
                  <a:ea typeface="Old Standard TT"/>
                  <a:cs typeface="Old Standard TT"/>
                  <a:sym typeface="Old Standard TT"/>
                </a:rPr>
              </a:br>
              <a:r>
                <a:rPr lang="es" sz="2100">
                  <a:solidFill>
                    <a:srgbClr val="A64D79"/>
                  </a:solidFill>
                  <a:latin typeface="Old Standard TT"/>
                  <a:ea typeface="Old Standard TT"/>
                  <a:cs typeface="Old Standard TT"/>
                  <a:sym typeface="Old Standard TT"/>
                </a:rPr>
                <a:t>   = efgh</a:t>
              </a:r>
              <a:endParaRPr sz="2100">
                <a:solidFill>
                  <a:srgbClr val="A64D79"/>
                </a:solidFill>
                <a:latin typeface="Old Standard TT"/>
                <a:ea typeface="Old Standard TT"/>
                <a:cs typeface="Old Standard TT"/>
                <a:sym typeface="Old Standard TT"/>
              </a:endParaRPr>
            </a:p>
            <a:p>
              <a:pPr indent="0" lvl="0" marL="0" rtl="0" algn="l">
                <a:spcBef>
                  <a:spcPts val="0"/>
                </a:spcBef>
                <a:spcAft>
                  <a:spcPts val="0"/>
                </a:spcAft>
                <a:buNone/>
              </a:pPr>
              <a:r>
                <a:rPr lang="es" sz="2100">
                  <a:solidFill>
                    <a:srgbClr val="A64D79"/>
                  </a:solidFill>
                  <a:latin typeface="Old Standard TT"/>
                  <a:ea typeface="Old Standard TT"/>
                  <a:cs typeface="Old Standard TT"/>
                  <a:sym typeface="Old Standard TT"/>
                </a:rPr>
                <a:t>  </a:t>
              </a:r>
              <a:r>
                <a:rPr lang="es" sz="2100">
                  <a:solidFill>
                    <a:srgbClr val="3C78D8"/>
                  </a:solidFill>
                  <a:latin typeface="Old Standard TT"/>
                  <a:ea typeface="Old Standard TT"/>
                  <a:cs typeface="Old Standard TT"/>
                  <a:sym typeface="Old Standard TT"/>
                </a:rPr>
                <a:t> = abcd</a:t>
              </a:r>
              <a:br>
                <a:rPr lang="es" sz="2100">
                  <a:latin typeface="Old Standard TT"/>
                  <a:ea typeface="Old Standard TT"/>
                  <a:cs typeface="Old Standard TT"/>
                  <a:sym typeface="Old Standard TT"/>
                </a:rPr>
              </a:br>
              <a:endParaRPr sz="2100">
                <a:latin typeface="Old Standard TT"/>
                <a:ea typeface="Old Standard TT"/>
                <a:cs typeface="Old Standard TT"/>
                <a:sym typeface="Old Standard TT"/>
              </a:endParaRPr>
            </a:p>
          </p:txBody>
        </p:sp>
        <p:pic>
          <p:nvPicPr>
            <p:cNvPr id="291" name="Google Shape;291;p47"/>
            <p:cNvPicPr preferRelativeResize="0"/>
            <p:nvPr/>
          </p:nvPicPr>
          <p:blipFill rotWithShape="1">
            <a:blip r:embed="rId3">
              <a:alphaModFix/>
            </a:blip>
            <a:srcRect b="-6" l="25712" r="57566" t="35219"/>
            <a:stretch/>
          </p:blipFill>
          <p:spPr>
            <a:xfrm>
              <a:off x="5015159" y="716782"/>
              <a:ext cx="235353" cy="174000"/>
            </a:xfrm>
            <a:prstGeom prst="rect">
              <a:avLst/>
            </a:prstGeom>
            <a:noFill/>
            <a:ln>
              <a:noFill/>
            </a:ln>
          </p:spPr>
        </p:pic>
        <p:pic>
          <p:nvPicPr>
            <p:cNvPr id="292" name="Google Shape;292;p47"/>
            <p:cNvPicPr preferRelativeResize="0"/>
            <p:nvPr/>
          </p:nvPicPr>
          <p:blipFill rotWithShape="1">
            <a:blip r:embed="rId3">
              <a:alphaModFix/>
            </a:blip>
            <a:srcRect b="-6" l="83277" r="0" t="35219"/>
            <a:stretch/>
          </p:blipFill>
          <p:spPr>
            <a:xfrm>
              <a:off x="5015169" y="536583"/>
              <a:ext cx="235349" cy="173998"/>
            </a:xfrm>
            <a:prstGeom prst="rect">
              <a:avLst/>
            </a:prstGeom>
            <a:noFill/>
            <a:ln>
              <a:noFill/>
            </a:ln>
          </p:spPr>
        </p:pic>
        <p:pic>
          <p:nvPicPr>
            <p:cNvPr id="293" name="Google Shape;293;p47"/>
            <p:cNvPicPr preferRelativeResize="0"/>
            <p:nvPr/>
          </p:nvPicPr>
          <p:blipFill rotWithShape="1">
            <a:blip r:embed="rId3">
              <a:alphaModFix/>
            </a:blip>
            <a:srcRect b="-6" l="0" r="89098" t="35219"/>
            <a:stretch/>
          </p:blipFill>
          <p:spPr>
            <a:xfrm>
              <a:off x="5065518" y="332541"/>
              <a:ext cx="193377" cy="2193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1000"/>
                                        <p:tgtEl>
                                          <p:spTgt spid="2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1000"/>
                                        <p:tgtEl>
                                          <p:spTgt spid="2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1000"/>
                                        <p:tgtEl>
                                          <p:spTgt spid="288"/>
                                        </p:tgtEl>
                                      </p:cBhvr>
                                    </p:animEffect>
                                  </p:childTnLst>
                                </p:cTn>
                              </p:par>
                              <p:par>
                                <p:cTn fill="hold" nodeType="with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1000"/>
                                        <p:tgtEl>
                                          <p:spTgt spid="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8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8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8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1000"/>
                                        <p:tgtEl>
                                          <p:spTgt spid="286"/>
                                        </p:tgtEl>
                                      </p:cBhvr>
                                    </p:animEffect>
                                  </p:childTnLst>
                                </p:cTn>
                              </p:par>
                              <p:par>
                                <p:cTn fill="hold" nodeType="with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1000"/>
                                        <p:tgtEl>
                                          <p:spTgt spid="2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1000"/>
                                        <p:tgtEl>
                                          <p:spTgt spid="2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0" st="0"/>
                                            </p:txEl>
                                          </p:spTgt>
                                        </p:tgtEl>
                                        <p:attrNameLst>
                                          <p:attrName>style.visibility</p:attrName>
                                        </p:attrNameLst>
                                      </p:cBhvr>
                                      <p:to>
                                        <p:strVal val="visible"/>
                                      </p:to>
                                    </p:set>
                                    <p:animEffect filter="fade" transition="in">
                                      <p:cBhvr>
                                        <p:cTn dur="1000"/>
                                        <p:tgtEl>
                                          <p:spTgt spid="2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1" st="1"/>
                                            </p:txEl>
                                          </p:spTgt>
                                        </p:tgtEl>
                                        <p:attrNameLst>
                                          <p:attrName>style.visibility</p:attrName>
                                        </p:attrNameLst>
                                      </p:cBhvr>
                                      <p:to>
                                        <p:strVal val="visible"/>
                                      </p:to>
                                    </p:set>
                                    <p:animEffect filter="fade" transition="in">
                                      <p:cBhvr>
                                        <p:cTn dur="1000"/>
                                        <p:tgtEl>
                                          <p:spTgt spid="27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1000"/>
                                        <p:tgtEl>
                                          <p:spTgt spid="284"/>
                                        </p:tgtEl>
                                      </p:cBhvr>
                                    </p:animEffect>
                                  </p:childTnLst>
                                </p:cTn>
                              </p:par>
                              <p:par>
                                <p:cTn fill="hold" nodeType="with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1000"/>
                                        <p:tgtEl>
                                          <p:spTgt spid="2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 sea, más complicado y no mejora nada</a:t>
            </a:r>
            <a:endParaRPr/>
          </a:p>
        </p:txBody>
      </p:sp>
      <p:sp>
        <p:nvSpPr>
          <p:cNvPr id="299" name="Google Shape;299;p48"/>
          <p:cNvSpPr txBox="1"/>
          <p:nvPr>
            <p:ph idx="1" type="body"/>
          </p:nvPr>
        </p:nvSpPr>
        <p:spPr>
          <a:xfrm>
            <a:off x="311700" y="3076600"/>
            <a:ext cx="8520600" cy="115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Ahora.. si en vez de tener 4 llamados recursivos tuviéramos</a:t>
            </a:r>
            <a:r>
              <a:rPr lang="es"/>
              <a:t> 3 </a:t>
            </a:r>
            <a:r>
              <a:rPr lang="es"/>
              <a:t>🤔</a:t>
            </a:r>
            <a:endParaRPr/>
          </a:p>
          <a:p>
            <a:pPr indent="0" lvl="0" marL="0" rtl="0" algn="l">
              <a:spcBef>
                <a:spcPts val="1600"/>
              </a:spcBef>
              <a:spcAft>
                <a:spcPts val="1600"/>
              </a:spcAft>
              <a:buNone/>
            </a:pPr>
            <a:r>
              <a:rPr lang="es"/>
              <a:t>Veamos lo siguiente:</a:t>
            </a:r>
            <a:endParaRPr/>
          </a:p>
        </p:txBody>
      </p:sp>
      <p:pic>
        <p:nvPicPr>
          <p:cNvPr id="300" name="Google Shape;300;p48"/>
          <p:cNvPicPr preferRelativeResize="0"/>
          <p:nvPr/>
        </p:nvPicPr>
        <p:blipFill>
          <a:blip r:embed="rId3">
            <a:alphaModFix/>
          </a:blip>
          <a:stretch>
            <a:fillRect/>
          </a:stretch>
        </p:blipFill>
        <p:spPr>
          <a:xfrm>
            <a:off x="2644075" y="3708387"/>
            <a:ext cx="2428209" cy="295025"/>
          </a:xfrm>
          <a:prstGeom prst="rect">
            <a:avLst/>
          </a:prstGeom>
          <a:noFill/>
          <a:ln>
            <a:noFill/>
          </a:ln>
        </p:spPr>
      </p:pic>
      <p:pic>
        <p:nvPicPr>
          <p:cNvPr id="301" name="Google Shape;301;p48"/>
          <p:cNvPicPr preferRelativeResize="0"/>
          <p:nvPr/>
        </p:nvPicPr>
        <p:blipFill>
          <a:blip r:embed="rId4">
            <a:alphaModFix/>
          </a:blip>
          <a:stretch>
            <a:fillRect/>
          </a:stretch>
        </p:blipFill>
        <p:spPr>
          <a:xfrm>
            <a:off x="5151425" y="3745349"/>
            <a:ext cx="3075826" cy="221100"/>
          </a:xfrm>
          <a:prstGeom prst="rect">
            <a:avLst/>
          </a:prstGeom>
          <a:noFill/>
          <a:ln>
            <a:noFill/>
          </a:ln>
        </p:spPr>
      </p:pic>
      <p:sp>
        <p:nvSpPr>
          <p:cNvPr id="302" name="Google Shape;302;p48"/>
          <p:cNvSpPr txBox="1"/>
          <p:nvPr>
            <p:ph idx="1" type="body"/>
          </p:nvPr>
        </p:nvSpPr>
        <p:spPr>
          <a:xfrm>
            <a:off x="3705600" y="4418800"/>
            <a:ext cx="5609400" cy="425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400">
                <a:solidFill>
                  <a:srgbClr val="FF0000"/>
                </a:solidFill>
              </a:rPr>
              <a:t>En una sola multiplicación calculamos dos términos 😎</a:t>
            </a:r>
            <a:endParaRPr sz="1400">
              <a:solidFill>
                <a:srgbClr val="FF0000"/>
              </a:solidFill>
            </a:endParaRPr>
          </a:p>
        </p:txBody>
      </p:sp>
      <p:pic>
        <p:nvPicPr>
          <p:cNvPr id="303" name="Google Shape;303;p48"/>
          <p:cNvPicPr preferRelativeResize="0"/>
          <p:nvPr/>
        </p:nvPicPr>
        <p:blipFill>
          <a:blip r:embed="rId5">
            <a:alphaModFix/>
          </a:blip>
          <a:stretch>
            <a:fillRect/>
          </a:stretch>
        </p:blipFill>
        <p:spPr>
          <a:xfrm>
            <a:off x="2688000" y="1029247"/>
            <a:ext cx="3768000" cy="2062975"/>
          </a:xfrm>
          <a:prstGeom prst="rect">
            <a:avLst/>
          </a:prstGeom>
          <a:noFill/>
          <a:ln>
            <a:noFill/>
          </a:ln>
        </p:spPr>
      </p:pic>
      <p:sp>
        <p:nvSpPr>
          <p:cNvPr id="304" name="Google Shape;304;p48"/>
          <p:cNvSpPr txBox="1"/>
          <p:nvPr>
            <p:ph idx="1" type="body"/>
          </p:nvPr>
        </p:nvSpPr>
        <p:spPr>
          <a:xfrm>
            <a:off x="2808900" y="4642200"/>
            <a:ext cx="6688200" cy="425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400">
                <a:solidFill>
                  <a:srgbClr val="FF0000"/>
                </a:solidFill>
              </a:rPr>
              <a:t>aunque sumamos de más los otros términos, que podemos calcular para restar.</a:t>
            </a:r>
            <a:endParaRPr sz="1400">
              <a:solidFill>
                <a:srgbClr val="FF0000"/>
              </a:solidFill>
            </a:endParaRPr>
          </a:p>
        </p:txBody>
      </p:sp>
      <p:cxnSp>
        <p:nvCxnSpPr>
          <p:cNvPr id="305" name="Google Shape;305;p48"/>
          <p:cNvCxnSpPr>
            <a:stCxn id="302" idx="0"/>
          </p:cNvCxnSpPr>
          <p:nvPr/>
        </p:nvCxnSpPr>
        <p:spPr>
          <a:xfrm rot="10800000">
            <a:off x="6382800" y="4025800"/>
            <a:ext cx="127500" cy="393000"/>
          </a:xfrm>
          <a:prstGeom prst="straightConnector1">
            <a:avLst/>
          </a:prstGeom>
          <a:noFill/>
          <a:ln cap="flat" cmpd="sng" w="9525">
            <a:solidFill>
              <a:schemeClr val="dk2"/>
            </a:solidFill>
            <a:prstDash val="solid"/>
            <a:round/>
            <a:headEnd len="med" w="med" type="none"/>
            <a:tailEnd len="med" w="med" type="triangle"/>
          </a:ln>
        </p:spPr>
      </p:cxnSp>
      <p:cxnSp>
        <p:nvCxnSpPr>
          <p:cNvPr id="306" name="Google Shape;306;p48"/>
          <p:cNvCxnSpPr>
            <a:stCxn id="302" idx="0"/>
          </p:cNvCxnSpPr>
          <p:nvPr/>
        </p:nvCxnSpPr>
        <p:spPr>
          <a:xfrm flipH="1" rot="10800000">
            <a:off x="6510300" y="3977200"/>
            <a:ext cx="447600" cy="441600"/>
          </a:xfrm>
          <a:prstGeom prst="straightConnector1">
            <a:avLst/>
          </a:prstGeom>
          <a:noFill/>
          <a:ln cap="flat" cmpd="sng" w="9525">
            <a:solidFill>
              <a:schemeClr val="dk2"/>
            </a:solidFill>
            <a:prstDash val="solid"/>
            <a:round/>
            <a:headEnd len="med" w="med" type="none"/>
            <a:tailEnd len="med" w="med" type="triangle"/>
          </a:ln>
        </p:spPr>
      </p:cxnSp>
      <p:cxnSp>
        <p:nvCxnSpPr>
          <p:cNvPr id="307" name="Google Shape;307;p48"/>
          <p:cNvCxnSpPr>
            <a:stCxn id="304" idx="0"/>
          </p:cNvCxnSpPr>
          <p:nvPr/>
        </p:nvCxnSpPr>
        <p:spPr>
          <a:xfrm rot="10800000">
            <a:off x="5499900" y="4041900"/>
            <a:ext cx="653100" cy="600300"/>
          </a:xfrm>
          <a:prstGeom prst="straightConnector1">
            <a:avLst/>
          </a:prstGeom>
          <a:noFill/>
          <a:ln cap="flat" cmpd="sng" w="9525">
            <a:solidFill>
              <a:schemeClr val="dk2"/>
            </a:solidFill>
            <a:prstDash val="solid"/>
            <a:round/>
            <a:headEnd len="med" w="med" type="none"/>
            <a:tailEnd len="med" w="med" type="triangle"/>
          </a:ln>
        </p:spPr>
      </p:cxnSp>
      <p:cxnSp>
        <p:nvCxnSpPr>
          <p:cNvPr id="308" name="Google Shape;308;p48"/>
          <p:cNvCxnSpPr>
            <a:stCxn id="304" idx="0"/>
          </p:cNvCxnSpPr>
          <p:nvPr/>
        </p:nvCxnSpPr>
        <p:spPr>
          <a:xfrm flipH="1" rot="10800000">
            <a:off x="6153000" y="3985200"/>
            <a:ext cx="1744500" cy="6570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1000"/>
                                        <p:tgtEl>
                                          <p:spTgt spid="3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0" st="0"/>
                                            </p:txEl>
                                          </p:spTgt>
                                        </p:tgtEl>
                                        <p:attrNameLst>
                                          <p:attrName>style.visibility</p:attrName>
                                        </p:attrNameLst>
                                      </p:cBhvr>
                                      <p:to>
                                        <p:strVal val="visible"/>
                                      </p:to>
                                    </p:set>
                                    <p:animEffect filter="fade" transition="in">
                                      <p:cBhvr>
                                        <p:cTn dur="1000"/>
                                        <p:tgtEl>
                                          <p:spTgt spid="2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1" st="1"/>
                                            </p:txEl>
                                          </p:spTgt>
                                        </p:tgtEl>
                                        <p:attrNameLst>
                                          <p:attrName>style.visibility</p:attrName>
                                        </p:attrNameLst>
                                      </p:cBhvr>
                                      <p:to>
                                        <p:strVal val="visible"/>
                                      </p:to>
                                    </p:set>
                                    <p:animEffect filter="fade" transition="in">
                                      <p:cBhvr>
                                        <p:cTn dur="1000"/>
                                        <p:tgtEl>
                                          <p:spTgt spid="2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1000"/>
                                        <p:tgtEl>
                                          <p:spTgt spid="301"/>
                                        </p:tgtEl>
                                      </p:cBhvr>
                                    </p:animEffect>
                                  </p:childTnLst>
                                </p:cTn>
                              </p:par>
                              <p:par>
                                <p:cTn fill="hold" nodeType="with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1000"/>
                                        <p:tgtEl>
                                          <p:spTgt spid="3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1000"/>
                                        <p:tgtEl>
                                          <p:spTgt spid="302"/>
                                        </p:tgtEl>
                                      </p:cBhvr>
                                    </p:animEffect>
                                  </p:childTnLst>
                                </p:cTn>
                              </p:par>
                              <p:par>
                                <p:cTn fill="hold" nodeType="with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1000"/>
                                        <p:tgtEl>
                                          <p:spTgt spid="306"/>
                                        </p:tgtEl>
                                      </p:cBhvr>
                                    </p:animEffect>
                                  </p:childTnLst>
                                </p:cTn>
                              </p:par>
                              <p:par>
                                <p:cTn fill="hold" nodeType="with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1000"/>
                                        <p:tgtEl>
                                          <p:spTgt spid="3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0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30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30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1000"/>
                                        <p:tgtEl>
                                          <p:spTgt spid="307"/>
                                        </p:tgtEl>
                                      </p:cBhvr>
                                    </p:animEffect>
                                  </p:childTnLst>
                                </p:cTn>
                              </p:par>
                              <p:par>
                                <p:cTn fill="hold" nodeType="with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1000"/>
                                        <p:tgtEl>
                                          <p:spTgt spid="308"/>
                                        </p:tgtEl>
                                      </p:cBhvr>
                                    </p:animEffect>
                                  </p:childTnLst>
                                </p:cTn>
                              </p:par>
                              <p:par>
                                <p:cTn fill="hold" nodeType="with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1000"/>
                                        <p:tgtEl>
                                          <p:spTgt spid="3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El algoritmo → Karatsuba-Offman</a:t>
            </a:r>
            <a:endParaRPr/>
          </a:p>
        </p:txBody>
      </p:sp>
      <p:sp>
        <p:nvSpPr>
          <p:cNvPr id="314" name="Google Shape;314;p49"/>
          <p:cNvSpPr txBox="1"/>
          <p:nvPr>
            <p:ph idx="1" type="body"/>
          </p:nvPr>
        </p:nvSpPr>
        <p:spPr>
          <a:xfrm>
            <a:off x="311700" y="1171600"/>
            <a:ext cx="8520600" cy="27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latin typeface="Courier New"/>
                <a:ea typeface="Courier New"/>
                <a:cs typeface="Courier New"/>
                <a:sym typeface="Courier New"/>
              </a:rPr>
              <a:t>def multiplicaciónBigInt(x, y):</a:t>
            </a:r>
            <a:endParaRPr>
              <a:latin typeface="Courier New"/>
              <a:ea typeface="Courier New"/>
              <a:cs typeface="Courier New"/>
              <a:sym typeface="Courier New"/>
            </a:endParaRPr>
          </a:p>
          <a:p>
            <a:pPr indent="0" lvl="0" marL="0" rtl="0" algn="l">
              <a:spcBef>
                <a:spcPts val="0"/>
              </a:spcBef>
              <a:spcAft>
                <a:spcPts val="0"/>
              </a:spcAft>
              <a:buNone/>
            </a:pPr>
            <a:r>
              <a:rPr lang="es">
                <a:latin typeface="Courier New"/>
                <a:ea typeface="Courier New"/>
                <a:cs typeface="Courier New"/>
                <a:sym typeface="Courier New"/>
              </a:rPr>
              <a:t>	si largo de x e y son pequeños, devolvemos x*y, sino:</a:t>
            </a:r>
            <a:endParaRPr>
              <a:latin typeface="Courier New"/>
              <a:ea typeface="Courier New"/>
              <a:cs typeface="Courier New"/>
              <a:sym typeface="Courier New"/>
            </a:endParaRPr>
          </a:p>
          <a:p>
            <a:pPr indent="0" lvl="0" marL="0" rtl="0" algn="l">
              <a:spcBef>
                <a:spcPts val="0"/>
              </a:spcBef>
              <a:spcAft>
                <a:spcPts val="0"/>
              </a:spcAft>
              <a:buNone/>
            </a:pPr>
            <a:r>
              <a:rPr lang="es">
                <a:latin typeface="Courier New"/>
                <a:ea typeface="Courier New"/>
                <a:cs typeface="Courier New"/>
                <a:sym typeface="Courier New"/>
              </a:rPr>
              <a:t>	x = x</a:t>
            </a:r>
            <a:r>
              <a:rPr baseline="-25000" lang="es">
                <a:latin typeface="Courier New"/>
                <a:ea typeface="Courier New"/>
                <a:cs typeface="Courier New"/>
                <a:sym typeface="Courier New"/>
              </a:rPr>
              <a:t>1</a:t>
            </a:r>
            <a:r>
              <a:rPr lang="es">
                <a:latin typeface="Courier New"/>
                <a:ea typeface="Courier New"/>
                <a:cs typeface="Courier New"/>
                <a:sym typeface="Courier New"/>
              </a:rPr>
              <a:t> 2</a:t>
            </a:r>
            <a:r>
              <a:rPr baseline="30000" lang="es">
                <a:latin typeface="Courier New"/>
                <a:ea typeface="Courier New"/>
                <a:cs typeface="Courier New"/>
                <a:sym typeface="Courier New"/>
              </a:rPr>
              <a:t>n/2</a:t>
            </a:r>
            <a:r>
              <a:rPr lang="es">
                <a:latin typeface="Courier New"/>
                <a:ea typeface="Courier New"/>
                <a:cs typeface="Courier New"/>
                <a:sym typeface="Courier New"/>
              </a:rPr>
              <a:t> + x</a:t>
            </a:r>
            <a:r>
              <a:rPr baseline="-25000" lang="es">
                <a:latin typeface="Courier New"/>
                <a:ea typeface="Courier New"/>
                <a:cs typeface="Courier New"/>
                <a:sym typeface="Courier New"/>
              </a:rPr>
              <a:t>0</a:t>
            </a:r>
            <a:endParaRPr baseline="-25000">
              <a:latin typeface="Courier New"/>
              <a:ea typeface="Courier New"/>
              <a:cs typeface="Courier New"/>
              <a:sym typeface="Courier New"/>
            </a:endParaRPr>
          </a:p>
          <a:p>
            <a:pPr indent="0" lvl="0" marL="0" rtl="0" algn="l">
              <a:spcBef>
                <a:spcPts val="0"/>
              </a:spcBef>
              <a:spcAft>
                <a:spcPts val="0"/>
              </a:spcAft>
              <a:buNone/>
            </a:pPr>
            <a:r>
              <a:rPr lang="es">
                <a:latin typeface="Courier New"/>
                <a:ea typeface="Courier New"/>
                <a:cs typeface="Courier New"/>
                <a:sym typeface="Courier New"/>
              </a:rPr>
              <a:t>	y = y</a:t>
            </a:r>
            <a:r>
              <a:rPr baseline="-25000" lang="es">
                <a:latin typeface="Courier New"/>
                <a:ea typeface="Courier New"/>
                <a:cs typeface="Courier New"/>
                <a:sym typeface="Courier New"/>
              </a:rPr>
              <a:t>1</a:t>
            </a:r>
            <a:r>
              <a:rPr lang="es">
                <a:latin typeface="Courier New"/>
                <a:ea typeface="Courier New"/>
                <a:cs typeface="Courier New"/>
                <a:sym typeface="Courier New"/>
              </a:rPr>
              <a:t> </a:t>
            </a:r>
            <a:r>
              <a:rPr lang="es">
                <a:latin typeface="Courier New"/>
                <a:ea typeface="Courier New"/>
                <a:cs typeface="Courier New"/>
                <a:sym typeface="Courier New"/>
              </a:rPr>
              <a:t>2</a:t>
            </a:r>
            <a:r>
              <a:rPr baseline="30000" lang="es">
                <a:latin typeface="Courier New"/>
                <a:ea typeface="Courier New"/>
                <a:cs typeface="Courier New"/>
                <a:sym typeface="Courier New"/>
              </a:rPr>
              <a:t>n/2</a:t>
            </a:r>
            <a:r>
              <a:rPr lang="es">
                <a:latin typeface="Courier New"/>
                <a:ea typeface="Courier New"/>
                <a:cs typeface="Courier New"/>
                <a:sym typeface="Courier New"/>
              </a:rPr>
              <a:t> + y</a:t>
            </a:r>
            <a:r>
              <a:rPr baseline="-25000" lang="es">
                <a:latin typeface="Courier New"/>
                <a:ea typeface="Courier New"/>
                <a:cs typeface="Courier New"/>
                <a:sym typeface="Courier New"/>
              </a:rPr>
              <a:t>0</a:t>
            </a:r>
            <a:endParaRPr>
              <a:latin typeface="Courier New"/>
              <a:ea typeface="Courier New"/>
              <a:cs typeface="Courier New"/>
              <a:sym typeface="Courier New"/>
            </a:endParaRPr>
          </a:p>
          <a:p>
            <a:pPr indent="0" lvl="0" marL="0" rtl="0" algn="l">
              <a:spcBef>
                <a:spcPts val="0"/>
              </a:spcBef>
              <a:spcAft>
                <a:spcPts val="0"/>
              </a:spcAft>
              <a:buNone/>
            </a:pPr>
            <a:r>
              <a:rPr lang="es">
                <a:latin typeface="Courier New"/>
                <a:ea typeface="Courier New"/>
                <a:cs typeface="Courier New"/>
                <a:sym typeface="Courier New"/>
              </a:rPr>
              <a:t>	p = </a:t>
            </a:r>
            <a:r>
              <a:rPr lang="es">
                <a:latin typeface="Courier New"/>
                <a:ea typeface="Courier New"/>
                <a:cs typeface="Courier New"/>
                <a:sym typeface="Courier New"/>
              </a:rPr>
              <a:t>multiplicaciónBigInt(x</a:t>
            </a:r>
            <a:r>
              <a:rPr baseline="-25000" lang="es">
                <a:latin typeface="Courier New"/>
                <a:ea typeface="Courier New"/>
                <a:cs typeface="Courier New"/>
                <a:sym typeface="Courier New"/>
              </a:rPr>
              <a:t>1</a:t>
            </a:r>
            <a:r>
              <a:rPr lang="es">
                <a:latin typeface="Courier New"/>
                <a:ea typeface="Courier New"/>
                <a:cs typeface="Courier New"/>
                <a:sym typeface="Courier New"/>
              </a:rPr>
              <a:t> + x</a:t>
            </a:r>
            <a:r>
              <a:rPr baseline="-25000" lang="es">
                <a:latin typeface="Courier New"/>
                <a:ea typeface="Courier New"/>
                <a:cs typeface="Courier New"/>
                <a:sym typeface="Courier New"/>
              </a:rPr>
              <a:t>0</a:t>
            </a:r>
            <a:r>
              <a:rPr lang="es">
                <a:latin typeface="Courier New"/>
                <a:ea typeface="Courier New"/>
                <a:cs typeface="Courier New"/>
                <a:sym typeface="Courier New"/>
              </a:rPr>
              <a:t>, y</a:t>
            </a:r>
            <a:r>
              <a:rPr baseline="-25000" lang="es">
                <a:latin typeface="Courier New"/>
                <a:ea typeface="Courier New"/>
                <a:cs typeface="Courier New"/>
                <a:sym typeface="Courier New"/>
              </a:rPr>
              <a:t>1</a:t>
            </a:r>
            <a:r>
              <a:rPr lang="es">
                <a:latin typeface="Courier New"/>
                <a:ea typeface="Courier New"/>
                <a:cs typeface="Courier New"/>
                <a:sym typeface="Courier New"/>
              </a:rPr>
              <a:t> + y</a:t>
            </a:r>
            <a:r>
              <a:rPr baseline="-25000" lang="es">
                <a:latin typeface="Courier New"/>
                <a:ea typeface="Courier New"/>
                <a:cs typeface="Courier New"/>
                <a:sym typeface="Courier New"/>
              </a:rPr>
              <a:t>0</a:t>
            </a:r>
            <a:r>
              <a:rPr lang="es">
                <a:latin typeface="Courier New"/>
                <a:ea typeface="Courier New"/>
                <a:cs typeface="Courier New"/>
                <a:sym typeface="Courier New"/>
              </a:rPr>
              <a:t>)</a:t>
            </a:r>
            <a:endParaRPr>
              <a:latin typeface="Courier New"/>
              <a:ea typeface="Courier New"/>
              <a:cs typeface="Courier New"/>
              <a:sym typeface="Courier New"/>
            </a:endParaRPr>
          </a:p>
          <a:p>
            <a:pPr indent="0" lvl="0" marL="0" rtl="0" algn="l">
              <a:spcBef>
                <a:spcPts val="0"/>
              </a:spcBef>
              <a:spcAft>
                <a:spcPts val="0"/>
              </a:spcAft>
              <a:buNone/>
            </a:pPr>
            <a:r>
              <a:rPr lang="es">
                <a:latin typeface="Courier New"/>
                <a:ea typeface="Courier New"/>
                <a:cs typeface="Courier New"/>
                <a:sym typeface="Courier New"/>
              </a:rPr>
              <a:t>	x</a:t>
            </a:r>
            <a:r>
              <a:rPr baseline="-25000" lang="es">
                <a:latin typeface="Courier New"/>
                <a:ea typeface="Courier New"/>
                <a:cs typeface="Courier New"/>
                <a:sym typeface="Courier New"/>
              </a:rPr>
              <a:t>0</a:t>
            </a:r>
            <a:r>
              <a:rPr lang="es">
                <a:latin typeface="Courier New"/>
                <a:ea typeface="Courier New"/>
                <a:cs typeface="Courier New"/>
                <a:sym typeface="Courier New"/>
              </a:rPr>
              <a:t>y</a:t>
            </a:r>
            <a:r>
              <a:rPr baseline="-25000" lang="es">
                <a:latin typeface="Courier New"/>
                <a:ea typeface="Courier New"/>
                <a:cs typeface="Courier New"/>
                <a:sym typeface="Courier New"/>
              </a:rPr>
              <a:t>0</a:t>
            </a:r>
            <a:r>
              <a:rPr lang="es">
                <a:latin typeface="Courier New"/>
                <a:ea typeface="Courier New"/>
                <a:cs typeface="Courier New"/>
                <a:sym typeface="Courier New"/>
              </a:rPr>
              <a:t> = multiplicaciónBigInt(x</a:t>
            </a:r>
            <a:r>
              <a:rPr baseline="-25000" lang="es">
                <a:latin typeface="Courier New"/>
                <a:ea typeface="Courier New"/>
                <a:cs typeface="Courier New"/>
                <a:sym typeface="Courier New"/>
              </a:rPr>
              <a:t>0</a:t>
            </a:r>
            <a:r>
              <a:rPr lang="es">
                <a:latin typeface="Courier New"/>
                <a:ea typeface="Courier New"/>
                <a:cs typeface="Courier New"/>
                <a:sym typeface="Courier New"/>
              </a:rPr>
              <a:t>, y</a:t>
            </a:r>
            <a:r>
              <a:rPr baseline="-25000" lang="es">
                <a:latin typeface="Courier New"/>
                <a:ea typeface="Courier New"/>
                <a:cs typeface="Courier New"/>
                <a:sym typeface="Courier New"/>
              </a:rPr>
              <a:t>0</a:t>
            </a:r>
            <a:r>
              <a:rPr lang="es">
                <a:latin typeface="Courier New"/>
                <a:ea typeface="Courier New"/>
                <a:cs typeface="Courier New"/>
                <a:sym typeface="Courier New"/>
              </a:rPr>
              <a:t>)</a:t>
            </a:r>
            <a:endParaRPr>
              <a:latin typeface="Courier New"/>
              <a:ea typeface="Courier New"/>
              <a:cs typeface="Courier New"/>
              <a:sym typeface="Courier New"/>
            </a:endParaRPr>
          </a:p>
          <a:p>
            <a:pPr indent="0" lvl="0" marL="0" rtl="0" algn="l">
              <a:spcBef>
                <a:spcPts val="0"/>
              </a:spcBef>
              <a:spcAft>
                <a:spcPts val="0"/>
              </a:spcAft>
              <a:buNone/>
            </a:pPr>
            <a:r>
              <a:rPr lang="es">
                <a:latin typeface="Courier New"/>
                <a:ea typeface="Courier New"/>
                <a:cs typeface="Courier New"/>
                <a:sym typeface="Courier New"/>
              </a:rPr>
              <a:t>	x</a:t>
            </a:r>
            <a:r>
              <a:rPr baseline="-25000" lang="es">
                <a:latin typeface="Courier New"/>
                <a:ea typeface="Courier New"/>
                <a:cs typeface="Courier New"/>
                <a:sym typeface="Courier New"/>
              </a:rPr>
              <a:t>1</a:t>
            </a:r>
            <a:r>
              <a:rPr lang="es">
                <a:latin typeface="Courier New"/>
                <a:ea typeface="Courier New"/>
                <a:cs typeface="Courier New"/>
                <a:sym typeface="Courier New"/>
              </a:rPr>
              <a:t>y</a:t>
            </a:r>
            <a:r>
              <a:rPr baseline="-25000" lang="es">
                <a:latin typeface="Courier New"/>
                <a:ea typeface="Courier New"/>
                <a:cs typeface="Courier New"/>
                <a:sym typeface="Courier New"/>
              </a:rPr>
              <a:t>1</a:t>
            </a:r>
            <a:r>
              <a:rPr lang="es">
                <a:latin typeface="Courier New"/>
                <a:ea typeface="Courier New"/>
                <a:cs typeface="Courier New"/>
                <a:sym typeface="Courier New"/>
              </a:rPr>
              <a:t> = multiplicaciónBigInt(x</a:t>
            </a:r>
            <a:r>
              <a:rPr baseline="-25000" lang="es">
                <a:latin typeface="Courier New"/>
                <a:ea typeface="Courier New"/>
                <a:cs typeface="Courier New"/>
                <a:sym typeface="Courier New"/>
              </a:rPr>
              <a:t>1</a:t>
            </a:r>
            <a:r>
              <a:rPr lang="es">
                <a:latin typeface="Courier New"/>
                <a:ea typeface="Courier New"/>
                <a:cs typeface="Courier New"/>
                <a:sym typeface="Courier New"/>
              </a:rPr>
              <a:t>, y</a:t>
            </a:r>
            <a:r>
              <a:rPr baseline="-25000" lang="es">
                <a:latin typeface="Courier New"/>
                <a:ea typeface="Courier New"/>
                <a:cs typeface="Courier New"/>
                <a:sym typeface="Courier New"/>
              </a:rPr>
              <a:t>1</a:t>
            </a:r>
            <a:r>
              <a:rPr lang="es">
                <a:latin typeface="Courier New"/>
                <a:ea typeface="Courier New"/>
                <a:cs typeface="Courier New"/>
                <a:sym typeface="Courier New"/>
              </a:rPr>
              <a:t>)</a:t>
            </a:r>
            <a:endParaRPr>
              <a:latin typeface="Courier New"/>
              <a:ea typeface="Courier New"/>
              <a:cs typeface="Courier New"/>
              <a:sym typeface="Courier New"/>
            </a:endParaRPr>
          </a:p>
          <a:p>
            <a:pPr indent="0" lvl="0" marL="0" rtl="0" algn="l">
              <a:spcBef>
                <a:spcPts val="0"/>
              </a:spcBef>
              <a:spcAft>
                <a:spcPts val="0"/>
              </a:spcAft>
              <a:buNone/>
            </a:pPr>
            <a:r>
              <a:rPr lang="es">
                <a:latin typeface="Courier New"/>
                <a:ea typeface="Courier New"/>
                <a:cs typeface="Courier New"/>
                <a:sym typeface="Courier New"/>
              </a:rPr>
              <a:t>	return x</a:t>
            </a:r>
            <a:r>
              <a:rPr baseline="-25000" lang="es">
                <a:latin typeface="Courier New"/>
                <a:ea typeface="Courier New"/>
                <a:cs typeface="Courier New"/>
                <a:sym typeface="Courier New"/>
              </a:rPr>
              <a:t>1</a:t>
            </a:r>
            <a:r>
              <a:rPr lang="es">
                <a:latin typeface="Courier New"/>
                <a:ea typeface="Courier New"/>
                <a:cs typeface="Courier New"/>
                <a:sym typeface="Courier New"/>
              </a:rPr>
              <a:t>y</a:t>
            </a:r>
            <a:r>
              <a:rPr baseline="-25000" lang="es">
                <a:latin typeface="Courier New"/>
                <a:ea typeface="Courier New"/>
                <a:cs typeface="Courier New"/>
                <a:sym typeface="Courier New"/>
              </a:rPr>
              <a:t>1</a:t>
            </a:r>
            <a:r>
              <a:rPr lang="es">
                <a:latin typeface="Courier New"/>
                <a:ea typeface="Courier New"/>
                <a:cs typeface="Courier New"/>
                <a:sym typeface="Courier New"/>
              </a:rPr>
              <a:t> 2</a:t>
            </a:r>
            <a:r>
              <a:rPr baseline="30000" lang="es">
                <a:latin typeface="Courier New"/>
                <a:ea typeface="Courier New"/>
                <a:cs typeface="Courier New"/>
                <a:sym typeface="Courier New"/>
              </a:rPr>
              <a:t>n</a:t>
            </a:r>
            <a:r>
              <a:rPr lang="es">
                <a:latin typeface="Courier New"/>
                <a:ea typeface="Courier New"/>
                <a:cs typeface="Courier New"/>
                <a:sym typeface="Courier New"/>
              </a:rPr>
              <a:t> + (p - x</a:t>
            </a:r>
            <a:r>
              <a:rPr baseline="-25000" lang="es">
                <a:latin typeface="Courier New"/>
                <a:ea typeface="Courier New"/>
                <a:cs typeface="Courier New"/>
                <a:sym typeface="Courier New"/>
              </a:rPr>
              <a:t>1</a:t>
            </a:r>
            <a:r>
              <a:rPr lang="es">
                <a:latin typeface="Courier New"/>
                <a:ea typeface="Courier New"/>
                <a:cs typeface="Courier New"/>
                <a:sym typeface="Courier New"/>
              </a:rPr>
              <a:t>y</a:t>
            </a:r>
            <a:r>
              <a:rPr baseline="-25000" lang="es">
                <a:latin typeface="Courier New"/>
                <a:ea typeface="Courier New"/>
                <a:cs typeface="Courier New"/>
                <a:sym typeface="Courier New"/>
              </a:rPr>
              <a:t>1</a:t>
            </a:r>
            <a:r>
              <a:rPr lang="es">
                <a:latin typeface="Courier New"/>
                <a:ea typeface="Courier New"/>
                <a:cs typeface="Courier New"/>
                <a:sym typeface="Courier New"/>
              </a:rPr>
              <a:t> - x</a:t>
            </a:r>
            <a:r>
              <a:rPr baseline="-25000" lang="es">
                <a:latin typeface="Courier New"/>
                <a:ea typeface="Courier New"/>
                <a:cs typeface="Courier New"/>
                <a:sym typeface="Courier New"/>
              </a:rPr>
              <a:t>0</a:t>
            </a:r>
            <a:r>
              <a:rPr lang="es">
                <a:latin typeface="Courier New"/>
                <a:ea typeface="Courier New"/>
                <a:cs typeface="Courier New"/>
                <a:sym typeface="Courier New"/>
              </a:rPr>
              <a:t>y</a:t>
            </a:r>
            <a:r>
              <a:rPr baseline="-25000" lang="es">
                <a:latin typeface="Courier New"/>
                <a:ea typeface="Courier New"/>
                <a:cs typeface="Courier New"/>
                <a:sym typeface="Courier New"/>
              </a:rPr>
              <a:t>0</a:t>
            </a:r>
            <a:r>
              <a:rPr lang="es">
                <a:latin typeface="Courier New"/>
                <a:ea typeface="Courier New"/>
                <a:cs typeface="Courier New"/>
                <a:sym typeface="Courier New"/>
              </a:rPr>
              <a:t>) 2</a:t>
            </a:r>
            <a:r>
              <a:rPr baseline="30000" lang="es">
                <a:latin typeface="Courier New"/>
                <a:ea typeface="Courier New"/>
                <a:cs typeface="Courier New"/>
                <a:sym typeface="Courier New"/>
              </a:rPr>
              <a:t>n/2</a:t>
            </a:r>
            <a:r>
              <a:rPr lang="es">
                <a:latin typeface="Courier New"/>
                <a:ea typeface="Courier New"/>
                <a:cs typeface="Courier New"/>
                <a:sym typeface="Courier New"/>
              </a:rPr>
              <a:t> + x</a:t>
            </a:r>
            <a:r>
              <a:rPr baseline="-25000" lang="es">
                <a:latin typeface="Courier New"/>
                <a:ea typeface="Courier New"/>
                <a:cs typeface="Courier New"/>
                <a:sym typeface="Courier New"/>
              </a:rPr>
              <a:t>0</a:t>
            </a:r>
            <a:r>
              <a:rPr lang="es">
                <a:latin typeface="Courier New"/>
                <a:ea typeface="Courier New"/>
                <a:cs typeface="Courier New"/>
                <a:sym typeface="Courier New"/>
              </a:rPr>
              <a:t>y</a:t>
            </a:r>
            <a:r>
              <a:rPr baseline="-25000" lang="es">
                <a:latin typeface="Courier New"/>
                <a:ea typeface="Courier New"/>
                <a:cs typeface="Courier New"/>
                <a:sym typeface="Courier New"/>
              </a:rPr>
              <a:t>0</a:t>
            </a:r>
            <a:endParaRPr>
              <a:latin typeface="Courier New"/>
              <a:ea typeface="Courier New"/>
              <a:cs typeface="Courier New"/>
              <a:sym typeface="Courier New"/>
            </a:endParaRPr>
          </a:p>
        </p:txBody>
      </p:sp>
      <p:pic>
        <p:nvPicPr>
          <p:cNvPr id="315" name="Google Shape;315;p49"/>
          <p:cNvPicPr preferRelativeResize="0"/>
          <p:nvPr/>
        </p:nvPicPr>
        <p:blipFill>
          <a:blip r:embed="rId3">
            <a:alphaModFix/>
          </a:blip>
          <a:stretch>
            <a:fillRect/>
          </a:stretch>
        </p:blipFill>
        <p:spPr>
          <a:xfrm>
            <a:off x="356125" y="4038975"/>
            <a:ext cx="5133546" cy="613200"/>
          </a:xfrm>
          <a:prstGeom prst="rect">
            <a:avLst/>
          </a:prstGeom>
          <a:noFill/>
          <a:ln>
            <a:noFill/>
          </a:ln>
        </p:spPr>
      </p:pic>
      <p:pic>
        <p:nvPicPr>
          <p:cNvPr id="316" name="Google Shape;316;p49"/>
          <p:cNvPicPr preferRelativeResize="0"/>
          <p:nvPr/>
        </p:nvPicPr>
        <p:blipFill>
          <a:blip r:embed="rId4">
            <a:alphaModFix/>
          </a:blip>
          <a:stretch>
            <a:fillRect/>
          </a:stretch>
        </p:blipFill>
        <p:spPr>
          <a:xfrm>
            <a:off x="5677025" y="4038967"/>
            <a:ext cx="1480475" cy="581625"/>
          </a:xfrm>
          <a:prstGeom prst="rect">
            <a:avLst/>
          </a:prstGeom>
          <a:noFill/>
          <a:ln>
            <a:noFill/>
          </a:ln>
        </p:spPr>
      </p:pic>
      <p:pic>
        <p:nvPicPr>
          <p:cNvPr id="317" name="Google Shape;317;p49"/>
          <p:cNvPicPr preferRelativeResize="0"/>
          <p:nvPr/>
        </p:nvPicPr>
        <p:blipFill>
          <a:blip r:embed="rId5">
            <a:alphaModFix/>
          </a:blip>
          <a:stretch>
            <a:fillRect/>
          </a:stretch>
        </p:blipFill>
        <p:spPr>
          <a:xfrm>
            <a:off x="7344852" y="3414600"/>
            <a:ext cx="1417325" cy="1419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1000"/>
                                        <p:tgtEl>
                                          <p:spTgt spid="315"/>
                                        </p:tgtEl>
                                      </p:cBhvr>
                                    </p:animEffect>
                                  </p:childTnLst>
                                </p:cTn>
                              </p:par>
                              <p:par>
                                <p:cTn fill="hold" nodeType="with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1000"/>
                                        <p:tgtEl>
                                          <p:spTgt spid="31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3000"/>
                                        <p:tgtEl>
                                          <p:spTgt spid="3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II: Obtener extremo de un polígono</a:t>
            </a:r>
            <a:endParaRPr/>
          </a:p>
        </p:txBody>
      </p:sp>
      <p:pic>
        <p:nvPicPr>
          <p:cNvPr id="323" name="Google Shape;323;p50"/>
          <p:cNvPicPr preferRelativeResize="0"/>
          <p:nvPr/>
        </p:nvPicPr>
        <p:blipFill>
          <a:blip r:embed="rId3">
            <a:alphaModFix/>
          </a:blip>
          <a:stretch>
            <a:fillRect/>
          </a:stretch>
        </p:blipFill>
        <p:spPr>
          <a:xfrm>
            <a:off x="548646" y="2632700"/>
            <a:ext cx="1837225" cy="1843500"/>
          </a:xfrm>
          <a:prstGeom prst="rect">
            <a:avLst/>
          </a:prstGeom>
          <a:noFill/>
          <a:ln>
            <a:noFill/>
          </a:ln>
        </p:spPr>
      </p:pic>
      <p:sp>
        <p:nvSpPr>
          <p:cNvPr id="324" name="Google Shape;324;p50"/>
          <p:cNvSpPr txBox="1"/>
          <p:nvPr>
            <p:ph idx="1" type="body"/>
          </p:nvPr>
        </p:nvSpPr>
        <p:spPr>
          <a:xfrm>
            <a:off x="2646125" y="2685075"/>
            <a:ext cx="6448200" cy="1400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Clr>
                <a:schemeClr val="dk1"/>
              </a:buClr>
              <a:buSzPts val="1100"/>
              <a:buFont typeface="Arial"/>
              <a:buNone/>
            </a:pPr>
            <a:r>
              <a:rPr lang="es"/>
              <a:t>¿Para qué sirve? → Ejemplo, teoría de juegos; para representaciones de imágenes; para algoritmos geométricos. </a:t>
            </a:r>
            <a:endParaRPr/>
          </a:p>
        </p:txBody>
      </p:sp>
      <p:sp>
        <p:nvSpPr>
          <p:cNvPr id="325" name="Google Shape;325;p50"/>
          <p:cNvSpPr txBox="1"/>
          <p:nvPr>
            <p:ph idx="1" type="body"/>
          </p:nvPr>
        </p:nvSpPr>
        <p:spPr>
          <a:xfrm>
            <a:off x="311700" y="1400200"/>
            <a:ext cx="8520600" cy="140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Tenemos n vértices V = (V</a:t>
            </a:r>
            <a:r>
              <a:rPr baseline="-25000" lang="es"/>
              <a:t>0</a:t>
            </a:r>
            <a:r>
              <a:rPr lang="es"/>
              <a:t>, V</a:t>
            </a:r>
            <a:r>
              <a:rPr baseline="-25000" lang="es"/>
              <a:t>1</a:t>
            </a:r>
            <a:r>
              <a:rPr lang="es"/>
              <a:t>, …, V</a:t>
            </a:r>
            <a:r>
              <a:rPr baseline="-25000" lang="es"/>
              <a:t>n-1</a:t>
            </a:r>
            <a:r>
              <a:rPr lang="es"/>
              <a:t>), dispuestos en sentido antihorario.</a:t>
            </a:r>
            <a:endParaRPr/>
          </a:p>
          <a:p>
            <a:pPr indent="0" lvl="0" marL="0" rtl="0" algn="l">
              <a:spcBef>
                <a:spcPts val="1600"/>
              </a:spcBef>
              <a:spcAft>
                <a:spcPts val="1600"/>
              </a:spcAft>
              <a:buClr>
                <a:schemeClr val="dk1"/>
              </a:buClr>
              <a:buSzPts val="1100"/>
              <a:buFont typeface="Arial"/>
              <a:buNone/>
            </a:pPr>
            <a:r>
              <a:rPr lang="es"/>
              <a:t>Problema: obtener el vértice extremo (ej máximo) respecto a un eje (u)</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0" st="0"/>
                                            </p:txEl>
                                          </p:spTgt>
                                        </p:tgtEl>
                                        <p:attrNameLst>
                                          <p:attrName>style.visibility</p:attrName>
                                        </p:attrNameLst>
                                      </p:cBhvr>
                                      <p:to>
                                        <p:strVal val="visible"/>
                                      </p:to>
                                    </p:set>
                                    <p:animEffect filter="fade" transition="in">
                                      <p:cBhvr>
                                        <p:cTn dur="1000"/>
                                        <p:tgtEl>
                                          <p:spTgt spid="32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1" st="1"/>
                                            </p:txEl>
                                          </p:spTgt>
                                        </p:tgtEl>
                                        <p:attrNameLst>
                                          <p:attrName>style.visibility</p:attrName>
                                        </p:attrNameLst>
                                      </p:cBhvr>
                                      <p:to>
                                        <p:strVal val="visible"/>
                                      </p:to>
                                    </p:set>
                                    <p:animEffect filter="fade" transition="in">
                                      <p:cBhvr>
                                        <p:cTn dur="1000"/>
                                        <p:tgtEl>
                                          <p:spTgt spid="32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1000"/>
                                        <p:tgtEl>
                                          <p:spTgt spid="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 sencillo?</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¿Lo podemos hacer mejor?</a:t>
            </a:r>
            <a:endParaRPr/>
          </a:p>
        </p:txBody>
      </p:sp>
      <p:sp>
        <p:nvSpPr>
          <p:cNvPr id="336" name="Google Shape;336;p52"/>
          <p:cNvSpPr txBox="1"/>
          <p:nvPr>
            <p:ph idx="1" type="body"/>
          </p:nvPr>
        </p:nvSpPr>
        <p:spPr>
          <a:xfrm>
            <a:off x="311700" y="1171600"/>
            <a:ext cx="8520600" cy="51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Si, pero tiene que ser convexo. </a:t>
            </a:r>
            <a:endParaRPr/>
          </a:p>
          <a:p>
            <a:pPr indent="0" lvl="0" marL="0" rtl="0" algn="l">
              <a:spcBef>
                <a:spcPts val="1600"/>
              </a:spcBef>
              <a:spcAft>
                <a:spcPts val="1600"/>
              </a:spcAft>
              <a:buNone/>
            </a:pPr>
            <a:r>
              <a:t/>
            </a:r>
            <a:endParaRPr/>
          </a:p>
        </p:txBody>
      </p:sp>
      <p:pic>
        <p:nvPicPr>
          <p:cNvPr id="337" name="Google Shape;337;p52"/>
          <p:cNvPicPr preferRelativeResize="0"/>
          <p:nvPr/>
        </p:nvPicPr>
        <p:blipFill>
          <a:blip r:embed="rId3">
            <a:alphaModFix/>
          </a:blip>
          <a:stretch>
            <a:fillRect/>
          </a:stretch>
        </p:blipFill>
        <p:spPr>
          <a:xfrm>
            <a:off x="6587150" y="721825"/>
            <a:ext cx="2095500" cy="2095500"/>
          </a:xfrm>
          <a:prstGeom prst="rect">
            <a:avLst/>
          </a:prstGeom>
          <a:noFill/>
          <a:ln>
            <a:noFill/>
          </a:ln>
        </p:spPr>
      </p:pic>
      <p:pic>
        <p:nvPicPr>
          <p:cNvPr id="338" name="Google Shape;338;p52"/>
          <p:cNvPicPr preferRelativeResize="0"/>
          <p:nvPr/>
        </p:nvPicPr>
        <p:blipFill>
          <a:blip r:embed="rId4">
            <a:alphaModFix/>
          </a:blip>
          <a:stretch>
            <a:fillRect/>
          </a:stretch>
        </p:blipFill>
        <p:spPr>
          <a:xfrm>
            <a:off x="6566688" y="1171599"/>
            <a:ext cx="2136425" cy="1765075"/>
          </a:xfrm>
          <a:prstGeom prst="rect">
            <a:avLst/>
          </a:prstGeom>
          <a:noFill/>
          <a:ln>
            <a:noFill/>
          </a:ln>
        </p:spPr>
      </p:pic>
      <p:sp>
        <p:nvSpPr>
          <p:cNvPr id="339" name="Google Shape;339;p52"/>
          <p:cNvSpPr txBox="1"/>
          <p:nvPr/>
        </p:nvSpPr>
        <p:spPr>
          <a:xfrm>
            <a:off x="311700" y="1785400"/>
            <a:ext cx="5972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Clr>
                <a:schemeClr val="dk1"/>
              </a:buClr>
              <a:buSzPts val="1100"/>
              <a:buFont typeface="Arial"/>
              <a:buNone/>
            </a:pPr>
            <a:r>
              <a:rPr lang="es" sz="1800">
                <a:solidFill>
                  <a:schemeClr val="dk1"/>
                </a:solidFill>
                <a:latin typeface="Proxima Nova"/>
                <a:ea typeface="Proxima Nova"/>
                <a:cs typeface="Proxima Nova"/>
                <a:sym typeface="Proxima Nova"/>
              </a:rPr>
              <a:t>Que para todo segmento L el polígono sea Monotónico. </a:t>
            </a:r>
            <a:endParaRPr/>
          </a:p>
        </p:txBody>
      </p:sp>
      <p:sp>
        <p:nvSpPr>
          <p:cNvPr id="340" name="Google Shape;340;p52"/>
          <p:cNvSpPr txBox="1"/>
          <p:nvPr/>
        </p:nvSpPr>
        <p:spPr>
          <a:xfrm>
            <a:off x="311700" y="2273000"/>
            <a:ext cx="6213000" cy="98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800">
                <a:solidFill>
                  <a:schemeClr val="dk1"/>
                </a:solidFill>
                <a:latin typeface="Proxima Nova"/>
                <a:ea typeface="Proxima Nova"/>
                <a:cs typeface="Proxima Nova"/>
                <a:sym typeface="Proxima Nova"/>
              </a:rPr>
              <a:t>Que no lo corte más de 2 veces</a:t>
            </a:r>
            <a:endParaRPr sz="1800">
              <a:solidFill>
                <a:schemeClr val="dk1"/>
              </a:solidFill>
              <a:latin typeface="Proxima Nova"/>
              <a:ea typeface="Proxima Nova"/>
              <a:cs typeface="Proxima Nova"/>
              <a:sym typeface="Proxima Nova"/>
            </a:endParaRPr>
          </a:p>
          <a:p>
            <a:pPr indent="0" lvl="0" marL="0" rtl="0" algn="l">
              <a:lnSpc>
                <a:spcPct val="115000"/>
              </a:lnSpc>
              <a:spcBef>
                <a:spcPts val="1600"/>
              </a:spcBef>
              <a:spcAft>
                <a:spcPts val="1600"/>
              </a:spcAft>
              <a:buNone/>
            </a:pPr>
            <a:r>
              <a:rPr lang="es" sz="1800">
                <a:solidFill>
                  <a:schemeClr val="dk1"/>
                </a:solidFill>
                <a:latin typeface="Proxima Nova"/>
                <a:ea typeface="Proxima Nova"/>
                <a:cs typeface="Proxima Nova"/>
                <a:sym typeface="Proxima Nova"/>
              </a:rPr>
              <a:t>Equivalente a que los ángulos interiores &lt;= 180 grad</a:t>
            </a:r>
            <a:endParaRPr sz="1800">
              <a:solidFill>
                <a:schemeClr val="dk1"/>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
                                            <p:txEl>
                                              <p:pRg end="0" st="0"/>
                                            </p:txEl>
                                          </p:spTgt>
                                        </p:tgtEl>
                                        <p:attrNameLst>
                                          <p:attrName>style.visibility</p:attrName>
                                        </p:attrNameLst>
                                      </p:cBhvr>
                                      <p:to>
                                        <p:strVal val="visible"/>
                                      </p:to>
                                    </p:set>
                                    <p:animEffect filter="fade" transition="in">
                                      <p:cBhvr>
                                        <p:cTn dur="1000"/>
                                        <p:tgtEl>
                                          <p:spTgt spid="3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
                                            <p:txEl>
                                              <p:pRg end="1" st="1"/>
                                            </p:txEl>
                                          </p:spTgt>
                                        </p:tgtEl>
                                        <p:attrNameLst>
                                          <p:attrName>style.visibility</p:attrName>
                                        </p:attrNameLst>
                                      </p:cBhvr>
                                      <p:to>
                                        <p:strVal val="visible"/>
                                      </p:to>
                                    </p:set>
                                    <p:animEffect filter="fade" transition="in">
                                      <p:cBhvr>
                                        <p:cTn dur="1000"/>
                                        <p:tgtEl>
                                          <p:spTgt spid="336">
                                            <p:txEl>
                                              <p:pRg end="1" st="1"/>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1000"/>
                                        <p:tgtEl>
                                          <p:spTgt spid="3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1000"/>
                                        <p:tgtEl>
                                          <p:spTgt spid="3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par>
                                <p:cTn fill="hold" nodeType="withEffect" presetClass="exit" presetID="1" presetSubtype="0">
                                  <p:stCondLst>
                                    <p:cond delay="0"/>
                                  </p:stCondLst>
                                  <p:childTnLst>
                                    <p:set>
                                      <p:cBhvr>
                                        <p:cTn dur="1" fill="hold">
                                          <p:stCondLst>
                                            <p:cond delay="0"/>
                                          </p:stCondLst>
                                        </p:cTn>
                                        <p:tgtEl>
                                          <p:spTgt spid="33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38"/>
                                        </p:tgtEl>
                                        <p:attrNameLst>
                                          <p:attrName>style.visibility</p:attrName>
                                        </p:attrNameLst>
                                      </p:cBhvr>
                                      <p:to>
                                        <p:strVal val="hidden"/>
                                      </p:to>
                                    </p:se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40">
                                            <p:txEl>
                                              <p:pRg end="0" st="0"/>
                                            </p:txEl>
                                          </p:spTgt>
                                        </p:tgtEl>
                                        <p:attrNameLst>
                                          <p:attrName>style.visibility</p:attrName>
                                        </p:attrNameLst>
                                      </p:cBhvr>
                                      <p:to>
                                        <p:strVal val="visible"/>
                                      </p:to>
                                    </p:set>
                                    <p:animEffect filter="fade" transition="in">
                                      <p:cBhvr>
                                        <p:cTn dur="1000"/>
                                        <p:tgtEl>
                                          <p:spTgt spid="340">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40">
                                            <p:txEl>
                                              <p:pRg end="1" st="1"/>
                                            </p:txEl>
                                          </p:spTgt>
                                        </p:tgtEl>
                                        <p:attrNameLst>
                                          <p:attrName>style.visibility</p:attrName>
                                        </p:attrNameLst>
                                      </p:cBhvr>
                                      <p:to>
                                        <p:strVal val="visible"/>
                                      </p:to>
                                    </p:set>
                                    <p:animEffect filter="fade" transition="in">
                                      <p:cBhvr>
                                        <p:cTn dur="1000"/>
                                        <p:tgtEl>
                                          <p:spTgt spid="340">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Empezamos a resolver</a:t>
            </a:r>
            <a:endParaRPr/>
          </a:p>
        </p:txBody>
      </p:sp>
      <p:sp>
        <p:nvSpPr>
          <p:cNvPr id="346" name="Google Shape;346;p53"/>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Tenemos e</a:t>
            </a:r>
            <a:r>
              <a:rPr baseline="-25000" lang="es"/>
              <a:t>i</a:t>
            </a:r>
            <a:r>
              <a:rPr lang="es"/>
              <a:t> al segmento que va de v</a:t>
            </a:r>
            <a:r>
              <a:rPr baseline="-25000" lang="es"/>
              <a:t>i</a:t>
            </a:r>
            <a:r>
              <a:rPr lang="es"/>
              <a:t> a v</a:t>
            </a:r>
            <a:r>
              <a:rPr baseline="-25000" lang="es"/>
              <a:t>i+1</a:t>
            </a:r>
            <a:r>
              <a:rPr lang="es"/>
              <a:t>, y ev</a:t>
            </a:r>
            <a:r>
              <a:rPr baseline="-25000" lang="es"/>
              <a:t>i</a:t>
            </a:r>
            <a:r>
              <a:rPr lang="es"/>
              <a:t> = v</a:t>
            </a:r>
            <a:r>
              <a:rPr baseline="-25000" lang="es"/>
              <a:t>i+1</a:t>
            </a:r>
            <a:r>
              <a:rPr lang="es"/>
              <a:t> - </a:t>
            </a:r>
            <a:r>
              <a:rPr lang="es"/>
              <a:t>v</a:t>
            </a:r>
            <a:r>
              <a:rPr baseline="-25000" lang="es"/>
              <a:t>i</a:t>
            </a:r>
            <a:endParaRPr baseline="-25000"/>
          </a:p>
          <a:p>
            <a:pPr indent="0" lvl="0" marL="0" rtl="0" algn="l">
              <a:spcBef>
                <a:spcPts val="1600"/>
              </a:spcBef>
              <a:spcAft>
                <a:spcPts val="0"/>
              </a:spcAft>
              <a:buNone/>
            </a:pPr>
            <a:r>
              <a:rPr lang="es"/>
              <a:t>Lo más importante es "el sentido respecto a la proyección" que tiene cada vector. </a:t>
            </a:r>
            <a:endParaRPr/>
          </a:p>
          <a:p>
            <a:pPr indent="0" lvl="0" marL="0" rtl="0" algn="l">
              <a:spcBef>
                <a:spcPts val="1600"/>
              </a:spcBef>
              <a:spcAft>
                <a:spcPts val="0"/>
              </a:spcAft>
              <a:buNone/>
            </a:pPr>
            <a:r>
              <a:rPr lang="es"/>
              <a:t>Supongamos que el máximo está entre los vértices A y B, vemos en el dibujo cómo tenemos el segmento [A, B], y obtenemos el vértice C, del medio. </a:t>
            </a:r>
            <a:endParaRPr/>
          </a:p>
          <a:p>
            <a:pPr indent="0" lvl="0" marL="0" rtl="0" algn="l">
              <a:spcBef>
                <a:spcPts val="1600"/>
              </a:spcBef>
              <a:spcAft>
                <a:spcPts val="16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0" st="0"/>
                                            </p:txEl>
                                          </p:spTgt>
                                        </p:tgtEl>
                                        <p:attrNameLst>
                                          <p:attrName>style.visibility</p:attrName>
                                        </p:attrNameLst>
                                      </p:cBhvr>
                                      <p:to>
                                        <p:strVal val="visible"/>
                                      </p:to>
                                    </p:set>
                                    <p:animEffect filter="fade" transition="in">
                                      <p:cBhvr>
                                        <p:cTn dur="1000"/>
                                        <p:tgtEl>
                                          <p:spTgt spid="3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1" st="1"/>
                                            </p:txEl>
                                          </p:spTgt>
                                        </p:tgtEl>
                                        <p:attrNameLst>
                                          <p:attrName>style.visibility</p:attrName>
                                        </p:attrNameLst>
                                      </p:cBhvr>
                                      <p:to>
                                        <p:strVal val="visible"/>
                                      </p:to>
                                    </p:set>
                                    <p:animEffect filter="fade" transition="in">
                                      <p:cBhvr>
                                        <p:cTn dur="1000"/>
                                        <p:tgtEl>
                                          <p:spTgt spid="3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2" st="2"/>
                                            </p:txEl>
                                          </p:spTgt>
                                        </p:tgtEl>
                                        <p:attrNameLst>
                                          <p:attrName>style.visibility</p:attrName>
                                        </p:attrNameLst>
                                      </p:cBhvr>
                                      <p:to>
                                        <p:strVal val="visible"/>
                                      </p:to>
                                    </p:set>
                                    <p:animEffect filter="fade" transition="in">
                                      <p:cBhvr>
                                        <p:cTn dur="1000"/>
                                        <p:tgtEl>
                                          <p:spTgt spid="34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3" st="3"/>
                                            </p:txEl>
                                          </p:spTgt>
                                        </p:tgtEl>
                                        <p:attrNameLst>
                                          <p:attrName>style.visibility</p:attrName>
                                        </p:attrNameLst>
                                      </p:cBhvr>
                                      <p:to>
                                        <p:strVal val="visible"/>
                                      </p:to>
                                    </p:set>
                                    <p:animEffect filter="fade" transition="in">
                                      <p:cBhvr>
                                        <p:cTn dur="1000"/>
                                        <p:tgtEl>
                                          <p:spTgt spid="346">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Ahora tenemos que analizar ev</a:t>
            </a:r>
            <a:r>
              <a:rPr baseline="-25000" lang="es"/>
              <a:t>a</a:t>
            </a:r>
            <a:r>
              <a:rPr lang="es"/>
              <a:t> y ev</a:t>
            </a:r>
            <a:r>
              <a:rPr baseline="-25000" lang="es"/>
              <a:t>c</a:t>
            </a:r>
            <a:endParaRPr baseline="-25000"/>
          </a:p>
        </p:txBody>
      </p:sp>
      <p:sp>
        <p:nvSpPr>
          <p:cNvPr id="352" name="Google Shape;352;p54"/>
          <p:cNvSpPr txBox="1"/>
          <p:nvPr>
            <p:ph idx="1" type="body"/>
          </p:nvPr>
        </p:nvSpPr>
        <p:spPr>
          <a:xfrm>
            <a:off x="311700" y="1171600"/>
            <a:ext cx="8520600" cy="372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Dibujemos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a:t>
            </a:r>
            <a:endParaRPr/>
          </a:p>
        </p:txBody>
      </p:sp>
      <p:sp>
        <p:nvSpPr>
          <p:cNvPr id="358" name="Google Shape;358;p55"/>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Empezamos con A = 0 y B = n-1, C = n/2. </a:t>
            </a:r>
            <a:endParaRPr/>
          </a:p>
          <a:p>
            <a:pPr indent="0" lvl="0" marL="0" rtl="0" algn="l">
              <a:spcBef>
                <a:spcPts val="1600"/>
              </a:spcBef>
              <a:spcAft>
                <a:spcPts val="0"/>
              </a:spcAft>
              <a:buNone/>
            </a:pPr>
            <a:r>
              <a:rPr lang="es"/>
              <a:t>Si tenemos 2 vértices/puntos, comparemos a mano. </a:t>
            </a:r>
            <a:endParaRPr/>
          </a:p>
          <a:p>
            <a:pPr indent="0" lvl="0" marL="0" rtl="0" algn="l">
              <a:spcBef>
                <a:spcPts val="1600"/>
              </a:spcBef>
              <a:spcAft>
                <a:spcPts val="0"/>
              </a:spcAft>
              <a:buNone/>
            </a:pPr>
            <a:r>
              <a:rPr lang="es"/>
              <a:t>Aplicamos la lógica de partir. </a:t>
            </a:r>
            <a:endParaRPr/>
          </a:p>
          <a:p>
            <a:pPr indent="0" lvl="0" marL="0" rtl="0" algn="l">
              <a:spcBef>
                <a:spcPts val="1600"/>
              </a:spcBef>
              <a:spcAft>
                <a:spcPts val="0"/>
              </a:spcAft>
              <a:buNone/>
            </a:pPr>
            <a:r>
              <a:rPr lang="es"/>
              <a:t>Como partimos a la mitad, nos quedamos con una sóla, y luego sólo comparo → símil búsqueda binaria → T(n) = T(n/2) + O(1) → T(n) = O(log n)</a:t>
            </a:r>
            <a:endParaRPr/>
          </a:p>
          <a:p>
            <a:pPr indent="0" lvl="0" marL="0" rtl="0" algn="l">
              <a:spcBef>
                <a:spcPts val="1600"/>
              </a:spcBef>
              <a:spcAft>
                <a:spcPts val="16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xEl>
                                              <p:pRg end="0" st="0"/>
                                            </p:txEl>
                                          </p:spTgt>
                                        </p:tgtEl>
                                        <p:attrNameLst>
                                          <p:attrName>style.visibility</p:attrName>
                                        </p:attrNameLst>
                                      </p:cBhvr>
                                      <p:to>
                                        <p:strVal val="visible"/>
                                      </p:to>
                                    </p:set>
                                    <p:animEffect filter="fade" transition="in">
                                      <p:cBhvr>
                                        <p:cTn dur="1000"/>
                                        <p:tgtEl>
                                          <p:spTgt spid="3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xEl>
                                              <p:pRg end="1" st="1"/>
                                            </p:txEl>
                                          </p:spTgt>
                                        </p:tgtEl>
                                        <p:attrNameLst>
                                          <p:attrName>style.visibility</p:attrName>
                                        </p:attrNameLst>
                                      </p:cBhvr>
                                      <p:to>
                                        <p:strVal val="visible"/>
                                      </p:to>
                                    </p:set>
                                    <p:animEffect filter="fade" transition="in">
                                      <p:cBhvr>
                                        <p:cTn dur="1000"/>
                                        <p:tgtEl>
                                          <p:spTgt spid="3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xEl>
                                              <p:pRg end="2" st="2"/>
                                            </p:txEl>
                                          </p:spTgt>
                                        </p:tgtEl>
                                        <p:attrNameLst>
                                          <p:attrName>style.visibility</p:attrName>
                                        </p:attrNameLst>
                                      </p:cBhvr>
                                      <p:to>
                                        <p:strVal val="visible"/>
                                      </p:to>
                                    </p:set>
                                    <p:animEffect filter="fade" transition="in">
                                      <p:cBhvr>
                                        <p:cTn dur="1000"/>
                                        <p:tgtEl>
                                          <p:spTgt spid="3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xEl>
                                              <p:pRg end="3" st="3"/>
                                            </p:txEl>
                                          </p:spTgt>
                                        </p:tgtEl>
                                        <p:attrNameLst>
                                          <p:attrName>style.visibility</p:attrName>
                                        </p:attrNameLst>
                                      </p:cBhvr>
                                      <p:to>
                                        <p:strVal val="visible"/>
                                      </p:to>
                                    </p:set>
                                    <p:animEffect filter="fade" transition="in">
                                      <p:cBhvr>
                                        <p:cTn dur="1000"/>
                                        <p:tgtEl>
                                          <p:spTgt spid="3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xEl>
                                              <p:pRg end="4" st="4"/>
                                            </p:txEl>
                                          </p:spTgt>
                                        </p:tgtEl>
                                        <p:attrNameLst>
                                          <p:attrName>style.visibility</p:attrName>
                                        </p:attrNameLst>
                                      </p:cBhvr>
                                      <p:to>
                                        <p:strVal val="visible"/>
                                      </p:to>
                                    </p:set>
                                    <p:animEffect filter="fade" transition="in">
                                      <p:cBhvr>
                                        <p:cTn dur="1000"/>
                                        <p:tgtEl>
                                          <p:spTgt spid="35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type="title"/>
          </p:nvPr>
        </p:nvSpPr>
        <p:spPr>
          <a:xfrm>
            <a:off x="311700" y="445025"/>
            <a:ext cx="8683500" cy="83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III: Buscando puntos más cercanos en 2 dimensiones</a:t>
            </a:r>
            <a:endParaRPr/>
          </a:p>
        </p:txBody>
      </p:sp>
      <p:sp>
        <p:nvSpPr>
          <p:cNvPr id="364" name="Google Shape;364;p56"/>
          <p:cNvSpPr txBox="1"/>
          <p:nvPr>
            <p:ph idx="1" type="body"/>
          </p:nvPr>
        </p:nvSpPr>
        <p:spPr>
          <a:xfrm>
            <a:off x="311700" y="14764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Dado n puntos en un plano, buscar la pareja que se encuentre más cercana. </a:t>
            </a:r>
            <a:endParaRPr/>
          </a:p>
          <a:p>
            <a:pPr indent="0" lvl="0" marL="0" rtl="0" algn="l">
              <a:spcBef>
                <a:spcPts val="1600"/>
              </a:spcBef>
              <a:spcAft>
                <a:spcPts val="0"/>
              </a:spcAft>
              <a:buNone/>
            </a:pPr>
            <a:r>
              <a:rPr lang="es"/>
              <a:t>Algoritmo sencillo: ver todas las distancias → O(n</a:t>
            </a:r>
            <a:r>
              <a:rPr baseline="30000" lang="es"/>
              <a:t>2</a:t>
            </a:r>
            <a:r>
              <a:rPr lang="es"/>
              <a:t>)</a:t>
            </a:r>
            <a:endParaRPr/>
          </a:p>
          <a:p>
            <a:pPr indent="0" lvl="0" marL="0" rtl="0" algn="l">
              <a:spcBef>
                <a:spcPts val="1600"/>
              </a:spcBef>
              <a:spcAft>
                <a:spcPts val="0"/>
              </a:spcAft>
              <a:buNone/>
            </a:pPr>
            <a:r>
              <a:rPr lang="es"/>
              <a:t>¿Podemos hacerlo mejor?</a:t>
            </a:r>
            <a:endParaRPr/>
          </a:p>
          <a:p>
            <a:pPr indent="0" lvl="0" marL="0" rtl="0" algn="l">
              <a:spcBef>
                <a:spcPts val="1600"/>
              </a:spcBef>
              <a:spcAft>
                <a:spcPts val="1600"/>
              </a:spcAft>
              <a:buNone/>
            </a:pPr>
            <a:r>
              <a:rPr lang="es"/>
              <a:t>Si no pudiéramos, ¿por qué hablaríamos de eso acá?</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0" st="0"/>
                                            </p:txEl>
                                          </p:spTgt>
                                        </p:tgtEl>
                                        <p:attrNameLst>
                                          <p:attrName>style.visibility</p:attrName>
                                        </p:attrNameLst>
                                      </p:cBhvr>
                                      <p:to>
                                        <p:strVal val="visible"/>
                                      </p:to>
                                    </p:set>
                                    <p:animEffect filter="fade" transition="in">
                                      <p:cBhvr>
                                        <p:cTn dur="1000"/>
                                        <p:tgtEl>
                                          <p:spTgt spid="3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1" st="1"/>
                                            </p:txEl>
                                          </p:spTgt>
                                        </p:tgtEl>
                                        <p:attrNameLst>
                                          <p:attrName>style.visibility</p:attrName>
                                        </p:attrNameLst>
                                      </p:cBhvr>
                                      <p:to>
                                        <p:strVal val="visible"/>
                                      </p:to>
                                    </p:set>
                                    <p:animEffect filter="fade" transition="in">
                                      <p:cBhvr>
                                        <p:cTn dur="1000"/>
                                        <p:tgtEl>
                                          <p:spTgt spid="3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2" st="2"/>
                                            </p:txEl>
                                          </p:spTgt>
                                        </p:tgtEl>
                                        <p:attrNameLst>
                                          <p:attrName>style.visibility</p:attrName>
                                        </p:attrNameLst>
                                      </p:cBhvr>
                                      <p:to>
                                        <p:strVal val="visible"/>
                                      </p:to>
                                    </p:set>
                                    <p:animEffect filter="fade" transition="in">
                                      <p:cBhvr>
                                        <p:cTn dur="1000"/>
                                        <p:tgtEl>
                                          <p:spTgt spid="3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3" st="3"/>
                                            </p:txEl>
                                          </p:spTgt>
                                        </p:tgtEl>
                                        <p:attrNameLst>
                                          <p:attrName>style.visibility</p:attrName>
                                        </p:attrNameLst>
                                      </p:cBhvr>
                                      <p:to>
                                        <p:strVal val="visible"/>
                                      </p:to>
                                    </p:set>
                                    <p:animEffect filter="fade" transition="in">
                                      <p:cBhvr>
                                        <p:cTn dur="1000"/>
                                        <p:tgtEl>
                                          <p:spTgt spid="364">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5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Resolviendo el problema con D&amp;C</a:t>
            </a:r>
            <a:endParaRPr/>
          </a:p>
        </p:txBody>
      </p:sp>
      <p:sp>
        <p:nvSpPr>
          <p:cNvPr id="370" name="Google Shape;370;p57"/>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Asumimos que ningún par de puntos tienen misma coordenada x o y. </a:t>
            </a:r>
            <a:endParaRPr/>
          </a:p>
          <a:p>
            <a:pPr indent="0" lvl="0" marL="0" rtl="0" algn="l">
              <a:spcBef>
                <a:spcPts val="1600"/>
              </a:spcBef>
              <a:spcAft>
                <a:spcPts val="0"/>
              </a:spcAft>
              <a:buNone/>
            </a:pPr>
            <a:r>
              <a:rPr lang="es"/>
              <a:t>¿Cómo resolveríamos el problema si fuera de una sóla dimensión?</a:t>
            </a:r>
            <a:endParaRPr/>
          </a:p>
          <a:p>
            <a:pPr indent="0" lvl="0" marL="0" rtl="0" algn="l">
              <a:spcBef>
                <a:spcPts val="1600"/>
              </a:spcBef>
              <a:spcAft>
                <a:spcPts val="0"/>
              </a:spcAft>
              <a:buNone/>
            </a:pPr>
            <a:r>
              <a:rPr lang="es"/>
              <a:t>Esto, por mala suerte, no resuelve el problema en 2 dimensiones… pero podemos usar nociones de Mergesort para resolverlo!</a:t>
            </a:r>
            <a:endParaRPr/>
          </a:p>
          <a:p>
            <a:pPr indent="0" lvl="0" marL="0" rtl="0" algn="l">
              <a:spcBef>
                <a:spcPts val="1600"/>
              </a:spcBef>
              <a:spcAft>
                <a:spcPts val="0"/>
              </a:spcAft>
              <a:buNone/>
            </a:pPr>
            <a:r>
              <a:rPr lang="es"/>
              <a:t>Vamos a buscar la pareja más cercana del lado izquierdo, luego otra del lado derecho, y luego en tiempo lineal buscar los más cercanos → O(n log n). </a:t>
            </a:r>
            <a:endParaRPr/>
          </a:p>
          <a:p>
            <a:pPr indent="0" lvl="0" marL="0" rtl="0" algn="l">
              <a:spcBef>
                <a:spcPts val="1600"/>
              </a:spcBef>
              <a:spcAft>
                <a:spcPts val="1600"/>
              </a:spcAft>
              <a:buNone/>
            </a:pPr>
            <a:r>
              <a:rPr lang="es"/>
              <a:t>(Ese último paso lineal no es sencillo de definir)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xEl>
                                              <p:pRg end="0" st="0"/>
                                            </p:txEl>
                                          </p:spTgt>
                                        </p:tgtEl>
                                        <p:attrNameLst>
                                          <p:attrName>style.visibility</p:attrName>
                                        </p:attrNameLst>
                                      </p:cBhvr>
                                      <p:to>
                                        <p:strVal val="visible"/>
                                      </p:to>
                                    </p:set>
                                    <p:animEffect filter="fade" transition="in">
                                      <p:cBhvr>
                                        <p:cTn dur="1000"/>
                                        <p:tgtEl>
                                          <p:spTgt spid="3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xEl>
                                              <p:pRg end="1" st="1"/>
                                            </p:txEl>
                                          </p:spTgt>
                                        </p:tgtEl>
                                        <p:attrNameLst>
                                          <p:attrName>style.visibility</p:attrName>
                                        </p:attrNameLst>
                                      </p:cBhvr>
                                      <p:to>
                                        <p:strVal val="visible"/>
                                      </p:to>
                                    </p:set>
                                    <p:animEffect filter="fade" transition="in">
                                      <p:cBhvr>
                                        <p:cTn dur="1000"/>
                                        <p:tgtEl>
                                          <p:spTgt spid="37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xEl>
                                              <p:pRg end="2" st="2"/>
                                            </p:txEl>
                                          </p:spTgt>
                                        </p:tgtEl>
                                        <p:attrNameLst>
                                          <p:attrName>style.visibility</p:attrName>
                                        </p:attrNameLst>
                                      </p:cBhvr>
                                      <p:to>
                                        <p:strVal val="visible"/>
                                      </p:to>
                                    </p:set>
                                    <p:animEffect filter="fade" transition="in">
                                      <p:cBhvr>
                                        <p:cTn dur="1000"/>
                                        <p:tgtEl>
                                          <p:spTgt spid="37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xEl>
                                              <p:pRg end="3" st="3"/>
                                            </p:txEl>
                                          </p:spTgt>
                                        </p:tgtEl>
                                        <p:attrNameLst>
                                          <p:attrName>style.visibility</p:attrName>
                                        </p:attrNameLst>
                                      </p:cBhvr>
                                      <p:to>
                                        <p:strVal val="visible"/>
                                      </p:to>
                                    </p:set>
                                    <p:animEffect filter="fade" transition="in">
                                      <p:cBhvr>
                                        <p:cTn dur="1000"/>
                                        <p:tgtEl>
                                          <p:spTgt spid="37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xEl>
                                              <p:pRg end="4" st="4"/>
                                            </p:txEl>
                                          </p:spTgt>
                                        </p:tgtEl>
                                        <p:attrNameLst>
                                          <p:attrName>style.visibility</p:attrName>
                                        </p:attrNameLst>
                                      </p:cBhvr>
                                      <p:to>
                                        <p:strVal val="visible"/>
                                      </p:to>
                                    </p:set>
                                    <p:animEffect filter="fade" transition="in">
                                      <p:cBhvr>
                                        <p:cTn dur="1000"/>
                                        <p:tgtEl>
                                          <p:spTgt spid="37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Dibujemos un poco</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 </a:t>
            </a:r>
            <a:endParaRPr/>
          </a:p>
        </p:txBody>
      </p:sp>
      <p:sp>
        <p:nvSpPr>
          <p:cNvPr id="381" name="Google Shape;381;p59"/>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latin typeface="Courier New"/>
                <a:ea typeface="Courier New"/>
                <a:cs typeface="Courier New"/>
                <a:sym typeface="Courier New"/>
              </a:rPr>
              <a:t>def closest_pairs(P):</a:t>
            </a:r>
            <a:endParaRPr>
              <a:latin typeface="Courier New"/>
              <a:ea typeface="Courier New"/>
              <a:cs typeface="Courier New"/>
              <a:sym typeface="Courier New"/>
            </a:endParaRPr>
          </a:p>
          <a:p>
            <a:pPr indent="0" lvl="0" marL="0" rtl="0" algn="l">
              <a:spcBef>
                <a:spcPts val="0"/>
              </a:spcBef>
              <a:spcAft>
                <a:spcPts val="0"/>
              </a:spcAft>
              <a:buNone/>
            </a:pPr>
            <a:r>
              <a:rPr lang="es">
                <a:latin typeface="Courier New"/>
                <a:ea typeface="Courier New"/>
                <a:cs typeface="Courier New"/>
                <a:sym typeface="Courier New"/>
              </a:rPr>
              <a:t>	Construimos px y py (O(n log n))</a:t>
            </a:r>
            <a:endParaRPr>
              <a:latin typeface="Courier New"/>
              <a:ea typeface="Courier New"/>
              <a:cs typeface="Courier New"/>
              <a:sym typeface="Courier New"/>
            </a:endParaRPr>
          </a:p>
          <a:p>
            <a:pPr indent="0" lvl="0" marL="0" rtl="0" algn="l">
              <a:spcBef>
                <a:spcPts val="0"/>
              </a:spcBef>
              <a:spcAft>
                <a:spcPts val="0"/>
              </a:spcAft>
              <a:buNone/>
            </a:pPr>
            <a:r>
              <a:rPr lang="es">
                <a:latin typeface="Courier New"/>
                <a:ea typeface="Courier New"/>
                <a:cs typeface="Courier New"/>
                <a:sym typeface="Courier New"/>
              </a:rPr>
              <a:t>	p0, p1 = closest_pairs_rec(px, py)</a:t>
            </a:r>
            <a:endParaRPr>
              <a:latin typeface="Courier New"/>
              <a:ea typeface="Courier New"/>
              <a:cs typeface="Courier New"/>
              <a:sym typeface="Courier New"/>
            </a:endParaRPr>
          </a:p>
          <a:p>
            <a:pPr indent="0" lvl="0" marL="0" rtl="0" algn="l">
              <a:spcBef>
                <a:spcPts val="0"/>
              </a:spcBef>
              <a:spcAft>
                <a:spcPts val="0"/>
              </a:spcAft>
              <a:buNone/>
            </a:pPr>
            <a:r>
              <a:rPr lang="es">
                <a:latin typeface="Courier New"/>
                <a:ea typeface="Courier New"/>
                <a:cs typeface="Courier New"/>
                <a:sym typeface="Courier New"/>
              </a:rPr>
              <a:t>	return p0, p1</a:t>
            </a:r>
            <a:endParaRPr>
              <a:latin typeface="Courier New"/>
              <a:ea typeface="Courier New"/>
              <a:cs typeface="Courier New"/>
              <a:sym typeface="Courier New"/>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0"/>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latin typeface="Courier New"/>
                <a:ea typeface="Courier New"/>
                <a:cs typeface="Courier New"/>
                <a:sym typeface="Courier New"/>
              </a:rPr>
              <a:t>def closest_pairs_rec(px, py):</a:t>
            </a:r>
            <a:endParaRPr sz="14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s" sz="1400">
                <a:latin typeface="Courier New"/>
                <a:ea typeface="Courier New"/>
                <a:cs typeface="Courier New"/>
                <a:sym typeface="Courier New"/>
              </a:rPr>
              <a:t>	if len(px) &lt;= 3: return el mínimo de comparar cada punto</a:t>
            </a:r>
            <a:endParaRPr sz="14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s" sz="1400">
                <a:latin typeface="Courier New"/>
                <a:ea typeface="Courier New"/>
                <a:cs typeface="Courier New"/>
                <a:sym typeface="Courier New"/>
              </a:rPr>
              <a:t>	Construir Qx, Qy, Rx, Ry (O(n))</a:t>
            </a:r>
            <a:endParaRPr sz="14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s" sz="1400">
                <a:latin typeface="Courier New"/>
                <a:ea typeface="Courier New"/>
                <a:cs typeface="Courier New"/>
                <a:sym typeface="Courier New"/>
              </a:rPr>
              <a:t>	q0, q1 = closest_pairs_rec(Qx, Qy)</a:t>
            </a:r>
            <a:endParaRPr sz="1400">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s" sz="1400">
                <a:latin typeface="Courier New"/>
                <a:ea typeface="Courier New"/>
                <a:cs typeface="Courier New"/>
                <a:sym typeface="Courier New"/>
              </a:rPr>
              <a:t>r0, r1 = closest_pairs_rec(Rx, Ry)</a:t>
            </a:r>
            <a:endParaRPr sz="1400">
              <a:latin typeface="Courier New"/>
              <a:ea typeface="Courier New"/>
              <a:cs typeface="Courier New"/>
              <a:sym typeface="Courier New"/>
            </a:endParaRPr>
          </a:p>
          <a:p>
            <a:pPr indent="457200" lvl="0" marL="0" rtl="0" algn="l">
              <a:spcBef>
                <a:spcPts val="0"/>
              </a:spcBef>
              <a:spcAft>
                <a:spcPts val="0"/>
              </a:spcAft>
              <a:buNone/>
            </a:pPr>
            <a:r>
              <a:rPr lang="es" sz="1400">
                <a:latin typeface="Courier New"/>
                <a:ea typeface="Courier New"/>
                <a:cs typeface="Courier New"/>
                <a:sym typeface="Courier New"/>
              </a:rPr>
              <a:t>d = min(dist(q0, q1), dist(r0, r1))</a:t>
            </a:r>
            <a:endParaRPr sz="1400">
              <a:latin typeface="Courier New"/>
              <a:ea typeface="Courier New"/>
              <a:cs typeface="Courier New"/>
              <a:sym typeface="Courier New"/>
            </a:endParaRPr>
          </a:p>
          <a:p>
            <a:pPr indent="457200" lvl="0" marL="0" rtl="0" algn="l">
              <a:spcBef>
                <a:spcPts val="0"/>
              </a:spcBef>
              <a:spcAft>
                <a:spcPts val="0"/>
              </a:spcAft>
              <a:buNone/>
            </a:pPr>
            <a:r>
              <a:rPr lang="es" sz="1400">
                <a:latin typeface="Courier New"/>
                <a:ea typeface="Courier New"/>
                <a:cs typeface="Courier New"/>
                <a:sym typeface="Courier New"/>
              </a:rPr>
              <a:t>x* = máxima coordenada x de Qx</a:t>
            </a:r>
            <a:endParaRPr sz="1400">
              <a:latin typeface="Courier New"/>
              <a:ea typeface="Courier New"/>
              <a:cs typeface="Courier New"/>
              <a:sym typeface="Courier New"/>
            </a:endParaRPr>
          </a:p>
          <a:p>
            <a:pPr indent="457200" lvl="0" marL="0" rtl="0" algn="l">
              <a:spcBef>
                <a:spcPts val="0"/>
              </a:spcBef>
              <a:spcAft>
                <a:spcPts val="0"/>
              </a:spcAft>
              <a:buNone/>
            </a:pPr>
            <a:r>
              <a:rPr lang="es" sz="1400">
                <a:latin typeface="Courier New"/>
                <a:ea typeface="Courier New"/>
                <a:cs typeface="Courier New"/>
                <a:sym typeface="Courier New"/>
              </a:rPr>
              <a:t>S = puntos de P que están a distancia &lt;= d de la recta x = x*</a:t>
            </a:r>
            <a:endParaRPr sz="1400">
              <a:latin typeface="Courier New"/>
              <a:ea typeface="Courier New"/>
              <a:cs typeface="Courier New"/>
              <a:sym typeface="Courier New"/>
            </a:endParaRPr>
          </a:p>
          <a:p>
            <a:pPr indent="457200" lvl="0" marL="0" rtl="0" algn="l">
              <a:spcBef>
                <a:spcPts val="0"/>
              </a:spcBef>
              <a:spcAft>
                <a:spcPts val="0"/>
              </a:spcAft>
              <a:buNone/>
            </a:pPr>
            <a:r>
              <a:rPr lang="es" sz="1400">
                <a:latin typeface="Courier New"/>
                <a:ea typeface="Courier New"/>
                <a:cs typeface="Courier New"/>
                <a:sym typeface="Courier New"/>
              </a:rPr>
              <a:t>Construir Sy (O(n))</a:t>
            </a:r>
            <a:endParaRPr sz="1400">
              <a:latin typeface="Courier New"/>
              <a:ea typeface="Courier New"/>
              <a:cs typeface="Courier New"/>
              <a:sym typeface="Courier New"/>
            </a:endParaRPr>
          </a:p>
          <a:p>
            <a:pPr indent="457200" lvl="0" marL="0" rtl="0" algn="l">
              <a:spcBef>
                <a:spcPts val="0"/>
              </a:spcBef>
              <a:spcAft>
                <a:spcPts val="0"/>
              </a:spcAft>
              <a:buNone/>
            </a:pPr>
            <a:r>
              <a:rPr lang="es" sz="1400">
                <a:latin typeface="Courier New"/>
                <a:ea typeface="Courier New"/>
                <a:cs typeface="Courier New"/>
                <a:sym typeface="Courier New"/>
              </a:rPr>
              <a:t>por cada punto s de Sy computar distancia contra los siguientes 15 puntos</a:t>
            </a:r>
            <a:endParaRPr sz="1400">
              <a:latin typeface="Courier New"/>
              <a:ea typeface="Courier New"/>
              <a:cs typeface="Courier New"/>
              <a:sym typeface="Courier New"/>
            </a:endParaRPr>
          </a:p>
          <a:p>
            <a:pPr indent="457200" lvl="0" marL="0" rtl="0" algn="l">
              <a:spcBef>
                <a:spcPts val="0"/>
              </a:spcBef>
              <a:spcAft>
                <a:spcPts val="0"/>
              </a:spcAft>
              <a:buNone/>
            </a:pPr>
            <a:r>
              <a:rPr lang="es" sz="1400">
                <a:latin typeface="Courier New"/>
                <a:ea typeface="Courier New"/>
                <a:cs typeface="Courier New"/>
                <a:sym typeface="Courier New"/>
              </a:rPr>
              <a:t>	quedarse con s y s' que minimizan esa distancia</a:t>
            </a:r>
            <a:endParaRPr sz="1400">
              <a:latin typeface="Courier New"/>
              <a:ea typeface="Courier New"/>
              <a:cs typeface="Courier New"/>
              <a:sym typeface="Courier New"/>
            </a:endParaRPr>
          </a:p>
          <a:p>
            <a:pPr indent="0" lvl="0" marL="0" rtl="0" algn="l">
              <a:spcBef>
                <a:spcPts val="0"/>
              </a:spcBef>
              <a:spcAft>
                <a:spcPts val="0"/>
              </a:spcAft>
              <a:buNone/>
            </a:pPr>
            <a:r>
              <a:rPr lang="es" sz="1400">
                <a:latin typeface="Courier New"/>
                <a:ea typeface="Courier New"/>
                <a:cs typeface="Courier New"/>
                <a:sym typeface="Courier New"/>
              </a:rPr>
              <a:t>	if dist(s, s') &lt; d: return s, s'</a:t>
            </a:r>
            <a:endParaRPr sz="1400">
              <a:latin typeface="Courier New"/>
              <a:ea typeface="Courier New"/>
              <a:cs typeface="Courier New"/>
              <a:sym typeface="Courier New"/>
            </a:endParaRPr>
          </a:p>
          <a:p>
            <a:pPr indent="0" lvl="0" marL="0" rtl="0" algn="l">
              <a:spcBef>
                <a:spcPts val="0"/>
              </a:spcBef>
              <a:spcAft>
                <a:spcPts val="0"/>
              </a:spcAft>
              <a:buNone/>
            </a:pPr>
            <a:r>
              <a:rPr lang="es" sz="1400">
                <a:latin typeface="Courier New"/>
                <a:ea typeface="Courier New"/>
                <a:cs typeface="Courier New"/>
                <a:sym typeface="Courier New"/>
              </a:rPr>
              <a:t>	elif dist(q0, q1) &lt; dist(r0, r1): return q0, q1</a:t>
            </a:r>
            <a:endParaRPr sz="1400">
              <a:latin typeface="Courier New"/>
              <a:ea typeface="Courier New"/>
              <a:cs typeface="Courier New"/>
              <a:sym typeface="Courier New"/>
            </a:endParaRPr>
          </a:p>
          <a:p>
            <a:pPr indent="0" lvl="0" marL="0" rtl="0" algn="l">
              <a:spcBef>
                <a:spcPts val="0"/>
              </a:spcBef>
              <a:spcAft>
                <a:spcPts val="0"/>
              </a:spcAft>
              <a:buNone/>
            </a:pPr>
            <a:r>
              <a:rPr lang="es" sz="1400">
                <a:latin typeface="Courier New"/>
                <a:ea typeface="Courier New"/>
                <a:cs typeface="Courier New"/>
                <a:sym typeface="Courier New"/>
              </a:rPr>
              <a:t>	else: return r0, r1</a:t>
            </a:r>
            <a:endParaRPr sz="1400">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t/>
            </a:r>
            <a:endParaRPr sz="1400">
              <a:latin typeface="Courier New"/>
              <a:ea typeface="Courier New"/>
              <a:cs typeface="Courier New"/>
              <a:sym typeface="Courier New"/>
            </a:endParaRPr>
          </a:p>
        </p:txBody>
      </p:sp>
      <p:sp>
        <p:nvSpPr>
          <p:cNvPr id="387" name="Google Shape;387;p6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Complejidad</a:t>
            </a:r>
            <a:endParaRPr/>
          </a:p>
        </p:txBody>
      </p:sp>
      <p:sp>
        <p:nvSpPr>
          <p:cNvPr id="393" name="Google Shape;393;p61"/>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s"/>
              <a:t>O(n log n)</a:t>
            </a:r>
            <a:endParaRPr/>
          </a:p>
        </p:txBody>
      </p:sp>
      <p:pic>
        <p:nvPicPr>
          <p:cNvPr id="394" name="Google Shape;394;p61"/>
          <p:cNvPicPr preferRelativeResize="0"/>
          <p:nvPr/>
        </p:nvPicPr>
        <p:blipFill>
          <a:blip r:embed="rId3">
            <a:alphaModFix/>
          </a:blip>
          <a:stretch>
            <a:fillRect/>
          </a:stretch>
        </p:blipFill>
        <p:spPr>
          <a:xfrm>
            <a:off x="411896" y="1351350"/>
            <a:ext cx="3207257" cy="6132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6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IV: Multiplicación de matrices</a:t>
            </a:r>
            <a:endParaRPr/>
          </a:p>
        </p:txBody>
      </p:sp>
      <p:sp>
        <p:nvSpPr>
          <p:cNvPr id="400" name="Google Shape;400;p62"/>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Un algoritmo sencillo para multiplicar matrices consume O(n</a:t>
            </a:r>
            <a:r>
              <a:rPr baseline="30000" lang="es"/>
              <a:t>3</a:t>
            </a:r>
            <a:r>
              <a:rPr lang="es"/>
              <a:t>)</a:t>
            </a:r>
            <a:endParaRPr/>
          </a:p>
          <a:p>
            <a:pPr indent="0" lvl="0" marL="0" rtl="0" algn="l">
              <a:spcBef>
                <a:spcPts val="1600"/>
              </a:spcBef>
              <a:spcAft>
                <a:spcPts val="1600"/>
              </a:spcAft>
              <a:buNone/>
            </a:pPr>
            <a:r>
              <a:rPr lang="es"/>
              <a:t>Vamos a mejorar esto usando D&amp;C.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xEl>
                                              <p:pRg end="0" st="0"/>
                                            </p:txEl>
                                          </p:spTgt>
                                        </p:tgtEl>
                                        <p:attrNameLst>
                                          <p:attrName>style.visibility</p:attrName>
                                        </p:attrNameLst>
                                      </p:cBhvr>
                                      <p:to>
                                        <p:strVal val="visible"/>
                                      </p:to>
                                    </p:set>
                                    <p:animEffect filter="fade" transition="in">
                                      <p:cBhvr>
                                        <p:cTn dur="1000"/>
                                        <p:tgtEl>
                                          <p:spTgt spid="4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xEl>
                                              <p:pRg end="1" st="1"/>
                                            </p:txEl>
                                          </p:spTgt>
                                        </p:tgtEl>
                                        <p:attrNameLst>
                                          <p:attrName>style.visibility</p:attrName>
                                        </p:attrNameLst>
                                      </p:cBhvr>
                                      <p:to>
                                        <p:strVal val="visible"/>
                                      </p:to>
                                    </p:set>
                                    <p:animEffect filter="fade" transition="in">
                                      <p:cBhvr>
                                        <p:cTn dur="1000"/>
                                        <p:tgtEl>
                                          <p:spTgt spid="400">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Primera idea</a:t>
            </a:r>
            <a:endParaRPr/>
          </a:p>
        </p:txBody>
      </p:sp>
      <p:sp>
        <p:nvSpPr>
          <p:cNvPr id="406" name="Google Shape;406;p63"/>
          <p:cNvSpPr txBox="1"/>
          <p:nvPr>
            <p:ph idx="1" type="body"/>
          </p:nvPr>
        </p:nvSpPr>
        <p:spPr>
          <a:xfrm>
            <a:off x="311700" y="1171600"/>
            <a:ext cx="8520600" cy="88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Podemos dividir a cada matriz de n x n en 4 submatrices de n/2 x n/2 (por simplicidad asumimos n potencia de 2). </a:t>
            </a:r>
            <a:endParaRPr/>
          </a:p>
          <a:p>
            <a:pPr indent="0" lvl="0" marL="0" rtl="0" algn="l">
              <a:spcBef>
                <a:spcPts val="1600"/>
              </a:spcBef>
              <a:spcAft>
                <a:spcPts val="1600"/>
              </a:spcAft>
              <a:buNone/>
            </a:pPr>
            <a:r>
              <a:t/>
            </a:r>
            <a:endParaRPr/>
          </a:p>
        </p:txBody>
      </p:sp>
      <p:pic>
        <p:nvPicPr>
          <p:cNvPr id="407" name="Google Shape;407;p63"/>
          <p:cNvPicPr preferRelativeResize="0"/>
          <p:nvPr/>
        </p:nvPicPr>
        <p:blipFill>
          <a:blip r:embed="rId3">
            <a:alphaModFix/>
          </a:blip>
          <a:stretch>
            <a:fillRect/>
          </a:stretch>
        </p:blipFill>
        <p:spPr>
          <a:xfrm>
            <a:off x="379200" y="1972347"/>
            <a:ext cx="5687461" cy="652975"/>
          </a:xfrm>
          <a:prstGeom prst="rect">
            <a:avLst/>
          </a:prstGeom>
          <a:noFill/>
          <a:ln>
            <a:noFill/>
          </a:ln>
        </p:spPr>
      </p:pic>
      <p:pic>
        <p:nvPicPr>
          <p:cNvPr id="408" name="Google Shape;408;p63"/>
          <p:cNvPicPr preferRelativeResize="0"/>
          <p:nvPr/>
        </p:nvPicPr>
        <p:blipFill>
          <a:blip r:embed="rId4">
            <a:alphaModFix/>
          </a:blip>
          <a:stretch>
            <a:fillRect/>
          </a:stretch>
        </p:blipFill>
        <p:spPr>
          <a:xfrm>
            <a:off x="311700" y="2736300"/>
            <a:ext cx="4800926" cy="949200"/>
          </a:xfrm>
          <a:prstGeom prst="rect">
            <a:avLst/>
          </a:prstGeom>
          <a:noFill/>
          <a:ln>
            <a:noFill/>
          </a:ln>
        </p:spPr>
      </p:pic>
      <p:pic>
        <p:nvPicPr>
          <p:cNvPr id="409" name="Google Shape;409;p63"/>
          <p:cNvPicPr preferRelativeResize="0"/>
          <p:nvPr/>
        </p:nvPicPr>
        <p:blipFill>
          <a:blip r:embed="rId5">
            <a:alphaModFix/>
          </a:blip>
          <a:stretch>
            <a:fillRect/>
          </a:stretch>
        </p:blipFill>
        <p:spPr>
          <a:xfrm>
            <a:off x="5544000" y="2736300"/>
            <a:ext cx="3058200" cy="1495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1000"/>
                                        <p:tgtEl>
                                          <p:spTgt spid="4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1000"/>
                                        <p:tgtEl>
                                          <p:spTgt spid="4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1000"/>
                                        <p:tgtEl>
                                          <p:spTgt spid="4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1000"/>
                                        <p:tgtEl>
                                          <p:spTgt spid="4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Aplicando D&amp;C</a:t>
            </a:r>
            <a:endParaRPr/>
          </a:p>
        </p:txBody>
      </p:sp>
      <p:sp>
        <p:nvSpPr>
          <p:cNvPr id="415" name="Google Shape;415;p6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00">
                <a:latin typeface="Courier New"/>
                <a:ea typeface="Courier New"/>
                <a:cs typeface="Courier New"/>
                <a:sym typeface="Courier New"/>
              </a:rPr>
              <a:t>def multiplicacion_matrices(A, B, C, n):</a:t>
            </a:r>
            <a:endParaRPr sz="1600">
              <a:latin typeface="Courier New"/>
              <a:ea typeface="Courier New"/>
              <a:cs typeface="Courier New"/>
              <a:sym typeface="Courier New"/>
            </a:endParaRPr>
          </a:p>
          <a:p>
            <a:pPr indent="0" lvl="0" marL="0" rtl="0" algn="l">
              <a:spcBef>
                <a:spcPts val="0"/>
              </a:spcBef>
              <a:spcAft>
                <a:spcPts val="0"/>
              </a:spcAft>
              <a:buNone/>
            </a:pPr>
            <a:r>
              <a:rPr lang="es" sz="1600">
                <a:latin typeface="Courier New"/>
                <a:ea typeface="Courier New"/>
                <a:cs typeface="Courier New"/>
                <a:sym typeface="Courier New"/>
              </a:rPr>
              <a:t>	if n == 1:</a:t>
            </a:r>
            <a:endParaRPr sz="1600">
              <a:latin typeface="Courier New"/>
              <a:ea typeface="Courier New"/>
              <a:cs typeface="Courier New"/>
              <a:sym typeface="Courier New"/>
            </a:endParaRPr>
          </a:p>
          <a:p>
            <a:pPr indent="0" lvl="0" marL="0" rtl="0" algn="l">
              <a:spcBef>
                <a:spcPts val="0"/>
              </a:spcBef>
              <a:spcAft>
                <a:spcPts val="0"/>
              </a:spcAft>
              <a:buNone/>
            </a:pPr>
            <a:r>
              <a:rPr lang="es" sz="1600">
                <a:latin typeface="Courier New"/>
                <a:ea typeface="Courier New"/>
                <a:cs typeface="Courier New"/>
                <a:sym typeface="Courier New"/>
              </a:rPr>
              <a:t>		c</a:t>
            </a:r>
            <a:r>
              <a:rPr baseline="-25000" lang="es" sz="1600">
                <a:latin typeface="Courier New"/>
                <a:ea typeface="Courier New"/>
                <a:cs typeface="Courier New"/>
                <a:sym typeface="Courier New"/>
              </a:rPr>
              <a:t>11</a:t>
            </a:r>
            <a:r>
              <a:rPr lang="es" sz="1600">
                <a:latin typeface="Courier New"/>
                <a:ea typeface="Courier New"/>
                <a:cs typeface="Courier New"/>
                <a:sym typeface="Courier New"/>
              </a:rPr>
              <a:t> += a</a:t>
            </a:r>
            <a:r>
              <a:rPr baseline="-25000" lang="es" sz="1600">
                <a:latin typeface="Courier New"/>
                <a:ea typeface="Courier New"/>
                <a:cs typeface="Courier New"/>
                <a:sym typeface="Courier New"/>
              </a:rPr>
              <a:t>11</a:t>
            </a:r>
            <a:r>
              <a:rPr lang="es" sz="1600">
                <a:latin typeface="Courier New"/>
                <a:ea typeface="Courier New"/>
                <a:cs typeface="Courier New"/>
                <a:sym typeface="Courier New"/>
              </a:rPr>
              <a:t> + b</a:t>
            </a:r>
            <a:r>
              <a:rPr baseline="-25000" lang="es" sz="1600">
                <a:latin typeface="Courier New"/>
                <a:ea typeface="Courier New"/>
                <a:cs typeface="Courier New"/>
                <a:sym typeface="Courier New"/>
              </a:rPr>
              <a:t>11</a:t>
            </a:r>
            <a:endParaRPr sz="1600">
              <a:latin typeface="Courier New"/>
              <a:ea typeface="Courier New"/>
              <a:cs typeface="Courier New"/>
              <a:sym typeface="Courier New"/>
            </a:endParaRPr>
          </a:p>
          <a:p>
            <a:pPr indent="0" lvl="0" marL="0" rtl="0" algn="l">
              <a:spcBef>
                <a:spcPts val="0"/>
              </a:spcBef>
              <a:spcAft>
                <a:spcPts val="0"/>
              </a:spcAft>
              <a:buNone/>
            </a:pPr>
            <a:r>
              <a:rPr lang="es" sz="1600">
                <a:latin typeface="Courier New"/>
                <a:ea typeface="Courier New"/>
                <a:cs typeface="Courier New"/>
                <a:sym typeface="Courier New"/>
              </a:rPr>
              <a:t>		return</a:t>
            </a:r>
            <a:endParaRPr sz="1600">
              <a:latin typeface="Courier New"/>
              <a:ea typeface="Courier New"/>
              <a:cs typeface="Courier New"/>
              <a:sym typeface="Courier New"/>
            </a:endParaRPr>
          </a:p>
          <a:p>
            <a:pPr indent="0" lvl="0" marL="0" rtl="0" algn="l">
              <a:spcBef>
                <a:spcPts val="0"/>
              </a:spcBef>
              <a:spcAft>
                <a:spcPts val="0"/>
              </a:spcAft>
              <a:buNone/>
            </a:pPr>
            <a:r>
              <a:rPr lang="es" sz="1600">
                <a:latin typeface="Courier New"/>
                <a:ea typeface="Courier New"/>
                <a:cs typeface="Courier New"/>
                <a:sym typeface="Courier New"/>
              </a:rPr>
              <a:t>	particionamos A, B y C en matrices de n/2 x n/2</a:t>
            </a:r>
            <a:endParaRPr sz="1600">
              <a:latin typeface="Courier New"/>
              <a:ea typeface="Courier New"/>
              <a:cs typeface="Courier New"/>
              <a:sym typeface="Courier New"/>
            </a:endParaRPr>
          </a:p>
          <a:p>
            <a:pPr indent="0" lvl="0" marL="0" rtl="0" algn="l">
              <a:spcBef>
                <a:spcPts val="0"/>
              </a:spcBef>
              <a:spcAft>
                <a:spcPts val="0"/>
              </a:spcAft>
              <a:buNone/>
            </a:pPr>
            <a:r>
              <a:rPr lang="es" sz="1600">
                <a:latin typeface="Courier New"/>
                <a:ea typeface="Courier New"/>
                <a:cs typeface="Courier New"/>
                <a:sym typeface="Courier New"/>
              </a:rPr>
              <a:t>	</a:t>
            </a:r>
            <a:r>
              <a:rPr lang="es" sz="1600">
                <a:latin typeface="Courier New"/>
                <a:ea typeface="Courier New"/>
                <a:cs typeface="Courier New"/>
                <a:sym typeface="Courier New"/>
              </a:rPr>
              <a:t>multiplicacion_matrices(A</a:t>
            </a:r>
            <a:r>
              <a:rPr baseline="-25000" lang="es" sz="1600">
                <a:latin typeface="Courier New"/>
                <a:ea typeface="Courier New"/>
                <a:cs typeface="Courier New"/>
                <a:sym typeface="Courier New"/>
              </a:rPr>
              <a:t>11</a:t>
            </a:r>
            <a:r>
              <a:rPr lang="es" sz="1600">
                <a:latin typeface="Courier New"/>
                <a:ea typeface="Courier New"/>
                <a:cs typeface="Courier New"/>
                <a:sym typeface="Courier New"/>
              </a:rPr>
              <a:t>, B</a:t>
            </a:r>
            <a:r>
              <a:rPr baseline="-25000" lang="es" sz="1600">
                <a:latin typeface="Courier New"/>
                <a:ea typeface="Courier New"/>
                <a:cs typeface="Courier New"/>
                <a:sym typeface="Courier New"/>
              </a:rPr>
              <a:t>11</a:t>
            </a:r>
            <a:r>
              <a:rPr lang="es" sz="1600">
                <a:latin typeface="Courier New"/>
                <a:ea typeface="Courier New"/>
                <a:cs typeface="Courier New"/>
                <a:sym typeface="Courier New"/>
              </a:rPr>
              <a:t>, C</a:t>
            </a:r>
            <a:r>
              <a:rPr baseline="-25000" lang="es" sz="1600">
                <a:latin typeface="Courier New"/>
                <a:ea typeface="Courier New"/>
                <a:cs typeface="Courier New"/>
                <a:sym typeface="Courier New"/>
              </a:rPr>
              <a:t>11</a:t>
            </a:r>
            <a:r>
              <a:rPr lang="es" sz="1600">
                <a:latin typeface="Courier New"/>
                <a:ea typeface="Courier New"/>
                <a:cs typeface="Courier New"/>
                <a:sym typeface="Courier New"/>
              </a:rPr>
              <a:t>, n/2)</a:t>
            </a:r>
            <a:endParaRPr sz="1600">
              <a:latin typeface="Courier New"/>
              <a:ea typeface="Courier New"/>
              <a:cs typeface="Courier New"/>
              <a:sym typeface="Courier New"/>
            </a:endParaRPr>
          </a:p>
          <a:p>
            <a:pPr indent="0" lvl="0" marL="0" rtl="0" algn="l">
              <a:spcBef>
                <a:spcPts val="0"/>
              </a:spcBef>
              <a:spcAft>
                <a:spcPts val="0"/>
              </a:spcAft>
              <a:buNone/>
            </a:pPr>
            <a:r>
              <a:rPr lang="es" sz="1600">
                <a:latin typeface="Courier New"/>
                <a:ea typeface="Courier New"/>
                <a:cs typeface="Courier New"/>
                <a:sym typeface="Courier New"/>
              </a:rPr>
              <a:t>	multiplicacion_matrices(A</a:t>
            </a:r>
            <a:r>
              <a:rPr baseline="-25000" lang="es" sz="1600">
                <a:latin typeface="Courier New"/>
                <a:ea typeface="Courier New"/>
                <a:cs typeface="Courier New"/>
                <a:sym typeface="Courier New"/>
              </a:rPr>
              <a:t>11</a:t>
            </a:r>
            <a:r>
              <a:rPr lang="es" sz="1600">
                <a:latin typeface="Courier New"/>
                <a:ea typeface="Courier New"/>
                <a:cs typeface="Courier New"/>
                <a:sym typeface="Courier New"/>
              </a:rPr>
              <a:t>, B</a:t>
            </a:r>
            <a:r>
              <a:rPr baseline="-25000" lang="es" sz="1600">
                <a:latin typeface="Courier New"/>
                <a:ea typeface="Courier New"/>
                <a:cs typeface="Courier New"/>
                <a:sym typeface="Courier New"/>
              </a:rPr>
              <a:t>12</a:t>
            </a:r>
            <a:r>
              <a:rPr lang="es" sz="1600">
                <a:latin typeface="Courier New"/>
                <a:ea typeface="Courier New"/>
                <a:cs typeface="Courier New"/>
                <a:sym typeface="Courier New"/>
              </a:rPr>
              <a:t>, C</a:t>
            </a:r>
            <a:r>
              <a:rPr baseline="-25000" lang="es" sz="1600">
                <a:latin typeface="Courier New"/>
                <a:ea typeface="Courier New"/>
                <a:cs typeface="Courier New"/>
                <a:sym typeface="Courier New"/>
              </a:rPr>
              <a:t>12</a:t>
            </a:r>
            <a:r>
              <a:rPr lang="es" sz="1600">
                <a:latin typeface="Courier New"/>
                <a:ea typeface="Courier New"/>
                <a:cs typeface="Courier New"/>
                <a:sym typeface="Courier New"/>
              </a:rPr>
              <a:t>, n/2)</a:t>
            </a:r>
            <a:endParaRPr sz="1600">
              <a:latin typeface="Courier New"/>
              <a:ea typeface="Courier New"/>
              <a:cs typeface="Courier New"/>
              <a:sym typeface="Courier New"/>
            </a:endParaRPr>
          </a:p>
          <a:p>
            <a:pPr indent="0" lvl="0" marL="0" rtl="0" algn="l">
              <a:spcBef>
                <a:spcPts val="0"/>
              </a:spcBef>
              <a:spcAft>
                <a:spcPts val="0"/>
              </a:spcAft>
              <a:buNone/>
            </a:pPr>
            <a:r>
              <a:rPr lang="es" sz="1600">
                <a:latin typeface="Courier New"/>
                <a:ea typeface="Courier New"/>
                <a:cs typeface="Courier New"/>
                <a:sym typeface="Courier New"/>
              </a:rPr>
              <a:t>	multiplicacion_matrices(A</a:t>
            </a:r>
            <a:r>
              <a:rPr baseline="-25000" lang="es" sz="1600">
                <a:latin typeface="Courier New"/>
                <a:ea typeface="Courier New"/>
                <a:cs typeface="Courier New"/>
                <a:sym typeface="Courier New"/>
              </a:rPr>
              <a:t>21</a:t>
            </a:r>
            <a:r>
              <a:rPr lang="es" sz="1600">
                <a:latin typeface="Courier New"/>
                <a:ea typeface="Courier New"/>
                <a:cs typeface="Courier New"/>
                <a:sym typeface="Courier New"/>
              </a:rPr>
              <a:t>, B</a:t>
            </a:r>
            <a:r>
              <a:rPr baseline="-25000" lang="es" sz="1600">
                <a:latin typeface="Courier New"/>
                <a:ea typeface="Courier New"/>
                <a:cs typeface="Courier New"/>
                <a:sym typeface="Courier New"/>
              </a:rPr>
              <a:t>11</a:t>
            </a:r>
            <a:r>
              <a:rPr lang="es" sz="1600">
                <a:latin typeface="Courier New"/>
                <a:ea typeface="Courier New"/>
                <a:cs typeface="Courier New"/>
                <a:sym typeface="Courier New"/>
              </a:rPr>
              <a:t>, C</a:t>
            </a:r>
            <a:r>
              <a:rPr baseline="-25000" lang="es" sz="1600">
                <a:latin typeface="Courier New"/>
                <a:ea typeface="Courier New"/>
                <a:cs typeface="Courier New"/>
                <a:sym typeface="Courier New"/>
              </a:rPr>
              <a:t>21</a:t>
            </a:r>
            <a:r>
              <a:rPr lang="es" sz="1600">
                <a:latin typeface="Courier New"/>
                <a:ea typeface="Courier New"/>
                <a:cs typeface="Courier New"/>
                <a:sym typeface="Courier New"/>
              </a:rPr>
              <a:t>, n/2)</a:t>
            </a:r>
            <a:endParaRPr sz="1600">
              <a:latin typeface="Courier New"/>
              <a:ea typeface="Courier New"/>
              <a:cs typeface="Courier New"/>
              <a:sym typeface="Courier New"/>
            </a:endParaRPr>
          </a:p>
          <a:p>
            <a:pPr indent="0" lvl="0" marL="0" rtl="0" algn="l">
              <a:spcBef>
                <a:spcPts val="0"/>
              </a:spcBef>
              <a:spcAft>
                <a:spcPts val="0"/>
              </a:spcAft>
              <a:buNone/>
            </a:pPr>
            <a:r>
              <a:rPr lang="es" sz="1600">
                <a:latin typeface="Courier New"/>
                <a:ea typeface="Courier New"/>
                <a:cs typeface="Courier New"/>
                <a:sym typeface="Courier New"/>
              </a:rPr>
              <a:t>	multiplicacion_matrices(A</a:t>
            </a:r>
            <a:r>
              <a:rPr baseline="-25000" lang="es" sz="1600">
                <a:latin typeface="Courier New"/>
                <a:ea typeface="Courier New"/>
                <a:cs typeface="Courier New"/>
                <a:sym typeface="Courier New"/>
              </a:rPr>
              <a:t>21</a:t>
            </a:r>
            <a:r>
              <a:rPr lang="es" sz="1600">
                <a:latin typeface="Courier New"/>
                <a:ea typeface="Courier New"/>
                <a:cs typeface="Courier New"/>
                <a:sym typeface="Courier New"/>
              </a:rPr>
              <a:t>, B</a:t>
            </a:r>
            <a:r>
              <a:rPr baseline="-25000" lang="es" sz="1600">
                <a:latin typeface="Courier New"/>
                <a:ea typeface="Courier New"/>
                <a:cs typeface="Courier New"/>
                <a:sym typeface="Courier New"/>
              </a:rPr>
              <a:t>12</a:t>
            </a:r>
            <a:r>
              <a:rPr lang="es" sz="1600">
                <a:latin typeface="Courier New"/>
                <a:ea typeface="Courier New"/>
                <a:cs typeface="Courier New"/>
                <a:sym typeface="Courier New"/>
              </a:rPr>
              <a:t>, C</a:t>
            </a:r>
            <a:r>
              <a:rPr baseline="-25000" lang="es" sz="1600">
                <a:latin typeface="Courier New"/>
                <a:ea typeface="Courier New"/>
                <a:cs typeface="Courier New"/>
                <a:sym typeface="Courier New"/>
              </a:rPr>
              <a:t>22</a:t>
            </a:r>
            <a:r>
              <a:rPr lang="es" sz="1600">
                <a:latin typeface="Courier New"/>
                <a:ea typeface="Courier New"/>
                <a:cs typeface="Courier New"/>
                <a:sym typeface="Courier New"/>
              </a:rPr>
              <a:t>, n/2)</a:t>
            </a:r>
            <a:endParaRPr sz="1600">
              <a:latin typeface="Courier New"/>
              <a:ea typeface="Courier New"/>
              <a:cs typeface="Courier New"/>
              <a:sym typeface="Courier New"/>
            </a:endParaRPr>
          </a:p>
          <a:p>
            <a:pPr indent="0" lvl="0" marL="0" rtl="0" algn="l">
              <a:spcBef>
                <a:spcPts val="0"/>
              </a:spcBef>
              <a:spcAft>
                <a:spcPts val="0"/>
              </a:spcAft>
              <a:buNone/>
            </a:pPr>
            <a:r>
              <a:rPr lang="es" sz="1600">
                <a:latin typeface="Courier New"/>
                <a:ea typeface="Courier New"/>
                <a:cs typeface="Courier New"/>
                <a:sym typeface="Courier New"/>
              </a:rPr>
              <a:t>	multiplicacion_matrices(A</a:t>
            </a:r>
            <a:r>
              <a:rPr baseline="-25000" lang="es" sz="1600">
                <a:latin typeface="Courier New"/>
                <a:ea typeface="Courier New"/>
                <a:cs typeface="Courier New"/>
                <a:sym typeface="Courier New"/>
              </a:rPr>
              <a:t>12</a:t>
            </a:r>
            <a:r>
              <a:rPr lang="es" sz="1600">
                <a:latin typeface="Courier New"/>
                <a:ea typeface="Courier New"/>
                <a:cs typeface="Courier New"/>
                <a:sym typeface="Courier New"/>
              </a:rPr>
              <a:t>, B</a:t>
            </a:r>
            <a:r>
              <a:rPr baseline="-25000" lang="es" sz="1600">
                <a:latin typeface="Courier New"/>
                <a:ea typeface="Courier New"/>
                <a:cs typeface="Courier New"/>
                <a:sym typeface="Courier New"/>
              </a:rPr>
              <a:t>21</a:t>
            </a:r>
            <a:r>
              <a:rPr lang="es" sz="1600">
                <a:latin typeface="Courier New"/>
                <a:ea typeface="Courier New"/>
                <a:cs typeface="Courier New"/>
                <a:sym typeface="Courier New"/>
              </a:rPr>
              <a:t>, C</a:t>
            </a:r>
            <a:r>
              <a:rPr baseline="-25000" lang="es" sz="1600">
                <a:latin typeface="Courier New"/>
                <a:ea typeface="Courier New"/>
                <a:cs typeface="Courier New"/>
                <a:sym typeface="Courier New"/>
              </a:rPr>
              <a:t>11</a:t>
            </a:r>
            <a:r>
              <a:rPr lang="es" sz="1600">
                <a:latin typeface="Courier New"/>
                <a:ea typeface="Courier New"/>
                <a:cs typeface="Courier New"/>
                <a:sym typeface="Courier New"/>
              </a:rPr>
              <a:t>, n/2)</a:t>
            </a:r>
            <a:endParaRPr sz="1600">
              <a:latin typeface="Courier New"/>
              <a:ea typeface="Courier New"/>
              <a:cs typeface="Courier New"/>
              <a:sym typeface="Courier New"/>
            </a:endParaRPr>
          </a:p>
          <a:p>
            <a:pPr indent="0" lvl="0" marL="0" rtl="0" algn="l">
              <a:spcBef>
                <a:spcPts val="0"/>
              </a:spcBef>
              <a:spcAft>
                <a:spcPts val="0"/>
              </a:spcAft>
              <a:buNone/>
            </a:pPr>
            <a:r>
              <a:rPr lang="es" sz="1600">
                <a:latin typeface="Courier New"/>
                <a:ea typeface="Courier New"/>
                <a:cs typeface="Courier New"/>
                <a:sym typeface="Courier New"/>
              </a:rPr>
              <a:t>	multiplicacion_matrices(A</a:t>
            </a:r>
            <a:r>
              <a:rPr baseline="-25000" lang="es" sz="1600">
                <a:latin typeface="Courier New"/>
                <a:ea typeface="Courier New"/>
                <a:cs typeface="Courier New"/>
                <a:sym typeface="Courier New"/>
              </a:rPr>
              <a:t>12</a:t>
            </a:r>
            <a:r>
              <a:rPr lang="es" sz="1600">
                <a:latin typeface="Courier New"/>
                <a:ea typeface="Courier New"/>
                <a:cs typeface="Courier New"/>
                <a:sym typeface="Courier New"/>
              </a:rPr>
              <a:t>, B</a:t>
            </a:r>
            <a:r>
              <a:rPr baseline="-25000" lang="es" sz="1600">
                <a:latin typeface="Courier New"/>
                <a:ea typeface="Courier New"/>
                <a:cs typeface="Courier New"/>
                <a:sym typeface="Courier New"/>
              </a:rPr>
              <a:t>22</a:t>
            </a:r>
            <a:r>
              <a:rPr lang="es" sz="1600">
                <a:latin typeface="Courier New"/>
                <a:ea typeface="Courier New"/>
                <a:cs typeface="Courier New"/>
                <a:sym typeface="Courier New"/>
              </a:rPr>
              <a:t>, C</a:t>
            </a:r>
            <a:r>
              <a:rPr baseline="-25000" lang="es" sz="1600">
                <a:latin typeface="Courier New"/>
                <a:ea typeface="Courier New"/>
                <a:cs typeface="Courier New"/>
                <a:sym typeface="Courier New"/>
              </a:rPr>
              <a:t>12</a:t>
            </a:r>
            <a:r>
              <a:rPr lang="es" sz="1600">
                <a:latin typeface="Courier New"/>
                <a:ea typeface="Courier New"/>
                <a:cs typeface="Courier New"/>
                <a:sym typeface="Courier New"/>
              </a:rPr>
              <a:t>, n/2)</a:t>
            </a:r>
            <a:endParaRPr sz="1600">
              <a:latin typeface="Courier New"/>
              <a:ea typeface="Courier New"/>
              <a:cs typeface="Courier New"/>
              <a:sym typeface="Courier New"/>
            </a:endParaRPr>
          </a:p>
          <a:p>
            <a:pPr indent="0" lvl="0" marL="0" rtl="0" algn="l">
              <a:spcBef>
                <a:spcPts val="0"/>
              </a:spcBef>
              <a:spcAft>
                <a:spcPts val="0"/>
              </a:spcAft>
              <a:buNone/>
            </a:pPr>
            <a:r>
              <a:rPr lang="es" sz="1600">
                <a:latin typeface="Courier New"/>
                <a:ea typeface="Courier New"/>
                <a:cs typeface="Courier New"/>
                <a:sym typeface="Courier New"/>
              </a:rPr>
              <a:t>	multiplicacion_matrices(A</a:t>
            </a:r>
            <a:r>
              <a:rPr baseline="-25000" lang="es" sz="1600">
                <a:latin typeface="Courier New"/>
                <a:ea typeface="Courier New"/>
                <a:cs typeface="Courier New"/>
                <a:sym typeface="Courier New"/>
              </a:rPr>
              <a:t>22</a:t>
            </a:r>
            <a:r>
              <a:rPr lang="es" sz="1600">
                <a:latin typeface="Courier New"/>
                <a:ea typeface="Courier New"/>
                <a:cs typeface="Courier New"/>
                <a:sym typeface="Courier New"/>
              </a:rPr>
              <a:t>, B</a:t>
            </a:r>
            <a:r>
              <a:rPr baseline="-25000" lang="es" sz="1600">
                <a:latin typeface="Courier New"/>
                <a:ea typeface="Courier New"/>
                <a:cs typeface="Courier New"/>
                <a:sym typeface="Courier New"/>
              </a:rPr>
              <a:t>21</a:t>
            </a:r>
            <a:r>
              <a:rPr lang="es" sz="1600">
                <a:latin typeface="Courier New"/>
                <a:ea typeface="Courier New"/>
                <a:cs typeface="Courier New"/>
                <a:sym typeface="Courier New"/>
              </a:rPr>
              <a:t>, C</a:t>
            </a:r>
            <a:r>
              <a:rPr baseline="-25000" lang="es" sz="1600">
                <a:latin typeface="Courier New"/>
                <a:ea typeface="Courier New"/>
                <a:cs typeface="Courier New"/>
                <a:sym typeface="Courier New"/>
              </a:rPr>
              <a:t>21</a:t>
            </a:r>
            <a:r>
              <a:rPr lang="es" sz="1600">
                <a:latin typeface="Courier New"/>
                <a:ea typeface="Courier New"/>
                <a:cs typeface="Courier New"/>
                <a:sym typeface="Courier New"/>
              </a:rPr>
              <a:t>, n/2)</a:t>
            </a:r>
            <a:endParaRPr sz="1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s" sz="1600">
                <a:latin typeface="Courier New"/>
                <a:ea typeface="Courier New"/>
                <a:cs typeface="Courier New"/>
                <a:sym typeface="Courier New"/>
              </a:rPr>
              <a:t>	multiplicacion_matrices(A</a:t>
            </a:r>
            <a:r>
              <a:rPr baseline="-25000" lang="es" sz="1600">
                <a:latin typeface="Courier New"/>
                <a:ea typeface="Courier New"/>
                <a:cs typeface="Courier New"/>
                <a:sym typeface="Courier New"/>
              </a:rPr>
              <a:t>22</a:t>
            </a:r>
            <a:r>
              <a:rPr lang="es" sz="1600">
                <a:latin typeface="Courier New"/>
                <a:ea typeface="Courier New"/>
                <a:cs typeface="Courier New"/>
                <a:sym typeface="Courier New"/>
              </a:rPr>
              <a:t>, B</a:t>
            </a:r>
            <a:r>
              <a:rPr baseline="-25000" lang="es" sz="1600">
                <a:latin typeface="Courier New"/>
                <a:ea typeface="Courier New"/>
                <a:cs typeface="Courier New"/>
                <a:sym typeface="Courier New"/>
              </a:rPr>
              <a:t>22</a:t>
            </a:r>
            <a:r>
              <a:rPr lang="es" sz="1600">
                <a:latin typeface="Courier New"/>
                <a:ea typeface="Courier New"/>
                <a:cs typeface="Courier New"/>
                <a:sym typeface="Courier New"/>
              </a:rPr>
              <a:t>, C</a:t>
            </a:r>
            <a:r>
              <a:rPr baseline="-25000" lang="es" sz="1600">
                <a:latin typeface="Courier New"/>
                <a:ea typeface="Courier New"/>
                <a:cs typeface="Courier New"/>
                <a:sym typeface="Courier New"/>
              </a:rPr>
              <a:t>22</a:t>
            </a:r>
            <a:r>
              <a:rPr lang="es" sz="1600">
                <a:latin typeface="Courier New"/>
                <a:ea typeface="Courier New"/>
                <a:cs typeface="Courier New"/>
                <a:sym typeface="Courier New"/>
              </a:rPr>
              <a:t>, n/2)</a:t>
            </a:r>
            <a:endParaRPr sz="16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600">
              <a:latin typeface="Courier New"/>
              <a:ea typeface="Courier New"/>
              <a:cs typeface="Courier New"/>
              <a:sym typeface="Courier New"/>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6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¿Complejidad?</a:t>
            </a:r>
            <a:endParaRPr/>
          </a:p>
        </p:txBody>
      </p:sp>
      <p:sp>
        <p:nvSpPr>
          <p:cNvPr id="421" name="Google Shape;421;p65"/>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Haciendo</a:t>
            </a:r>
            <a:r>
              <a:rPr lang="es"/>
              <a:t> las particiones trabajando con índices/punteros/slices (go)</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422" name="Google Shape;422;p65"/>
          <p:cNvPicPr preferRelativeResize="0"/>
          <p:nvPr/>
        </p:nvPicPr>
        <p:blipFill>
          <a:blip r:embed="rId3">
            <a:alphaModFix/>
          </a:blip>
          <a:stretch>
            <a:fillRect/>
          </a:stretch>
        </p:blipFill>
        <p:spPr>
          <a:xfrm>
            <a:off x="2600100" y="1692893"/>
            <a:ext cx="3635949" cy="487700"/>
          </a:xfrm>
          <a:prstGeom prst="rect">
            <a:avLst/>
          </a:prstGeom>
          <a:noFill/>
          <a:ln>
            <a:noFill/>
          </a:ln>
        </p:spPr>
      </p:pic>
      <p:pic>
        <p:nvPicPr>
          <p:cNvPr id="423" name="Google Shape;423;p65"/>
          <p:cNvPicPr preferRelativeResize="0"/>
          <p:nvPr/>
        </p:nvPicPr>
        <p:blipFill>
          <a:blip r:embed="rId4">
            <a:alphaModFix/>
          </a:blip>
          <a:stretch>
            <a:fillRect/>
          </a:stretch>
        </p:blipFill>
        <p:spPr>
          <a:xfrm>
            <a:off x="3376613" y="2571738"/>
            <a:ext cx="2390775" cy="1914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1000"/>
                                        <p:tgtEl>
                                          <p:spTgt spid="4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 de Strassen</a:t>
            </a:r>
            <a:endParaRPr/>
          </a:p>
        </p:txBody>
      </p:sp>
      <p:sp>
        <p:nvSpPr>
          <p:cNvPr id="429" name="Google Shape;429;p6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vez de hacer 8 llamados recursivos, hacemos 7. Haciendo algo similar a Karatsuba-Offman para multiplicar números grandes.</a:t>
            </a:r>
            <a:endParaRPr/>
          </a:p>
          <a:p>
            <a:pPr indent="0" lvl="0" marL="0" rtl="0" algn="l">
              <a:spcBef>
                <a:spcPts val="1600"/>
              </a:spcBef>
              <a:spcAft>
                <a:spcPts val="1600"/>
              </a:spcAft>
              <a:buNone/>
            </a:pPr>
            <a:r>
              <a:t/>
            </a:r>
            <a:endParaRPr/>
          </a:p>
        </p:txBody>
      </p:sp>
      <p:pic>
        <p:nvPicPr>
          <p:cNvPr id="430" name="Google Shape;430;p66"/>
          <p:cNvPicPr preferRelativeResize="0"/>
          <p:nvPr/>
        </p:nvPicPr>
        <p:blipFill>
          <a:blip r:embed="rId3">
            <a:alphaModFix/>
          </a:blip>
          <a:stretch>
            <a:fillRect/>
          </a:stretch>
        </p:blipFill>
        <p:spPr>
          <a:xfrm>
            <a:off x="376500" y="2209748"/>
            <a:ext cx="2644801" cy="503650"/>
          </a:xfrm>
          <a:prstGeom prst="rect">
            <a:avLst/>
          </a:prstGeom>
          <a:noFill/>
          <a:ln>
            <a:noFill/>
          </a:ln>
        </p:spPr>
      </p:pic>
      <p:pic>
        <p:nvPicPr>
          <p:cNvPr id="431" name="Google Shape;431;p66"/>
          <p:cNvPicPr preferRelativeResize="0"/>
          <p:nvPr/>
        </p:nvPicPr>
        <p:blipFill>
          <a:blip r:embed="rId4">
            <a:alphaModFix/>
          </a:blip>
          <a:stretch>
            <a:fillRect/>
          </a:stretch>
        </p:blipFill>
        <p:spPr>
          <a:xfrm>
            <a:off x="3133200" y="2209749"/>
            <a:ext cx="3940269" cy="503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gtEl>
                                        <p:attrNameLst>
                                          <p:attrName>style.visibility</p:attrName>
                                        </p:attrNameLst>
                                      </p:cBhvr>
                                      <p:to>
                                        <p:strVal val="visible"/>
                                      </p:to>
                                    </p:set>
                                    <p:animEffect filter="fade" transition="in">
                                      <p:cBhvr>
                                        <p:cTn dur="1000"/>
                                        <p:tgtEl>
                                          <p:spTgt spid="4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1000"/>
                                        <p:tgtEl>
                                          <p:spTgt spid="4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1000"/>
                                        <p:tgtEl>
                                          <p:spTgt spid="4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6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V: problema de parcial</a:t>
            </a:r>
            <a:endParaRPr/>
          </a:p>
        </p:txBody>
      </p:sp>
      <p:pic>
        <p:nvPicPr>
          <p:cNvPr id="437" name="Google Shape;437;p67" title="Screenshot 2026-08-06 at 12.42.11 PM.png"/>
          <p:cNvPicPr preferRelativeResize="0"/>
          <p:nvPr/>
        </p:nvPicPr>
        <p:blipFill>
          <a:blip r:embed="rId3">
            <a:alphaModFix/>
          </a:blip>
          <a:stretch>
            <a:fillRect/>
          </a:stretch>
        </p:blipFill>
        <p:spPr>
          <a:xfrm>
            <a:off x="41853" y="1210625"/>
            <a:ext cx="9144002" cy="2374017"/>
          </a:xfrm>
          <a:prstGeom prst="rect">
            <a:avLst/>
          </a:prstGeom>
          <a:noFill/>
          <a:ln>
            <a:noFill/>
          </a:ln>
        </p:spPr>
      </p:pic>
      <p:sp>
        <p:nvSpPr>
          <p:cNvPr id="438" name="Google Shape;438;p67"/>
          <p:cNvSpPr txBox="1"/>
          <p:nvPr/>
        </p:nvSpPr>
        <p:spPr>
          <a:xfrm>
            <a:off x="747050" y="3967100"/>
            <a:ext cx="4946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latin typeface="Proxima Nova"/>
                <a:ea typeface="Proxima Nova"/>
                <a:cs typeface="Proxima Nova"/>
                <a:sym typeface="Proxima Nova"/>
              </a:rPr>
              <a:t>¿Qué tenemos que hacer en sí? </a:t>
            </a:r>
            <a:endParaRPr sz="1800">
              <a:solidFill>
                <a:schemeClr val="dk1"/>
              </a:solidFill>
              <a:latin typeface="Proxima Nova"/>
              <a:ea typeface="Proxima Nova"/>
              <a:cs typeface="Proxima Nova"/>
              <a:sym typeface="Proxima Nova"/>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6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Desglocemos</a:t>
            </a:r>
            <a:endParaRPr/>
          </a:p>
        </p:txBody>
      </p:sp>
      <p:sp>
        <p:nvSpPr>
          <p:cNvPr id="444" name="Google Shape;444;p6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¿Qu</a:t>
            </a:r>
            <a:r>
              <a:rPr lang="es"/>
              <a:t>é significa A</a:t>
            </a:r>
            <a:r>
              <a:rPr baseline="30000" lang="es"/>
              <a:t>k</a:t>
            </a:r>
            <a:r>
              <a:rPr lang="es"/>
              <a:t>? </a:t>
            </a:r>
            <a:endParaRPr/>
          </a:p>
          <a:p>
            <a:pPr indent="0" lvl="0" marL="0" rtl="0" algn="l">
              <a:spcBef>
                <a:spcPts val="1600"/>
              </a:spcBef>
              <a:spcAft>
                <a:spcPts val="0"/>
              </a:spcAft>
              <a:buNone/>
            </a:pPr>
            <a:r>
              <a:rPr lang="es"/>
              <a:t>Si tenemos </a:t>
            </a:r>
            <a:r>
              <a:rPr lang="es"/>
              <a:t>A</a:t>
            </a:r>
            <a:r>
              <a:rPr baseline="30000" lang="es"/>
              <a:t>k</a:t>
            </a:r>
            <a:r>
              <a:rPr lang="es"/>
              <a:t>, ¿qué tendríamos que hacer?</a:t>
            </a:r>
            <a:endParaRPr/>
          </a:p>
          <a:p>
            <a:pPr indent="0" lvl="0" marL="0" rtl="0" algn="l">
              <a:spcBef>
                <a:spcPts val="1600"/>
              </a:spcBef>
              <a:spcAft>
                <a:spcPts val="0"/>
              </a:spcAft>
              <a:buNone/>
            </a:pPr>
            <a:r>
              <a:rPr lang="es"/>
              <a:t>Entonces, eso sería fácil… tenemos que conseguir </a:t>
            </a:r>
            <a:r>
              <a:rPr lang="es"/>
              <a:t>A</a:t>
            </a:r>
            <a:r>
              <a:rPr baseline="30000" lang="es"/>
              <a:t>k</a:t>
            </a:r>
            <a:endParaRPr/>
          </a:p>
          <a:p>
            <a:pPr indent="0" lvl="0" marL="0" rtl="0" algn="l">
              <a:spcBef>
                <a:spcPts val="1600"/>
              </a:spcBef>
              <a:spcAft>
                <a:spcPts val="1600"/>
              </a:spcAft>
              <a:buNone/>
            </a:pPr>
            <a:r>
              <a:rPr lang="es"/>
              <a:t>Pensemos una forma muy fácil (sin D&amp;C)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6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 lo bruto</a:t>
            </a:r>
            <a:endParaRPr/>
          </a:p>
        </p:txBody>
      </p:sp>
      <p:sp>
        <p:nvSpPr>
          <p:cNvPr id="450" name="Google Shape;450;p69"/>
          <p:cNvSpPr txBox="1"/>
          <p:nvPr>
            <p:ph idx="1" type="body"/>
          </p:nvPr>
        </p:nvSpPr>
        <p:spPr>
          <a:xfrm>
            <a:off x="311700" y="1171600"/>
            <a:ext cx="8520600" cy="247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00">
                <a:latin typeface="Courier New"/>
                <a:ea typeface="Courier New"/>
                <a:cs typeface="Courier New"/>
                <a:sym typeface="Courier New"/>
              </a:rPr>
              <a:t>def potenciar(A, k): </a:t>
            </a:r>
            <a:endParaRPr sz="1600">
              <a:latin typeface="Courier New"/>
              <a:ea typeface="Courier New"/>
              <a:cs typeface="Courier New"/>
              <a:sym typeface="Courier New"/>
            </a:endParaRPr>
          </a:p>
          <a:p>
            <a:pPr indent="0" lvl="0" marL="0" rtl="0" algn="l">
              <a:spcBef>
                <a:spcPts val="0"/>
              </a:spcBef>
              <a:spcAft>
                <a:spcPts val="0"/>
              </a:spcAft>
              <a:buNone/>
            </a:pPr>
            <a:r>
              <a:rPr lang="es" sz="1600">
                <a:latin typeface="Courier New"/>
                <a:ea typeface="Courier New"/>
                <a:cs typeface="Courier New"/>
                <a:sym typeface="Courier New"/>
              </a:rPr>
              <a:t>	resultado = A</a:t>
            </a:r>
            <a:endParaRPr sz="1600">
              <a:latin typeface="Courier New"/>
              <a:ea typeface="Courier New"/>
              <a:cs typeface="Courier New"/>
              <a:sym typeface="Courier New"/>
            </a:endParaRPr>
          </a:p>
          <a:p>
            <a:pPr indent="0" lvl="0" marL="0" rtl="0" algn="l">
              <a:spcBef>
                <a:spcPts val="0"/>
              </a:spcBef>
              <a:spcAft>
                <a:spcPts val="0"/>
              </a:spcAft>
              <a:buNone/>
            </a:pPr>
            <a:r>
              <a:rPr lang="es" sz="1600">
                <a:latin typeface="Courier New"/>
                <a:ea typeface="Courier New"/>
                <a:cs typeface="Courier New"/>
                <a:sym typeface="Courier New"/>
              </a:rPr>
              <a:t>	for i in range(1, k):</a:t>
            </a:r>
            <a:endParaRPr sz="1600">
              <a:latin typeface="Courier New"/>
              <a:ea typeface="Courier New"/>
              <a:cs typeface="Courier New"/>
              <a:sym typeface="Courier New"/>
            </a:endParaRPr>
          </a:p>
          <a:p>
            <a:pPr indent="0" lvl="0" marL="0" rtl="0" algn="l">
              <a:spcBef>
                <a:spcPts val="0"/>
              </a:spcBef>
              <a:spcAft>
                <a:spcPts val="0"/>
              </a:spcAft>
              <a:buNone/>
            </a:pPr>
            <a:r>
              <a:rPr lang="es" sz="1600">
                <a:latin typeface="Courier New"/>
                <a:ea typeface="Courier New"/>
                <a:cs typeface="Courier New"/>
                <a:sym typeface="Courier New"/>
              </a:rPr>
              <a:t>		resultado = multiplicar_matrices(resultado, A)</a:t>
            </a:r>
            <a:endParaRPr sz="1600">
              <a:latin typeface="Courier New"/>
              <a:ea typeface="Courier New"/>
              <a:cs typeface="Courier New"/>
              <a:sym typeface="Courier New"/>
            </a:endParaRPr>
          </a:p>
          <a:p>
            <a:pPr indent="0" lvl="0" marL="0" rtl="0" algn="l">
              <a:spcBef>
                <a:spcPts val="0"/>
              </a:spcBef>
              <a:spcAft>
                <a:spcPts val="0"/>
              </a:spcAft>
              <a:buNone/>
            </a:pPr>
            <a:r>
              <a:rPr lang="es" sz="1600">
                <a:latin typeface="Courier New"/>
                <a:ea typeface="Courier New"/>
                <a:cs typeface="Courier New"/>
                <a:sym typeface="Courier New"/>
              </a:rPr>
              <a:t>	return resultado</a:t>
            </a:r>
            <a:endParaRPr sz="1600">
              <a:latin typeface="Courier New"/>
              <a:ea typeface="Courier New"/>
              <a:cs typeface="Courier New"/>
              <a:sym typeface="Courier New"/>
            </a:endParaRPr>
          </a:p>
          <a:p>
            <a:pPr indent="0" lvl="0" marL="0" rtl="0" algn="l">
              <a:spcBef>
                <a:spcPts val="0"/>
              </a:spcBef>
              <a:spcAft>
                <a:spcPts val="1600"/>
              </a:spcAft>
              <a:buNone/>
            </a:pPr>
            <a:r>
              <a:rPr lang="es"/>
              <a:t>¿Complejidad?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0">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Pensemos en propiedades de la potencia (ejercicio b</a:t>
            </a:r>
            <a:r>
              <a:rPr lang="es"/>
              <a:t>ásico que seguramente vieron)</a:t>
            </a:r>
            <a:endParaRPr/>
          </a:p>
        </p:txBody>
      </p:sp>
      <p:sp>
        <p:nvSpPr>
          <p:cNvPr id="456" name="Google Shape;456;p70"/>
          <p:cNvSpPr txBox="1"/>
          <p:nvPr>
            <p:ph idx="1" type="body"/>
          </p:nvPr>
        </p:nvSpPr>
        <p:spPr>
          <a:xfrm>
            <a:off x="311700" y="153225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a:t>
            </a:r>
            <a:r>
              <a:rPr baseline="30000" lang="es"/>
              <a:t>m</a:t>
            </a:r>
            <a:r>
              <a:rPr lang="es"/>
              <a:t> = </a:t>
            </a:r>
            <a:r>
              <a:rPr lang="es"/>
              <a:t>A</a:t>
            </a:r>
            <a:r>
              <a:rPr baseline="30000" lang="es"/>
              <a:t>m/2*2</a:t>
            </a:r>
            <a:r>
              <a:rPr lang="es"/>
              <a:t> = (</a:t>
            </a:r>
            <a:r>
              <a:rPr lang="es"/>
              <a:t>A</a:t>
            </a:r>
            <a:r>
              <a:rPr baseline="30000" lang="es"/>
              <a:t>m/2</a:t>
            </a:r>
            <a:r>
              <a:rPr lang="es"/>
              <a:t>)</a:t>
            </a:r>
            <a:r>
              <a:rPr baseline="30000" lang="es"/>
              <a:t>2</a:t>
            </a:r>
            <a:r>
              <a:rPr lang="es"/>
              <a:t> </a:t>
            </a:r>
            <a:r>
              <a:rPr lang="es"/>
              <a:t>= (A</a:t>
            </a:r>
            <a:r>
              <a:rPr baseline="30000" lang="es"/>
              <a:t>m/2</a:t>
            </a:r>
            <a:r>
              <a:rPr lang="es"/>
              <a:t>) * (A</a:t>
            </a:r>
            <a:r>
              <a:rPr baseline="30000" lang="es"/>
              <a:t>m/2</a:t>
            </a:r>
            <a:r>
              <a:rPr lang="es"/>
              <a:t>)</a:t>
            </a:r>
            <a:endParaRPr baseline="30000"/>
          </a:p>
          <a:p>
            <a:pPr indent="0" lvl="0" marL="0" rtl="0" algn="l">
              <a:spcBef>
                <a:spcPts val="1600"/>
              </a:spcBef>
              <a:spcAft>
                <a:spcPts val="0"/>
              </a:spcAft>
              <a:buNone/>
            </a:pPr>
            <a:r>
              <a:rPr lang="es"/>
              <a:t>Entonces si calculamos </a:t>
            </a:r>
            <a:r>
              <a:rPr lang="es"/>
              <a:t>A</a:t>
            </a:r>
            <a:r>
              <a:rPr baseline="30000" lang="es"/>
              <a:t>m/2</a:t>
            </a:r>
            <a:r>
              <a:rPr lang="es"/>
              <a:t> ¿no se simplifica?</a:t>
            </a:r>
            <a:endParaRPr/>
          </a:p>
          <a:p>
            <a:pPr indent="0" lvl="0" marL="0" rtl="0" algn="l">
              <a:spcBef>
                <a:spcPts val="1600"/>
              </a:spcBef>
              <a:spcAft>
                <a:spcPts val="0"/>
              </a:spcAft>
              <a:buNone/>
            </a:pPr>
            <a:r>
              <a:rPr lang="es"/>
              <a:t>Pensemos en un número. ¿Cuánto nos costaría?</a:t>
            </a:r>
            <a:endParaRPr/>
          </a:p>
          <a:p>
            <a:pPr indent="0" lvl="0" marL="0" rtl="0" algn="l">
              <a:spcBef>
                <a:spcPts val="1600"/>
              </a:spcBef>
              <a:spcAft>
                <a:spcPts val="1600"/>
              </a:spcAft>
              <a:buNone/>
            </a:pPr>
            <a:r>
              <a:rPr lang="es"/>
              <a:t>Apliquemos una lógica igual!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7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Ahora por D&amp;C</a:t>
            </a:r>
            <a:endParaRPr/>
          </a:p>
        </p:txBody>
      </p:sp>
      <p:sp>
        <p:nvSpPr>
          <p:cNvPr id="462" name="Google Shape;462;p71"/>
          <p:cNvSpPr txBox="1"/>
          <p:nvPr>
            <p:ph idx="1" type="body"/>
          </p:nvPr>
        </p:nvSpPr>
        <p:spPr>
          <a:xfrm>
            <a:off x="311700" y="1171600"/>
            <a:ext cx="8520600" cy="249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00">
                <a:latin typeface="Courier New"/>
                <a:ea typeface="Courier New"/>
                <a:cs typeface="Courier New"/>
                <a:sym typeface="Courier New"/>
              </a:rPr>
              <a:t>def potenciar(A, k): </a:t>
            </a:r>
            <a:endParaRPr sz="1600">
              <a:latin typeface="Courier New"/>
              <a:ea typeface="Courier New"/>
              <a:cs typeface="Courier New"/>
              <a:sym typeface="Courier New"/>
            </a:endParaRPr>
          </a:p>
          <a:p>
            <a:pPr indent="0" lvl="0" marL="0" rtl="0" algn="l">
              <a:spcBef>
                <a:spcPts val="0"/>
              </a:spcBef>
              <a:spcAft>
                <a:spcPts val="0"/>
              </a:spcAft>
              <a:buNone/>
            </a:pPr>
            <a:r>
              <a:rPr lang="es" sz="1600">
                <a:latin typeface="Courier New"/>
                <a:ea typeface="Courier New"/>
                <a:cs typeface="Courier New"/>
                <a:sym typeface="Courier New"/>
              </a:rPr>
              <a:t>	if k == 0:</a:t>
            </a:r>
            <a:endParaRPr sz="1600">
              <a:latin typeface="Courier New"/>
              <a:ea typeface="Courier New"/>
              <a:cs typeface="Courier New"/>
              <a:sym typeface="Courier New"/>
            </a:endParaRPr>
          </a:p>
          <a:p>
            <a:pPr indent="0" lvl="0" marL="0" rtl="0" algn="l">
              <a:spcBef>
                <a:spcPts val="0"/>
              </a:spcBef>
              <a:spcAft>
                <a:spcPts val="0"/>
              </a:spcAft>
              <a:buNone/>
            </a:pPr>
            <a:r>
              <a:rPr lang="es" sz="1600">
                <a:latin typeface="Courier New"/>
                <a:ea typeface="Courier New"/>
                <a:cs typeface="Courier New"/>
                <a:sym typeface="Courier New"/>
              </a:rPr>
              <a:t>		return A</a:t>
            </a:r>
            <a:endParaRPr sz="1600">
              <a:latin typeface="Courier New"/>
              <a:ea typeface="Courier New"/>
              <a:cs typeface="Courier New"/>
              <a:sym typeface="Courier New"/>
            </a:endParaRPr>
          </a:p>
          <a:p>
            <a:pPr indent="0" lvl="0" marL="0" rtl="0" algn="l">
              <a:spcBef>
                <a:spcPts val="0"/>
              </a:spcBef>
              <a:spcAft>
                <a:spcPts val="0"/>
              </a:spcAft>
              <a:buNone/>
            </a:pPr>
            <a:r>
              <a:rPr lang="es" sz="1600">
                <a:latin typeface="Courier New"/>
                <a:ea typeface="Courier New"/>
                <a:cs typeface="Courier New"/>
                <a:sym typeface="Courier New"/>
              </a:rPr>
              <a:t>	potmitad = potenciar(A, k//2)</a:t>
            </a:r>
            <a:endParaRPr sz="1600">
              <a:latin typeface="Courier New"/>
              <a:ea typeface="Courier New"/>
              <a:cs typeface="Courier New"/>
              <a:sym typeface="Courier New"/>
            </a:endParaRPr>
          </a:p>
          <a:p>
            <a:pPr indent="0" lvl="0" marL="0" rtl="0" algn="l">
              <a:spcBef>
                <a:spcPts val="0"/>
              </a:spcBef>
              <a:spcAft>
                <a:spcPts val="0"/>
              </a:spcAft>
              <a:buNone/>
            </a:pPr>
            <a:r>
              <a:rPr lang="es" sz="1600">
                <a:latin typeface="Courier New"/>
                <a:ea typeface="Courier New"/>
                <a:cs typeface="Courier New"/>
                <a:sym typeface="Courier New"/>
              </a:rPr>
              <a:t>	resultado = multiplicar_matrices(potmitad, potmitad)</a:t>
            </a:r>
            <a:endParaRPr sz="1600">
              <a:latin typeface="Courier New"/>
              <a:ea typeface="Courier New"/>
              <a:cs typeface="Courier New"/>
              <a:sym typeface="Courier New"/>
            </a:endParaRPr>
          </a:p>
          <a:p>
            <a:pPr indent="0" lvl="0" marL="0" rtl="0" algn="l">
              <a:spcBef>
                <a:spcPts val="0"/>
              </a:spcBef>
              <a:spcAft>
                <a:spcPts val="0"/>
              </a:spcAft>
              <a:buNone/>
            </a:pPr>
            <a:r>
              <a:rPr lang="es" sz="1600">
                <a:latin typeface="Courier New"/>
                <a:ea typeface="Courier New"/>
                <a:cs typeface="Courier New"/>
                <a:sym typeface="Courier New"/>
              </a:rPr>
              <a:t>	if k % 2 != 0:</a:t>
            </a:r>
            <a:endParaRPr sz="1600">
              <a:latin typeface="Courier New"/>
              <a:ea typeface="Courier New"/>
              <a:cs typeface="Courier New"/>
              <a:sym typeface="Courier New"/>
            </a:endParaRPr>
          </a:p>
          <a:p>
            <a:pPr indent="0" lvl="0" marL="0" rtl="0" algn="l">
              <a:spcBef>
                <a:spcPts val="0"/>
              </a:spcBef>
              <a:spcAft>
                <a:spcPts val="0"/>
              </a:spcAft>
              <a:buNone/>
            </a:pPr>
            <a:r>
              <a:rPr lang="es" sz="1600">
                <a:latin typeface="Courier New"/>
                <a:ea typeface="Courier New"/>
                <a:cs typeface="Courier New"/>
                <a:sym typeface="Courier New"/>
              </a:rPr>
              <a:t>		resultado = </a:t>
            </a:r>
            <a:r>
              <a:rPr lang="es" sz="1600">
                <a:latin typeface="Courier New"/>
                <a:ea typeface="Courier New"/>
                <a:cs typeface="Courier New"/>
                <a:sym typeface="Courier New"/>
              </a:rPr>
              <a:t>multiplicar_matrices(resultado, A)</a:t>
            </a:r>
            <a:endParaRPr sz="1600">
              <a:latin typeface="Courier New"/>
              <a:ea typeface="Courier New"/>
              <a:cs typeface="Courier New"/>
              <a:sym typeface="Courier New"/>
            </a:endParaRPr>
          </a:p>
          <a:p>
            <a:pPr indent="0" lvl="0" marL="0" rtl="0" algn="l">
              <a:spcBef>
                <a:spcPts val="0"/>
              </a:spcBef>
              <a:spcAft>
                <a:spcPts val="0"/>
              </a:spcAft>
              <a:buNone/>
            </a:pPr>
            <a:r>
              <a:rPr lang="es" sz="1600">
                <a:latin typeface="Courier New"/>
                <a:ea typeface="Courier New"/>
                <a:cs typeface="Courier New"/>
                <a:sym typeface="Courier New"/>
              </a:rPr>
              <a:t>	return resultado</a:t>
            </a:r>
            <a:endParaRPr/>
          </a:p>
        </p:txBody>
      </p:sp>
      <p:sp>
        <p:nvSpPr>
          <p:cNvPr id="463" name="Google Shape;463;p71"/>
          <p:cNvSpPr txBox="1"/>
          <p:nvPr/>
        </p:nvSpPr>
        <p:spPr>
          <a:xfrm>
            <a:off x="695525" y="3889825"/>
            <a:ext cx="4946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latin typeface="Proxima Nova"/>
                <a:ea typeface="Proxima Nova"/>
                <a:cs typeface="Proxima Nova"/>
                <a:sym typeface="Proxima Nova"/>
              </a:rPr>
              <a:t>¿Y la complejidad?</a:t>
            </a:r>
            <a:endParaRPr sz="1800">
              <a:solidFill>
                <a:schemeClr val="dk1"/>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Como siempre, ecuaci</a:t>
            </a:r>
            <a:r>
              <a:rPr lang="es"/>
              <a:t>ón de recurrencia</a:t>
            </a:r>
            <a:endParaRPr/>
          </a:p>
        </p:txBody>
      </p:sp>
      <p:sp>
        <p:nvSpPr>
          <p:cNvPr id="469" name="Google Shape;469;p72"/>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T(n) = …? Cu</a:t>
            </a:r>
            <a:r>
              <a:rPr lang="es"/>
              <a:t>éntenme</a:t>
            </a:r>
            <a:endParaRPr/>
          </a:p>
          <a:p>
            <a:pPr indent="0" lvl="0" marL="0" rtl="0" algn="l">
              <a:spcBef>
                <a:spcPts val="1600"/>
              </a:spcBef>
              <a:spcAft>
                <a:spcPts val="0"/>
              </a:spcAft>
              <a:buNone/>
            </a:pPr>
            <a:r>
              <a:rPr lang="es"/>
              <a:t>T(n) = T(n/2) + O(n</a:t>
            </a:r>
            <a:r>
              <a:rPr baseline="30000" lang="es"/>
              <a:t>2.8…</a:t>
            </a:r>
            <a:r>
              <a:rPr lang="es"/>
              <a:t>)???</a:t>
            </a:r>
            <a:endParaRPr/>
          </a:p>
          <a:p>
            <a:pPr indent="0" lvl="0" marL="0" rtl="0" algn="l">
              <a:spcBef>
                <a:spcPts val="1600"/>
              </a:spcBef>
              <a:spcAft>
                <a:spcPts val="0"/>
              </a:spcAft>
              <a:buNone/>
            </a:pPr>
            <a:r>
              <a:rPr lang="es"/>
              <a:t>T(n) = T(</a:t>
            </a:r>
            <a:r>
              <a:rPr b="1" lang="es"/>
              <a:t>k?</a:t>
            </a:r>
            <a:r>
              <a:rPr lang="es"/>
              <a:t>/2) + O(n</a:t>
            </a:r>
            <a:r>
              <a:rPr baseline="30000" lang="es"/>
              <a:t>2.8…</a:t>
            </a:r>
            <a:r>
              <a:rPr lang="es"/>
              <a:t>)???</a:t>
            </a:r>
            <a:endParaRPr/>
          </a:p>
          <a:p>
            <a:pPr indent="0" lvl="0" marL="0" rtl="0" algn="l">
              <a:spcBef>
                <a:spcPts val="1600"/>
              </a:spcBef>
              <a:spcAft>
                <a:spcPts val="0"/>
              </a:spcAft>
              <a:buNone/>
            </a:pPr>
            <a:r>
              <a:rPr lang="es"/>
              <a:t>T(k, n) = T(</a:t>
            </a:r>
            <a:r>
              <a:rPr b="1" lang="es"/>
              <a:t>k</a:t>
            </a:r>
            <a:r>
              <a:rPr lang="es"/>
              <a:t>/2) + O(n</a:t>
            </a:r>
            <a:r>
              <a:rPr baseline="30000" lang="es"/>
              <a:t>2.8…</a:t>
            </a:r>
            <a:r>
              <a:rPr lang="es"/>
              <a:t>)</a:t>
            </a:r>
            <a:endParaRPr/>
          </a:p>
          <a:p>
            <a:pPr indent="0" lvl="0" marL="0" rtl="0" algn="l">
              <a:spcBef>
                <a:spcPts val="1600"/>
              </a:spcBef>
              <a:spcAft>
                <a:spcPts val="0"/>
              </a:spcAft>
              <a:buNone/>
            </a:pPr>
            <a:r>
              <a:rPr lang="es"/>
              <a:t>Y ahora… de qué nos disfrasamos? </a:t>
            </a:r>
            <a:endParaRPr/>
          </a:p>
          <a:p>
            <a:pPr indent="0" lvl="0" marL="0" rtl="0" algn="l">
              <a:spcBef>
                <a:spcPts val="1600"/>
              </a:spcBef>
              <a:spcAft>
                <a:spcPts val="0"/>
              </a:spcAft>
              <a:buNone/>
            </a:pPr>
            <a:r>
              <a:rPr lang="es"/>
              <a:t>No podemos aplicar el TM (no tenemos una sola variable, el caso base no es constante). Qué nos queda?</a:t>
            </a:r>
            <a:endParaRPr/>
          </a:p>
          <a:p>
            <a:pPr indent="0" lvl="0" marL="0" rtl="0" algn="l">
              <a:spcBef>
                <a:spcPts val="0"/>
              </a:spcBef>
              <a:spcAft>
                <a:spcPts val="0"/>
              </a:spcAft>
              <a:buClr>
                <a:schemeClr val="dk1"/>
              </a:buClr>
              <a:buSzPts val="1100"/>
              <a:buFont typeface="Arial"/>
              <a:buNone/>
            </a:pPr>
            <a:r>
              <a:rPr lang="es"/>
              <a:t>Tengo malas noticias: el cerebro.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7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¿Qu</a:t>
            </a:r>
            <a:r>
              <a:rPr lang="es"/>
              <a:t>é hacemos?</a:t>
            </a:r>
            <a:endParaRPr/>
          </a:p>
        </p:txBody>
      </p:sp>
      <p:sp>
        <p:nvSpPr>
          <p:cNvPr id="475" name="Google Shape;475;p73"/>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¿Cu</a:t>
            </a:r>
            <a:r>
              <a:rPr lang="es"/>
              <a:t>ántos llamados recursivos va a haber? Pensemos si la matriz fuera de tamaño constante y pequeñito: </a:t>
            </a:r>
            <a:endParaRPr/>
          </a:p>
          <a:p>
            <a:pPr indent="0" lvl="0" marL="0" rtl="0" algn="l">
              <a:spcBef>
                <a:spcPts val="1600"/>
              </a:spcBef>
              <a:spcAft>
                <a:spcPts val="0"/>
              </a:spcAft>
              <a:buNone/>
            </a:pPr>
            <a:r>
              <a:rPr lang="es"/>
              <a:t>T(k, n) = T(k/2) + O(1) → ?</a:t>
            </a:r>
            <a:endParaRPr/>
          </a:p>
          <a:p>
            <a:pPr indent="0" lvl="0" marL="0" rtl="0" algn="l">
              <a:spcBef>
                <a:spcPts val="1600"/>
              </a:spcBef>
              <a:spcAft>
                <a:spcPts val="0"/>
              </a:spcAft>
              <a:buNone/>
            </a:pPr>
            <a:r>
              <a:rPr lang="es"/>
              <a:t>Sería logarítmico. Tengo logarítmica cantidad de llamados recursivos. </a:t>
            </a:r>
            <a:endParaRPr/>
          </a:p>
          <a:p>
            <a:pPr indent="0" lvl="0" marL="0" rtl="0" algn="l">
              <a:spcBef>
                <a:spcPts val="1600"/>
              </a:spcBef>
              <a:spcAft>
                <a:spcPts val="0"/>
              </a:spcAft>
              <a:buNone/>
            </a:pPr>
            <a:r>
              <a:rPr lang="es"/>
              <a:t>Volviendo al caso con n: en cada uno de esos llamados, ¿cuánto consumo? </a:t>
            </a:r>
            <a:endParaRPr/>
          </a:p>
          <a:p>
            <a:pPr indent="0" lvl="0" marL="0" rtl="0" algn="l">
              <a:spcBef>
                <a:spcPts val="1600"/>
              </a:spcBef>
              <a:spcAft>
                <a:spcPts val="0"/>
              </a:spcAft>
              <a:buNone/>
            </a:pPr>
            <a:r>
              <a:rPr lang="es"/>
              <a:t>Entonces la complejidad queda….</a:t>
            </a:r>
            <a:endParaRPr/>
          </a:p>
          <a:p>
            <a:pPr indent="0" lvl="0" marL="0" rtl="0" algn="l">
              <a:spcBef>
                <a:spcPts val="1600"/>
              </a:spcBef>
              <a:spcAft>
                <a:spcPts val="1600"/>
              </a:spcAft>
              <a:buNone/>
            </a:pPr>
            <a:r>
              <a:rPr lang="es"/>
              <a:t>T(n) = O(n</a:t>
            </a:r>
            <a:r>
              <a:rPr baseline="30000" lang="es"/>
              <a:t>2.8…</a:t>
            </a:r>
            <a:r>
              <a:rPr lang="es"/>
              <a:t> log k)</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7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Par</a:t>
            </a:r>
            <a:r>
              <a:rPr lang="es"/>
              <a:t>á, pará, momento… por qué no aplicaba eso antes? </a:t>
            </a:r>
            <a:endParaRPr/>
          </a:p>
        </p:txBody>
      </p:sp>
      <p:sp>
        <p:nvSpPr>
          <p:cNvPr id="481" name="Google Shape;481;p74"/>
          <p:cNvSpPr txBox="1"/>
          <p:nvPr>
            <p:ph idx="1" type="body"/>
          </p:nvPr>
        </p:nvSpPr>
        <p:spPr>
          <a:xfrm>
            <a:off x="277350" y="154085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T(n) = T(n/2) + O(n) → ¿O(n log n)?</a:t>
            </a:r>
            <a:endParaRPr/>
          </a:p>
          <a:p>
            <a:pPr indent="0" lvl="0" marL="0" rtl="0" algn="l">
              <a:spcBef>
                <a:spcPts val="1600"/>
              </a:spcBef>
              <a:spcAft>
                <a:spcPts val="1600"/>
              </a:spcAft>
              <a:buNone/>
            </a:pPr>
            <a:r>
              <a:rPr lang="es"/>
              <a:t>No! T(n) = O(n), pero ¿por qu</a:t>
            </a:r>
            <a:r>
              <a:rPr lang="es"/>
              <a:t>é?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7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Problema VI: Conteo de Inversiones</a:t>
            </a:r>
            <a:endParaRPr/>
          </a:p>
        </p:txBody>
      </p:sp>
      <p:sp>
        <p:nvSpPr>
          <p:cNvPr id="487" name="Google Shape;487;p75"/>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Tengo un conjunto de n elementos + 2 arreglos/listas ordenados por diferentes criterios (A y B). </a:t>
            </a:r>
            <a:endParaRPr/>
          </a:p>
          <a:p>
            <a:pPr indent="0" lvl="0" marL="0" rtl="0" algn="l">
              <a:spcBef>
                <a:spcPts val="1600"/>
              </a:spcBef>
              <a:spcAft>
                <a:spcPts val="1600"/>
              </a:spcAft>
              <a:buNone/>
            </a:pPr>
            <a:r>
              <a:rPr lang="es"/>
              <a:t>→ Dar una medida de semejanza entre dichas listas.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7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Agarramos la pala (I)</a:t>
            </a:r>
            <a:endParaRPr/>
          </a:p>
        </p:txBody>
      </p:sp>
      <p:sp>
        <p:nvSpPr>
          <p:cNvPr id="493" name="Google Shape;493;p7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Nombramos los elementos en A con 1, 2, …, n, y B como correspondiente a eso. </a:t>
            </a:r>
            <a:endParaRPr/>
          </a:p>
          <a:p>
            <a:pPr indent="0" lvl="0" marL="0" rtl="0" algn="l">
              <a:spcBef>
                <a:spcPts val="1600"/>
              </a:spcBef>
              <a:spcAft>
                <a:spcPts val="0"/>
              </a:spcAft>
              <a:buNone/>
            </a:pPr>
            <a:r>
              <a:rPr lang="es"/>
              <a:t>¿Qué tan diferente está el orden B (de forma ascendente) respecto al A?</a:t>
            </a:r>
            <a:endParaRPr/>
          </a:p>
          <a:p>
            <a:pPr indent="0" lvl="0" marL="0" rtl="0" algn="l">
              <a:spcBef>
                <a:spcPts val="1600"/>
              </a:spcBef>
              <a:spcAft>
                <a:spcPts val="1600"/>
              </a:spcAft>
              <a:buNone/>
            </a:pPr>
            <a:r>
              <a:rPr lang="es"/>
              <a:t>Pregunta: ¿Qué pasa si b</a:t>
            </a:r>
            <a:r>
              <a:rPr baseline="-25000" lang="es"/>
              <a:t>i</a:t>
            </a:r>
            <a:r>
              <a:rPr lang="es"/>
              <a:t> &lt; b</a:t>
            </a:r>
            <a:r>
              <a:rPr baseline="-25000" lang="es"/>
              <a:t>i+1</a:t>
            </a:r>
            <a:r>
              <a:rPr lang="es"/>
              <a:t> para todo i?</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xEl>
                                              <p:pRg end="0" st="0"/>
                                            </p:txEl>
                                          </p:spTgt>
                                        </p:tgtEl>
                                        <p:attrNameLst>
                                          <p:attrName>style.visibility</p:attrName>
                                        </p:attrNameLst>
                                      </p:cBhvr>
                                      <p:to>
                                        <p:strVal val="visible"/>
                                      </p:to>
                                    </p:set>
                                    <p:animEffect filter="fade" transition="in">
                                      <p:cBhvr>
                                        <p:cTn dur="1000"/>
                                        <p:tgtEl>
                                          <p:spTgt spid="49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xEl>
                                              <p:pRg end="1" st="1"/>
                                            </p:txEl>
                                          </p:spTgt>
                                        </p:tgtEl>
                                        <p:attrNameLst>
                                          <p:attrName>style.visibility</p:attrName>
                                        </p:attrNameLst>
                                      </p:cBhvr>
                                      <p:to>
                                        <p:strVal val="visible"/>
                                      </p:to>
                                    </p:set>
                                    <p:animEffect filter="fade" transition="in">
                                      <p:cBhvr>
                                        <p:cTn dur="1000"/>
                                        <p:tgtEl>
                                          <p:spTgt spid="49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xEl>
                                              <p:pRg end="2" st="2"/>
                                            </p:txEl>
                                          </p:spTgt>
                                        </p:tgtEl>
                                        <p:attrNameLst>
                                          <p:attrName>style.visibility</p:attrName>
                                        </p:attrNameLst>
                                      </p:cBhvr>
                                      <p:to>
                                        <p:strVal val="visible"/>
                                      </p:to>
                                    </p:set>
                                    <p:animEffect filter="fade" transition="in">
                                      <p:cBhvr>
                                        <p:cTn dur="1000"/>
                                        <p:tgtEl>
                                          <p:spTgt spid="493">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7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Inversiones</a:t>
            </a:r>
            <a:endParaRPr/>
          </a:p>
        </p:txBody>
      </p:sp>
      <p:sp>
        <p:nvSpPr>
          <p:cNvPr id="499" name="Google Shape;499;p77"/>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Dos elementos están invertidos si b</a:t>
            </a:r>
            <a:r>
              <a:rPr baseline="-25000" lang="es"/>
              <a:t>i</a:t>
            </a:r>
            <a:r>
              <a:rPr lang="es"/>
              <a:t> &gt; b</a:t>
            </a:r>
            <a:r>
              <a:rPr baseline="-25000" lang="es"/>
              <a:t>j</a:t>
            </a:r>
            <a:r>
              <a:rPr lang="es"/>
              <a:t> (con i &lt; j). </a:t>
            </a:r>
            <a:endParaRPr/>
          </a:p>
          <a:p>
            <a:pPr indent="0" lvl="0" marL="0" rtl="0" algn="l">
              <a:spcBef>
                <a:spcPts val="1600"/>
              </a:spcBef>
              <a:spcAft>
                <a:spcPts val="0"/>
              </a:spcAft>
              <a:buNone/>
            </a:pPr>
            <a:r>
              <a:rPr lang="es"/>
              <a:t>¿Algoritmo sencillo para contar inversiones?</a:t>
            </a:r>
            <a:endParaRPr/>
          </a:p>
          <a:p>
            <a:pPr indent="0" lvl="0" marL="0" rtl="0" algn="l">
              <a:spcBef>
                <a:spcPts val="1600"/>
              </a:spcBef>
              <a:spcAft>
                <a:spcPts val="1600"/>
              </a:spcAft>
              <a:buNone/>
            </a:pPr>
            <a:r>
              <a:rPr lang="es"/>
              <a:t>¿Se puede hacer mejor?</a:t>
            </a:r>
            <a:endParaRPr/>
          </a:p>
        </p:txBody>
      </p:sp>
      <p:pic>
        <p:nvPicPr>
          <p:cNvPr id="500" name="Google Shape;500;p77"/>
          <p:cNvPicPr preferRelativeResize="0"/>
          <p:nvPr/>
        </p:nvPicPr>
        <p:blipFill>
          <a:blip r:embed="rId3">
            <a:alphaModFix/>
          </a:blip>
          <a:stretch>
            <a:fillRect/>
          </a:stretch>
        </p:blipFill>
        <p:spPr>
          <a:xfrm>
            <a:off x="2419350" y="2680500"/>
            <a:ext cx="4305300" cy="2114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0" st="0"/>
                                            </p:txEl>
                                          </p:spTgt>
                                        </p:tgtEl>
                                        <p:attrNameLst>
                                          <p:attrName>style.visibility</p:attrName>
                                        </p:attrNameLst>
                                      </p:cBhvr>
                                      <p:to>
                                        <p:strVal val="visible"/>
                                      </p:to>
                                    </p:set>
                                    <p:animEffect filter="fade" transition="in">
                                      <p:cBhvr>
                                        <p:cTn dur="1000"/>
                                        <p:tgtEl>
                                          <p:spTgt spid="4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1" st="1"/>
                                            </p:txEl>
                                          </p:spTgt>
                                        </p:tgtEl>
                                        <p:attrNameLst>
                                          <p:attrName>style.visibility</p:attrName>
                                        </p:attrNameLst>
                                      </p:cBhvr>
                                      <p:to>
                                        <p:strVal val="visible"/>
                                      </p:to>
                                    </p:set>
                                    <p:animEffect filter="fade" transition="in">
                                      <p:cBhvr>
                                        <p:cTn dur="1000"/>
                                        <p:tgtEl>
                                          <p:spTgt spid="4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2" st="2"/>
                                            </p:txEl>
                                          </p:spTgt>
                                        </p:tgtEl>
                                        <p:attrNameLst>
                                          <p:attrName>style.visibility</p:attrName>
                                        </p:attrNameLst>
                                      </p:cBhvr>
                                      <p:to>
                                        <p:strVal val="visible"/>
                                      </p:to>
                                    </p:set>
                                    <p:animEffect filter="fade" transition="in">
                                      <p:cBhvr>
                                        <p:cTn dur="1000"/>
                                        <p:tgtEl>
                                          <p:spTgt spid="4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
                                        </p:tgtEl>
                                        <p:attrNameLst>
                                          <p:attrName>style.visibility</p:attrName>
                                        </p:attrNameLst>
                                      </p:cBhvr>
                                      <p:to>
                                        <p:strVal val="visible"/>
                                      </p:to>
                                    </p:set>
                                    <p:animEffect filter="fade" transition="in">
                                      <p:cBhvr>
                                        <p:cTn dur="1000"/>
                                        <p:tgtEl>
                                          <p:spTgt spid="5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7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Idea… Mergesort</a:t>
            </a:r>
            <a:endParaRPr/>
          </a:p>
        </p:txBody>
      </p:sp>
      <p:sp>
        <p:nvSpPr>
          <p:cNvPr id="506" name="Google Shape;506;p7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s"/>
              <a:t>Pensemos en MergeSort</a:t>
            </a:r>
            <a:endParaRPr/>
          </a:p>
          <a:p>
            <a:pPr indent="-342900" lvl="0" marL="457200" rtl="0" algn="l">
              <a:spcBef>
                <a:spcPts val="0"/>
              </a:spcBef>
              <a:spcAft>
                <a:spcPts val="0"/>
              </a:spcAft>
              <a:buSzPts val="1800"/>
              <a:buAutoNum type="arabicPeriod"/>
            </a:pPr>
            <a:r>
              <a:rPr lang="es"/>
              <a:t>Visualicemos MergeSort</a:t>
            </a:r>
            <a:endParaRPr/>
          </a:p>
          <a:p>
            <a:pPr indent="-342900" lvl="0" marL="457200" rtl="0" algn="l">
              <a:spcBef>
                <a:spcPts val="0"/>
              </a:spcBef>
              <a:spcAft>
                <a:spcPts val="0"/>
              </a:spcAft>
              <a:buSzPts val="1800"/>
              <a:buAutoNum type="arabicPeriod"/>
            </a:pPr>
            <a:r>
              <a:rPr lang="es"/>
              <a:t>Visualicemos fuerte MergeSort</a:t>
            </a:r>
            <a:endParaRPr/>
          </a:p>
          <a:p>
            <a:pPr indent="-342900" lvl="0" marL="457200" rtl="0" algn="l">
              <a:spcBef>
                <a:spcPts val="0"/>
              </a:spcBef>
              <a:spcAft>
                <a:spcPts val="0"/>
              </a:spcAft>
              <a:buSzPts val="1800"/>
              <a:buAutoNum type="arabicPeriod"/>
            </a:pPr>
            <a:r>
              <a:rPr lang="es"/>
              <a:t>Pidámosle al Universo un MergeSort</a:t>
            </a:r>
            <a:endParaRPr/>
          </a:p>
          <a:p>
            <a:pPr indent="-342900" lvl="0" marL="457200" rtl="0" algn="l">
              <a:spcBef>
                <a:spcPts val="0"/>
              </a:spcBef>
              <a:spcAft>
                <a:spcPts val="0"/>
              </a:spcAft>
              <a:buSzPts val="1800"/>
              <a:buAutoNum type="arabicPeriod"/>
            </a:pPr>
            <a:r>
              <a:rPr lang="es"/>
              <a:t>¿Tienen MergeSort en la cabeza?</a:t>
            </a:r>
            <a:endParaRPr/>
          </a:p>
          <a:p>
            <a:pPr indent="-342900" lvl="0" marL="457200" rtl="0" algn="l">
              <a:spcBef>
                <a:spcPts val="0"/>
              </a:spcBef>
              <a:spcAft>
                <a:spcPts val="0"/>
              </a:spcAft>
              <a:buSzPts val="1800"/>
              <a:buAutoNum type="arabicPeriod"/>
            </a:pPr>
            <a:r>
              <a:rPr lang="es"/>
              <a:t>Si "no hubiera desorden", ¿qué pasaría en la etapa de merge?</a:t>
            </a:r>
            <a:endParaRPr/>
          </a:p>
          <a:p>
            <a:pPr indent="-342900" lvl="0" marL="457200" rtl="0" algn="l">
              <a:spcBef>
                <a:spcPts val="0"/>
              </a:spcBef>
              <a:spcAft>
                <a:spcPts val="0"/>
              </a:spcAft>
              <a:buSzPts val="1800"/>
              <a:buAutoNum type="arabicPeriod"/>
            </a:pPr>
            <a:r>
              <a:rPr lang="es"/>
              <a:t>¿Si tuviéramos </a:t>
            </a:r>
            <a:r>
              <a:rPr lang="es"/>
              <a:t>el arreglo…</a:t>
            </a:r>
            <a:r>
              <a:rPr lang="es"/>
              <a:t> 1, 3, 4, 2, 5, 6?</a:t>
            </a:r>
            <a:endParaRPr/>
          </a:p>
          <a:p>
            <a:pPr indent="0" lvl="0" marL="0" rtl="0" algn="l">
              <a:spcBef>
                <a:spcPts val="1600"/>
              </a:spcBef>
              <a:spcAft>
                <a:spcPts val="1600"/>
              </a:spcAft>
              <a:buNone/>
            </a:pPr>
            <a:r>
              <a:rPr lang="es"/>
              <a:t>¿Cómo sería nuestro caso base?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0" st="0"/>
                                            </p:txEl>
                                          </p:spTgt>
                                        </p:tgtEl>
                                        <p:attrNameLst>
                                          <p:attrName>style.visibility</p:attrName>
                                        </p:attrNameLst>
                                      </p:cBhvr>
                                      <p:to>
                                        <p:strVal val="visible"/>
                                      </p:to>
                                    </p:set>
                                    <p:animEffect filter="fade" transition="in">
                                      <p:cBhvr>
                                        <p:cTn dur="1000"/>
                                        <p:tgtEl>
                                          <p:spTgt spid="5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1" st="1"/>
                                            </p:txEl>
                                          </p:spTgt>
                                        </p:tgtEl>
                                        <p:attrNameLst>
                                          <p:attrName>style.visibility</p:attrName>
                                        </p:attrNameLst>
                                      </p:cBhvr>
                                      <p:to>
                                        <p:strVal val="visible"/>
                                      </p:to>
                                    </p:set>
                                    <p:animEffect filter="fade" transition="in">
                                      <p:cBhvr>
                                        <p:cTn dur="1000"/>
                                        <p:tgtEl>
                                          <p:spTgt spid="5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2" st="2"/>
                                            </p:txEl>
                                          </p:spTgt>
                                        </p:tgtEl>
                                        <p:attrNameLst>
                                          <p:attrName>style.visibility</p:attrName>
                                        </p:attrNameLst>
                                      </p:cBhvr>
                                      <p:to>
                                        <p:strVal val="visible"/>
                                      </p:to>
                                    </p:set>
                                    <p:animEffect filter="fade" transition="in">
                                      <p:cBhvr>
                                        <p:cTn dur="1000"/>
                                        <p:tgtEl>
                                          <p:spTgt spid="5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3" st="3"/>
                                            </p:txEl>
                                          </p:spTgt>
                                        </p:tgtEl>
                                        <p:attrNameLst>
                                          <p:attrName>style.visibility</p:attrName>
                                        </p:attrNameLst>
                                      </p:cBhvr>
                                      <p:to>
                                        <p:strVal val="visible"/>
                                      </p:to>
                                    </p:set>
                                    <p:animEffect filter="fade" transition="in">
                                      <p:cBhvr>
                                        <p:cTn dur="1000"/>
                                        <p:tgtEl>
                                          <p:spTgt spid="50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4" st="4"/>
                                            </p:txEl>
                                          </p:spTgt>
                                        </p:tgtEl>
                                        <p:attrNameLst>
                                          <p:attrName>style.visibility</p:attrName>
                                        </p:attrNameLst>
                                      </p:cBhvr>
                                      <p:to>
                                        <p:strVal val="visible"/>
                                      </p:to>
                                    </p:set>
                                    <p:animEffect filter="fade" transition="in">
                                      <p:cBhvr>
                                        <p:cTn dur="1000"/>
                                        <p:tgtEl>
                                          <p:spTgt spid="50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5" st="5"/>
                                            </p:txEl>
                                          </p:spTgt>
                                        </p:tgtEl>
                                        <p:attrNameLst>
                                          <p:attrName>style.visibility</p:attrName>
                                        </p:attrNameLst>
                                      </p:cBhvr>
                                      <p:to>
                                        <p:strVal val="visible"/>
                                      </p:to>
                                    </p:set>
                                    <p:animEffect filter="fade" transition="in">
                                      <p:cBhvr>
                                        <p:cTn dur="1000"/>
                                        <p:tgtEl>
                                          <p:spTgt spid="50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6" st="6"/>
                                            </p:txEl>
                                          </p:spTgt>
                                        </p:tgtEl>
                                        <p:attrNameLst>
                                          <p:attrName>style.visibility</p:attrName>
                                        </p:attrNameLst>
                                      </p:cBhvr>
                                      <p:to>
                                        <p:strVal val="visible"/>
                                      </p:to>
                                    </p:set>
                                    <p:animEffect filter="fade" transition="in">
                                      <p:cBhvr>
                                        <p:cTn dur="1000"/>
                                        <p:tgtEl>
                                          <p:spTgt spid="50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7" st="7"/>
                                            </p:txEl>
                                          </p:spTgt>
                                        </p:tgtEl>
                                        <p:attrNameLst>
                                          <p:attrName>style.visibility</p:attrName>
                                        </p:attrNameLst>
                                      </p:cBhvr>
                                      <p:to>
                                        <p:strVal val="visible"/>
                                      </p:to>
                                    </p:set>
                                    <p:animEffect filter="fade" transition="in">
                                      <p:cBhvr>
                                        <p:cTn dur="1000"/>
                                        <p:tgtEl>
                                          <p:spTgt spid="506">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7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Apliquemos al ejemplo original</a:t>
            </a:r>
            <a:endParaRPr/>
          </a:p>
        </p:txBody>
      </p:sp>
      <p:sp>
        <p:nvSpPr>
          <p:cNvPr id="512" name="Google Shape;512;p79"/>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[2, 4, 1, 3, 5]</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80"/>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457200" lvl="0" marL="1828800" rtl="0" algn="l">
              <a:spcBef>
                <a:spcPts val="0"/>
              </a:spcBef>
              <a:spcAft>
                <a:spcPts val="1600"/>
              </a:spcAft>
              <a:buNone/>
            </a:pPr>
            <a:r>
              <a:rPr lang="es" sz="2000">
                <a:latin typeface="Roboto Mono"/>
                <a:ea typeface="Roboto Mono"/>
                <a:cs typeface="Roboto Mono"/>
                <a:sym typeface="Roboto Mono"/>
              </a:rPr>
              <a:t>[6, 8, 7, 2, 1, 5, 3, 4]</a:t>
            </a:r>
            <a:endParaRPr sz="2000">
              <a:latin typeface="Roboto Mono"/>
              <a:ea typeface="Roboto Mono"/>
              <a:cs typeface="Roboto Mono"/>
              <a:sym typeface="Roboto Mono"/>
            </a:endParaRPr>
          </a:p>
        </p:txBody>
      </p:sp>
      <p:sp>
        <p:nvSpPr>
          <p:cNvPr id="518" name="Google Shape;518;p8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Mergesort+Conteo</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1"/>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457200" lvl="0" marL="1828800" rtl="0" algn="l">
              <a:spcBef>
                <a:spcPts val="0"/>
              </a:spcBef>
              <a:spcAft>
                <a:spcPts val="1600"/>
              </a:spcAft>
              <a:buNone/>
            </a:pPr>
            <a:r>
              <a:rPr lang="es" sz="2000">
                <a:latin typeface="Roboto Mono"/>
                <a:ea typeface="Roboto Mono"/>
                <a:cs typeface="Roboto Mono"/>
                <a:sym typeface="Roboto Mono"/>
              </a:rPr>
              <a:t>[6, 8, 7, 2, 1, 5, 3, 4]</a:t>
            </a:r>
            <a:endParaRPr sz="2000">
              <a:latin typeface="Roboto Mono"/>
              <a:ea typeface="Roboto Mono"/>
              <a:cs typeface="Roboto Mono"/>
              <a:sym typeface="Roboto Mono"/>
            </a:endParaRPr>
          </a:p>
        </p:txBody>
      </p:sp>
      <p:sp>
        <p:nvSpPr>
          <p:cNvPr id="524" name="Google Shape;524;p8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Mergesort</a:t>
            </a:r>
            <a:r>
              <a:rPr lang="es"/>
              <a:t>+Conteo</a:t>
            </a:r>
            <a:endParaRPr/>
          </a:p>
        </p:txBody>
      </p:sp>
      <p:cxnSp>
        <p:nvCxnSpPr>
          <p:cNvPr id="525" name="Google Shape;525;p81"/>
          <p:cNvCxnSpPr>
            <a:stCxn id="524" idx="2"/>
          </p:cNvCxnSpPr>
          <p:nvPr/>
        </p:nvCxnSpPr>
        <p:spPr>
          <a:xfrm flipH="1">
            <a:off x="4564800" y="1058225"/>
            <a:ext cx="7200" cy="6348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82"/>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457200" lvl="0" marL="1828800" rtl="0" algn="l">
              <a:spcBef>
                <a:spcPts val="0"/>
              </a:spcBef>
              <a:spcAft>
                <a:spcPts val="0"/>
              </a:spcAft>
              <a:buNone/>
            </a:pPr>
            <a:r>
              <a:rPr lang="es" sz="2000">
                <a:latin typeface="Roboto Mono"/>
                <a:ea typeface="Roboto Mono"/>
                <a:cs typeface="Roboto Mono"/>
                <a:sym typeface="Roboto Mono"/>
              </a:rPr>
              <a:t>[6, 8, 7, 2, 1, 5, 3, 4]</a:t>
            </a:r>
            <a:endParaRPr sz="2000">
              <a:latin typeface="Roboto Mono"/>
              <a:ea typeface="Roboto Mono"/>
              <a:cs typeface="Roboto Mono"/>
              <a:sym typeface="Roboto Mono"/>
            </a:endParaRPr>
          </a:p>
          <a:p>
            <a:pPr indent="457200" lvl="0" marL="1828800" rtl="0" algn="l">
              <a:spcBef>
                <a:spcPts val="1600"/>
              </a:spcBef>
              <a:spcAft>
                <a:spcPts val="0"/>
              </a:spcAft>
              <a:buNone/>
            </a:pPr>
            <a:r>
              <a:t/>
            </a:r>
            <a:endParaRPr sz="2000">
              <a:latin typeface="Roboto Mono"/>
              <a:ea typeface="Roboto Mono"/>
              <a:cs typeface="Roboto Mono"/>
              <a:sym typeface="Roboto Mono"/>
            </a:endParaRPr>
          </a:p>
          <a:p>
            <a:pPr indent="457200" lvl="0" marL="914400" rtl="0" algn="l">
              <a:spcBef>
                <a:spcPts val="1600"/>
              </a:spcBef>
              <a:spcAft>
                <a:spcPts val="1600"/>
              </a:spcAft>
              <a:buNone/>
            </a:pPr>
            <a:r>
              <a:rPr lang="es" sz="2000">
                <a:latin typeface="Roboto Mono"/>
                <a:ea typeface="Roboto Mono"/>
                <a:cs typeface="Roboto Mono"/>
                <a:sym typeface="Roboto Mono"/>
              </a:rPr>
              <a:t>[6, 8, 7, 2]				[1, 5, 3, 4]</a:t>
            </a:r>
            <a:endParaRPr sz="2000">
              <a:latin typeface="Roboto Mono"/>
              <a:ea typeface="Roboto Mono"/>
              <a:cs typeface="Roboto Mono"/>
              <a:sym typeface="Roboto Mono"/>
            </a:endParaRPr>
          </a:p>
        </p:txBody>
      </p:sp>
      <p:sp>
        <p:nvSpPr>
          <p:cNvPr id="531" name="Google Shape;531;p8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Mergesort</a:t>
            </a:r>
            <a:r>
              <a:rPr lang="es"/>
              <a:t>+Conteo</a:t>
            </a:r>
            <a:endParaRPr/>
          </a:p>
        </p:txBody>
      </p:sp>
      <p:cxnSp>
        <p:nvCxnSpPr>
          <p:cNvPr id="532" name="Google Shape;532;p82"/>
          <p:cNvCxnSpPr>
            <a:stCxn id="531" idx="2"/>
          </p:cNvCxnSpPr>
          <p:nvPr/>
        </p:nvCxnSpPr>
        <p:spPr>
          <a:xfrm flipH="1">
            <a:off x="4564800" y="1058225"/>
            <a:ext cx="7200" cy="6348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83"/>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457200" lvl="0" marL="1828800" rtl="0" algn="l">
              <a:spcBef>
                <a:spcPts val="0"/>
              </a:spcBef>
              <a:spcAft>
                <a:spcPts val="0"/>
              </a:spcAft>
              <a:buNone/>
            </a:pPr>
            <a:r>
              <a:rPr lang="es" sz="2000">
                <a:latin typeface="Roboto Mono"/>
                <a:ea typeface="Roboto Mono"/>
                <a:cs typeface="Roboto Mono"/>
                <a:sym typeface="Roboto Mono"/>
              </a:rPr>
              <a:t>[6, 8, 7, 2, 1, 5, 3, 4]</a:t>
            </a:r>
            <a:endParaRPr sz="2000">
              <a:latin typeface="Roboto Mono"/>
              <a:ea typeface="Roboto Mono"/>
              <a:cs typeface="Roboto Mono"/>
              <a:sym typeface="Roboto Mono"/>
            </a:endParaRPr>
          </a:p>
          <a:p>
            <a:pPr indent="457200" lvl="0" marL="1828800" rtl="0" algn="l">
              <a:spcBef>
                <a:spcPts val="1600"/>
              </a:spcBef>
              <a:spcAft>
                <a:spcPts val="0"/>
              </a:spcAft>
              <a:buNone/>
            </a:pPr>
            <a:r>
              <a:t/>
            </a:r>
            <a:endParaRPr sz="2000">
              <a:latin typeface="Roboto Mono"/>
              <a:ea typeface="Roboto Mono"/>
              <a:cs typeface="Roboto Mono"/>
              <a:sym typeface="Roboto Mono"/>
            </a:endParaRPr>
          </a:p>
          <a:p>
            <a:pPr indent="457200" lvl="0" marL="914400" rtl="0" algn="l">
              <a:spcBef>
                <a:spcPts val="1600"/>
              </a:spcBef>
              <a:spcAft>
                <a:spcPts val="1600"/>
              </a:spcAft>
              <a:buNone/>
            </a:pPr>
            <a:r>
              <a:rPr lang="es" sz="2000">
                <a:latin typeface="Roboto Mono"/>
                <a:ea typeface="Roboto Mono"/>
                <a:cs typeface="Roboto Mono"/>
                <a:sym typeface="Roboto Mono"/>
              </a:rPr>
              <a:t>[6, 8, 7, 2]				[1, 5, 3, 4]</a:t>
            </a:r>
            <a:endParaRPr sz="2000">
              <a:latin typeface="Roboto Mono"/>
              <a:ea typeface="Roboto Mono"/>
              <a:cs typeface="Roboto Mono"/>
              <a:sym typeface="Roboto Mono"/>
            </a:endParaRPr>
          </a:p>
        </p:txBody>
      </p:sp>
      <p:sp>
        <p:nvSpPr>
          <p:cNvPr id="538" name="Google Shape;538;p8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Mergesort</a:t>
            </a:r>
            <a:endParaRPr/>
          </a:p>
        </p:txBody>
      </p:sp>
      <p:cxnSp>
        <p:nvCxnSpPr>
          <p:cNvPr id="539" name="Google Shape;539;p83"/>
          <p:cNvCxnSpPr>
            <a:stCxn id="538" idx="2"/>
          </p:cNvCxnSpPr>
          <p:nvPr/>
        </p:nvCxnSpPr>
        <p:spPr>
          <a:xfrm flipH="1">
            <a:off x="4564800" y="1058225"/>
            <a:ext cx="7200" cy="634800"/>
          </a:xfrm>
          <a:prstGeom prst="straightConnector1">
            <a:avLst/>
          </a:prstGeom>
          <a:noFill/>
          <a:ln cap="flat" cmpd="sng" w="9525">
            <a:solidFill>
              <a:schemeClr val="dk2"/>
            </a:solidFill>
            <a:prstDash val="solid"/>
            <a:round/>
            <a:headEnd len="med" w="med" type="none"/>
            <a:tailEnd len="med" w="med" type="none"/>
          </a:ln>
        </p:spPr>
      </p:cxnSp>
      <p:cxnSp>
        <p:nvCxnSpPr>
          <p:cNvPr id="540" name="Google Shape;540;p83"/>
          <p:cNvCxnSpPr/>
          <p:nvPr/>
        </p:nvCxnSpPr>
        <p:spPr>
          <a:xfrm flipH="1">
            <a:off x="2743125" y="2261000"/>
            <a:ext cx="10800" cy="482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8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457200" lvl="0" marL="1828800" rtl="0" algn="l">
              <a:spcBef>
                <a:spcPts val="0"/>
              </a:spcBef>
              <a:spcAft>
                <a:spcPts val="0"/>
              </a:spcAft>
              <a:buNone/>
            </a:pPr>
            <a:r>
              <a:rPr lang="es" sz="2000">
                <a:latin typeface="Roboto Mono"/>
                <a:ea typeface="Roboto Mono"/>
                <a:cs typeface="Roboto Mono"/>
                <a:sym typeface="Roboto Mono"/>
              </a:rPr>
              <a:t>[6, 8, 7, 2, 1, 5, 3, 4]</a:t>
            </a:r>
            <a:endParaRPr sz="2000">
              <a:latin typeface="Roboto Mono"/>
              <a:ea typeface="Roboto Mono"/>
              <a:cs typeface="Roboto Mono"/>
              <a:sym typeface="Roboto Mono"/>
            </a:endParaRPr>
          </a:p>
          <a:p>
            <a:pPr indent="457200" lvl="0" marL="1828800" rtl="0" algn="l">
              <a:spcBef>
                <a:spcPts val="1600"/>
              </a:spcBef>
              <a:spcAft>
                <a:spcPts val="0"/>
              </a:spcAft>
              <a:buNone/>
            </a:pPr>
            <a:r>
              <a:t/>
            </a:r>
            <a:endParaRPr sz="2000">
              <a:latin typeface="Roboto Mono"/>
              <a:ea typeface="Roboto Mono"/>
              <a:cs typeface="Roboto Mono"/>
              <a:sym typeface="Roboto Mono"/>
            </a:endParaRPr>
          </a:p>
          <a:p>
            <a:pPr indent="457200" lvl="0" marL="914400" rtl="0" algn="l">
              <a:spcBef>
                <a:spcPts val="1600"/>
              </a:spcBef>
              <a:spcAft>
                <a:spcPts val="0"/>
              </a:spcAft>
              <a:buNone/>
            </a:pPr>
            <a:r>
              <a:rPr lang="es" sz="2000">
                <a:latin typeface="Roboto Mono"/>
                <a:ea typeface="Roboto Mono"/>
                <a:cs typeface="Roboto Mono"/>
                <a:sym typeface="Roboto Mono"/>
              </a:rPr>
              <a:t>[6, 8, 7, 2]				[1, 5, 3, 4]</a:t>
            </a:r>
            <a:endParaRPr sz="2000">
              <a:latin typeface="Roboto Mono"/>
              <a:ea typeface="Roboto Mono"/>
              <a:cs typeface="Roboto Mono"/>
              <a:sym typeface="Roboto Mono"/>
            </a:endParaRPr>
          </a:p>
          <a:p>
            <a:pPr indent="457200" lvl="0" marL="914400" rtl="0" algn="l">
              <a:spcBef>
                <a:spcPts val="1600"/>
              </a:spcBef>
              <a:spcAft>
                <a:spcPts val="0"/>
              </a:spcAft>
              <a:buNone/>
            </a:pPr>
            <a:r>
              <a:t/>
            </a:r>
            <a:endParaRPr sz="2000">
              <a:latin typeface="Roboto Mono"/>
              <a:ea typeface="Roboto Mono"/>
              <a:cs typeface="Roboto Mono"/>
              <a:sym typeface="Roboto Mono"/>
            </a:endParaRPr>
          </a:p>
          <a:p>
            <a:pPr indent="457200" lvl="0" marL="0" rtl="0" algn="l">
              <a:spcBef>
                <a:spcPts val="1600"/>
              </a:spcBef>
              <a:spcAft>
                <a:spcPts val="1600"/>
              </a:spcAft>
              <a:buNone/>
            </a:pPr>
            <a:r>
              <a:rPr lang="es" sz="2000">
                <a:latin typeface="Roboto Mono"/>
                <a:ea typeface="Roboto Mono"/>
                <a:cs typeface="Roboto Mono"/>
                <a:sym typeface="Roboto Mono"/>
              </a:rPr>
              <a:t>[6, 8]			[7, 2]			</a:t>
            </a:r>
            <a:endParaRPr sz="2000">
              <a:latin typeface="Roboto Mono"/>
              <a:ea typeface="Roboto Mono"/>
              <a:cs typeface="Roboto Mono"/>
              <a:sym typeface="Roboto Mono"/>
            </a:endParaRPr>
          </a:p>
        </p:txBody>
      </p:sp>
      <p:sp>
        <p:nvSpPr>
          <p:cNvPr id="546" name="Google Shape;546;p8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Mergesort</a:t>
            </a:r>
            <a:endParaRPr/>
          </a:p>
        </p:txBody>
      </p:sp>
      <p:cxnSp>
        <p:nvCxnSpPr>
          <p:cNvPr id="547" name="Google Shape;547;p84"/>
          <p:cNvCxnSpPr>
            <a:stCxn id="546" idx="2"/>
          </p:cNvCxnSpPr>
          <p:nvPr/>
        </p:nvCxnSpPr>
        <p:spPr>
          <a:xfrm flipH="1">
            <a:off x="4564800" y="1058225"/>
            <a:ext cx="7200" cy="634800"/>
          </a:xfrm>
          <a:prstGeom prst="straightConnector1">
            <a:avLst/>
          </a:prstGeom>
          <a:noFill/>
          <a:ln cap="flat" cmpd="sng" w="9525">
            <a:solidFill>
              <a:schemeClr val="dk2"/>
            </a:solidFill>
            <a:prstDash val="solid"/>
            <a:round/>
            <a:headEnd len="med" w="med" type="none"/>
            <a:tailEnd len="med" w="med" type="none"/>
          </a:ln>
        </p:spPr>
      </p:cxnSp>
      <p:cxnSp>
        <p:nvCxnSpPr>
          <p:cNvPr id="548" name="Google Shape;548;p84"/>
          <p:cNvCxnSpPr/>
          <p:nvPr/>
        </p:nvCxnSpPr>
        <p:spPr>
          <a:xfrm flipH="1">
            <a:off x="2743125" y="2261000"/>
            <a:ext cx="10800" cy="482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85"/>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457200" lvl="0" marL="1828800" rtl="0" algn="l">
              <a:spcBef>
                <a:spcPts val="0"/>
              </a:spcBef>
              <a:spcAft>
                <a:spcPts val="0"/>
              </a:spcAft>
              <a:buNone/>
            </a:pPr>
            <a:r>
              <a:rPr lang="es" sz="2000">
                <a:latin typeface="Roboto Mono"/>
                <a:ea typeface="Roboto Mono"/>
                <a:cs typeface="Roboto Mono"/>
                <a:sym typeface="Roboto Mono"/>
              </a:rPr>
              <a:t>[6, 8, 7, 2, 1, 5, </a:t>
            </a:r>
            <a:r>
              <a:rPr lang="es" sz="2000">
                <a:latin typeface="Roboto Mono"/>
                <a:ea typeface="Roboto Mono"/>
                <a:cs typeface="Roboto Mono"/>
                <a:sym typeface="Roboto Mono"/>
              </a:rPr>
              <a:t>3, 4</a:t>
            </a:r>
            <a:r>
              <a:rPr lang="es" sz="2000">
                <a:latin typeface="Roboto Mono"/>
                <a:ea typeface="Roboto Mono"/>
                <a:cs typeface="Roboto Mono"/>
                <a:sym typeface="Roboto Mono"/>
              </a:rPr>
              <a:t>]</a:t>
            </a:r>
            <a:endParaRPr sz="2000">
              <a:latin typeface="Roboto Mono"/>
              <a:ea typeface="Roboto Mono"/>
              <a:cs typeface="Roboto Mono"/>
              <a:sym typeface="Roboto Mono"/>
            </a:endParaRPr>
          </a:p>
          <a:p>
            <a:pPr indent="457200" lvl="0" marL="1828800" rtl="0" algn="l">
              <a:spcBef>
                <a:spcPts val="1600"/>
              </a:spcBef>
              <a:spcAft>
                <a:spcPts val="0"/>
              </a:spcAft>
              <a:buNone/>
            </a:pPr>
            <a:r>
              <a:t/>
            </a:r>
            <a:endParaRPr sz="2000">
              <a:latin typeface="Roboto Mono"/>
              <a:ea typeface="Roboto Mono"/>
              <a:cs typeface="Roboto Mono"/>
              <a:sym typeface="Roboto Mono"/>
            </a:endParaRPr>
          </a:p>
          <a:p>
            <a:pPr indent="457200" lvl="0" marL="914400" rtl="0" algn="l">
              <a:spcBef>
                <a:spcPts val="1600"/>
              </a:spcBef>
              <a:spcAft>
                <a:spcPts val="0"/>
              </a:spcAft>
              <a:buNone/>
            </a:pPr>
            <a:r>
              <a:rPr lang="es" sz="2000">
                <a:latin typeface="Roboto Mono"/>
                <a:ea typeface="Roboto Mono"/>
                <a:cs typeface="Roboto Mono"/>
                <a:sym typeface="Roboto Mono"/>
              </a:rPr>
              <a:t>[6, 8, 7, 2]				[1, 5, </a:t>
            </a:r>
            <a:r>
              <a:rPr lang="es" sz="2000">
                <a:latin typeface="Roboto Mono"/>
                <a:ea typeface="Roboto Mono"/>
                <a:cs typeface="Roboto Mono"/>
                <a:sym typeface="Roboto Mono"/>
              </a:rPr>
              <a:t>3, 4</a:t>
            </a:r>
            <a:r>
              <a:rPr lang="es" sz="2000">
                <a:latin typeface="Roboto Mono"/>
                <a:ea typeface="Roboto Mono"/>
                <a:cs typeface="Roboto Mono"/>
                <a:sym typeface="Roboto Mono"/>
              </a:rPr>
              <a:t>]</a:t>
            </a:r>
            <a:endParaRPr sz="2000">
              <a:latin typeface="Roboto Mono"/>
              <a:ea typeface="Roboto Mono"/>
              <a:cs typeface="Roboto Mono"/>
              <a:sym typeface="Roboto Mono"/>
            </a:endParaRPr>
          </a:p>
          <a:p>
            <a:pPr indent="457200" lvl="0" marL="914400" rtl="0" algn="l">
              <a:spcBef>
                <a:spcPts val="1600"/>
              </a:spcBef>
              <a:spcAft>
                <a:spcPts val="0"/>
              </a:spcAft>
              <a:buNone/>
            </a:pPr>
            <a:r>
              <a:t/>
            </a:r>
            <a:endParaRPr sz="2000">
              <a:latin typeface="Roboto Mono"/>
              <a:ea typeface="Roboto Mono"/>
              <a:cs typeface="Roboto Mono"/>
              <a:sym typeface="Roboto Mono"/>
            </a:endParaRPr>
          </a:p>
          <a:p>
            <a:pPr indent="457200" lvl="0" marL="0" rtl="0" algn="l">
              <a:spcBef>
                <a:spcPts val="1600"/>
              </a:spcBef>
              <a:spcAft>
                <a:spcPts val="1600"/>
              </a:spcAft>
              <a:buNone/>
            </a:pPr>
            <a:r>
              <a:rPr lang="es" sz="2000">
                <a:latin typeface="Roboto Mono"/>
                <a:ea typeface="Roboto Mono"/>
                <a:cs typeface="Roboto Mono"/>
                <a:sym typeface="Roboto Mono"/>
              </a:rPr>
              <a:t>[6, 8]			[7, 2]			</a:t>
            </a:r>
            <a:endParaRPr sz="2000">
              <a:latin typeface="Roboto Mono"/>
              <a:ea typeface="Roboto Mono"/>
              <a:cs typeface="Roboto Mono"/>
              <a:sym typeface="Roboto Mono"/>
            </a:endParaRPr>
          </a:p>
        </p:txBody>
      </p:sp>
      <p:sp>
        <p:nvSpPr>
          <p:cNvPr id="554" name="Google Shape;554;p8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Mergesort</a:t>
            </a:r>
            <a:endParaRPr/>
          </a:p>
        </p:txBody>
      </p:sp>
      <p:cxnSp>
        <p:nvCxnSpPr>
          <p:cNvPr id="555" name="Google Shape;555;p85"/>
          <p:cNvCxnSpPr>
            <a:stCxn id="554" idx="2"/>
          </p:cNvCxnSpPr>
          <p:nvPr/>
        </p:nvCxnSpPr>
        <p:spPr>
          <a:xfrm flipH="1">
            <a:off x="4564800" y="1058225"/>
            <a:ext cx="7200" cy="634800"/>
          </a:xfrm>
          <a:prstGeom prst="straightConnector1">
            <a:avLst/>
          </a:prstGeom>
          <a:noFill/>
          <a:ln cap="flat" cmpd="sng" w="9525">
            <a:solidFill>
              <a:schemeClr val="dk2"/>
            </a:solidFill>
            <a:prstDash val="solid"/>
            <a:round/>
            <a:headEnd len="med" w="med" type="none"/>
            <a:tailEnd len="med" w="med" type="none"/>
          </a:ln>
        </p:spPr>
      </p:cxnSp>
      <p:cxnSp>
        <p:nvCxnSpPr>
          <p:cNvPr id="556" name="Google Shape;556;p85"/>
          <p:cNvCxnSpPr/>
          <p:nvPr/>
        </p:nvCxnSpPr>
        <p:spPr>
          <a:xfrm flipH="1">
            <a:off x="2743125" y="2261000"/>
            <a:ext cx="10800" cy="482100"/>
          </a:xfrm>
          <a:prstGeom prst="straightConnector1">
            <a:avLst/>
          </a:prstGeom>
          <a:noFill/>
          <a:ln cap="flat" cmpd="sng" w="9525">
            <a:solidFill>
              <a:schemeClr val="dk2"/>
            </a:solidFill>
            <a:prstDash val="solid"/>
            <a:round/>
            <a:headEnd len="med" w="med" type="none"/>
            <a:tailEnd len="med" w="med" type="none"/>
          </a:ln>
        </p:spPr>
      </p:cxnSp>
      <p:cxnSp>
        <p:nvCxnSpPr>
          <p:cNvPr id="557" name="Google Shape;557;p85"/>
          <p:cNvCxnSpPr/>
          <p:nvPr/>
        </p:nvCxnSpPr>
        <p:spPr>
          <a:xfrm>
            <a:off x="1328750" y="3364700"/>
            <a:ext cx="0" cy="4929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8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457200" lvl="0" marL="1828800" rtl="0" algn="l">
              <a:spcBef>
                <a:spcPts val="0"/>
              </a:spcBef>
              <a:spcAft>
                <a:spcPts val="0"/>
              </a:spcAft>
              <a:buNone/>
            </a:pPr>
            <a:r>
              <a:rPr lang="es" sz="2000">
                <a:latin typeface="Roboto Mono"/>
                <a:ea typeface="Roboto Mono"/>
                <a:cs typeface="Roboto Mono"/>
                <a:sym typeface="Roboto Mono"/>
              </a:rPr>
              <a:t>[6, 8, 7, 2, 1, 5, </a:t>
            </a:r>
            <a:r>
              <a:rPr lang="es" sz="2000">
                <a:latin typeface="Roboto Mono"/>
                <a:ea typeface="Roboto Mono"/>
                <a:cs typeface="Roboto Mono"/>
                <a:sym typeface="Roboto Mono"/>
              </a:rPr>
              <a:t>3, 4</a:t>
            </a:r>
            <a:r>
              <a:rPr lang="es" sz="2000">
                <a:latin typeface="Roboto Mono"/>
                <a:ea typeface="Roboto Mono"/>
                <a:cs typeface="Roboto Mono"/>
                <a:sym typeface="Roboto Mono"/>
              </a:rPr>
              <a:t>]</a:t>
            </a:r>
            <a:endParaRPr sz="2000">
              <a:latin typeface="Roboto Mono"/>
              <a:ea typeface="Roboto Mono"/>
              <a:cs typeface="Roboto Mono"/>
              <a:sym typeface="Roboto Mono"/>
            </a:endParaRPr>
          </a:p>
          <a:p>
            <a:pPr indent="457200" lvl="0" marL="1828800" rtl="0" algn="l">
              <a:spcBef>
                <a:spcPts val="1600"/>
              </a:spcBef>
              <a:spcAft>
                <a:spcPts val="0"/>
              </a:spcAft>
              <a:buNone/>
            </a:pPr>
            <a:r>
              <a:t/>
            </a:r>
            <a:endParaRPr sz="2000">
              <a:latin typeface="Roboto Mono"/>
              <a:ea typeface="Roboto Mono"/>
              <a:cs typeface="Roboto Mono"/>
              <a:sym typeface="Roboto Mono"/>
            </a:endParaRPr>
          </a:p>
          <a:p>
            <a:pPr indent="457200" lvl="0" marL="914400" rtl="0" algn="l">
              <a:spcBef>
                <a:spcPts val="1600"/>
              </a:spcBef>
              <a:spcAft>
                <a:spcPts val="0"/>
              </a:spcAft>
              <a:buNone/>
            </a:pPr>
            <a:r>
              <a:rPr lang="es" sz="2000">
                <a:latin typeface="Roboto Mono"/>
                <a:ea typeface="Roboto Mono"/>
                <a:cs typeface="Roboto Mono"/>
                <a:sym typeface="Roboto Mono"/>
              </a:rPr>
              <a:t>[6, 8, 7, 2]				[1, 5, </a:t>
            </a:r>
            <a:r>
              <a:rPr lang="es" sz="2000">
                <a:latin typeface="Roboto Mono"/>
                <a:ea typeface="Roboto Mono"/>
                <a:cs typeface="Roboto Mono"/>
                <a:sym typeface="Roboto Mono"/>
              </a:rPr>
              <a:t>3, 4</a:t>
            </a:r>
            <a:r>
              <a:rPr lang="es" sz="2000">
                <a:latin typeface="Roboto Mono"/>
                <a:ea typeface="Roboto Mono"/>
                <a:cs typeface="Roboto Mono"/>
                <a:sym typeface="Roboto Mono"/>
              </a:rPr>
              <a:t>]</a:t>
            </a:r>
            <a:endParaRPr sz="2000">
              <a:latin typeface="Roboto Mono"/>
              <a:ea typeface="Roboto Mono"/>
              <a:cs typeface="Roboto Mono"/>
              <a:sym typeface="Roboto Mono"/>
            </a:endParaRPr>
          </a:p>
          <a:p>
            <a:pPr indent="457200" lvl="0" marL="914400" rtl="0" algn="l">
              <a:spcBef>
                <a:spcPts val="1600"/>
              </a:spcBef>
              <a:spcAft>
                <a:spcPts val="0"/>
              </a:spcAft>
              <a:buNone/>
            </a:pPr>
            <a:r>
              <a:t/>
            </a:r>
            <a:endParaRPr sz="2000">
              <a:latin typeface="Roboto Mono"/>
              <a:ea typeface="Roboto Mono"/>
              <a:cs typeface="Roboto Mono"/>
              <a:sym typeface="Roboto Mono"/>
            </a:endParaRPr>
          </a:p>
          <a:p>
            <a:pPr indent="457200" lvl="0" marL="0" rtl="0" algn="l">
              <a:spcBef>
                <a:spcPts val="1600"/>
              </a:spcBef>
              <a:spcAft>
                <a:spcPts val="0"/>
              </a:spcAft>
              <a:buNone/>
            </a:pPr>
            <a:r>
              <a:rPr lang="es" sz="2000">
                <a:latin typeface="Roboto Mono"/>
                <a:ea typeface="Roboto Mono"/>
                <a:cs typeface="Roboto Mono"/>
                <a:sym typeface="Roboto Mono"/>
              </a:rPr>
              <a:t>[6, 8]			[7, 2]</a:t>
            </a:r>
            <a:endParaRPr sz="2000">
              <a:latin typeface="Roboto Mono"/>
              <a:ea typeface="Roboto Mono"/>
              <a:cs typeface="Roboto Mono"/>
              <a:sym typeface="Roboto Mono"/>
            </a:endParaRPr>
          </a:p>
          <a:p>
            <a:pPr indent="0" lvl="0" marL="0" rtl="0" algn="l">
              <a:spcBef>
                <a:spcPts val="1600"/>
              </a:spcBef>
              <a:spcAft>
                <a:spcPts val="1600"/>
              </a:spcAft>
              <a:buNone/>
            </a:pPr>
            <a:r>
              <a:rPr lang="es" sz="2000">
                <a:latin typeface="Roboto Mono"/>
                <a:ea typeface="Roboto Mono"/>
                <a:cs typeface="Roboto Mono"/>
                <a:sym typeface="Roboto Mono"/>
              </a:rPr>
              <a:t>[6]		[8]			</a:t>
            </a:r>
            <a:endParaRPr sz="2000">
              <a:latin typeface="Roboto Mono"/>
              <a:ea typeface="Roboto Mono"/>
              <a:cs typeface="Roboto Mono"/>
              <a:sym typeface="Roboto Mono"/>
            </a:endParaRPr>
          </a:p>
        </p:txBody>
      </p:sp>
      <p:sp>
        <p:nvSpPr>
          <p:cNvPr id="563" name="Google Shape;563;p8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Mergesort</a:t>
            </a:r>
            <a:endParaRPr/>
          </a:p>
        </p:txBody>
      </p:sp>
      <p:cxnSp>
        <p:nvCxnSpPr>
          <p:cNvPr id="564" name="Google Shape;564;p86"/>
          <p:cNvCxnSpPr>
            <a:stCxn id="563" idx="2"/>
          </p:cNvCxnSpPr>
          <p:nvPr/>
        </p:nvCxnSpPr>
        <p:spPr>
          <a:xfrm flipH="1">
            <a:off x="4564800" y="1058225"/>
            <a:ext cx="7200" cy="634800"/>
          </a:xfrm>
          <a:prstGeom prst="straightConnector1">
            <a:avLst/>
          </a:prstGeom>
          <a:noFill/>
          <a:ln cap="flat" cmpd="sng" w="9525">
            <a:solidFill>
              <a:schemeClr val="dk2"/>
            </a:solidFill>
            <a:prstDash val="solid"/>
            <a:round/>
            <a:headEnd len="med" w="med" type="none"/>
            <a:tailEnd len="med" w="med" type="none"/>
          </a:ln>
        </p:spPr>
      </p:cxnSp>
      <p:cxnSp>
        <p:nvCxnSpPr>
          <p:cNvPr id="565" name="Google Shape;565;p86"/>
          <p:cNvCxnSpPr/>
          <p:nvPr/>
        </p:nvCxnSpPr>
        <p:spPr>
          <a:xfrm flipH="1">
            <a:off x="2743125" y="2261000"/>
            <a:ext cx="10800" cy="482100"/>
          </a:xfrm>
          <a:prstGeom prst="straightConnector1">
            <a:avLst/>
          </a:prstGeom>
          <a:noFill/>
          <a:ln cap="flat" cmpd="sng" w="9525">
            <a:solidFill>
              <a:schemeClr val="dk2"/>
            </a:solidFill>
            <a:prstDash val="solid"/>
            <a:round/>
            <a:headEnd len="med" w="med" type="none"/>
            <a:tailEnd len="med" w="med" type="none"/>
          </a:ln>
        </p:spPr>
      </p:cxnSp>
      <p:cxnSp>
        <p:nvCxnSpPr>
          <p:cNvPr id="566" name="Google Shape;566;p86"/>
          <p:cNvCxnSpPr/>
          <p:nvPr/>
        </p:nvCxnSpPr>
        <p:spPr>
          <a:xfrm>
            <a:off x="1328750" y="3364700"/>
            <a:ext cx="0" cy="4929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87"/>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457200" lvl="0" marL="1828800" rtl="0" algn="l">
              <a:spcBef>
                <a:spcPts val="0"/>
              </a:spcBef>
              <a:spcAft>
                <a:spcPts val="0"/>
              </a:spcAft>
              <a:buNone/>
            </a:pPr>
            <a:r>
              <a:rPr lang="es" sz="2000">
                <a:latin typeface="Roboto Mono"/>
                <a:ea typeface="Roboto Mono"/>
                <a:cs typeface="Roboto Mono"/>
                <a:sym typeface="Roboto Mono"/>
              </a:rPr>
              <a:t>[6, 8, 7, 2, 1, 5, </a:t>
            </a:r>
            <a:r>
              <a:rPr lang="es" sz="2000">
                <a:latin typeface="Roboto Mono"/>
                <a:ea typeface="Roboto Mono"/>
                <a:cs typeface="Roboto Mono"/>
                <a:sym typeface="Roboto Mono"/>
              </a:rPr>
              <a:t>3, 4</a:t>
            </a:r>
            <a:r>
              <a:rPr lang="es" sz="2000">
                <a:latin typeface="Roboto Mono"/>
                <a:ea typeface="Roboto Mono"/>
                <a:cs typeface="Roboto Mono"/>
                <a:sym typeface="Roboto Mono"/>
              </a:rPr>
              <a:t>]</a:t>
            </a:r>
            <a:endParaRPr sz="2000">
              <a:latin typeface="Roboto Mono"/>
              <a:ea typeface="Roboto Mono"/>
              <a:cs typeface="Roboto Mono"/>
              <a:sym typeface="Roboto Mono"/>
            </a:endParaRPr>
          </a:p>
          <a:p>
            <a:pPr indent="457200" lvl="0" marL="1828800" rtl="0" algn="l">
              <a:spcBef>
                <a:spcPts val="1600"/>
              </a:spcBef>
              <a:spcAft>
                <a:spcPts val="0"/>
              </a:spcAft>
              <a:buNone/>
            </a:pPr>
            <a:r>
              <a:t/>
            </a:r>
            <a:endParaRPr sz="2000">
              <a:latin typeface="Roboto Mono"/>
              <a:ea typeface="Roboto Mono"/>
              <a:cs typeface="Roboto Mono"/>
              <a:sym typeface="Roboto Mono"/>
            </a:endParaRPr>
          </a:p>
          <a:p>
            <a:pPr indent="457200" lvl="0" marL="914400" rtl="0" algn="l">
              <a:spcBef>
                <a:spcPts val="1600"/>
              </a:spcBef>
              <a:spcAft>
                <a:spcPts val="0"/>
              </a:spcAft>
              <a:buNone/>
            </a:pPr>
            <a:r>
              <a:rPr lang="es" sz="2000">
                <a:latin typeface="Roboto Mono"/>
                <a:ea typeface="Roboto Mono"/>
                <a:cs typeface="Roboto Mono"/>
                <a:sym typeface="Roboto Mono"/>
              </a:rPr>
              <a:t>[6, 8, 7, 2]				[1, 5, </a:t>
            </a:r>
            <a:r>
              <a:rPr lang="es" sz="2000">
                <a:latin typeface="Roboto Mono"/>
                <a:ea typeface="Roboto Mono"/>
                <a:cs typeface="Roboto Mono"/>
                <a:sym typeface="Roboto Mono"/>
              </a:rPr>
              <a:t>3, 4</a:t>
            </a:r>
            <a:r>
              <a:rPr lang="es" sz="2000">
                <a:latin typeface="Roboto Mono"/>
                <a:ea typeface="Roboto Mono"/>
                <a:cs typeface="Roboto Mono"/>
                <a:sym typeface="Roboto Mono"/>
              </a:rPr>
              <a:t>]</a:t>
            </a:r>
            <a:endParaRPr sz="2000">
              <a:latin typeface="Roboto Mono"/>
              <a:ea typeface="Roboto Mono"/>
              <a:cs typeface="Roboto Mono"/>
              <a:sym typeface="Roboto Mono"/>
            </a:endParaRPr>
          </a:p>
          <a:p>
            <a:pPr indent="457200" lvl="0" marL="914400" rtl="0" algn="l">
              <a:spcBef>
                <a:spcPts val="1600"/>
              </a:spcBef>
              <a:spcAft>
                <a:spcPts val="0"/>
              </a:spcAft>
              <a:buNone/>
            </a:pPr>
            <a:r>
              <a:t/>
            </a:r>
            <a:endParaRPr sz="2000">
              <a:latin typeface="Roboto Mono"/>
              <a:ea typeface="Roboto Mono"/>
              <a:cs typeface="Roboto Mono"/>
              <a:sym typeface="Roboto Mono"/>
            </a:endParaRPr>
          </a:p>
          <a:p>
            <a:pPr indent="457200" lvl="0" marL="0" rtl="0" algn="l">
              <a:spcBef>
                <a:spcPts val="1600"/>
              </a:spcBef>
              <a:spcAft>
                <a:spcPts val="1600"/>
              </a:spcAft>
              <a:buNone/>
            </a:pPr>
            <a:r>
              <a:rPr lang="es" sz="2000">
                <a:latin typeface="Roboto Mono"/>
                <a:ea typeface="Roboto Mono"/>
                <a:cs typeface="Roboto Mono"/>
                <a:sym typeface="Roboto Mono"/>
              </a:rPr>
              <a:t>[6, 8]</a:t>
            </a:r>
            <a:r>
              <a:rPr lang="es" sz="1600">
                <a:solidFill>
                  <a:srgbClr val="FF0000"/>
                </a:solidFill>
                <a:latin typeface="Roboto Mono"/>
                <a:ea typeface="Roboto Mono"/>
                <a:cs typeface="Roboto Mono"/>
                <a:sym typeface="Roboto Mono"/>
              </a:rPr>
              <a:t>[6,8]0</a:t>
            </a:r>
            <a:r>
              <a:rPr lang="es" sz="2000">
                <a:latin typeface="Roboto Mono"/>
                <a:ea typeface="Roboto Mono"/>
                <a:cs typeface="Roboto Mono"/>
                <a:sym typeface="Roboto Mono"/>
              </a:rPr>
              <a:t>		[7, 2]</a:t>
            </a:r>
            <a:endParaRPr sz="2000">
              <a:latin typeface="Roboto Mono"/>
              <a:ea typeface="Roboto Mono"/>
              <a:cs typeface="Roboto Mono"/>
              <a:sym typeface="Roboto Mono"/>
            </a:endParaRPr>
          </a:p>
        </p:txBody>
      </p:sp>
      <p:sp>
        <p:nvSpPr>
          <p:cNvPr id="572" name="Google Shape;572;p8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Mergesort</a:t>
            </a:r>
            <a:endParaRPr/>
          </a:p>
        </p:txBody>
      </p:sp>
      <p:cxnSp>
        <p:nvCxnSpPr>
          <p:cNvPr id="573" name="Google Shape;573;p87"/>
          <p:cNvCxnSpPr>
            <a:stCxn id="572" idx="2"/>
          </p:cNvCxnSpPr>
          <p:nvPr/>
        </p:nvCxnSpPr>
        <p:spPr>
          <a:xfrm flipH="1">
            <a:off x="4564800" y="1058225"/>
            <a:ext cx="7200" cy="634800"/>
          </a:xfrm>
          <a:prstGeom prst="straightConnector1">
            <a:avLst/>
          </a:prstGeom>
          <a:noFill/>
          <a:ln cap="flat" cmpd="sng" w="9525">
            <a:solidFill>
              <a:schemeClr val="dk2"/>
            </a:solidFill>
            <a:prstDash val="solid"/>
            <a:round/>
            <a:headEnd len="med" w="med" type="none"/>
            <a:tailEnd len="med" w="med" type="none"/>
          </a:ln>
        </p:spPr>
      </p:cxnSp>
      <p:cxnSp>
        <p:nvCxnSpPr>
          <p:cNvPr id="574" name="Google Shape;574;p87"/>
          <p:cNvCxnSpPr/>
          <p:nvPr/>
        </p:nvCxnSpPr>
        <p:spPr>
          <a:xfrm flipH="1">
            <a:off x="2743125" y="2261000"/>
            <a:ext cx="10800" cy="482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8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457200" lvl="0" marL="1828800" rtl="0" algn="l">
              <a:spcBef>
                <a:spcPts val="0"/>
              </a:spcBef>
              <a:spcAft>
                <a:spcPts val="0"/>
              </a:spcAft>
              <a:buNone/>
            </a:pPr>
            <a:r>
              <a:rPr lang="es" sz="2000">
                <a:latin typeface="Roboto Mono"/>
                <a:ea typeface="Roboto Mono"/>
                <a:cs typeface="Roboto Mono"/>
                <a:sym typeface="Roboto Mono"/>
              </a:rPr>
              <a:t>[6, 8, 7, 2, 1, 5, </a:t>
            </a:r>
            <a:r>
              <a:rPr lang="es" sz="2000">
                <a:latin typeface="Roboto Mono"/>
                <a:ea typeface="Roboto Mono"/>
                <a:cs typeface="Roboto Mono"/>
                <a:sym typeface="Roboto Mono"/>
              </a:rPr>
              <a:t>3, 4</a:t>
            </a:r>
            <a:r>
              <a:rPr lang="es" sz="2000">
                <a:latin typeface="Roboto Mono"/>
                <a:ea typeface="Roboto Mono"/>
                <a:cs typeface="Roboto Mono"/>
                <a:sym typeface="Roboto Mono"/>
              </a:rPr>
              <a:t>]</a:t>
            </a:r>
            <a:endParaRPr sz="2000">
              <a:latin typeface="Roboto Mono"/>
              <a:ea typeface="Roboto Mono"/>
              <a:cs typeface="Roboto Mono"/>
              <a:sym typeface="Roboto Mono"/>
            </a:endParaRPr>
          </a:p>
          <a:p>
            <a:pPr indent="457200" lvl="0" marL="1828800" rtl="0" algn="l">
              <a:spcBef>
                <a:spcPts val="1600"/>
              </a:spcBef>
              <a:spcAft>
                <a:spcPts val="0"/>
              </a:spcAft>
              <a:buNone/>
            </a:pPr>
            <a:r>
              <a:t/>
            </a:r>
            <a:endParaRPr sz="2000">
              <a:latin typeface="Roboto Mono"/>
              <a:ea typeface="Roboto Mono"/>
              <a:cs typeface="Roboto Mono"/>
              <a:sym typeface="Roboto Mono"/>
            </a:endParaRPr>
          </a:p>
          <a:p>
            <a:pPr indent="457200" lvl="0" marL="914400" rtl="0" algn="l">
              <a:spcBef>
                <a:spcPts val="1600"/>
              </a:spcBef>
              <a:spcAft>
                <a:spcPts val="0"/>
              </a:spcAft>
              <a:buNone/>
            </a:pPr>
            <a:r>
              <a:rPr lang="es" sz="2000">
                <a:latin typeface="Roboto Mono"/>
                <a:ea typeface="Roboto Mono"/>
                <a:cs typeface="Roboto Mono"/>
                <a:sym typeface="Roboto Mono"/>
              </a:rPr>
              <a:t>[6, 8, 7, 2]				[1, 5, </a:t>
            </a:r>
            <a:r>
              <a:rPr lang="es" sz="2000">
                <a:latin typeface="Roboto Mono"/>
                <a:ea typeface="Roboto Mono"/>
                <a:cs typeface="Roboto Mono"/>
                <a:sym typeface="Roboto Mono"/>
              </a:rPr>
              <a:t>3, 4</a:t>
            </a:r>
            <a:r>
              <a:rPr lang="es" sz="2000">
                <a:latin typeface="Roboto Mono"/>
                <a:ea typeface="Roboto Mono"/>
                <a:cs typeface="Roboto Mono"/>
                <a:sym typeface="Roboto Mono"/>
              </a:rPr>
              <a:t>]</a:t>
            </a:r>
            <a:endParaRPr sz="2000">
              <a:latin typeface="Roboto Mono"/>
              <a:ea typeface="Roboto Mono"/>
              <a:cs typeface="Roboto Mono"/>
              <a:sym typeface="Roboto Mono"/>
            </a:endParaRPr>
          </a:p>
          <a:p>
            <a:pPr indent="457200" lvl="0" marL="914400" rtl="0" algn="l">
              <a:spcBef>
                <a:spcPts val="1600"/>
              </a:spcBef>
              <a:spcAft>
                <a:spcPts val="0"/>
              </a:spcAft>
              <a:buNone/>
            </a:pPr>
            <a:r>
              <a:t/>
            </a:r>
            <a:endParaRPr sz="2000">
              <a:latin typeface="Roboto Mono"/>
              <a:ea typeface="Roboto Mono"/>
              <a:cs typeface="Roboto Mono"/>
              <a:sym typeface="Roboto Mono"/>
            </a:endParaRPr>
          </a:p>
          <a:p>
            <a:pPr indent="457200" lvl="0" marL="0" rtl="0" algn="l">
              <a:spcBef>
                <a:spcPts val="1600"/>
              </a:spcBef>
              <a:spcAft>
                <a:spcPts val="0"/>
              </a:spcAft>
              <a:buNone/>
            </a:pPr>
            <a:r>
              <a:rPr lang="es" sz="2000">
                <a:latin typeface="Roboto Mono"/>
                <a:ea typeface="Roboto Mono"/>
                <a:cs typeface="Roboto Mono"/>
                <a:sym typeface="Roboto Mono"/>
              </a:rPr>
              <a:t>[6, 8]</a:t>
            </a:r>
            <a:r>
              <a:rPr lang="es" sz="1600">
                <a:solidFill>
                  <a:srgbClr val="FF0000"/>
                </a:solidFill>
                <a:latin typeface="Roboto Mono"/>
                <a:ea typeface="Roboto Mono"/>
                <a:cs typeface="Roboto Mono"/>
                <a:sym typeface="Roboto Mono"/>
              </a:rPr>
              <a:t>[6,8]0</a:t>
            </a:r>
            <a:r>
              <a:rPr lang="es" sz="2000">
                <a:latin typeface="Roboto Mono"/>
                <a:ea typeface="Roboto Mono"/>
                <a:cs typeface="Roboto Mono"/>
                <a:sym typeface="Roboto Mono"/>
              </a:rPr>
              <a:t>		[7, 2]</a:t>
            </a:r>
            <a:endParaRPr sz="2000">
              <a:latin typeface="Roboto Mono"/>
              <a:ea typeface="Roboto Mono"/>
              <a:cs typeface="Roboto Mono"/>
              <a:sym typeface="Roboto Mono"/>
            </a:endParaRPr>
          </a:p>
          <a:p>
            <a:pPr indent="0" lvl="0" marL="0" rtl="0" algn="l">
              <a:spcBef>
                <a:spcPts val="1600"/>
              </a:spcBef>
              <a:spcAft>
                <a:spcPts val="1600"/>
              </a:spcAft>
              <a:buNone/>
            </a:pPr>
            <a:r>
              <a:rPr lang="es" sz="2000">
                <a:latin typeface="Roboto Mono"/>
                <a:ea typeface="Roboto Mono"/>
                <a:cs typeface="Roboto Mono"/>
                <a:sym typeface="Roboto Mono"/>
              </a:rPr>
              <a:t>			</a:t>
            </a:r>
            <a:endParaRPr sz="2000">
              <a:latin typeface="Roboto Mono"/>
              <a:ea typeface="Roboto Mono"/>
              <a:cs typeface="Roboto Mono"/>
              <a:sym typeface="Roboto Mono"/>
            </a:endParaRPr>
          </a:p>
        </p:txBody>
      </p:sp>
      <p:sp>
        <p:nvSpPr>
          <p:cNvPr id="580" name="Google Shape;580;p8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Mergesort</a:t>
            </a:r>
            <a:endParaRPr/>
          </a:p>
        </p:txBody>
      </p:sp>
      <p:cxnSp>
        <p:nvCxnSpPr>
          <p:cNvPr id="581" name="Google Shape;581;p88"/>
          <p:cNvCxnSpPr>
            <a:stCxn id="580" idx="2"/>
          </p:cNvCxnSpPr>
          <p:nvPr/>
        </p:nvCxnSpPr>
        <p:spPr>
          <a:xfrm flipH="1">
            <a:off x="4564800" y="1058225"/>
            <a:ext cx="7200" cy="634800"/>
          </a:xfrm>
          <a:prstGeom prst="straightConnector1">
            <a:avLst/>
          </a:prstGeom>
          <a:noFill/>
          <a:ln cap="flat" cmpd="sng" w="9525">
            <a:solidFill>
              <a:schemeClr val="dk2"/>
            </a:solidFill>
            <a:prstDash val="solid"/>
            <a:round/>
            <a:headEnd len="med" w="med" type="none"/>
            <a:tailEnd len="med" w="med" type="none"/>
          </a:ln>
        </p:spPr>
      </p:cxnSp>
      <p:cxnSp>
        <p:nvCxnSpPr>
          <p:cNvPr id="582" name="Google Shape;582;p88"/>
          <p:cNvCxnSpPr/>
          <p:nvPr/>
        </p:nvCxnSpPr>
        <p:spPr>
          <a:xfrm flipH="1">
            <a:off x="2743125" y="2261000"/>
            <a:ext cx="10800" cy="482100"/>
          </a:xfrm>
          <a:prstGeom prst="straightConnector1">
            <a:avLst/>
          </a:prstGeom>
          <a:noFill/>
          <a:ln cap="flat" cmpd="sng" w="9525">
            <a:solidFill>
              <a:schemeClr val="dk2"/>
            </a:solidFill>
            <a:prstDash val="solid"/>
            <a:round/>
            <a:headEnd len="med" w="med" type="none"/>
            <a:tailEnd len="med" w="med" type="none"/>
          </a:ln>
        </p:spPr>
      </p:cxnSp>
      <p:cxnSp>
        <p:nvCxnSpPr>
          <p:cNvPr id="583" name="Google Shape;583;p88"/>
          <p:cNvCxnSpPr/>
          <p:nvPr/>
        </p:nvCxnSpPr>
        <p:spPr>
          <a:xfrm>
            <a:off x="3632600" y="3429000"/>
            <a:ext cx="0" cy="3642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89"/>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457200" lvl="0" marL="1828800" rtl="0" algn="l">
              <a:spcBef>
                <a:spcPts val="0"/>
              </a:spcBef>
              <a:spcAft>
                <a:spcPts val="0"/>
              </a:spcAft>
              <a:buNone/>
            </a:pPr>
            <a:r>
              <a:rPr lang="es" sz="2000">
                <a:latin typeface="Roboto Mono"/>
                <a:ea typeface="Roboto Mono"/>
                <a:cs typeface="Roboto Mono"/>
                <a:sym typeface="Roboto Mono"/>
              </a:rPr>
              <a:t>[6, 8, 7, 2, 1, 5, </a:t>
            </a:r>
            <a:r>
              <a:rPr lang="es" sz="2000">
                <a:latin typeface="Roboto Mono"/>
                <a:ea typeface="Roboto Mono"/>
                <a:cs typeface="Roboto Mono"/>
                <a:sym typeface="Roboto Mono"/>
              </a:rPr>
              <a:t>3, 4</a:t>
            </a:r>
            <a:r>
              <a:rPr lang="es" sz="2000">
                <a:latin typeface="Roboto Mono"/>
                <a:ea typeface="Roboto Mono"/>
                <a:cs typeface="Roboto Mono"/>
                <a:sym typeface="Roboto Mono"/>
              </a:rPr>
              <a:t>]</a:t>
            </a:r>
            <a:endParaRPr sz="2000">
              <a:latin typeface="Roboto Mono"/>
              <a:ea typeface="Roboto Mono"/>
              <a:cs typeface="Roboto Mono"/>
              <a:sym typeface="Roboto Mono"/>
            </a:endParaRPr>
          </a:p>
          <a:p>
            <a:pPr indent="457200" lvl="0" marL="1828800" rtl="0" algn="l">
              <a:spcBef>
                <a:spcPts val="1600"/>
              </a:spcBef>
              <a:spcAft>
                <a:spcPts val="0"/>
              </a:spcAft>
              <a:buNone/>
            </a:pPr>
            <a:r>
              <a:t/>
            </a:r>
            <a:endParaRPr sz="2000">
              <a:latin typeface="Roboto Mono"/>
              <a:ea typeface="Roboto Mono"/>
              <a:cs typeface="Roboto Mono"/>
              <a:sym typeface="Roboto Mono"/>
            </a:endParaRPr>
          </a:p>
          <a:p>
            <a:pPr indent="457200" lvl="0" marL="914400" rtl="0" algn="l">
              <a:spcBef>
                <a:spcPts val="1600"/>
              </a:spcBef>
              <a:spcAft>
                <a:spcPts val="0"/>
              </a:spcAft>
              <a:buNone/>
            </a:pPr>
            <a:r>
              <a:rPr lang="es" sz="2000">
                <a:latin typeface="Roboto Mono"/>
                <a:ea typeface="Roboto Mono"/>
                <a:cs typeface="Roboto Mono"/>
                <a:sym typeface="Roboto Mono"/>
              </a:rPr>
              <a:t>[6, 8, 7, 2]				[1, 5, </a:t>
            </a:r>
            <a:r>
              <a:rPr lang="es" sz="2000">
                <a:latin typeface="Roboto Mono"/>
                <a:ea typeface="Roboto Mono"/>
                <a:cs typeface="Roboto Mono"/>
                <a:sym typeface="Roboto Mono"/>
              </a:rPr>
              <a:t>3, 4</a:t>
            </a:r>
            <a:r>
              <a:rPr lang="es" sz="2000">
                <a:latin typeface="Roboto Mono"/>
                <a:ea typeface="Roboto Mono"/>
                <a:cs typeface="Roboto Mono"/>
                <a:sym typeface="Roboto Mono"/>
              </a:rPr>
              <a:t>]</a:t>
            </a:r>
            <a:endParaRPr sz="2000">
              <a:latin typeface="Roboto Mono"/>
              <a:ea typeface="Roboto Mono"/>
              <a:cs typeface="Roboto Mono"/>
              <a:sym typeface="Roboto Mono"/>
            </a:endParaRPr>
          </a:p>
          <a:p>
            <a:pPr indent="457200" lvl="0" marL="914400" rtl="0" algn="l">
              <a:spcBef>
                <a:spcPts val="1600"/>
              </a:spcBef>
              <a:spcAft>
                <a:spcPts val="0"/>
              </a:spcAft>
              <a:buNone/>
            </a:pPr>
            <a:r>
              <a:t/>
            </a:r>
            <a:endParaRPr sz="2000">
              <a:latin typeface="Roboto Mono"/>
              <a:ea typeface="Roboto Mono"/>
              <a:cs typeface="Roboto Mono"/>
              <a:sym typeface="Roboto Mono"/>
            </a:endParaRPr>
          </a:p>
          <a:p>
            <a:pPr indent="457200" lvl="0" marL="0" rtl="0" algn="l">
              <a:spcBef>
                <a:spcPts val="1600"/>
              </a:spcBef>
              <a:spcAft>
                <a:spcPts val="0"/>
              </a:spcAft>
              <a:buNone/>
            </a:pPr>
            <a:r>
              <a:rPr lang="es" sz="2000">
                <a:latin typeface="Roboto Mono"/>
                <a:ea typeface="Roboto Mono"/>
                <a:cs typeface="Roboto Mono"/>
                <a:sym typeface="Roboto Mono"/>
              </a:rPr>
              <a:t>[6, 8]</a:t>
            </a:r>
            <a:r>
              <a:rPr lang="es" sz="1600">
                <a:solidFill>
                  <a:srgbClr val="FF0000"/>
                </a:solidFill>
                <a:latin typeface="Roboto Mono"/>
                <a:ea typeface="Roboto Mono"/>
                <a:cs typeface="Roboto Mono"/>
                <a:sym typeface="Roboto Mono"/>
              </a:rPr>
              <a:t>[6,8]0</a:t>
            </a:r>
            <a:r>
              <a:rPr lang="es" sz="2000">
                <a:latin typeface="Roboto Mono"/>
                <a:ea typeface="Roboto Mono"/>
                <a:cs typeface="Roboto Mono"/>
                <a:sym typeface="Roboto Mono"/>
              </a:rPr>
              <a:t>		[7, 2]</a:t>
            </a:r>
            <a:endParaRPr sz="2000">
              <a:latin typeface="Roboto Mono"/>
              <a:ea typeface="Roboto Mono"/>
              <a:cs typeface="Roboto Mono"/>
              <a:sym typeface="Roboto Mono"/>
            </a:endParaRPr>
          </a:p>
          <a:p>
            <a:pPr indent="457200" lvl="0" marL="0" rtl="0" algn="l">
              <a:spcBef>
                <a:spcPts val="1600"/>
              </a:spcBef>
              <a:spcAft>
                <a:spcPts val="0"/>
              </a:spcAft>
              <a:buNone/>
            </a:pPr>
            <a:r>
              <a:rPr lang="es" sz="2000">
                <a:latin typeface="Roboto Mono"/>
                <a:ea typeface="Roboto Mono"/>
                <a:cs typeface="Roboto Mono"/>
                <a:sym typeface="Roboto Mono"/>
              </a:rPr>
              <a:t>				[7]		[2]</a:t>
            </a:r>
            <a:endParaRPr sz="2000">
              <a:latin typeface="Roboto Mono"/>
              <a:ea typeface="Roboto Mono"/>
              <a:cs typeface="Roboto Mono"/>
              <a:sym typeface="Roboto Mono"/>
            </a:endParaRPr>
          </a:p>
          <a:p>
            <a:pPr indent="0" lvl="0" marL="0" rtl="0" algn="l">
              <a:spcBef>
                <a:spcPts val="1600"/>
              </a:spcBef>
              <a:spcAft>
                <a:spcPts val="1600"/>
              </a:spcAft>
              <a:buNone/>
            </a:pPr>
            <a:r>
              <a:rPr lang="es" sz="2000">
                <a:latin typeface="Roboto Mono"/>
                <a:ea typeface="Roboto Mono"/>
                <a:cs typeface="Roboto Mono"/>
                <a:sym typeface="Roboto Mono"/>
              </a:rPr>
              <a:t>			</a:t>
            </a:r>
            <a:endParaRPr sz="2000">
              <a:latin typeface="Roboto Mono"/>
              <a:ea typeface="Roboto Mono"/>
              <a:cs typeface="Roboto Mono"/>
              <a:sym typeface="Roboto Mono"/>
            </a:endParaRPr>
          </a:p>
        </p:txBody>
      </p:sp>
      <p:sp>
        <p:nvSpPr>
          <p:cNvPr id="589" name="Google Shape;589;p8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Mergesort</a:t>
            </a:r>
            <a:endParaRPr/>
          </a:p>
        </p:txBody>
      </p:sp>
      <p:cxnSp>
        <p:nvCxnSpPr>
          <p:cNvPr id="590" name="Google Shape;590;p89"/>
          <p:cNvCxnSpPr>
            <a:stCxn id="589" idx="2"/>
          </p:cNvCxnSpPr>
          <p:nvPr/>
        </p:nvCxnSpPr>
        <p:spPr>
          <a:xfrm flipH="1">
            <a:off x="4564800" y="1058225"/>
            <a:ext cx="7200" cy="634800"/>
          </a:xfrm>
          <a:prstGeom prst="straightConnector1">
            <a:avLst/>
          </a:prstGeom>
          <a:noFill/>
          <a:ln cap="flat" cmpd="sng" w="9525">
            <a:solidFill>
              <a:schemeClr val="dk2"/>
            </a:solidFill>
            <a:prstDash val="solid"/>
            <a:round/>
            <a:headEnd len="med" w="med" type="none"/>
            <a:tailEnd len="med" w="med" type="none"/>
          </a:ln>
        </p:spPr>
      </p:cxnSp>
      <p:cxnSp>
        <p:nvCxnSpPr>
          <p:cNvPr id="591" name="Google Shape;591;p89"/>
          <p:cNvCxnSpPr/>
          <p:nvPr/>
        </p:nvCxnSpPr>
        <p:spPr>
          <a:xfrm flipH="1">
            <a:off x="2743125" y="2261000"/>
            <a:ext cx="10800" cy="482100"/>
          </a:xfrm>
          <a:prstGeom prst="straightConnector1">
            <a:avLst/>
          </a:prstGeom>
          <a:noFill/>
          <a:ln cap="flat" cmpd="sng" w="9525">
            <a:solidFill>
              <a:schemeClr val="dk2"/>
            </a:solidFill>
            <a:prstDash val="solid"/>
            <a:round/>
            <a:headEnd len="med" w="med" type="none"/>
            <a:tailEnd len="med" w="med" type="none"/>
          </a:ln>
        </p:spPr>
      </p:cxnSp>
      <p:cxnSp>
        <p:nvCxnSpPr>
          <p:cNvPr id="592" name="Google Shape;592;p89"/>
          <p:cNvCxnSpPr/>
          <p:nvPr/>
        </p:nvCxnSpPr>
        <p:spPr>
          <a:xfrm>
            <a:off x="3632600" y="3429000"/>
            <a:ext cx="0" cy="3642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90"/>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457200" lvl="0" marL="1828800" rtl="0" algn="l">
              <a:spcBef>
                <a:spcPts val="0"/>
              </a:spcBef>
              <a:spcAft>
                <a:spcPts val="0"/>
              </a:spcAft>
              <a:buNone/>
            </a:pPr>
            <a:r>
              <a:rPr lang="es" sz="2000">
                <a:latin typeface="Roboto Mono"/>
                <a:ea typeface="Roboto Mono"/>
                <a:cs typeface="Roboto Mono"/>
                <a:sym typeface="Roboto Mono"/>
              </a:rPr>
              <a:t>[6, 8, 7, 2, 1, 5, </a:t>
            </a:r>
            <a:r>
              <a:rPr lang="es" sz="2000">
                <a:latin typeface="Roboto Mono"/>
                <a:ea typeface="Roboto Mono"/>
                <a:cs typeface="Roboto Mono"/>
                <a:sym typeface="Roboto Mono"/>
              </a:rPr>
              <a:t>3, 4</a:t>
            </a:r>
            <a:r>
              <a:rPr lang="es" sz="2000">
                <a:latin typeface="Roboto Mono"/>
                <a:ea typeface="Roboto Mono"/>
                <a:cs typeface="Roboto Mono"/>
                <a:sym typeface="Roboto Mono"/>
              </a:rPr>
              <a:t>]</a:t>
            </a:r>
            <a:endParaRPr sz="2000">
              <a:latin typeface="Roboto Mono"/>
              <a:ea typeface="Roboto Mono"/>
              <a:cs typeface="Roboto Mono"/>
              <a:sym typeface="Roboto Mono"/>
            </a:endParaRPr>
          </a:p>
          <a:p>
            <a:pPr indent="457200" lvl="0" marL="1828800" rtl="0" algn="l">
              <a:spcBef>
                <a:spcPts val="1600"/>
              </a:spcBef>
              <a:spcAft>
                <a:spcPts val="0"/>
              </a:spcAft>
              <a:buNone/>
            </a:pPr>
            <a:r>
              <a:t/>
            </a:r>
            <a:endParaRPr sz="2000">
              <a:latin typeface="Roboto Mono"/>
              <a:ea typeface="Roboto Mono"/>
              <a:cs typeface="Roboto Mono"/>
              <a:sym typeface="Roboto Mono"/>
            </a:endParaRPr>
          </a:p>
          <a:p>
            <a:pPr indent="457200" lvl="0" marL="914400" rtl="0" algn="l">
              <a:spcBef>
                <a:spcPts val="1600"/>
              </a:spcBef>
              <a:spcAft>
                <a:spcPts val="0"/>
              </a:spcAft>
              <a:buNone/>
            </a:pPr>
            <a:r>
              <a:rPr lang="es" sz="2000">
                <a:latin typeface="Roboto Mono"/>
                <a:ea typeface="Roboto Mono"/>
                <a:cs typeface="Roboto Mono"/>
                <a:sym typeface="Roboto Mono"/>
              </a:rPr>
              <a:t>[6, 8, 7, 2]				[1, 5, </a:t>
            </a:r>
            <a:r>
              <a:rPr lang="es" sz="2000">
                <a:latin typeface="Roboto Mono"/>
                <a:ea typeface="Roboto Mono"/>
                <a:cs typeface="Roboto Mono"/>
                <a:sym typeface="Roboto Mono"/>
              </a:rPr>
              <a:t>3, 4</a:t>
            </a:r>
            <a:r>
              <a:rPr lang="es" sz="2000">
                <a:latin typeface="Roboto Mono"/>
                <a:ea typeface="Roboto Mono"/>
                <a:cs typeface="Roboto Mono"/>
                <a:sym typeface="Roboto Mono"/>
              </a:rPr>
              <a:t>]</a:t>
            </a:r>
            <a:endParaRPr sz="2000">
              <a:latin typeface="Roboto Mono"/>
              <a:ea typeface="Roboto Mono"/>
              <a:cs typeface="Roboto Mono"/>
              <a:sym typeface="Roboto Mono"/>
            </a:endParaRPr>
          </a:p>
          <a:p>
            <a:pPr indent="457200" lvl="0" marL="914400" rtl="0" algn="l">
              <a:spcBef>
                <a:spcPts val="1600"/>
              </a:spcBef>
              <a:spcAft>
                <a:spcPts val="0"/>
              </a:spcAft>
              <a:buNone/>
            </a:pPr>
            <a:r>
              <a:t/>
            </a:r>
            <a:endParaRPr sz="2000">
              <a:latin typeface="Roboto Mono"/>
              <a:ea typeface="Roboto Mono"/>
              <a:cs typeface="Roboto Mono"/>
              <a:sym typeface="Roboto Mono"/>
            </a:endParaRPr>
          </a:p>
          <a:p>
            <a:pPr indent="457200" lvl="0" marL="0" rtl="0" algn="l">
              <a:spcBef>
                <a:spcPts val="1600"/>
              </a:spcBef>
              <a:spcAft>
                <a:spcPts val="0"/>
              </a:spcAft>
              <a:buNone/>
            </a:pPr>
            <a:r>
              <a:rPr lang="es" sz="2000">
                <a:latin typeface="Roboto Mono"/>
                <a:ea typeface="Roboto Mono"/>
                <a:cs typeface="Roboto Mono"/>
                <a:sym typeface="Roboto Mono"/>
              </a:rPr>
              <a:t>[6, 8]</a:t>
            </a:r>
            <a:r>
              <a:rPr lang="es" sz="1600">
                <a:solidFill>
                  <a:srgbClr val="FF0000"/>
                </a:solidFill>
                <a:latin typeface="Roboto Mono"/>
                <a:ea typeface="Roboto Mono"/>
                <a:cs typeface="Roboto Mono"/>
                <a:sym typeface="Roboto Mono"/>
              </a:rPr>
              <a:t>[6,8]0</a:t>
            </a:r>
            <a:r>
              <a:rPr lang="es" sz="2000">
                <a:latin typeface="Roboto Mono"/>
                <a:ea typeface="Roboto Mono"/>
                <a:cs typeface="Roboto Mono"/>
                <a:sym typeface="Roboto Mono"/>
              </a:rPr>
              <a:t>		[7, 2]</a:t>
            </a:r>
            <a:r>
              <a:rPr lang="es" sz="1600">
                <a:solidFill>
                  <a:srgbClr val="FF0000"/>
                </a:solidFill>
                <a:latin typeface="Roboto Mono"/>
                <a:ea typeface="Roboto Mono"/>
                <a:cs typeface="Roboto Mono"/>
                <a:sym typeface="Roboto Mono"/>
              </a:rPr>
              <a:t>[2, 7]1</a:t>
            </a:r>
            <a:endParaRPr sz="2000">
              <a:latin typeface="Roboto Mono"/>
              <a:ea typeface="Roboto Mono"/>
              <a:cs typeface="Roboto Mono"/>
              <a:sym typeface="Roboto Mono"/>
            </a:endParaRPr>
          </a:p>
          <a:p>
            <a:pPr indent="0" lvl="0" marL="0" rtl="0" algn="l">
              <a:spcBef>
                <a:spcPts val="1600"/>
              </a:spcBef>
              <a:spcAft>
                <a:spcPts val="1600"/>
              </a:spcAft>
              <a:buNone/>
            </a:pPr>
            <a:r>
              <a:rPr lang="es" sz="2000">
                <a:latin typeface="Roboto Mono"/>
                <a:ea typeface="Roboto Mono"/>
                <a:cs typeface="Roboto Mono"/>
                <a:sym typeface="Roboto Mono"/>
              </a:rPr>
              <a:t>			</a:t>
            </a:r>
            <a:endParaRPr sz="2000">
              <a:latin typeface="Roboto Mono"/>
              <a:ea typeface="Roboto Mono"/>
              <a:cs typeface="Roboto Mono"/>
              <a:sym typeface="Roboto Mono"/>
            </a:endParaRPr>
          </a:p>
        </p:txBody>
      </p:sp>
      <p:sp>
        <p:nvSpPr>
          <p:cNvPr id="598" name="Google Shape;598;p9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Mergesort</a:t>
            </a:r>
            <a:endParaRPr/>
          </a:p>
        </p:txBody>
      </p:sp>
      <p:cxnSp>
        <p:nvCxnSpPr>
          <p:cNvPr id="599" name="Google Shape;599;p90"/>
          <p:cNvCxnSpPr>
            <a:stCxn id="598" idx="2"/>
          </p:cNvCxnSpPr>
          <p:nvPr/>
        </p:nvCxnSpPr>
        <p:spPr>
          <a:xfrm flipH="1">
            <a:off x="4564800" y="1058225"/>
            <a:ext cx="7200" cy="634800"/>
          </a:xfrm>
          <a:prstGeom prst="straightConnector1">
            <a:avLst/>
          </a:prstGeom>
          <a:noFill/>
          <a:ln cap="flat" cmpd="sng" w="9525">
            <a:solidFill>
              <a:schemeClr val="dk2"/>
            </a:solidFill>
            <a:prstDash val="solid"/>
            <a:round/>
            <a:headEnd len="med" w="med" type="none"/>
            <a:tailEnd len="med" w="med" type="none"/>
          </a:ln>
        </p:spPr>
      </p:cxnSp>
      <p:cxnSp>
        <p:nvCxnSpPr>
          <p:cNvPr id="600" name="Google Shape;600;p90"/>
          <p:cNvCxnSpPr/>
          <p:nvPr/>
        </p:nvCxnSpPr>
        <p:spPr>
          <a:xfrm flipH="1">
            <a:off x="2743125" y="2261000"/>
            <a:ext cx="10800" cy="482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91"/>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457200" lvl="0" marL="1828800" rtl="0" algn="l">
              <a:spcBef>
                <a:spcPts val="0"/>
              </a:spcBef>
              <a:spcAft>
                <a:spcPts val="0"/>
              </a:spcAft>
              <a:buNone/>
            </a:pPr>
            <a:r>
              <a:rPr lang="es" sz="2000">
                <a:latin typeface="Roboto Mono"/>
                <a:ea typeface="Roboto Mono"/>
                <a:cs typeface="Roboto Mono"/>
                <a:sym typeface="Roboto Mono"/>
              </a:rPr>
              <a:t>[6, 8, 7, 2, 1, 5, </a:t>
            </a:r>
            <a:r>
              <a:rPr lang="es" sz="2000">
                <a:latin typeface="Roboto Mono"/>
                <a:ea typeface="Roboto Mono"/>
                <a:cs typeface="Roboto Mono"/>
                <a:sym typeface="Roboto Mono"/>
              </a:rPr>
              <a:t>3, 4</a:t>
            </a:r>
            <a:r>
              <a:rPr lang="es" sz="2000">
                <a:latin typeface="Roboto Mono"/>
                <a:ea typeface="Roboto Mono"/>
                <a:cs typeface="Roboto Mono"/>
                <a:sym typeface="Roboto Mono"/>
              </a:rPr>
              <a:t>]</a:t>
            </a:r>
            <a:endParaRPr sz="2000">
              <a:latin typeface="Roboto Mono"/>
              <a:ea typeface="Roboto Mono"/>
              <a:cs typeface="Roboto Mono"/>
              <a:sym typeface="Roboto Mono"/>
            </a:endParaRPr>
          </a:p>
          <a:p>
            <a:pPr indent="457200" lvl="0" marL="1828800" rtl="0" algn="l">
              <a:spcBef>
                <a:spcPts val="1600"/>
              </a:spcBef>
              <a:spcAft>
                <a:spcPts val="0"/>
              </a:spcAft>
              <a:buNone/>
            </a:pPr>
            <a:r>
              <a:t/>
            </a:r>
            <a:endParaRPr sz="2000">
              <a:latin typeface="Roboto Mono"/>
              <a:ea typeface="Roboto Mono"/>
              <a:cs typeface="Roboto Mono"/>
              <a:sym typeface="Roboto Mono"/>
            </a:endParaRPr>
          </a:p>
          <a:p>
            <a:pPr indent="457200" lvl="0" marL="914400" rtl="0" algn="l">
              <a:spcBef>
                <a:spcPts val="1600"/>
              </a:spcBef>
              <a:spcAft>
                <a:spcPts val="0"/>
              </a:spcAft>
              <a:buNone/>
            </a:pPr>
            <a:r>
              <a:rPr lang="es" sz="2000">
                <a:latin typeface="Roboto Mono"/>
                <a:ea typeface="Roboto Mono"/>
                <a:cs typeface="Roboto Mono"/>
                <a:sym typeface="Roboto Mono"/>
              </a:rPr>
              <a:t>[6, 8, 7, 2]</a:t>
            </a:r>
            <a:r>
              <a:rPr lang="es" sz="1600">
                <a:solidFill>
                  <a:srgbClr val="FF0000"/>
                </a:solidFill>
                <a:latin typeface="Roboto Mono"/>
                <a:ea typeface="Roboto Mono"/>
                <a:cs typeface="Roboto Mono"/>
                <a:sym typeface="Roboto Mono"/>
              </a:rPr>
              <a:t>[2, 6, 7, 8]4</a:t>
            </a:r>
            <a:r>
              <a:rPr lang="es" sz="2000">
                <a:latin typeface="Roboto Mono"/>
                <a:ea typeface="Roboto Mono"/>
                <a:cs typeface="Roboto Mono"/>
                <a:sym typeface="Roboto Mono"/>
              </a:rPr>
              <a:t>	[1, 5, </a:t>
            </a:r>
            <a:r>
              <a:rPr lang="es" sz="2000">
                <a:latin typeface="Roboto Mono"/>
                <a:ea typeface="Roboto Mono"/>
                <a:cs typeface="Roboto Mono"/>
                <a:sym typeface="Roboto Mono"/>
              </a:rPr>
              <a:t>3, 4</a:t>
            </a:r>
            <a:r>
              <a:rPr lang="es" sz="2000">
                <a:latin typeface="Roboto Mono"/>
                <a:ea typeface="Roboto Mono"/>
                <a:cs typeface="Roboto Mono"/>
                <a:sym typeface="Roboto Mono"/>
              </a:rPr>
              <a:t>]</a:t>
            </a:r>
            <a:endParaRPr sz="2000">
              <a:latin typeface="Roboto Mono"/>
              <a:ea typeface="Roboto Mono"/>
              <a:cs typeface="Roboto Mono"/>
              <a:sym typeface="Roboto Mono"/>
            </a:endParaRPr>
          </a:p>
          <a:p>
            <a:pPr indent="457200" lvl="0" marL="914400" rtl="0" algn="l">
              <a:spcBef>
                <a:spcPts val="1600"/>
              </a:spcBef>
              <a:spcAft>
                <a:spcPts val="0"/>
              </a:spcAft>
              <a:buNone/>
            </a:pPr>
            <a:r>
              <a:t/>
            </a:r>
            <a:endParaRPr sz="2000">
              <a:latin typeface="Roboto Mono"/>
              <a:ea typeface="Roboto Mono"/>
              <a:cs typeface="Roboto Mono"/>
              <a:sym typeface="Roboto Mono"/>
            </a:endParaRPr>
          </a:p>
          <a:p>
            <a:pPr indent="457200" lvl="0" marL="0" rtl="0" algn="l">
              <a:spcBef>
                <a:spcPts val="1600"/>
              </a:spcBef>
              <a:spcAft>
                <a:spcPts val="1600"/>
              </a:spcAft>
              <a:buNone/>
            </a:pPr>
            <a:r>
              <a:rPr lang="es" sz="2000">
                <a:latin typeface="Roboto Mono"/>
                <a:ea typeface="Roboto Mono"/>
                <a:cs typeface="Roboto Mono"/>
                <a:sym typeface="Roboto Mono"/>
              </a:rPr>
              <a:t>[6, 8]</a:t>
            </a:r>
            <a:r>
              <a:rPr lang="es" sz="1600">
                <a:solidFill>
                  <a:srgbClr val="FF0000"/>
                </a:solidFill>
                <a:latin typeface="Roboto Mono"/>
                <a:ea typeface="Roboto Mono"/>
                <a:cs typeface="Roboto Mono"/>
                <a:sym typeface="Roboto Mono"/>
              </a:rPr>
              <a:t>[6,8]0</a:t>
            </a:r>
            <a:r>
              <a:rPr lang="es" sz="2000">
                <a:latin typeface="Roboto Mono"/>
                <a:ea typeface="Roboto Mono"/>
                <a:cs typeface="Roboto Mono"/>
                <a:sym typeface="Roboto Mono"/>
              </a:rPr>
              <a:t>		[7, 2]</a:t>
            </a:r>
            <a:r>
              <a:rPr lang="es" sz="1600">
                <a:solidFill>
                  <a:srgbClr val="FF0000"/>
                </a:solidFill>
                <a:latin typeface="Roboto Mono"/>
                <a:ea typeface="Roboto Mono"/>
                <a:cs typeface="Roboto Mono"/>
                <a:sym typeface="Roboto Mono"/>
              </a:rPr>
              <a:t>[2, 7]1</a:t>
            </a:r>
            <a:endParaRPr sz="2000">
              <a:latin typeface="Roboto Mono"/>
              <a:ea typeface="Roboto Mono"/>
              <a:cs typeface="Roboto Mono"/>
              <a:sym typeface="Roboto Mono"/>
            </a:endParaRPr>
          </a:p>
        </p:txBody>
      </p:sp>
      <p:sp>
        <p:nvSpPr>
          <p:cNvPr id="606" name="Google Shape;606;p9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Mergesort</a:t>
            </a:r>
            <a:endParaRPr/>
          </a:p>
        </p:txBody>
      </p:sp>
      <p:cxnSp>
        <p:nvCxnSpPr>
          <p:cNvPr id="607" name="Google Shape;607;p91"/>
          <p:cNvCxnSpPr>
            <a:stCxn id="606" idx="2"/>
          </p:cNvCxnSpPr>
          <p:nvPr/>
        </p:nvCxnSpPr>
        <p:spPr>
          <a:xfrm flipH="1">
            <a:off x="4564800" y="1058225"/>
            <a:ext cx="7200" cy="6348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92"/>
          <p:cNvSpPr txBox="1"/>
          <p:nvPr>
            <p:ph idx="1" type="body"/>
          </p:nvPr>
        </p:nvSpPr>
        <p:spPr>
          <a:xfrm>
            <a:off x="311700" y="1171600"/>
            <a:ext cx="8740200" cy="3397200"/>
          </a:xfrm>
          <a:prstGeom prst="rect">
            <a:avLst/>
          </a:prstGeom>
        </p:spPr>
        <p:txBody>
          <a:bodyPr anchorCtr="0" anchor="t" bIns="91425" lIns="91425" spcFirstLastPara="1" rIns="91425" wrap="square" tIns="91425">
            <a:noAutofit/>
          </a:bodyPr>
          <a:lstStyle/>
          <a:p>
            <a:pPr indent="457200" lvl="0" marL="1828800" rtl="0" algn="l">
              <a:spcBef>
                <a:spcPts val="0"/>
              </a:spcBef>
              <a:spcAft>
                <a:spcPts val="0"/>
              </a:spcAft>
              <a:buNone/>
            </a:pPr>
            <a:r>
              <a:rPr lang="es" sz="2000">
                <a:latin typeface="Roboto Mono"/>
                <a:ea typeface="Roboto Mono"/>
                <a:cs typeface="Roboto Mono"/>
                <a:sym typeface="Roboto Mono"/>
              </a:rPr>
              <a:t>[6, 8, 7, 2, 1, 5, </a:t>
            </a:r>
            <a:r>
              <a:rPr lang="es" sz="2000">
                <a:latin typeface="Roboto Mono"/>
                <a:ea typeface="Roboto Mono"/>
                <a:cs typeface="Roboto Mono"/>
                <a:sym typeface="Roboto Mono"/>
              </a:rPr>
              <a:t>3, 4</a:t>
            </a:r>
            <a:r>
              <a:rPr lang="es" sz="2000">
                <a:latin typeface="Roboto Mono"/>
                <a:ea typeface="Roboto Mono"/>
                <a:cs typeface="Roboto Mono"/>
                <a:sym typeface="Roboto Mono"/>
              </a:rPr>
              <a:t>]</a:t>
            </a:r>
            <a:endParaRPr sz="2000">
              <a:latin typeface="Roboto Mono"/>
              <a:ea typeface="Roboto Mono"/>
              <a:cs typeface="Roboto Mono"/>
              <a:sym typeface="Roboto Mono"/>
            </a:endParaRPr>
          </a:p>
          <a:p>
            <a:pPr indent="457200" lvl="0" marL="1828800" rtl="0" algn="l">
              <a:spcBef>
                <a:spcPts val="1600"/>
              </a:spcBef>
              <a:spcAft>
                <a:spcPts val="0"/>
              </a:spcAft>
              <a:buNone/>
            </a:pPr>
            <a:r>
              <a:t/>
            </a:r>
            <a:endParaRPr sz="2000">
              <a:latin typeface="Roboto Mono"/>
              <a:ea typeface="Roboto Mono"/>
              <a:cs typeface="Roboto Mono"/>
              <a:sym typeface="Roboto Mono"/>
            </a:endParaRPr>
          </a:p>
          <a:p>
            <a:pPr indent="457200" lvl="0" marL="914400" rtl="0" algn="l">
              <a:spcBef>
                <a:spcPts val="1600"/>
              </a:spcBef>
              <a:spcAft>
                <a:spcPts val="0"/>
              </a:spcAft>
              <a:buNone/>
            </a:pPr>
            <a:r>
              <a:rPr lang="es" sz="2000">
                <a:latin typeface="Roboto Mono"/>
                <a:ea typeface="Roboto Mono"/>
                <a:cs typeface="Roboto Mono"/>
                <a:sym typeface="Roboto Mono"/>
              </a:rPr>
              <a:t>[6, 8, 7, 2]</a:t>
            </a:r>
            <a:r>
              <a:rPr lang="es" sz="1600">
                <a:solidFill>
                  <a:srgbClr val="FF0000"/>
                </a:solidFill>
                <a:latin typeface="Roboto Mono"/>
                <a:ea typeface="Roboto Mono"/>
                <a:cs typeface="Roboto Mono"/>
                <a:sym typeface="Roboto Mono"/>
              </a:rPr>
              <a:t>[2, 6, 7, 8]4</a:t>
            </a:r>
            <a:r>
              <a:rPr lang="es" sz="2000">
                <a:latin typeface="Roboto Mono"/>
                <a:ea typeface="Roboto Mono"/>
                <a:cs typeface="Roboto Mono"/>
                <a:sym typeface="Roboto Mono"/>
              </a:rPr>
              <a:t>	[1, 5, </a:t>
            </a:r>
            <a:r>
              <a:rPr lang="es" sz="2000">
                <a:latin typeface="Roboto Mono"/>
                <a:ea typeface="Roboto Mono"/>
                <a:cs typeface="Roboto Mono"/>
                <a:sym typeface="Roboto Mono"/>
              </a:rPr>
              <a:t>3, 4</a:t>
            </a:r>
            <a:r>
              <a:rPr lang="es" sz="2000">
                <a:latin typeface="Roboto Mono"/>
                <a:ea typeface="Roboto Mono"/>
                <a:cs typeface="Roboto Mono"/>
                <a:sym typeface="Roboto Mono"/>
              </a:rPr>
              <a:t>]</a:t>
            </a:r>
            <a:r>
              <a:rPr lang="es" sz="1600">
                <a:solidFill>
                  <a:srgbClr val="FF0000"/>
                </a:solidFill>
                <a:latin typeface="Roboto Mono"/>
                <a:ea typeface="Roboto Mono"/>
                <a:cs typeface="Roboto Mono"/>
                <a:sym typeface="Roboto Mono"/>
              </a:rPr>
              <a:t>[1, 3, 4, 5]2</a:t>
            </a:r>
            <a:endParaRPr sz="2000">
              <a:latin typeface="Roboto Mono"/>
              <a:ea typeface="Roboto Mono"/>
              <a:cs typeface="Roboto Mono"/>
              <a:sym typeface="Roboto Mono"/>
            </a:endParaRPr>
          </a:p>
          <a:p>
            <a:pPr indent="0" lvl="0" marL="0" rtl="0" algn="l">
              <a:spcBef>
                <a:spcPts val="1600"/>
              </a:spcBef>
              <a:spcAft>
                <a:spcPts val="0"/>
              </a:spcAft>
              <a:buNone/>
            </a:pPr>
            <a:r>
              <a:t/>
            </a:r>
            <a:endParaRPr sz="2000">
              <a:latin typeface="Roboto Mono"/>
              <a:ea typeface="Roboto Mono"/>
              <a:cs typeface="Roboto Mono"/>
              <a:sym typeface="Roboto Mono"/>
            </a:endParaRPr>
          </a:p>
          <a:p>
            <a:pPr indent="0" lvl="0" marL="0" rtl="0" algn="l">
              <a:spcBef>
                <a:spcPts val="1600"/>
              </a:spcBef>
              <a:spcAft>
                <a:spcPts val="1600"/>
              </a:spcAft>
              <a:buNone/>
            </a:pPr>
            <a:r>
              <a:rPr lang="es" sz="2000">
                <a:latin typeface="Roboto Mono"/>
                <a:ea typeface="Roboto Mono"/>
                <a:cs typeface="Roboto Mono"/>
                <a:sym typeface="Roboto Mono"/>
              </a:rPr>
              <a:t>			</a:t>
            </a:r>
            <a:endParaRPr sz="2000">
              <a:latin typeface="Roboto Mono"/>
              <a:ea typeface="Roboto Mono"/>
              <a:cs typeface="Roboto Mono"/>
              <a:sym typeface="Roboto Mono"/>
            </a:endParaRPr>
          </a:p>
        </p:txBody>
      </p:sp>
      <p:sp>
        <p:nvSpPr>
          <p:cNvPr id="613" name="Google Shape;613;p9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Mergesort</a:t>
            </a:r>
            <a:endParaRPr/>
          </a:p>
        </p:txBody>
      </p:sp>
      <p:cxnSp>
        <p:nvCxnSpPr>
          <p:cNvPr id="614" name="Google Shape;614;p92"/>
          <p:cNvCxnSpPr>
            <a:stCxn id="613" idx="2"/>
          </p:cNvCxnSpPr>
          <p:nvPr/>
        </p:nvCxnSpPr>
        <p:spPr>
          <a:xfrm flipH="1">
            <a:off x="4564800" y="1058225"/>
            <a:ext cx="7200" cy="6348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93"/>
          <p:cNvSpPr txBox="1"/>
          <p:nvPr>
            <p:ph idx="1" type="body"/>
          </p:nvPr>
        </p:nvSpPr>
        <p:spPr>
          <a:xfrm>
            <a:off x="311700" y="1171600"/>
            <a:ext cx="8764500" cy="3397200"/>
          </a:xfrm>
          <a:prstGeom prst="rect">
            <a:avLst/>
          </a:prstGeom>
        </p:spPr>
        <p:txBody>
          <a:bodyPr anchorCtr="0" anchor="t" bIns="91425" lIns="91425" spcFirstLastPara="1" rIns="91425" wrap="square" tIns="91425">
            <a:noAutofit/>
          </a:bodyPr>
          <a:lstStyle/>
          <a:p>
            <a:pPr indent="457200" lvl="0" marL="1828800" rtl="0" algn="l">
              <a:spcBef>
                <a:spcPts val="0"/>
              </a:spcBef>
              <a:spcAft>
                <a:spcPts val="0"/>
              </a:spcAft>
              <a:buNone/>
            </a:pPr>
            <a:r>
              <a:rPr lang="es" sz="2000">
                <a:latin typeface="Roboto Mono"/>
                <a:ea typeface="Roboto Mono"/>
                <a:cs typeface="Roboto Mono"/>
                <a:sym typeface="Roboto Mono"/>
              </a:rPr>
              <a:t>[6, 8, 7, 2, 1, 5, </a:t>
            </a:r>
            <a:r>
              <a:rPr lang="es" sz="2000">
                <a:latin typeface="Roboto Mono"/>
                <a:ea typeface="Roboto Mono"/>
                <a:cs typeface="Roboto Mono"/>
                <a:sym typeface="Roboto Mono"/>
              </a:rPr>
              <a:t>3, 4</a:t>
            </a:r>
            <a:r>
              <a:rPr lang="es" sz="2000">
                <a:latin typeface="Roboto Mono"/>
                <a:ea typeface="Roboto Mono"/>
                <a:cs typeface="Roboto Mono"/>
                <a:sym typeface="Roboto Mono"/>
              </a:rPr>
              <a:t>]</a:t>
            </a:r>
            <a:r>
              <a:rPr lang="es" sz="1400">
                <a:solidFill>
                  <a:srgbClr val="FF0000"/>
                </a:solidFill>
                <a:latin typeface="Roboto Mono"/>
                <a:ea typeface="Roboto Mono"/>
                <a:cs typeface="Roboto Mono"/>
                <a:sym typeface="Roboto Mono"/>
              </a:rPr>
              <a:t>[1, 2, 3, 4, 5, 6, 7, 8]</a:t>
            </a:r>
            <a:endParaRPr sz="1400">
              <a:solidFill>
                <a:srgbClr val="FF0000"/>
              </a:solidFill>
              <a:latin typeface="Roboto Mono"/>
              <a:ea typeface="Roboto Mono"/>
              <a:cs typeface="Roboto Mono"/>
              <a:sym typeface="Roboto Mono"/>
            </a:endParaRPr>
          </a:p>
          <a:p>
            <a:pPr indent="457200" lvl="0" marL="1828800" rtl="0" algn="l">
              <a:spcBef>
                <a:spcPts val="1600"/>
              </a:spcBef>
              <a:spcAft>
                <a:spcPts val="0"/>
              </a:spcAft>
              <a:buNone/>
            </a:pPr>
            <a:r>
              <a:t/>
            </a:r>
            <a:endParaRPr sz="2000">
              <a:latin typeface="Roboto Mono"/>
              <a:ea typeface="Roboto Mono"/>
              <a:cs typeface="Roboto Mono"/>
              <a:sym typeface="Roboto Mono"/>
            </a:endParaRPr>
          </a:p>
          <a:p>
            <a:pPr indent="457200" lvl="0" marL="914400" rtl="0" algn="l">
              <a:spcBef>
                <a:spcPts val="1600"/>
              </a:spcBef>
              <a:spcAft>
                <a:spcPts val="0"/>
              </a:spcAft>
              <a:buNone/>
            </a:pPr>
            <a:r>
              <a:rPr lang="es" sz="2000">
                <a:latin typeface="Roboto Mono"/>
                <a:ea typeface="Roboto Mono"/>
                <a:cs typeface="Roboto Mono"/>
                <a:sym typeface="Roboto Mono"/>
              </a:rPr>
              <a:t>[6, 8, 7, 2]</a:t>
            </a:r>
            <a:r>
              <a:rPr lang="es" sz="1600">
                <a:solidFill>
                  <a:srgbClr val="FF0000"/>
                </a:solidFill>
                <a:latin typeface="Roboto Mono"/>
                <a:ea typeface="Roboto Mono"/>
                <a:cs typeface="Roboto Mono"/>
                <a:sym typeface="Roboto Mono"/>
              </a:rPr>
              <a:t>[2, 6, 7, 8]4</a:t>
            </a:r>
            <a:r>
              <a:rPr lang="es" sz="2000">
                <a:latin typeface="Roboto Mono"/>
                <a:ea typeface="Roboto Mono"/>
                <a:cs typeface="Roboto Mono"/>
                <a:sym typeface="Roboto Mono"/>
              </a:rPr>
              <a:t>	[1, 5, </a:t>
            </a:r>
            <a:r>
              <a:rPr lang="es" sz="2000">
                <a:latin typeface="Roboto Mono"/>
                <a:ea typeface="Roboto Mono"/>
                <a:cs typeface="Roboto Mono"/>
                <a:sym typeface="Roboto Mono"/>
              </a:rPr>
              <a:t>3, 4</a:t>
            </a:r>
            <a:r>
              <a:rPr lang="es" sz="2000">
                <a:latin typeface="Roboto Mono"/>
                <a:ea typeface="Roboto Mono"/>
                <a:cs typeface="Roboto Mono"/>
                <a:sym typeface="Roboto Mono"/>
              </a:rPr>
              <a:t>]</a:t>
            </a:r>
            <a:r>
              <a:rPr lang="es" sz="1600">
                <a:solidFill>
                  <a:srgbClr val="FF0000"/>
                </a:solidFill>
                <a:latin typeface="Roboto Mono"/>
                <a:ea typeface="Roboto Mono"/>
                <a:cs typeface="Roboto Mono"/>
                <a:sym typeface="Roboto Mono"/>
              </a:rPr>
              <a:t>[1, 3, 4, 5]2</a:t>
            </a:r>
            <a:endParaRPr sz="1600">
              <a:solidFill>
                <a:srgbClr val="FF0000"/>
              </a:solidFill>
              <a:latin typeface="Roboto Mono"/>
              <a:ea typeface="Roboto Mono"/>
              <a:cs typeface="Roboto Mono"/>
              <a:sym typeface="Roboto Mono"/>
            </a:endParaRPr>
          </a:p>
          <a:p>
            <a:pPr indent="457200" lvl="0" marL="914400" rtl="0" algn="l">
              <a:spcBef>
                <a:spcPts val="1600"/>
              </a:spcBef>
              <a:spcAft>
                <a:spcPts val="0"/>
              </a:spcAft>
              <a:buNone/>
            </a:pPr>
            <a:r>
              <a:rPr lang="es" sz="1600">
                <a:solidFill>
                  <a:srgbClr val="FF0000"/>
                </a:solidFill>
                <a:latin typeface="Roboto Mono"/>
                <a:ea typeface="Roboto Mono"/>
                <a:cs typeface="Roboto Mono"/>
                <a:sym typeface="Roboto Mono"/>
              </a:rPr>
              <a:t>	¿Cuántas inversiones hay en total?</a:t>
            </a:r>
            <a:endParaRPr sz="1600">
              <a:solidFill>
                <a:srgbClr val="FF0000"/>
              </a:solidFill>
              <a:latin typeface="Roboto Mono"/>
              <a:ea typeface="Roboto Mono"/>
              <a:cs typeface="Roboto Mono"/>
              <a:sym typeface="Roboto Mono"/>
            </a:endParaRPr>
          </a:p>
          <a:p>
            <a:pPr indent="0" lvl="0" marL="0" rtl="0" algn="l">
              <a:spcBef>
                <a:spcPts val="1600"/>
              </a:spcBef>
              <a:spcAft>
                <a:spcPts val="0"/>
              </a:spcAft>
              <a:buNone/>
            </a:pPr>
            <a:r>
              <a:t/>
            </a:r>
            <a:endParaRPr sz="2000">
              <a:latin typeface="Roboto Mono"/>
              <a:ea typeface="Roboto Mono"/>
              <a:cs typeface="Roboto Mono"/>
              <a:sym typeface="Roboto Mono"/>
            </a:endParaRPr>
          </a:p>
          <a:p>
            <a:pPr indent="0" lvl="0" marL="0" rtl="0" algn="l">
              <a:spcBef>
                <a:spcPts val="1600"/>
              </a:spcBef>
              <a:spcAft>
                <a:spcPts val="1600"/>
              </a:spcAft>
              <a:buNone/>
            </a:pPr>
            <a:r>
              <a:rPr lang="es" sz="2000">
                <a:latin typeface="Roboto Mono"/>
                <a:ea typeface="Roboto Mono"/>
                <a:cs typeface="Roboto Mono"/>
                <a:sym typeface="Roboto Mono"/>
              </a:rPr>
              <a:t>			</a:t>
            </a:r>
            <a:endParaRPr sz="2000">
              <a:latin typeface="Roboto Mono"/>
              <a:ea typeface="Roboto Mono"/>
              <a:cs typeface="Roboto Mono"/>
              <a:sym typeface="Roboto Mono"/>
            </a:endParaRPr>
          </a:p>
        </p:txBody>
      </p:sp>
      <p:sp>
        <p:nvSpPr>
          <p:cNvPr id="620" name="Google Shape;620;p9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Mergesort</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94"/>
          <p:cNvSpPr txBox="1"/>
          <p:nvPr>
            <p:ph idx="1" type="body"/>
          </p:nvPr>
        </p:nvSpPr>
        <p:spPr>
          <a:xfrm>
            <a:off x="311700" y="1171600"/>
            <a:ext cx="8764500" cy="3397200"/>
          </a:xfrm>
          <a:prstGeom prst="rect">
            <a:avLst/>
          </a:prstGeom>
        </p:spPr>
        <p:txBody>
          <a:bodyPr anchorCtr="0" anchor="t" bIns="91425" lIns="91425" spcFirstLastPara="1" rIns="91425" wrap="square" tIns="91425">
            <a:noAutofit/>
          </a:bodyPr>
          <a:lstStyle/>
          <a:p>
            <a:pPr indent="457200" lvl="0" marL="1828800" rtl="0" algn="l">
              <a:spcBef>
                <a:spcPts val="0"/>
              </a:spcBef>
              <a:spcAft>
                <a:spcPts val="0"/>
              </a:spcAft>
              <a:buNone/>
            </a:pPr>
            <a:r>
              <a:rPr lang="es" sz="2000">
                <a:latin typeface="Roboto Mono"/>
                <a:ea typeface="Roboto Mono"/>
                <a:cs typeface="Roboto Mono"/>
                <a:sym typeface="Roboto Mono"/>
              </a:rPr>
              <a:t>[6, 8, 7, 2, 1, 5, 3, 4]</a:t>
            </a:r>
            <a:r>
              <a:rPr lang="es" sz="1400">
                <a:solidFill>
                  <a:srgbClr val="FF0000"/>
                </a:solidFill>
                <a:latin typeface="Roboto Mono"/>
                <a:ea typeface="Roboto Mono"/>
                <a:cs typeface="Roboto Mono"/>
                <a:sym typeface="Roboto Mono"/>
              </a:rPr>
              <a:t>[1, 2, 3, 4, 5, 6, 7, 8]</a:t>
            </a:r>
            <a:endParaRPr sz="1400">
              <a:solidFill>
                <a:srgbClr val="FF0000"/>
              </a:solidFill>
              <a:latin typeface="Roboto Mono"/>
              <a:ea typeface="Roboto Mono"/>
              <a:cs typeface="Roboto Mono"/>
              <a:sym typeface="Roboto Mono"/>
            </a:endParaRPr>
          </a:p>
          <a:p>
            <a:pPr indent="457200" lvl="0" marL="1828800" rtl="0" algn="l">
              <a:spcBef>
                <a:spcPts val="1600"/>
              </a:spcBef>
              <a:spcAft>
                <a:spcPts val="0"/>
              </a:spcAft>
              <a:buNone/>
            </a:pPr>
            <a:r>
              <a:t/>
            </a:r>
            <a:endParaRPr sz="2000">
              <a:latin typeface="Roboto Mono"/>
              <a:ea typeface="Roboto Mono"/>
              <a:cs typeface="Roboto Mono"/>
              <a:sym typeface="Roboto Mono"/>
            </a:endParaRPr>
          </a:p>
          <a:p>
            <a:pPr indent="457200" lvl="0" marL="914400" rtl="0" algn="l">
              <a:spcBef>
                <a:spcPts val="1600"/>
              </a:spcBef>
              <a:spcAft>
                <a:spcPts val="0"/>
              </a:spcAft>
              <a:buNone/>
            </a:pPr>
            <a:r>
              <a:rPr lang="es" sz="2000">
                <a:latin typeface="Roboto Mono"/>
                <a:ea typeface="Roboto Mono"/>
                <a:cs typeface="Roboto Mono"/>
                <a:sym typeface="Roboto Mono"/>
              </a:rPr>
              <a:t>[6, 8, 7, 2]</a:t>
            </a:r>
            <a:r>
              <a:rPr lang="es" sz="1600">
                <a:solidFill>
                  <a:srgbClr val="FF0000"/>
                </a:solidFill>
                <a:latin typeface="Roboto Mono"/>
                <a:ea typeface="Roboto Mono"/>
                <a:cs typeface="Roboto Mono"/>
                <a:sym typeface="Roboto Mono"/>
              </a:rPr>
              <a:t>[2, 6, 7, 8]4</a:t>
            </a:r>
            <a:r>
              <a:rPr lang="es" sz="2000">
                <a:latin typeface="Roboto Mono"/>
                <a:ea typeface="Roboto Mono"/>
                <a:cs typeface="Roboto Mono"/>
                <a:sym typeface="Roboto Mono"/>
              </a:rPr>
              <a:t>	[1, 5, 3, 4]</a:t>
            </a:r>
            <a:r>
              <a:rPr lang="es" sz="1600">
                <a:solidFill>
                  <a:srgbClr val="FF0000"/>
                </a:solidFill>
                <a:latin typeface="Roboto Mono"/>
                <a:ea typeface="Roboto Mono"/>
                <a:cs typeface="Roboto Mono"/>
                <a:sym typeface="Roboto Mono"/>
              </a:rPr>
              <a:t>[1, 3, 4, 5]2</a:t>
            </a:r>
            <a:endParaRPr sz="1600">
              <a:solidFill>
                <a:srgbClr val="FF0000"/>
              </a:solidFill>
              <a:latin typeface="Roboto Mono"/>
              <a:ea typeface="Roboto Mono"/>
              <a:cs typeface="Roboto Mono"/>
              <a:sym typeface="Roboto Mono"/>
            </a:endParaRPr>
          </a:p>
          <a:p>
            <a:pPr indent="457200" lvl="0" marL="914400" rtl="0" algn="l">
              <a:spcBef>
                <a:spcPts val="1600"/>
              </a:spcBef>
              <a:spcAft>
                <a:spcPts val="0"/>
              </a:spcAft>
              <a:buNone/>
            </a:pPr>
            <a:r>
              <a:rPr lang="es" sz="1600">
                <a:solidFill>
                  <a:srgbClr val="FF0000"/>
                </a:solidFill>
                <a:latin typeface="Roboto Mono"/>
                <a:ea typeface="Roboto Mono"/>
                <a:cs typeface="Roboto Mono"/>
                <a:sym typeface="Roboto Mono"/>
              </a:rPr>
              <a:t>	¿Cuántas inversiones hay en total?</a:t>
            </a:r>
            <a:endParaRPr sz="1600">
              <a:solidFill>
                <a:srgbClr val="FF0000"/>
              </a:solidFill>
              <a:latin typeface="Roboto Mono"/>
              <a:ea typeface="Roboto Mono"/>
              <a:cs typeface="Roboto Mono"/>
              <a:sym typeface="Roboto Mono"/>
            </a:endParaRPr>
          </a:p>
          <a:p>
            <a:pPr indent="457200" lvl="0" marL="914400" rtl="0" algn="l">
              <a:spcBef>
                <a:spcPts val="1600"/>
              </a:spcBef>
              <a:spcAft>
                <a:spcPts val="0"/>
              </a:spcAft>
              <a:buNone/>
            </a:pPr>
            <a:r>
              <a:rPr lang="es" sz="1600">
                <a:solidFill>
                  <a:srgbClr val="FF0000"/>
                </a:solidFill>
                <a:latin typeface="Roboto Mono"/>
                <a:ea typeface="Roboto Mono"/>
                <a:cs typeface="Roboto Mono"/>
                <a:sym typeface="Roboto Mono"/>
              </a:rPr>
              <a:t>4+2+ (4 por el 1, 3 por el 3, 3 por el 4, 3 por el 5) =</a:t>
            </a:r>
            <a:endParaRPr sz="1600">
              <a:solidFill>
                <a:srgbClr val="FF0000"/>
              </a:solidFill>
              <a:latin typeface="Roboto Mono"/>
              <a:ea typeface="Roboto Mono"/>
              <a:cs typeface="Roboto Mono"/>
              <a:sym typeface="Roboto Mono"/>
            </a:endParaRPr>
          </a:p>
          <a:p>
            <a:pPr indent="457200" lvl="0" marL="914400" rtl="0" algn="l">
              <a:spcBef>
                <a:spcPts val="1600"/>
              </a:spcBef>
              <a:spcAft>
                <a:spcPts val="0"/>
              </a:spcAft>
              <a:buNone/>
            </a:pPr>
            <a:r>
              <a:rPr lang="es" sz="1600">
                <a:solidFill>
                  <a:srgbClr val="FF0000"/>
                </a:solidFill>
                <a:latin typeface="Roboto Mono"/>
                <a:ea typeface="Roboto Mono"/>
                <a:cs typeface="Roboto Mono"/>
                <a:sym typeface="Roboto Mono"/>
              </a:rPr>
              <a:t>	19 (el máximo sería 28)</a:t>
            </a:r>
            <a:endParaRPr sz="1600">
              <a:solidFill>
                <a:srgbClr val="FF0000"/>
              </a:solidFill>
              <a:latin typeface="Roboto Mono"/>
              <a:ea typeface="Roboto Mono"/>
              <a:cs typeface="Roboto Mono"/>
              <a:sym typeface="Roboto Mono"/>
            </a:endParaRPr>
          </a:p>
          <a:p>
            <a:pPr indent="457200" lvl="0" marL="914400" rtl="0" algn="l">
              <a:spcBef>
                <a:spcPts val="1600"/>
              </a:spcBef>
              <a:spcAft>
                <a:spcPts val="0"/>
              </a:spcAft>
              <a:buNone/>
            </a:pPr>
            <a:r>
              <a:rPr lang="es" sz="1600">
                <a:solidFill>
                  <a:srgbClr val="FF0000"/>
                </a:solidFill>
                <a:latin typeface="Roboto Mono"/>
                <a:ea typeface="Roboto Mono"/>
                <a:cs typeface="Roboto Mono"/>
                <a:sym typeface="Roboto Mono"/>
              </a:rPr>
              <a:t>	</a:t>
            </a:r>
            <a:endParaRPr sz="1600">
              <a:solidFill>
                <a:srgbClr val="FF0000"/>
              </a:solidFill>
              <a:latin typeface="Roboto Mono"/>
              <a:ea typeface="Roboto Mono"/>
              <a:cs typeface="Roboto Mono"/>
              <a:sym typeface="Roboto Mono"/>
            </a:endParaRPr>
          </a:p>
          <a:p>
            <a:pPr indent="0" lvl="0" marL="0" rtl="0" algn="l">
              <a:spcBef>
                <a:spcPts val="1600"/>
              </a:spcBef>
              <a:spcAft>
                <a:spcPts val="0"/>
              </a:spcAft>
              <a:buNone/>
            </a:pPr>
            <a:r>
              <a:t/>
            </a:r>
            <a:endParaRPr sz="2000">
              <a:latin typeface="Roboto Mono"/>
              <a:ea typeface="Roboto Mono"/>
              <a:cs typeface="Roboto Mono"/>
              <a:sym typeface="Roboto Mono"/>
            </a:endParaRPr>
          </a:p>
          <a:p>
            <a:pPr indent="0" lvl="0" marL="0" rtl="0" algn="l">
              <a:spcBef>
                <a:spcPts val="1600"/>
              </a:spcBef>
              <a:spcAft>
                <a:spcPts val="1600"/>
              </a:spcAft>
              <a:buNone/>
            </a:pPr>
            <a:r>
              <a:rPr lang="es" sz="2000">
                <a:latin typeface="Roboto Mono"/>
                <a:ea typeface="Roboto Mono"/>
                <a:cs typeface="Roboto Mono"/>
                <a:sym typeface="Roboto Mono"/>
              </a:rPr>
              <a:t>			</a:t>
            </a:r>
            <a:endParaRPr sz="2000">
              <a:latin typeface="Roboto Mono"/>
              <a:ea typeface="Roboto Mono"/>
              <a:cs typeface="Roboto Mono"/>
              <a:sym typeface="Roboto Mono"/>
            </a:endParaRPr>
          </a:p>
        </p:txBody>
      </p:sp>
      <p:sp>
        <p:nvSpPr>
          <p:cNvPr id="626" name="Google Shape;626;p9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Mergesort</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9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¿Complejidad?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