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5143500" cx="9144000"/>
  <p:notesSz cx="6858000" cy="9144000"/>
  <p:embeddedFontLst>
    <p:embeddedFont>
      <p:font typeface="Proxima Nova"/>
      <p:regular r:id="rId30"/>
      <p:bold r:id="rId31"/>
      <p:italic r:id="rId32"/>
      <p:boldItalic r:id="rId33"/>
    </p:embeddedFont>
    <p:embeddedFont>
      <p:font typeface="Old Standard TT"/>
      <p:regular r:id="rId34"/>
      <p:bold r:id="rId35"/>
      <p: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roximaNova-bold.fntdata"/><Relationship Id="rId30" Type="http://schemas.openxmlformats.org/officeDocument/2006/relationships/font" Target="fonts/ProximaNova-regular.fntdata"/><Relationship Id="rId11" Type="http://schemas.openxmlformats.org/officeDocument/2006/relationships/slide" Target="slides/slide6.xml"/><Relationship Id="rId33" Type="http://schemas.openxmlformats.org/officeDocument/2006/relationships/font" Target="fonts/ProximaNova-boldItalic.fntdata"/><Relationship Id="rId10" Type="http://schemas.openxmlformats.org/officeDocument/2006/relationships/slide" Target="slides/slide5.xml"/><Relationship Id="rId32" Type="http://schemas.openxmlformats.org/officeDocument/2006/relationships/font" Target="fonts/ProximaNova-italic.fntdata"/><Relationship Id="rId13" Type="http://schemas.openxmlformats.org/officeDocument/2006/relationships/slide" Target="slides/slide8.xml"/><Relationship Id="rId35" Type="http://schemas.openxmlformats.org/officeDocument/2006/relationships/font" Target="fonts/OldStandardTT-bold.fntdata"/><Relationship Id="rId12" Type="http://schemas.openxmlformats.org/officeDocument/2006/relationships/slide" Target="slides/slide7.xml"/><Relationship Id="rId34" Type="http://schemas.openxmlformats.org/officeDocument/2006/relationships/font" Target="fonts/OldStandardTT-regular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schemas.openxmlformats.org/officeDocument/2006/relationships/font" Target="fonts/OldStandardTT-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9b03970df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9b03970df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1dcce2a344a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1dcce2a344a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7ad9c44b0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7ad9c44b0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7ad9c44b0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7ad9c44b0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7ad9c44b07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27ad9c44b0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1dcce2a344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1dcce2a344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Jeremy Bentham vs Immanuel Kant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dcce2a344a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1dcce2a344a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dcce2a344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1dcce2a344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40f111cc6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40f111cc6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dcce2a344a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1dcce2a344a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21ae210e59_1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221ae210e59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19376cc711979574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19376cc711979574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1dcce2a344a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1dcce2a344a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24400d9dc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224400d9dc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1dcce2a344a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1dcce2a344a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1dcce2a344a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1dcce2a344a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24400d9dc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224400d9dc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1dcce2a344a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1dcce2a344a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1dcce2a344a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1dcce2a344a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1dcce2a344a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1dcce2a344a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1dcce2a344a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1dcce2a344a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1dcce2a344a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1dcce2a344a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19376cc711979574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19376cc711979574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40f111cc65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40f111cc65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Proxima Nova"/>
              <a:buNone/>
              <a:defRPr sz="42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Proxima Nova"/>
              <a:buNone/>
              <a:defRPr sz="2400">
                <a:solidFill>
                  <a:schemeClr val="accent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3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Font typeface="Proxima Nova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Font typeface="Proxima Nova"/>
              <a:buChar char="●"/>
              <a:defRPr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○"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■"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●"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○"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■"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●"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○"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Font typeface="Proxima Nova"/>
              <a:buChar char="■"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Font typeface="Proxima Nova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Proxima Nova"/>
              <a:buChar char="●"/>
              <a:defRPr sz="1400"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●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●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Proxima Nova"/>
              <a:buChar char="●"/>
              <a:defRPr sz="1400"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●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●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Proxima Nova"/>
              <a:buNone/>
              <a:defRPr sz="5400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perback">
    <p:bg>
      <p:bgPr>
        <a:solidFill>
          <a:srgbClr val="EFEFE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Algoritmos Greedy I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Teoría de Algoritmos</a:t>
            </a:r>
            <a:endParaRPr/>
          </a:p>
        </p:txBody>
      </p:sp>
      <p:pic>
        <p:nvPicPr>
          <p:cNvPr id="61" name="Google Shape;61;p13"/>
          <p:cNvPicPr preferRelativeResize="0"/>
          <p:nvPr/>
        </p:nvPicPr>
        <p:blipFill rotWithShape="1">
          <a:blip r:embed="rId3">
            <a:alphaModFix/>
          </a:blip>
          <a:srcRect b="80" l="0" r="0" t="70"/>
          <a:stretch/>
        </p:blipFill>
        <p:spPr>
          <a:xfrm>
            <a:off x="7060492" y="4349400"/>
            <a:ext cx="2079858" cy="787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Hablemos de algoritmos que ya conocemos…</a:t>
            </a:r>
            <a:endParaRPr/>
          </a:p>
        </p:txBody>
      </p:sp>
      <p:sp>
        <p:nvSpPr>
          <p:cNvPr id="67" name="Google Shape;67;p14"/>
          <p:cNvSpPr txBox="1"/>
          <p:nvPr>
            <p:ph idx="1" type="body"/>
          </p:nvPr>
        </p:nvSpPr>
        <p:spPr>
          <a:xfrm>
            <a:off x="311700" y="1171600"/>
            <a:ext cx="8520600" cy="130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Dijkstra.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Prim.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Kruskal.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Hablemos de algoritmos que ya conocemos…</a:t>
            </a:r>
            <a:endParaRPr/>
          </a:p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311700" y="1171600"/>
            <a:ext cx="8520600" cy="130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Dijkstra.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Hablemos de algoritmos que ya conocemos…</a:t>
            </a:r>
            <a:endParaRPr/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1171600"/>
            <a:ext cx="8520600" cy="130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Prim.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Hablemos de algoritmos que ya conocemos…</a:t>
            </a:r>
            <a:endParaRPr/>
          </a:p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311700" y="1171600"/>
            <a:ext cx="8520600" cy="130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Kruskal.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Momento filosófico</a:t>
            </a:r>
            <a:endParaRPr/>
          </a:p>
        </p:txBody>
      </p:sp>
      <p:sp>
        <p:nvSpPr>
          <p:cNvPr id="91" name="Google Shape;91;p18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¿Algoritmo Greedy = Liberalismo?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Consecuencialismo/Utilitarismo vs Deontologismo. </a:t>
            </a:r>
            <a:endParaRPr/>
          </a:p>
        </p:txBody>
      </p:sp>
      <p:pic>
        <p:nvPicPr>
          <p:cNvPr id="92" name="Google Shape;9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0500" y="2181950"/>
            <a:ext cx="4503000" cy="253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Conclusión</a:t>
            </a:r>
            <a:endParaRPr/>
          </a:p>
        </p:txBody>
      </p:sp>
      <p:sp>
        <p:nvSpPr>
          <p:cNvPr id="98" name="Google Shape;98;p19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Algoritmo greedy: Sucesión de óptimos locales → óptimo global.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¿Sucede esto siempre?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700"/>
              <a:t>¿Qué es un algoritmo Greedy/Goloso/Voraz/Codicioso?</a:t>
            </a:r>
            <a:endParaRPr sz="2700"/>
          </a:p>
        </p:txBody>
      </p:sp>
      <p:sp>
        <p:nvSpPr>
          <p:cNvPr id="104" name="Google Shape;104;p20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Aplicamos una regla sencilla que nos permita obtener el/un </a:t>
            </a:r>
            <a:r>
              <a:rPr b="1" lang="es"/>
              <a:t>óptimo local</a:t>
            </a:r>
            <a:r>
              <a:rPr lang="es"/>
              <a:t> a mi </a:t>
            </a:r>
            <a:r>
              <a:rPr b="1" lang="es"/>
              <a:t>estado actual</a:t>
            </a:r>
            <a:r>
              <a:rPr lang="es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Aplicamos iterativamente esa regla, esperando que nos lleve al óptimo general (la mejor solución).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IMPORTANTE</a:t>
            </a:r>
            <a:endParaRPr/>
          </a:p>
        </p:txBody>
      </p:sp>
      <p:sp>
        <p:nvSpPr>
          <p:cNvPr id="110" name="Google Shape;110;p2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s"/>
              <a:t>Un algoritmo es greedy cuando tenemos dicha regla sencilla que s</a:t>
            </a:r>
            <a:r>
              <a:rPr lang="es"/>
              <a:t>ólo mira el estado actual y que busca un óptimo local. Si no podemos enunciar cuál es el óptimo local, el algoritmo no es greedy o lo estamos pensando mal.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Ventajas y Desventajas</a:t>
            </a:r>
            <a:endParaRPr/>
          </a:p>
        </p:txBody>
      </p:sp>
      <p:sp>
        <p:nvSpPr>
          <p:cNvPr id="116" name="Google Shape;116;p22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No siempre dan el resultado óptimo.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Demostrar que dan el resultado óptimo puede no ser f</a:t>
            </a:r>
            <a:r>
              <a:rPr lang="es"/>
              <a:t>ácil</a:t>
            </a:r>
            <a:r>
              <a:rPr lang="es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+"/>
            </a:pPr>
            <a:r>
              <a:rPr lang="es"/>
              <a:t>Son intuitivos de pensar. Son fáciles de entender.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+"/>
            </a:pPr>
            <a:r>
              <a:rPr lang="es"/>
              <a:t>Suelen funcionar </a:t>
            </a:r>
            <a:r>
              <a:rPr i="1" lang="es"/>
              <a:t>rápido</a:t>
            </a:r>
            <a:r>
              <a:rPr lang="es"/>
              <a:t>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+"/>
            </a:pPr>
            <a:r>
              <a:rPr lang="es"/>
              <a:t>Para problemas </a:t>
            </a:r>
            <a:r>
              <a:rPr i="1" lang="es"/>
              <a:t>complejos</a:t>
            </a:r>
            <a:r>
              <a:rPr lang="es"/>
              <a:t> pueden ser buenas aproximaciones.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Revisemos… ¿Por qué son Greedy?</a:t>
            </a:r>
            <a:endParaRPr/>
          </a:p>
        </p:txBody>
      </p:sp>
      <p:sp>
        <p:nvSpPr>
          <p:cNvPr id="122" name="Google Shape;122;p23"/>
          <p:cNvSpPr txBox="1"/>
          <p:nvPr>
            <p:ph idx="1" type="body"/>
          </p:nvPr>
        </p:nvSpPr>
        <p:spPr>
          <a:xfrm>
            <a:off x="311700" y="1171600"/>
            <a:ext cx="8520600" cy="130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Dijkstra.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Prim.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Kruskal.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700"/>
              <a:t>¿Qué es un algoritmo Greedy/Goloso/Voraz/Codicioso?</a:t>
            </a:r>
            <a:endParaRPr sz="2700"/>
          </a:p>
        </p:txBody>
      </p:sp>
      <p:sp>
        <p:nvSpPr>
          <p:cNvPr id="128" name="Google Shape;128;p2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Aplicamos una regla sencilla que nos permita obtener un/el óptimo local a mi estado actual.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Aplicamos iterativamente esa regla, esperando que nos lleve al óptimo general (la mejor solución).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Problema de Scheduling</a:t>
            </a:r>
            <a:endParaRPr/>
          </a:p>
        </p:txBody>
      </p:sp>
      <p:sp>
        <p:nvSpPr>
          <p:cNvPr id="134" name="Google Shape;134;p25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Tengo un aula/sala donde quiero dar charlas. Las charlas tienen horario de inicio y fin. Quiero utilizar el aula para dar la mayor cantidad de charlas.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¿Cómo hacer?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Dibujemos un poco.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7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Algoritmo</a:t>
            </a:r>
            <a:endParaRPr/>
          </a:p>
        </p:txBody>
      </p:sp>
      <p:sp>
        <p:nvSpPr>
          <p:cNvPr id="144" name="Google Shape;144;p27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latin typeface="Consolas"/>
                <a:ea typeface="Consolas"/>
                <a:cs typeface="Consolas"/>
                <a:sym typeface="Consolas"/>
              </a:rPr>
              <a:t>def scheduling(horarios):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latin typeface="Consolas"/>
                <a:ea typeface="Consolas"/>
                <a:cs typeface="Consolas"/>
                <a:sym typeface="Consolas"/>
              </a:rPr>
              <a:t>	horarios_ordenados = ordenar_por_horario_fin(horarios)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latin typeface="Consolas"/>
                <a:ea typeface="Consolas"/>
                <a:cs typeface="Consolas"/>
                <a:sym typeface="Consolas"/>
              </a:rPr>
              <a:t>	charlas = []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latin typeface="Consolas"/>
                <a:ea typeface="Consolas"/>
                <a:cs typeface="Consolas"/>
                <a:sym typeface="Consolas"/>
              </a:rPr>
              <a:t>	for horario in horarios_ordenados: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latin typeface="Consolas"/>
                <a:ea typeface="Consolas"/>
                <a:cs typeface="Consolas"/>
                <a:sym typeface="Consolas"/>
              </a:rPr>
              <a:t>		if len(charlas) == 0 or not hay_interseccion(charlas[-1], horario):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latin typeface="Consolas"/>
                <a:ea typeface="Consolas"/>
                <a:cs typeface="Consolas"/>
                <a:sym typeface="Consolas"/>
              </a:rPr>
              <a:t>			charlas.append(horario)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latin typeface="Consolas"/>
                <a:ea typeface="Consolas"/>
                <a:cs typeface="Consolas"/>
                <a:sym typeface="Consolas"/>
              </a:rPr>
              <a:t>	return charlas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latin typeface="Consolas"/>
                <a:ea typeface="Consolas"/>
                <a:cs typeface="Consolas"/>
                <a:sym typeface="Consolas"/>
              </a:rPr>
              <a:t>def hay_intersection(anterior, nueva):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latin typeface="Consolas"/>
                <a:ea typeface="Consolas"/>
                <a:cs typeface="Consolas"/>
                <a:sym typeface="Consolas"/>
              </a:rPr>
              <a:t>    return anterior[FIN] &gt; </a:t>
            </a:r>
            <a:r>
              <a:rPr lang="es" sz="1400">
                <a:latin typeface="Consolas"/>
                <a:ea typeface="Consolas"/>
                <a:cs typeface="Consolas"/>
                <a:sym typeface="Consolas"/>
              </a:rPr>
              <a:t>nueva</a:t>
            </a:r>
            <a:r>
              <a:rPr lang="es" sz="1400">
                <a:latin typeface="Consolas"/>
                <a:ea typeface="Consolas"/>
                <a:cs typeface="Consolas"/>
                <a:sym typeface="Consolas"/>
              </a:rPr>
              <a:t>[INICIO]: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8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Árboles de Huffman</a:t>
            </a:r>
            <a:endParaRPr/>
          </a:p>
        </p:txBody>
      </p:sp>
      <p:sp>
        <p:nvSpPr>
          <p:cNvPr id="150" name="Google Shape;150;p28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Huffman plantea una forma de comprimir un texto en base a la frecuencia de los caracteres en el mismo.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Utiliza un heap (de mínimos) de forma auxiliar para ir generando el árbol de códigos.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Aplicamos a </a:t>
            </a:r>
            <a:r>
              <a:rPr b="1" lang="es"/>
              <a:t>PARALELEPIPEDO</a:t>
            </a:r>
            <a:r>
              <a:rPr lang="es"/>
              <a:t>. Dibujamos un poco. 	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9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 A R A L E L A M E N T E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0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Código</a:t>
            </a:r>
            <a:endParaRPr/>
          </a:p>
        </p:txBody>
      </p:sp>
      <p:sp>
        <p:nvSpPr>
          <p:cNvPr id="161" name="Google Shape;161;p30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latin typeface="Consolas"/>
                <a:ea typeface="Consolas"/>
                <a:cs typeface="Consolas"/>
                <a:sym typeface="Consolas"/>
              </a:rPr>
              <a:t>def huffman(texto):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latin typeface="Consolas"/>
                <a:ea typeface="Consolas"/>
                <a:cs typeface="Consolas"/>
                <a:sym typeface="Consolas"/>
              </a:rPr>
              <a:t>	frecuencias = calcular_frecuencias(texto)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latin typeface="Consolas"/>
                <a:ea typeface="Consolas"/>
                <a:cs typeface="Consolas"/>
                <a:sym typeface="Consolas"/>
              </a:rPr>
              <a:t>	q = heap_crear()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latin typeface="Consolas"/>
                <a:ea typeface="Consolas"/>
                <a:cs typeface="Consolas"/>
                <a:sym typeface="Consolas"/>
              </a:rPr>
              <a:t>	for caracter in frecuencia: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latin typeface="Consolas"/>
                <a:ea typeface="Consolas"/>
                <a:cs typeface="Consolas"/>
                <a:sym typeface="Consolas"/>
              </a:rPr>
              <a:t>		q.encolar( Hoja(caracter, frecuencia) )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latin typeface="Consolas"/>
                <a:ea typeface="Consolas"/>
                <a:cs typeface="Consolas"/>
                <a:sym typeface="Consolas"/>
              </a:rPr>
              <a:t>	while q.cantidad() &gt; 1: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latin typeface="Consolas"/>
                <a:ea typeface="Consolas"/>
                <a:cs typeface="Consolas"/>
                <a:sym typeface="Consolas"/>
              </a:rPr>
              <a:t>		t1 = q.desencolar()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latin typeface="Consolas"/>
                <a:ea typeface="Consolas"/>
                <a:cs typeface="Consolas"/>
                <a:sym typeface="Consolas"/>
              </a:rPr>
              <a:t>		t2 = q.desencolar()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latin typeface="Consolas"/>
                <a:ea typeface="Consolas"/>
                <a:cs typeface="Consolas"/>
                <a:sym typeface="Consolas"/>
              </a:rPr>
              <a:t>		q.encolar( Arbol(t1, t2, t1.frecuencia + t2.frecuencia) )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latin typeface="Consolas"/>
                <a:ea typeface="Consolas"/>
                <a:cs typeface="Consolas"/>
                <a:sym typeface="Consolas"/>
              </a:rPr>
              <a:t>	return codificar(q.desencolar())</a:t>
            </a:r>
            <a:endParaRPr sz="2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#datazos de Huffman</a:t>
            </a:r>
            <a:endParaRPr/>
          </a:p>
        </p:txBody>
      </p:sp>
      <p:sp>
        <p:nvSpPr>
          <p:cNvPr id="167" name="Google Shape;167;p3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Huffman implementó este algoritmo cursando la materia de Teoría de la Información de Shannon (otro groso). Era implementar un nuevo algoritmo o rendir un final.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Está demostrado que los códigos de Huffman dan como resultado la forma más eficiente de comprimir en </a:t>
            </a:r>
            <a:r>
              <a:rPr i="1" lang="es"/>
              <a:t>códigos enteros</a:t>
            </a:r>
            <a:r>
              <a:rPr lang="es"/>
              <a:t>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2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Problema del Cambio</a:t>
            </a:r>
            <a:endParaRPr/>
          </a:p>
        </p:txBody>
      </p:sp>
      <p:sp>
        <p:nvSpPr>
          <p:cNvPr id="173" name="Google Shape;173;p32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s"/>
              <a:t>Se tiene un </a:t>
            </a:r>
            <a:r>
              <a:rPr lang="es"/>
              <a:t>sistema monetario</a:t>
            </a:r>
            <a:r>
              <a:rPr lang="es"/>
              <a:t> (ejemplo, el nuestro). Se quiere dar "cambio" de una determinada cantidad de plata. Implementar un algoritmo que devuelva el cambio pedido, usando la mínima cantidad de monedas/billetes. 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3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Problema del Cambio</a:t>
            </a:r>
            <a:endParaRPr/>
          </a:p>
        </p:txBody>
      </p:sp>
      <p:sp>
        <p:nvSpPr>
          <p:cNvPr id="179" name="Google Shape;179;p33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/>
              <a:t>¿El algoritmo propuesto es siempre eficiente?</a:t>
            </a:r>
            <a:endParaRPr sz="19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 sz="1900"/>
              <a:t>¿Y si el sistema monetario fuera [1, 5, 6, 9] y </a:t>
            </a:r>
            <a:r>
              <a:rPr lang="es" sz="1900"/>
              <a:t>quisiéramos cambio</a:t>
            </a:r>
            <a:r>
              <a:rPr lang="es" sz="1900"/>
              <a:t> de 11?</a:t>
            </a:r>
            <a:endParaRPr sz="19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 sz="1900"/>
              <a:t>¿Por qué falla?</a:t>
            </a:r>
            <a:endParaRPr sz="19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Problema de compras con inflación</a:t>
            </a:r>
            <a:endParaRPr/>
          </a:p>
        </p:txBody>
      </p:sp>
      <p:sp>
        <p:nvSpPr>
          <p:cNvPr id="185" name="Google Shape;185;p3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Tenemos unos productos dados por un arreglo R, donde R[i] nos dice el precio del producto. Cada día debemos comprar uno (y sólo uno) de los productos, pero vivimos en una era de inflación y los precios aumentan todo el tiempo.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El precio del producto </a:t>
            </a:r>
            <a:r>
              <a:rPr i="1" lang="es"/>
              <a:t>i</a:t>
            </a:r>
            <a:r>
              <a:rPr lang="es"/>
              <a:t> el día </a:t>
            </a:r>
            <a:r>
              <a:rPr i="1" lang="es"/>
              <a:t>j</a:t>
            </a:r>
            <a:r>
              <a:rPr lang="es"/>
              <a:t> es R[i]</a:t>
            </a:r>
            <a:r>
              <a:rPr baseline="30000" lang="es"/>
              <a:t>j + 1</a:t>
            </a:r>
            <a:r>
              <a:rPr lang="es"/>
              <a:t> (j comenzando en 0).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Implementar un algoritmo greedy que nos indique el precio mínimo al que podemos comprar todos los productos.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Problema de la carga de combustible</a:t>
            </a:r>
            <a:endParaRPr/>
          </a:p>
        </p:txBody>
      </p:sp>
      <p:sp>
        <p:nvSpPr>
          <p:cNvPr id="191" name="Google Shape;191;p35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Un camión debe viajar desde una ciudad a otra deteniéndose a cargar combustible para poder llegar a destino. El tanque de combustible le permite viajar hasta K kilómetros.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Las estaciones se encuentran distribuidas a lo largo de la ruta siendo di la distancia desde la estación i-1 a la estación i.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Implementar un algoritmo que decida en qué estaciones conviene detenerse a cargar combustible, de manera que se detenga la menor cantidad de veces posible.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Indicar y justificar la complejidad del algoritmo.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Nota</a:t>
            </a:r>
            <a:endParaRPr/>
          </a:p>
        </p:txBody>
      </p:sp>
      <p:sp>
        <p:nvSpPr>
          <p:cNvPr id="197" name="Google Shape;197;p36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s"/>
              <a:t>M</a:t>
            </a:r>
            <a:r>
              <a:rPr lang="es"/>
              <a:t>ás allá que sigamos la clase que viene, ya mentalícense: en todo problema con algoritmos greedy les vamos a preguntar por qué es greedy… ¿cuál es la respuesta?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