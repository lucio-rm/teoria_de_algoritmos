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Proxima Nova"/>
      <p:regular r:id="rId49"/>
      <p:bold r:id="rId50"/>
      <p:italic r:id="rId51"/>
      <p:boldItalic r:id="rId52"/>
    </p:embeddedFont>
    <p:embeddedFont>
      <p:font typeface="Old Standard TT"/>
      <p:regular r:id="rId53"/>
      <p:bold r:id="rId54"/>
      <p: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ProximaNov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roximaNova-italic.fntdata"/><Relationship Id="rId50" Type="http://schemas.openxmlformats.org/officeDocument/2006/relationships/font" Target="fonts/ProximaNova-bold.fntdata"/><Relationship Id="rId53" Type="http://schemas.openxmlformats.org/officeDocument/2006/relationships/font" Target="fonts/OldStandardTT-regular.fntdata"/><Relationship Id="rId52" Type="http://schemas.openxmlformats.org/officeDocument/2006/relationships/font" Target="fonts/ProximaNova-boldItalic.fntdata"/><Relationship Id="rId11" Type="http://schemas.openxmlformats.org/officeDocument/2006/relationships/slide" Target="slides/slide6.xml"/><Relationship Id="rId55" Type="http://schemas.openxmlformats.org/officeDocument/2006/relationships/font" Target="fonts/OldStandardTT-italic.fntdata"/><Relationship Id="rId10" Type="http://schemas.openxmlformats.org/officeDocument/2006/relationships/slide" Target="slides/slide5.xml"/><Relationship Id="rId54" Type="http://schemas.openxmlformats.org/officeDocument/2006/relationships/font" Target="fonts/OldStandardTT-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eb.lums.edu.pk/~imdad/pdfs/CS510_Notes/CS510-Notes-09-10-Greedy-Interval-Scheduling-Coloring.pdf"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9b0397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9b0397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dcce2a344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dcce2a344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dcce8ac8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dcce8ac8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dcd7ede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dcd7ede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dcd7eded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dcd7eded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7e535bc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7e535bc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dcd7ededc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dcd7ededc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dcd7ededc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dcd7ededc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dcdfb591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dcdfb591f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2015245c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2015245c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7b3b1540e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7b3b1540e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dcce8ac83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dcce8ac83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dcd7ededc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dcd7ededc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558542d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c558542d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dcd7ededc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dcd7ededc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dcd7ededc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dcd7ededc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7b3b1540e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7b3b1540e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dcd7ededc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dcd7ededc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7b3b1540e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7b3b1540e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dcd7ededc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dcd7ededc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222513d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222513d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245b4758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245b4758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dcd7ededc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dcd7ededc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dcce8ac83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dcce8ac83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dcdfb591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dcdfb591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s"/>
              <a:t>Eliminamos el que necesitemos más a futuro (que lo podemos saber) (Belady) + esto incurre en la menor cantidad de cache misses posible. </a:t>
            </a:r>
            <a:endParaRPr/>
          </a:p>
          <a:p>
            <a:pPr indent="-298450" lvl="0" marL="457200" rtl="0" algn="l">
              <a:spcBef>
                <a:spcPts val="0"/>
              </a:spcBef>
              <a:spcAft>
                <a:spcPts val="0"/>
              </a:spcAft>
              <a:buSzPts val="1100"/>
              <a:buAutoNum type="arabicPeriod"/>
            </a:pPr>
            <a:r>
              <a:rPr lang="es"/>
              <a:t>LRU o variantes → si uno lo piensa, es el algoritmo de Belady pero al revés en el tiempo, y anda muy bien (como algoritmo greedy) por la localidad espacial. </a:t>
            </a:r>
            <a:endParaRPr/>
          </a:p>
          <a:p>
            <a:pPr indent="-298450" lvl="1" marL="914400" rtl="0" algn="l">
              <a:spcBef>
                <a:spcPts val="0"/>
              </a:spcBef>
              <a:spcAft>
                <a:spcPts val="0"/>
              </a:spcAft>
              <a:buSzPts val="1100"/>
              <a:buAutoNum type="alphaLcPeriod"/>
            </a:pPr>
            <a:r>
              <a:rPr lang="es"/>
              <a:t>Vamos a analizar más esto cuando veamos algoritmos Randomizados.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245b47581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245b47581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245b475810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245b475810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245b475810_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245b475810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44666d99c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44666d99c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dibujitos: </a:t>
            </a:r>
            <a:r>
              <a:rPr lang="es"/>
              <a:t>https://docs.google.com/spreadsheets/d/1xtMWkpKNFSHDijudbw7vxUbji6ES0cFW3BCrSAxtOEs/edit?usp=sharing</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44666d99c4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44666d99c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800">
                <a:solidFill>
                  <a:schemeClr val="dk1"/>
                </a:solidFill>
                <a:latin typeface="Proxima Nova"/>
                <a:ea typeface="Proxima Nova"/>
                <a:cs typeface="Proxima Nova"/>
                <a:sym typeface="Proxima Nova"/>
              </a:rPr>
              <a:t>Buscamos minimizar el tiempo de ocio/sin asignaciones de una sala antes de la próxima charla que se le asigne.</a:t>
            </a:r>
            <a:endParaRPr sz="1800">
              <a:solidFill>
                <a:schemeClr val="dk1"/>
              </a:solidFill>
              <a:latin typeface="Proxima Nova"/>
              <a:ea typeface="Proxima Nova"/>
              <a:cs typeface="Proxima Nova"/>
              <a:sym typeface="Proxima Nova"/>
            </a:endParaRPr>
          </a:p>
          <a:p>
            <a:pPr indent="0" lvl="0" marL="0" rtl="0" algn="l">
              <a:lnSpc>
                <a:spcPct val="115000"/>
              </a:lnSpc>
              <a:spcBef>
                <a:spcPts val="1600"/>
              </a:spcBef>
              <a:spcAft>
                <a:spcPts val="1600"/>
              </a:spcAft>
              <a:buNone/>
            </a:pPr>
            <a:r>
              <a:rPr lang="es" sz="1800">
                <a:solidFill>
                  <a:schemeClr val="dk1"/>
                </a:solidFill>
                <a:latin typeface="Proxima Nova"/>
                <a:ea typeface="Proxima Nova"/>
                <a:cs typeface="Proxima Nova"/>
                <a:sym typeface="Proxima Nova"/>
              </a:rPr>
              <a:t>Existen otras variantes en las que se ordena por tiempo de finalización pero en orden decreciente y asignamos</a:t>
            </a:r>
            <a:r>
              <a:rPr lang="es" sz="1800">
                <a:solidFill>
                  <a:schemeClr val="dk1"/>
                </a:solidFill>
                <a:latin typeface="Proxima Nova"/>
                <a:ea typeface="Proxima Nova"/>
                <a:cs typeface="Proxima Nova"/>
                <a:sym typeface="Proxima Nova"/>
              </a:rPr>
              <a:t> de la misma forma</a:t>
            </a:r>
            <a:br>
              <a:rPr lang="es" sz="1800">
                <a:solidFill>
                  <a:schemeClr val="dk1"/>
                </a:solidFill>
                <a:latin typeface="Proxima Nova"/>
                <a:ea typeface="Proxima Nova"/>
                <a:cs typeface="Proxima Nova"/>
                <a:sym typeface="Proxima Nova"/>
              </a:rPr>
            </a:br>
            <a:br>
              <a:rPr lang="es" sz="1800">
                <a:solidFill>
                  <a:schemeClr val="dk1"/>
                </a:solidFill>
                <a:latin typeface="Proxima Nova"/>
                <a:ea typeface="Proxima Nova"/>
                <a:cs typeface="Proxima Nova"/>
                <a:sym typeface="Proxima Nova"/>
              </a:rPr>
            </a:br>
            <a:r>
              <a:rPr b="1" lang="es">
                <a:solidFill>
                  <a:schemeClr val="dk1"/>
                </a:solidFill>
                <a:latin typeface="Proxima Nova"/>
                <a:ea typeface="Proxima Nova"/>
                <a:cs typeface="Proxima Nova"/>
                <a:sym typeface="Proxima Nova"/>
              </a:rPr>
              <a:t>Interval Coloring (Interval Partitioning) </a:t>
            </a:r>
            <a:r>
              <a:rPr lang="es">
                <a:solidFill>
                  <a:schemeClr val="dk1"/>
                </a:solidFill>
                <a:latin typeface="Proxima Nova"/>
                <a:ea typeface="Proxima Nova"/>
                <a:cs typeface="Proxima Nova"/>
                <a:sym typeface="Proxima Nova"/>
              </a:rPr>
              <a:t>@</a:t>
            </a:r>
            <a:r>
              <a:rPr lang="es">
                <a:solidFill>
                  <a:schemeClr val="dk1"/>
                </a:solidFill>
                <a:latin typeface="Proxima Nova"/>
                <a:ea typeface="Proxima Nova"/>
                <a:cs typeface="Proxima Nova"/>
                <a:sym typeface="Proxima Nova"/>
              </a:rPr>
              <a:t> </a:t>
            </a:r>
            <a:r>
              <a:rPr lang="es" u="sng">
                <a:solidFill>
                  <a:schemeClr val="hlink"/>
                </a:solidFill>
                <a:latin typeface="Proxima Nova"/>
                <a:ea typeface="Proxima Nova"/>
                <a:cs typeface="Proxima Nova"/>
                <a:sym typeface="Proxima Nova"/>
                <a:hlinkClick r:id="rId2"/>
              </a:rPr>
              <a:t>https://web.lums.edu.pk/~imdad/pdfs/CS510_Notes/CS510-Notes-09-10-Greedy-Interval-Scheduling-Coloring.pdf</a:t>
            </a:r>
            <a:br>
              <a:rPr lang="es">
                <a:solidFill>
                  <a:schemeClr val="dk1"/>
                </a:solidFill>
                <a:latin typeface="Proxima Nova"/>
                <a:ea typeface="Proxima Nova"/>
                <a:cs typeface="Proxima Nova"/>
                <a:sym typeface="Proxima Nova"/>
              </a:rPr>
            </a:br>
            <a:r>
              <a:rPr lang="es">
                <a:solidFill>
                  <a:schemeClr val="dk1"/>
                </a:solidFill>
                <a:latin typeface="Proxima Nova"/>
                <a:ea typeface="Proxima Nova"/>
                <a:cs typeface="Proxima Nova"/>
                <a:sym typeface="Proxima Nova"/>
              </a:rPr>
              <a:t>Otra solución: ir </a:t>
            </a:r>
            <a:r>
              <a:rPr lang="es">
                <a:solidFill>
                  <a:schemeClr val="dk1"/>
                </a:solidFill>
                <a:latin typeface="Proxima Nova"/>
                <a:ea typeface="Proxima Nova"/>
                <a:cs typeface="Proxima Nova"/>
                <a:sym typeface="Proxima Nova"/>
              </a:rPr>
              <a:t>eligiendo</a:t>
            </a:r>
            <a:r>
              <a:rPr lang="es">
                <a:solidFill>
                  <a:schemeClr val="dk1"/>
                </a:solidFill>
                <a:latin typeface="Proxima Nova"/>
                <a:ea typeface="Proxima Nova"/>
                <a:cs typeface="Proxima Nova"/>
                <a:sym typeface="Proxima Nova"/>
              </a:rPr>
              <a:t> la charla que termine antes (como scheduling) y dentro de las opciones de las salas, elegir la sala en la cual la última charla termine lo más tarde posible</a:t>
            </a:r>
            <a:endParaRPr>
              <a:solidFill>
                <a:schemeClr val="dk1"/>
              </a:solidFill>
              <a:latin typeface="Proxima Nova"/>
              <a:ea typeface="Proxima Nova"/>
              <a:cs typeface="Proxima Nova"/>
              <a:sym typeface="Proxima Nov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7b3b1540e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7b3b1540e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d2f085e43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d2f085e43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7b3b1540e3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7b3b1540e3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7b3b1540e3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7b3b1540e3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d2f085e43a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d2f085e43a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d2f085e43a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d2f085e43a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d2f085e43a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d2f085e43a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dcce8ac83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dcce8ac83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791e622a1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791e622a1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91e622a1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91e622a1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2015245c7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2015245c7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9580752a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79580752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245715ac8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245715ac8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github.com/algoritmos-rw/tda_ejemplos/tree/main/mochil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algoritmos-rw.github.io/tda_bg/tps/2026_1/tp1/"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Algoritmos Greedy II</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Recordamos qué es un algoritmo greedy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la mochila</a:t>
            </a:r>
            <a:endParaRPr/>
          </a:p>
        </p:txBody>
      </p:sp>
      <p:sp>
        <p:nvSpPr>
          <p:cNvPr id="72" name="Google Shape;72;p1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Tenemos una mochila con una capacidad W (peso, volumen). Hay elementos a guardar. Cada elemento tiene un peso y un valor. Queremos maximizar el valor de lo que nos llevamos sin pasarnos de la capacidad.</a:t>
            </a:r>
            <a:endParaRPr/>
          </a:p>
          <a:p>
            <a:pPr indent="0" lvl="0" marL="0" rtl="0" algn="l">
              <a:spcBef>
                <a:spcPts val="1600"/>
              </a:spcBef>
              <a:spcAft>
                <a:spcPts val="0"/>
              </a:spcAft>
              <a:buClr>
                <a:schemeClr val="dk1"/>
              </a:buClr>
              <a:buSzPts val="1100"/>
              <a:buFont typeface="Arial"/>
              <a:buNone/>
            </a:pPr>
            <a:r>
              <a:rPr lang="es"/>
              <a:t>¿Soluciones?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Ordenamos de mayor a menor valor</a:t>
            </a:r>
            <a:endParaRPr/>
          </a:p>
        </p:txBody>
      </p:sp>
      <p:sp>
        <p:nvSpPr>
          <p:cNvPr id="78" name="Google Shape;78;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Contraejemplo: </a:t>
            </a:r>
            <a:endParaRPr/>
          </a:p>
          <a:p>
            <a:pPr indent="0" lvl="0" marL="0" rtl="0" algn="l">
              <a:spcBef>
                <a:spcPts val="1600"/>
              </a:spcBef>
              <a:spcAft>
                <a:spcPts val="0"/>
              </a:spcAft>
              <a:buNone/>
            </a:pPr>
            <a:r>
              <a:rPr lang="es"/>
              <a:t>W = 10</a:t>
            </a:r>
            <a:endParaRPr/>
          </a:p>
          <a:p>
            <a:pPr indent="0" lvl="0" marL="0" rtl="0" algn="l">
              <a:spcBef>
                <a:spcPts val="1600"/>
              </a:spcBef>
              <a:spcAft>
                <a:spcPts val="1600"/>
              </a:spcAft>
              <a:buNone/>
            </a:pPr>
            <a:r>
              <a:rPr lang="es"/>
              <a:t>Elementos (v, w): [ (10, 10), (9, 9), (8, 1)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animEffect filter="fade" transition="in">
                                      <p:cBhvr>
                                        <p:cTn dur="1000"/>
                                        <p:tgtEl>
                                          <p:spTgt spid="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animEffect filter="fade" transition="in">
                                      <p:cBhvr>
                                        <p:cTn dur="1000"/>
                                        <p:tgtEl>
                                          <p:spTgt spid="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2" st="2"/>
                                            </p:txEl>
                                          </p:spTgt>
                                        </p:tgtEl>
                                        <p:attrNameLst>
                                          <p:attrName>style.visibility</p:attrName>
                                        </p:attrNameLst>
                                      </p:cBhvr>
                                      <p:to>
                                        <p:strVal val="visible"/>
                                      </p:to>
                                    </p:set>
                                    <p:animEffect filter="fade" transition="in">
                                      <p:cBhvr>
                                        <p:cTn dur="1000"/>
                                        <p:tgtEl>
                                          <p:spTgt spid="7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Ordenar de menor a mayor peso</a:t>
            </a:r>
            <a:endParaRPr/>
          </a:p>
        </p:txBody>
      </p:sp>
      <p:sp>
        <p:nvSpPr>
          <p:cNvPr id="84" name="Google Shape;84;p1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W = 10</a:t>
            </a:r>
            <a:endParaRPr/>
          </a:p>
          <a:p>
            <a:pPr indent="0" lvl="0" marL="0" rtl="0" algn="l">
              <a:spcBef>
                <a:spcPts val="1600"/>
              </a:spcBef>
              <a:spcAft>
                <a:spcPts val="0"/>
              </a:spcAft>
              <a:buClr>
                <a:schemeClr val="dk1"/>
              </a:buClr>
              <a:buSzPts val="1100"/>
              <a:buFont typeface="Arial"/>
              <a:buNone/>
            </a:pPr>
            <a:r>
              <a:rPr lang="es"/>
              <a:t>Elementos (v, w): [ (10, 10), (9, 9), (8, 1) ] → En este caso lo resuelve</a:t>
            </a:r>
            <a:endParaRPr/>
          </a:p>
          <a:p>
            <a:pPr indent="0" lvl="0" marL="0" rtl="0" algn="l">
              <a:spcBef>
                <a:spcPts val="1600"/>
              </a:spcBef>
              <a:spcAft>
                <a:spcPts val="0"/>
              </a:spcAft>
              <a:buNone/>
            </a:pPr>
            <a:r>
              <a:rPr lang="es"/>
              <a:t>Contraejemplo: </a:t>
            </a:r>
            <a:endParaRPr/>
          </a:p>
          <a:p>
            <a:pPr indent="0" lvl="0" marL="0" rtl="0" algn="l">
              <a:spcBef>
                <a:spcPts val="1600"/>
              </a:spcBef>
              <a:spcAft>
                <a:spcPts val="1600"/>
              </a:spcAft>
              <a:buClr>
                <a:schemeClr val="dk1"/>
              </a:buClr>
              <a:buSzPts val="1100"/>
              <a:buFont typeface="Arial"/>
              <a:buNone/>
            </a:pPr>
            <a:r>
              <a:rPr lang="es"/>
              <a:t>Elementos (v, w): [ (100, 10), (9, 9), (8, 1)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Effect filter="fade" transition="in">
                                      <p:cBhvr>
                                        <p:cTn dur="1300"/>
                                        <p:tgtEl>
                                          <p:spTgt spid="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animEffect filter="fade" transition="in">
                                      <p:cBhvr>
                                        <p:cTn dur="1300"/>
                                        <p:tgtEl>
                                          <p:spTgt spid="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animEffect filter="fade" transition="in">
                                      <p:cBhvr>
                                        <p:cTn dur="1300"/>
                                        <p:tgtEl>
                                          <p:spTgt spid="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animEffect filter="fade" transition="in">
                                      <p:cBhvr>
                                        <p:cTn dur="1300"/>
                                        <p:tgtEl>
                                          <p:spTgt spid="8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Ordenar de menor a mayor peso</a:t>
            </a:r>
            <a:endParaRPr/>
          </a:p>
        </p:txBody>
      </p:sp>
      <p:sp>
        <p:nvSpPr>
          <p:cNvPr id="90" name="Google Shape;90;p1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W = 10</a:t>
            </a:r>
            <a:endParaRPr/>
          </a:p>
          <a:p>
            <a:pPr indent="0" lvl="0" marL="0" rtl="0" algn="l">
              <a:spcBef>
                <a:spcPts val="1600"/>
              </a:spcBef>
              <a:spcAft>
                <a:spcPts val="0"/>
              </a:spcAft>
              <a:buClr>
                <a:schemeClr val="dk1"/>
              </a:buClr>
              <a:buSzPts val="1100"/>
              <a:buFont typeface="Arial"/>
              <a:buNone/>
            </a:pPr>
            <a:r>
              <a:rPr lang="es"/>
              <a:t>Elementos (v, w): [ (10, 10), (9, 9), (8, 1) ] → En este caso lo resuelve</a:t>
            </a:r>
            <a:endParaRPr/>
          </a:p>
          <a:p>
            <a:pPr indent="0" lvl="0" marL="0" rtl="0" algn="l">
              <a:spcBef>
                <a:spcPts val="1600"/>
              </a:spcBef>
              <a:spcAft>
                <a:spcPts val="0"/>
              </a:spcAft>
              <a:buNone/>
            </a:pPr>
            <a:r>
              <a:rPr lang="es"/>
              <a:t>Contraejemplo: </a:t>
            </a:r>
            <a:endParaRPr/>
          </a:p>
          <a:p>
            <a:pPr indent="0" lvl="0" marL="0" rtl="0" algn="l">
              <a:spcBef>
                <a:spcPts val="1600"/>
              </a:spcBef>
              <a:spcAft>
                <a:spcPts val="1600"/>
              </a:spcAft>
              <a:buClr>
                <a:schemeClr val="dk1"/>
              </a:buClr>
              <a:buSzPts val="1100"/>
              <a:buFont typeface="Arial"/>
              <a:buNone/>
            </a:pPr>
            <a:r>
              <a:rPr lang="es"/>
              <a:t>Elementos (v, w): [ (100, 10), (9, 9), (8, 1)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Effect filter="fade" transition="in">
                                      <p:cBhvr>
                                        <p:cTn dur="1300"/>
                                        <p:tgtEl>
                                          <p:spTgt spid="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animEffect filter="fade" transition="in">
                                      <p:cBhvr>
                                        <p:cTn dur="1300"/>
                                        <p:tgtEl>
                                          <p:spTgt spid="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animEffect filter="fade" transition="in">
                                      <p:cBhvr>
                                        <p:cTn dur="1300"/>
                                        <p:tgtEl>
                                          <p:spTgt spid="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animEffect filter="fade" transition="in">
                                      <p:cBhvr>
                                        <p:cTn dur="1300"/>
                                        <p:tgtEl>
                                          <p:spTgt spid="9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Ordenar de mayor a menor relación v/w</a:t>
            </a:r>
            <a:endParaRPr/>
          </a:p>
        </p:txBody>
      </p:sp>
      <p:sp>
        <p:nvSpPr>
          <p:cNvPr id="96" name="Google Shape;96;p1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 = 10</a:t>
            </a:r>
            <a:endParaRPr/>
          </a:p>
          <a:p>
            <a:pPr indent="0" lvl="0" marL="0" rtl="0" algn="l">
              <a:spcBef>
                <a:spcPts val="1600"/>
              </a:spcBef>
              <a:spcAft>
                <a:spcPts val="0"/>
              </a:spcAft>
              <a:buNone/>
            </a:pPr>
            <a:r>
              <a:rPr lang="es"/>
              <a:t>Elementos (v, w): [ (10, 10), (9, 9), (8, 1) ] → En este caso lo resuelve</a:t>
            </a:r>
            <a:endParaRPr/>
          </a:p>
          <a:p>
            <a:pPr indent="0" lvl="0" marL="0" rtl="0" algn="l">
              <a:spcBef>
                <a:spcPts val="1600"/>
              </a:spcBef>
              <a:spcAft>
                <a:spcPts val="0"/>
              </a:spcAft>
              <a:buNone/>
            </a:pPr>
            <a:r>
              <a:rPr lang="es"/>
              <a:t>Elementos (v, w): [ (100, 10), (9, 9), (8, 1) ] → En este caso lo resuelve</a:t>
            </a:r>
            <a:endParaRPr/>
          </a:p>
          <a:p>
            <a:pPr indent="0" lvl="0" marL="0" rtl="0" algn="l">
              <a:spcBef>
                <a:spcPts val="1600"/>
              </a:spcBef>
              <a:spcAft>
                <a:spcPts val="0"/>
              </a:spcAft>
              <a:buNone/>
            </a:pPr>
            <a:r>
              <a:rPr lang="es"/>
              <a:t>Contraejemplo: </a:t>
            </a:r>
            <a:endParaRPr/>
          </a:p>
          <a:p>
            <a:pPr indent="0" lvl="0" marL="0" rtl="0" algn="l">
              <a:spcBef>
                <a:spcPts val="1600"/>
              </a:spcBef>
              <a:spcAft>
                <a:spcPts val="0"/>
              </a:spcAft>
              <a:buNone/>
            </a:pPr>
            <a:r>
              <a:rPr lang="es"/>
              <a:t>Elementos (v, w): [ (3, 1), (10, 10) ]</a:t>
            </a:r>
            <a:endParaRPr/>
          </a:p>
          <a:p>
            <a:pPr indent="0" lvl="0" marL="0" rtl="0" algn="l">
              <a:spcBef>
                <a:spcPts val="1600"/>
              </a:spcBef>
              <a:spcAft>
                <a:spcPts val="1600"/>
              </a:spcAft>
              <a:buNone/>
            </a:pPr>
            <a:r>
              <a:rPr lang="es"/>
              <a:t>El clásico "muy bueno para su precio"... pero si el precio es                                    muy bajo, tal vez la "calidad" también!</a:t>
            </a:r>
            <a:endParaRPr/>
          </a:p>
        </p:txBody>
      </p:sp>
      <p:pic>
        <p:nvPicPr>
          <p:cNvPr id="97" name="Google Shape;97;p19"/>
          <p:cNvPicPr preferRelativeResize="0"/>
          <p:nvPr/>
        </p:nvPicPr>
        <p:blipFill>
          <a:blip r:embed="rId3">
            <a:alphaModFix/>
          </a:blip>
          <a:stretch>
            <a:fillRect/>
          </a:stretch>
        </p:blipFill>
        <p:spPr>
          <a:xfrm>
            <a:off x="6342125" y="2571750"/>
            <a:ext cx="2222775" cy="25088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Effect filter="fade" transition="in">
                                      <p:cBhvr>
                                        <p:cTn dur="1000"/>
                                        <p:tgtEl>
                                          <p:spTgt spid="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Effect filter="fade" transition="in">
                                      <p:cBhvr>
                                        <p:cTn dur="1000"/>
                                        <p:tgtEl>
                                          <p:spTgt spid="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Effect filter="fade" transition="in">
                                      <p:cBhvr>
                                        <p:cTn dur="1000"/>
                                        <p:tgtEl>
                                          <p:spTgt spid="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Effect filter="fade" transition="in">
                                      <p:cBhvr>
                                        <p:cTn dur="1000"/>
                                        <p:tgtEl>
                                          <p:spTgt spid="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Effect filter="fade" transition="in">
                                      <p:cBhvr>
                                        <p:cTn dur="1000"/>
                                        <p:tgtEl>
                                          <p:spTgt spid="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Effect filter="fade" transition="in">
                                      <p:cBhvr>
                                        <p:cTn dur="1000"/>
                                        <p:tgtEl>
                                          <p:spTgt spid="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Propuesta (aproximación)</a:t>
            </a:r>
            <a:endParaRPr/>
          </a:p>
        </p:txBody>
      </p:sp>
      <p:sp>
        <p:nvSpPr>
          <p:cNvPr id="103" name="Google Shape;103;p2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Calcular por v/w y por mayor valor, y quedarse con la mejor.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3"/>
              </a:rPr>
              <a:t>Demo</a:t>
            </a:r>
            <a:r>
              <a:rPr lang="es"/>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la mochila II</a:t>
            </a:r>
            <a:endParaRPr/>
          </a:p>
        </p:txBody>
      </p:sp>
      <p:sp>
        <p:nvSpPr>
          <p:cNvPr id="114" name="Google Shape;114;p2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supongamos que no es necesario poner "todo un elemento" sino que podemos poner proporciones. </a:t>
            </a:r>
            <a:endParaRPr/>
          </a:p>
          <a:p>
            <a:pPr indent="0" lvl="0" marL="0" rtl="0" algn="l">
              <a:spcBef>
                <a:spcPts val="1600"/>
              </a:spcBef>
              <a:spcAft>
                <a:spcPts val="1600"/>
              </a:spcAft>
              <a:buNone/>
            </a:pPr>
            <a:r>
              <a:rPr lang="es"/>
              <a:t>¿Ahora un algoritmo greedy sería óptimo?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3"/>
          <p:cNvPicPr preferRelativeResize="0"/>
          <p:nvPr/>
        </p:nvPicPr>
        <p:blipFill>
          <a:blip r:embed="rId3">
            <a:alphaModFix/>
          </a:blip>
          <a:stretch>
            <a:fillRect/>
          </a:stretch>
        </p:blipFill>
        <p:spPr>
          <a:xfrm>
            <a:off x="152400" y="152400"/>
            <a:ext cx="8839197" cy="4419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600"/>
              <a:t>Problema de Scheduling II - Minimizando latencia máxima</a:t>
            </a:r>
            <a:endParaRPr sz="2600"/>
          </a:p>
        </p:txBody>
      </p:sp>
      <p:sp>
        <p:nvSpPr>
          <p:cNvPr id="125" name="Google Shape;125;p2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tenemos tareas con un deadline (fecha límite) d</a:t>
            </a:r>
            <a:r>
              <a:rPr baseline="-25000" lang="es"/>
              <a:t>i</a:t>
            </a:r>
            <a:r>
              <a:rPr lang="es"/>
              <a:t> y una duración t</a:t>
            </a:r>
            <a:r>
              <a:rPr baseline="-25000" lang="es"/>
              <a:t>i</a:t>
            </a:r>
            <a:r>
              <a:rPr lang="es"/>
              <a:t>, pero pueden hacerse en cualquier momento, siempre que se hagan antes del deadline. Si se hacen después del deadline, incurrimos en una </a:t>
            </a:r>
            <a:r>
              <a:rPr i="1" lang="es"/>
              <a:t>latencia</a:t>
            </a:r>
            <a:r>
              <a:rPr lang="es"/>
              <a:t>. </a:t>
            </a:r>
            <a:endParaRPr/>
          </a:p>
          <a:p>
            <a:pPr indent="0" lvl="0" marL="0" rtl="0" algn="l">
              <a:spcBef>
                <a:spcPts val="1600"/>
              </a:spcBef>
              <a:spcAft>
                <a:spcPts val="0"/>
              </a:spcAft>
              <a:buNone/>
            </a:pPr>
            <a:r>
              <a:rPr lang="es"/>
              <a:t>Para este problema, buscamos minimizar la latencia máxima en el que las tareas se ejecuten. Es decir, si definimos que una tarea </a:t>
            </a:r>
            <a:r>
              <a:rPr i="1" lang="es"/>
              <a:t>i</a:t>
            </a:r>
            <a:r>
              <a:rPr lang="es"/>
              <a:t> empieza en s</a:t>
            </a:r>
            <a:r>
              <a:rPr baseline="-25000" lang="es"/>
              <a:t>i</a:t>
            </a:r>
            <a:r>
              <a:rPr lang="es"/>
              <a:t>, entonces termina en f</a:t>
            </a:r>
            <a:r>
              <a:rPr baseline="-25000" lang="es"/>
              <a:t>i</a:t>
            </a:r>
            <a:r>
              <a:rPr lang="es"/>
              <a:t> = s</a:t>
            </a:r>
            <a:r>
              <a:rPr baseline="-25000" lang="es"/>
              <a:t>i</a:t>
            </a:r>
            <a:r>
              <a:rPr lang="es"/>
              <a:t> + t</a:t>
            </a:r>
            <a:r>
              <a:rPr baseline="-25000" lang="es"/>
              <a:t>i</a:t>
            </a:r>
            <a:r>
              <a:rPr lang="es"/>
              <a:t>, y su latencia es l</a:t>
            </a:r>
            <a:r>
              <a:rPr baseline="-25000" lang="es"/>
              <a:t>i</a:t>
            </a:r>
            <a:r>
              <a:rPr lang="es"/>
              <a:t> = f</a:t>
            </a:r>
            <a:r>
              <a:rPr baseline="-25000" lang="es"/>
              <a:t>i</a:t>
            </a:r>
            <a:r>
              <a:rPr lang="es"/>
              <a:t> - d</a:t>
            </a:r>
            <a:r>
              <a:rPr baseline="-25000" lang="es"/>
              <a:t>i</a:t>
            </a:r>
            <a:r>
              <a:rPr lang="es"/>
              <a:t> (si f</a:t>
            </a:r>
            <a:r>
              <a:rPr baseline="-25000" lang="es"/>
              <a:t>i</a:t>
            </a:r>
            <a:r>
              <a:rPr lang="es"/>
              <a:t> &gt; d</a:t>
            </a:r>
            <a:r>
              <a:rPr baseline="-25000" lang="es"/>
              <a:t>i</a:t>
            </a:r>
            <a:r>
              <a:rPr lang="es"/>
              <a:t>, sino 0). </a:t>
            </a:r>
            <a:endParaRPr/>
          </a:p>
          <a:p>
            <a:pPr indent="0" lvl="0" marL="0" rtl="0" algn="l">
              <a:spcBef>
                <a:spcPts val="1600"/>
              </a:spcBef>
              <a:spcAft>
                <a:spcPts val="1600"/>
              </a:spcAft>
              <a:buNone/>
            </a:pPr>
            <a:r>
              <a:rPr lang="es"/>
              <a:t>¿Propuestas?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Ordenando por menor duración de tarea (t</a:t>
            </a:r>
            <a:r>
              <a:rPr baseline="-25000" lang="es"/>
              <a:t>i</a:t>
            </a:r>
            <a:r>
              <a:rPr lang="es"/>
              <a:t>)</a:t>
            </a:r>
            <a:endParaRPr/>
          </a:p>
        </p:txBody>
      </p:sp>
      <p:sp>
        <p:nvSpPr>
          <p:cNvPr id="131" name="Google Shape;131;p2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Acá nos comemos el deadline!</a:t>
            </a:r>
            <a:endParaRPr/>
          </a:p>
          <a:p>
            <a:pPr indent="0" lvl="0" marL="0" rtl="0" algn="l">
              <a:spcBef>
                <a:spcPts val="1600"/>
              </a:spcBef>
              <a:spcAft>
                <a:spcPts val="0"/>
              </a:spcAft>
              <a:buNone/>
            </a:pPr>
            <a:r>
              <a:rPr lang="es"/>
              <a:t>                            (d1, t1),  (d2, t2)</a:t>
            </a:r>
            <a:endParaRPr/>
          </a:p>
          <a:p>
            <a:pPr indent="0" lvl="0" marL="0" rtl="0" algn="l">
              <a:spcBef>
                <a:spcPts val="1600"/>
              </a:spcBef>
              <a:spcAft>
                <a:spcPts val="0"/>
              </a:spcAft>
              <a:buNone/>
            </a:pPr>
            <a:r>
              <a:rPr lang="es"/>
              <a:t>Contraejemplo: [(100, 1), (10, 10)] </a:t>
            </a:r>
            <a:endParaRPr/>
          </a:p>
          <a:p>
            <a:pPr indent="0" lvl="0" marL="0" rtl="0" algn="l">
              <a:spcBef>
                <a:spcPts val="1600"/>
              </a:spcBef>
              <a:spcAft>
                <a:spcPts val="1600"/>
              </a:spcAft>
              <a:buNone/>
            </a:pPr>
            <a:r>
              <a:rPr lang="es"/>
              <a:t>→ Latencia de 1 cuando podría ser de 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10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1000"/>
                                        <p:tgtEl>
                                          <p:spTgt spid="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Effect filter="fade" transition="in">
                                      <p:cBhvr>
                                        <p:cTn dur="1000"/>
                                        <p:tgtEl>
                                          <p:spTgt spid="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Effect filter="fade" transition="in">
                                      <p:cBhvr>
                                        <p:cTn dur="1000"/>
                                        <p:tgtEl>
                                          <p:spTgt spid="13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Ordenando por mayor duración de tarea (t</a:t>
            </a:r>
            <a:r>
              <a:rPr baseline="-25000" lang="es"/>
              <a:t>i</a:t>
            </a:r>
            <a:r>
              <a:rPr lang="es"/>
              <a:t>)</a:t>
            </a:r>
            <a:endParaRPr/>
          </a:p>
        </p:txBody>
      </p:sp>
      <p:sp>
        <p:nvSpPr>
          <p:cNvPr id="137" name="Google Shape;137;p2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Acá nos comemos el deadline!</a:t>
            </a:r>
            <a:endParaRPr/>
          </a:p>
          <a:p>
            <a:pPr indent="0" lvl="0" marL="0" rtl="0" algn="l">
              <a:spcBef>
                <a:spcPts val="1600"/>
              </a:spcBef>
              <a:spcAft>
                <a:spcPts val="0"/>
              </a:spcAft>
              <a:buNone/>
            </a:pPr>
            <a:r>
              <a:rPr lang="es"/>
              <a:t>                            (d1, t1),  (d2, t2)</a:t>
            </a:r>
            <a:endParaRPr/>
          </a:p>
          <a:p>
            <a:pPr indent="0" lvl="0" marL="0" rtl="0" algn="l">
              <a:spcBef>
                <a:spcPts val="1600"/>
              </a:spcBef>
              <a:spcAft>
                <a:spcPts val="0"/>
              </a:spcAft>
              <a:buNone/>
            </a:pPr>
            <a:r>
              <a:rPr lang="es"/>
              <a:t>Contraejemplo: [(110, 100), (10, 10)] </a:t>
            </a:r>
            <a:endParaRPr/>
          </a:p>
          <a:p>
            <a:pPr indent="0" lvl="0" marL="0" rtl="0" algn="l">
              <a:spcBef>
                <a:spcPts val="1600"/>
              </a:spcBef>
              <a:spcAft>
                <a:spcPts val="1600"/>
              </a:spcAft>
              <a:buNone/>
            </a:pPr>
            <a:r>
              <a:rPr lang="es"/>
              <a:t>→ Latencia de 100 cuando podría ser de 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animEffect filter="fade" transition="in">
                                      <p:cBhvr>
                                        <p:cTn dur="1000"/>
                                        <p:tgtEl>
                                          <p:spTgt spid="1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animEffect filter="fade" transition="in">
                                      <p:cBhvr>
                                        <p:cTn dur="1000"/>
                                        <p:tgtEl>
                                          <p:spTgt spid="1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animEffect filter="fade" transition="in">
                                      <p:cBhvr>
                                        <p:cTn dur="1000"/>
                                        <p:tgtEl>
                                          <p:spTgt spid="1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animEffect filter="fade" transition="in">
                                      <p:cBhvr>
                                        <p:cTn dur="1000"/>
                                        <p:tgtEl>
                                          <p:spTgt spid="13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Ordenando a los que les queda poco por llegar al deadline: d</a:t>
            </a:r>
            <a:r>
              <a:rPr baseline="-25000" lang="es"/>
              <a:t>i</a:t>
            </a:r>
            <a:r>
              <a:rPr lang="es"/>
              <a:t> - t</a:t>
            </a:r>
            <a:r>
              <a:rPr baseline="-25000" lang="es"/>
              <a:t>i</a:t>
            </a:r>
            <a:endParaRPr baseline="-25000"/>
          </a:p>
        </p:txBody>
      </p:sp>
      <p:sp>
        <p:nvSpPr>
          <p:cNvPr id="143" name="Google Shape;143;p27"/>
          <p:cNvSpPr txBox="1"/>
          <p:nvPr>
            <p:ph idx="1" type="body"/>
          </p:nvPr>
        </p:nvSpPr>
        <p:spPr>
          <a:xfrm>
            <a:off x="311700" y="1552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                           (d1, t1),  (d2, t2)</a:t>
            </a:r>
            <a:endParaRPr/>
          </a:p>
          <a:p>
            <a:pPr indent="0" lvl="0" marL="0" rtl="0" algn="l">
              <a:spcBef>
                <a:spcPts val="1600"/>
              </a:spcBef>
              <a:spcAft>
                <a:spcPts val="0"/>
              </a:spcAft>
              <a:buNone/>
            </a:pPr>
            <a:r>
              <a:rPr lang="es"/>
              <a:t>Contraejemplo: [(2, 1), (10, 10)] </a:t>
            </a:r>
            <a:endParaRPr/>
          </a:p>
          <a:p>
            <a:pPr indent="0" lvl="0" marL="0" rtl="0" algn="l">
              <a:spcBef>
                <a:spcPts val="1600"/>
              </a:spcBef>
              <a:spcAft>
                <a:spcPts val="1600"/>
              </a:spcAft>
              <a:buNone/>
            </a:pPr>
            <a:r>
              <a:rPr lang="es"/>
              <a:t>→ Latencia de 9 (cuando podría ser de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1000"/>
                                        <p:tgtEl>
                                          <p:spTgt spid="1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Effect filter="fade" transition="in">
                                      <p:cBhvr>
                                        <p:cTn dur="1000"/>
                                        <p:tgtEl>
                                          <p:spTgt spid="1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Effect filter="fade" transition="in">
                                      <p:cBhvr>
                                        <p:cTn dur="1000"/>
                                        <p:tgtEl>
                                          <p:spTgt spid="14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Ordenamos simplemente por deadline d</a:t>
            </a:r>
            <a:r>
              <a:rPr baseline="-25000" lang="es"/>
              <a:t>i</a:t>
            </a:r>
            <a:endParaRPr baseline="-25000"/>
          </a:p>
        </p:txBody>
      </p:sp>
      <p:sp>
        <p:nvSpPr>
          <p:cNvPr id="149" name="Google Shape;149;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Hacemos que los trabajos que se necesiten terminar primero, se hagan primero. </a:t>
            </a:r>
            <a:endParaRPr/>
          </a:p>
          <a:p>
            <a:pPr indent="0" lvl="0" marL="0" rtl="0" algn="l">
              <a:spcBef>
                <a:spcPts val="1600"/>
              </a:spcBef>
              <a:spcAft>
                <a:spcPts val="0"/>
              </a:spcAft>
              <a:buNone/>
            </a:pPr>
            <a:r>
              <a:rPr lang="es"/>
              <a:t>Esto es eficiente… </a:t>
            </a:r>
            <a:endParaRPr/>
          </a:p>
          <a:p>
            <a:pPr indent="0" lvl="0" marL="0" rtl="0" algn="l">
              <a:spcBef>
                <a:spcPts val="1600"/>
              </a:spcBef>
              <a:spcAft>
                <a:spcPts val="1600"/>
              </a:spcAft>
              <a:buNone/>
            </a:pPr>
            <a:r>
              <a:rPr lang="es"/>
              <a:t>Pero.. no tiene en cuenta el tiempo de la tarea (t</a:t>
            </a:r>
            <a:r>
              <a:rPr baseline="-25000" lang="es"/>
              <a:t>i</a:t>
            </a:r>
            <a:r>
              <a:rPr lang="es"/>
              <a:t>)!! ¿Por qué sería eficiente?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10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10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1000"/>
                                        <p:tgtEl>
                                          <p:spTgt spid="14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Demostración por </a:t>
            </a:r>
            <a:r>
              <a:rPr i="1" lang="es"/>
              <a:t>Inversiones</a:t>
            </a:r>
            <a:endParaRPr i="1"/>
          </a:p>
        </p:txBody>
      </p:sp>
      <p:sp>
        <p:nvSpPr>
          <p:cNvPr id="155" name="Google Shape;155;p2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Ordenar por Deadline nos da una propuesta de solución.</a:t>
            </a:r>
            <a:endParaRPr/>
          </a:p>
          <a:p>
            <a:pPr indent="0" lvl="0" marL="0" rtl="0" algn="l">
              <a:spcBef>
                <a:spcPts val="1600"/>
              </a:spcBef>
              <a:spcAft>
                <a:spcPts val="0"/>
              </a:spcAft>
              <a:buNone/>
            </a:pPr>
            <a:r>
              <a:rPr lang="es"/>
              <a:t>Necesitaríamos probar que está solución es igual de buena que cualquier hipotética solución óptima.</a:t>
            </a:r>
            <a:endParaRPr/>
          </a:p>
          <a:p>
            <a:pPr indent="0" lvl="0" marL="0" rtl="0" algn="l">
              <a:spcBef>
                <a:spcPts val="1600"/>
              </a:spcBef>
              <a:spcAft>
                <a:spcPts val="1600"/>
              </a:spcAft>
              <a:buNone/>
            </a:pPr>
            <a:r>
              <a:rPr lang="es"/>
              <a:t>Podemos realizar inversiones sobre la solución óptima, sin alterar su optimalidad, para demostrar la equivalencia con nuestra solución propuesta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Inversión</a:t>
            </a:r>
            <a:endParaRPr/>
          </a:p>
        </p:txBody>
      </p:sp>
      <p:sp>
        <p:nvSpPr>
          <p:cNvPr id="161" name="Google Shape;161;p3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Decimos que un schedule tiene una inversión si dentro de ese schedule tenemos dos elementos s[i] y s[j] tal que i &lt; j pero d</a:t>
            </a:r>
            <a:r>
              <a:rPr baseline="-25000" lang="es"/>
              <a:t>i</a:t>
            </a:r>
            <a:r>
              <a:rPr lang="es"/>
              <a:t> &gt; d</a:t>
            </a:r>
            <a:r>
              <a:rPr baseline="-25000" lang="es"/>
              <a:t>j</a:t>
            </a:r>
            <a:r>
              <a:rPr lang="es"/>
              <a:t> (en criollo, un elemento con deadline posterior viene antes que uno con deadline anterior, entre sí</a:t>
            </a:r>
            <a:endParaRPr/>
          </a:p>
          <a:p>
            <a:pPr indent="0" lvl="0" marL="0" rtl="0" algn="l">
              <a:spcBef>
                <a:spcPts val="1600"/>
              </a:spcBef>
              <a:spcAft>
                <a:spcPts val="0"/>
              </a:spcAft>
              <a:buNone/>
            </a:pPr>
            <a:r>
              <a:rPr lang="es"/>
              <a:t>Postulado: Todos los schedules posibles sin inversiones (y sin tiempo en desuso) tienen la misma latencia máxima. </a:t>
            </a:r>
            <a:endParaRPr/>
          </a:p>
          <a:p>
            <a:pPr indent="0" lvl="0" marL="0" rtl="0" algn="l">
              <a:spcBef>
                <a:spcPts val="1600"/>
              </a:spcBef>
              <a:spcAft>
                <a:spcPts val="1600"/>
              </a:spcAft>
              <a:buNone/>
            </a:pPr>
            <a:r>
              <a:rPr lang="es"/>
              <a:t>Demostración: por no tener inversiones, sólo pueden variar la posición de tareas que tengan mismo deadline, y van a tener que ser consecutivas. La última de estas tareas es la que tiene mayor latencia entre ellas, y esta latencia no depende del orden de las tareas.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0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1000"/>
                                        <p:tgtEl>
                                          <p:spTgt spid="16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1402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Ejemplo permutando sin Inversiones</a:t>
            </a:r>
            <a:endParaRPr/>
          </a:p>
        </p:txBody>
      </p:sp>
      <p:sp>
        <p:nvSpPr>
          <p:cNvPr id="167" name="Google Shape;167;p31"/>
          <p:cNvSpPr txBox="1"/>
          <p:nvPr>
            <p:ph idx="1" type="body"/>
          </p:nvPr>
        </p:nvSpPr>
        <p:spPr>
          <a:xfrm>
            <a:off x="311700" y="800275"/>
            <a:ext cx="8520600" cy="390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700"/>
              <a:t>d</a:t>
            </a:r>
            <a:r>
              <a:rPr baseline="-25000" lang="es" sz="1700"/>
              <a:t>1</a:t>
            </a:r>
            <a:r>
              <a:rPr lang="es" sz="1700"/>
              <a:t>, d</a:t>
            </a:r>
            <a:r>
              <a:rPr baseline="-25000" lang="es" sz="1700"/>
              <a:t>2</a:t>
            </a:r>
            <a:r>
              <a:rPr lang="es" sz="1700"/>
              <a:t> y d</a:t>
            </a:r>
            <a:r>
              <a:rPr baseline="-25000" lang="es" sz="1700"/>
              <a:t>3</a:t>
            </a:r>
            <a:r>
              <a:rPr lang="es" sz="1700"/>
              <a:t> valen 3</a:t>
            </a:r>
            <a:endParaRPr sz="1700"/>
          </a:p>
          <a:p>
            <a:pPr indent="0" lvl="0" marL="0" rtl="0" algn="l">
              <a:spcBef>
                <a:spcPts val="1600"/>
              </a:spcBef>
              <a:spcAft>
                <a:spcPts val="0"/>
              </a:spcAft>
              <a:buNone/>
            </a:pPr>
            <a:r>
              <a:rPr lang="es" sz="1700"/>
              <a:t>t</a:t>
            </a:r>
            <a:r>
              <a:rPr baseline="-25000" lang="es" sz="1700"/>
              <a:t>1</a:t>
            </a:r>
            <a:r>
              <a:rPr lang="es" sz="1700"/>
              <a:t> = 1, t</a:t>
            </a:r>
            <a:r>
              <a:rPr baseline="-25000" lang="es" sz="1700"/>
              <a:t>2</a:t>
            </a:r>
            <a:r>
              <a:rPr lang="es" sz="1700"/>
              <a:t> = 2, t</a:t>
            </a:r>
            <a:r>
              <a:rPr baseline="-25000" lang="es" sz="1700"/>
              <a:t>3</a:t>
            </a:r>
            <a:r>
              <a:rPr lang="es" sz="1700"/>
              <a:t> = 3</a:t>
            </a:r>
            <a:endParaRPr sz="1700"/>
          </a:p>
          <a:p>
            <a:pPr indent="0" lvl="0" marL="0" rtl="0" algn="l">
              <a:spcBef>
                <a:spcPts val="1600"/>
              </a:spcBef>
              <a:spcAft>
                <a:spcPts val="0"/>
              </a:spcAft>
              <a:buNone/>
            </a:pPr>
            <a:r>
              <a:rPr lang="es" sz="1700"/>
              <a:t>hacer t</a:t>
            </a:r>
            <a:r>
              <a:rPr baseline="-25000" lang="es" sz="1700"/>
              <a:t>1</a:t>
            </a:r>
            <a:r>
              <a:rPr lang="es" sz="1700"/>
              <a:t>, t</a:t>
            </a:r>
            <a:r>
              <a:rPr baseline="-25000" lang="es" sz="1700"/>
              <a:t>2</a:t>
            </a:r>
            <a:r>
              <a:rPr lang="es" sz="1700"/>
              <a:t>, t</a:t>
            </a:r>
            <a:r>
              <a:rPr baseline="-25000" lang="es" sz="1700"/>
              <a:t>3</a:t>
            </a:r>
            <a:r>
              <a:rPr lang="es" sz="1700"/>
              <a:t>: llega tarde t</a:t>
            </a:r>
            <a:r>
              <a:rPr baseline="-25000" lang="es" sz="1700"/>
              <a:t>3</a:t>
            </a:r>
            <a:r>
              <a:rPr lang="es" sz="1700"/>
              <a:t> (por 3), latencia máxima 3</a:t>
            </a:r>
            <a:endParaRPr sz="1700"/>
          </a:p>
          <a:p>
            <a:pPr indent="0" lvl="0" marL="0" rtl="0" algn="l">
              <a:spcBef>
                <a:spcPts val="1600"/>
              </a:spcBef>
              <a:spcAft>
                <a:spcPts val="0"/>
              </a:spcAft>
              <a:buNone/>
            </a:pPr>
            <a:r>
              <a:rPr lang="es" sz="1700"/>
              <a:t>hacer t</a:t>
            </a:r>
            <a:r>
              <a:rPr baseline="-25000" lang="es" sz="1700"/>
              <a:t>1</a:t>
            </a:r>
            <a:r>
              <a:rPr lang="es" sz="1700"/>
              <a:t>, t</a:t>
            </a:r>
            <a:r>
              <a:rPr baseline="-25000" lang="es" sz="1700"/>
              <a:t>3</a:t>
            </a:r>
            <a:r>
              <a:rPr lang="es" sz="1700"/>
              <a:t>, t</a:t>
            </a:r>
            <a:r>
              <a:rPr baseline="-25000" lang="es" sz="1700"/>
              <a:t>2</a:t>
            </a:r>
            <a:r>
              <a:rPr lang="es" sz="1700"/>
              <a:t>: llegan tarde t</a:t>
            </a:r>
            <a:r>
              <a:rPr baseline="-25000" lang="es" sz="1700"/>
              <a:t>3</a:t>
            </a:r>
            <a:r>
              <a:rPr lang="es" sz="1700"/>
              <a:t> (por 1) y t</a:t>
            </a:r>
            <a:r>
              <a:rPr baseline="-25000" lang="es" sz="1700"/>
              <a:t>2</a:t>
            </a:r>
            <a:r>
              <a:rPr lang="es" sz="1700"/>
              <a:t> (por 3), latencia máxima 3</a:t>
            </a:r>
            <a:endParaRPr sz="1700"/>
          </a:p>
          <a:p>
            <a:pPr indent="0" lvl="0" marL="0" rtl="0" algn="l">
              <a:spcBef>
                <a:spcPts val="1600"/>
              </a:spcBef>
              <a:spcAft>
                <a:spcPts val="0"/>
              </a:spcAft>
              <a:buNone/>
            </a:pPr>
            <a:r>
              <a:rPr lang="es" sz="1700"/>
              <a:t>hacer t</a:t>
            </a:r>
            <a:r>
              <a:rPr baseline="-25000" lang="es" sz="1700"/>
              <a:t>2</a:t>
            </a:r>
            <a:r>
              <a:rPr lang="es" sz="1700"/>
              <a:t>, t</a:t>
            </a:r>
            <a:r>
              <a:rPr baseline="-25000" lang="es" sz="1700"/>
              <a:t>1</a:t>
            </a:r>
            <a:r>
              <a:rPr lang="es" sz="1700"/>
              <a:t>, t</a:t>
            </a:r>
            <a:r>
              <a:rPr baseline="-25000" lang="es" sz="1700"/>
              <a:t>3</a:t>
            </a:r>
            <a:r>
              <a:rPr lang="es" sz="1700"/>
              <a:t>: llega tarde t</a:t>
            </a:r>
            <a:r>
              <a:rPr baseline="-25000" lang="es" sz="1700"/>
              <a:t>3</a:t>
            </a:r>
            <a:r>
              <a:rPr lang="es" sz="1700"/>
              <a:t> (por 3), latencia máxima 3</a:t>
            </a:r>
            <a:endParaRPr sz="1700"/>
          </a:p>
          <a:p>
            <a:pPr indent="0" lvl="0" marL="0" rtl="0" algn="l">
              <a:spcBef>
                <a:spcPts val="1600"/>
              </a:spcBef>
              <a:spcAft>
                <a:spcPts val="0"/>
              </a:spcAft>
              <a:buNone/>
            </a:pPr>
            <a:r>
              <a:rPr lang="es" sz="1700"/>
              <a:t>hacer t</a:t>
            </a:r>
            <a:r>
              <a:rPr baseline="-25000" lang="es" sz="1700"/>
              <a:t>2</a:t>
            </a:r>
            <a:r>
              <a:rPr lang="es" sz="1700"/>
              <a:t>, t</a:t>
            </a:r>
            <a:r>
              <a:rPr baseline="-25000" lang="es" sz="1700"/>
              <a:t>3</a:t>
            </a:r>
            <a:r>
              <a:rPr lang="es" sz="1700"/>
              <a:t>, t</a:t>
            </a:r>
            <a:r>
              <a:rPr baseline="-25000" lang="es" sz="1700"/>
              <a:t>1</a:t>
            </a:r>
            <a:r>
              <a:rPr lang="es" sz="1700"/>
              <a:t>: llegan tarde t</a:t>
            </a:r>
            <a:r>
              <a:rPr baseline="-25000" lang="es" sz="1700"/>
              <a:t>3</a:t>
            </a:r>
            <a:r>
              <a:rPr lang="es" sz="1700"/>
              <a:t> (por 2) y t</a:t>
            </a:r>
            <a:r>
              <a:rPr baseline="-25000" lang="es" sz="1700"/>
              <a:t>1</a:t>
            </a:r>
            <a:r>
              <a:rPr lang="es" sz="1700"/>
              <a:t> (por 3), latencia máxima 3</a:t>
            </a:r>
            <a:endParaRPr sz="1700"/>
          </a:p>
          <a:p>
            <a:pPr indent="0" lvl="0" marL="0" rtl="0" algn="l">
              <a:spcBef>
                <a:spcPts val="1600"/>
              </a:spcBef>
              <a:spcAft>
                <a:spcPts val="0"/>
              </a:spcAft>
              <a:buNone/>
            </a:pPr>
            <a:r>
              <a:rPr lang="es" sz="1700"/>
              <a:t>hacer t</a:t>
            </a:r>
            <a:r>
              <a:rPr baseline="-25000" lang="es" sz="1700"/>
              <a:t>3</a:t>
            </a:r>
            <a:r>
              <a:rPr lang="es" sz="1700"/>
              <a:t>, t</a:t>
            </a:r>
            <a:r>
              <a:rPr baseline="-25000" lang="es" sz="1700"/>
              <a:t>1</a:t>
            </a:r>
            <a:r>
              <a:rPr lang="es" sz="1700"/>
              <a:t>, t</a:t>
            </a:r>
            <a:r>
              <a:rPr baseline="-25000" lang="es" sz="1700"/>
              <a:t>2</a:t>
            </a:r>
            <a:r>
              <a:rPr lang="es" sz="1700"/>
              <a:t>:  llegan tarde t</a:t>
            </a:r>
            <a:r>
              <a:rPr baseline="-25000" lang="es" sz="1700"/>
              <a:t>1</a:t>
            </a:r>
            <a:r>
              <a:rPr lang="es" sz="1700"/>
              <a:t> (por 1) y t</a:t>
            </a:r>
            <a:r>
              <a:rPr baseline="-25000" lang="es" sz="1700"/>
              <a:t>2</a:t>
            </a:r>
            <a:r>
              <a:rPr lang="es" sz="1700"/>
              <a:t> (por 3), latencia máxima 3</a:t>
            </a:r>
            <a:endParaRPr sz="1700"/>
          </a:p>
          <a:p>
            <a:pPr indent="0" lvl="0" marL="0" rtl="0" algn="l">
              <a:spcBef>
                <a:spcPts val="1600"/>
              </a:spcBef>
              <a:spcAft>
                <a:spcPts val="1600"/>
              </a:spcAft>
              <a:buClr>
                <a:schemeClr val="dk1"/>
              </a:buClr>
              <a:buSzPts val="1100"/>
              <a:buFont typeface="Arial"/>
              <a:buNone/>
            </a:pPr>
            <a:r>
              <a:rPr lang="es" sz="1700"/>
              <a:t>hacer t</a:t>
            </a:r>
            <a:r>
              <a:rPr baseline="-25000" lang="es" sz="1700"/>
              <a:t>3</a:t>
            </a:r>
            <a:r>
              <a:rPr lang="es" sz="1700"/>
              <a:t>, t</a:t>
            </a:r>
            <a:r>
              <a:rPr baseline="-25000" lang="es" sz="1700"/>
              <a:t>2</a:t>
            </a:r>
            <a:r>
              <a:rPr lang="es" sz="1700"/>
              <a:t>, t</a:t>
            </a:r>
            <a:r>
              <a:rPr baseline="-25000" lang="es" sz="1700"/>
              <a:t>1</a:t>
            </a:r>
            <a:r>
              <a:rPr lang="es" sz="1700"/>
              <a:t>:  llegan tarde t</a:t>
            </a:r>
            <a:r>
              <a:rPr baseline="-25000" lang="es" sz="1700"/>
              <a:t>2</a:t>
            </a:r>
            <a:r>
              <a:rPr lang="es" sz="1700"/>
              <a:t> (por 2) y t</a:t>
            </a:r>
            <a:r>
              <a:rPr baseline="-25000" lang="es" sz="1700"/>
              <a:t>1</a:t>
            </a:r>
            <a:r>
              <a:rPr lang="es" sz="1700"/>
              <a:t> (por 3), latencia máxima 3</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Más demostraciones</a:t>
            </a:r>
            <a:endParaRPr/>
          </a:p>
        </p:txBody>
      </p:sp>
      <p:sp>
        <p:nvSpPr>
          <p:cNvPr id="173" name="Google Shape;173;p32"/>
          <p:cNvSpPr txBox="1"/>
          <p:nvPr>
            <p:ph idx="1" type="body"/>
          </p:nvPr>
        </p:nvSpPr>
        <p:spPr>
          <a:xfrm>
            <a:off x="311700" y="1171600"/>
            <a:ext cx="8520600" cy="359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demostramos que hay un schedule sin inversiones (y sin tiempo de desuso) óptimo.</a:t>
            </a:r>
            <a:endParaRPr/>
          </a:p>
          <a:p>
            <a:pPr indent="0" lvl="0" marL="0" rtl="0" algn="l">
              <a:spcBef>
                <a:spcPts val="1600"/>
              </a:spcBef>
              <a:spcAft>
                <a:spcPts val="0"/>
              </a:spcAft>
              <a:buNone/>
            </a:pPr>
            <a:r>
              <a:rPr lang="es"/>
              <a:t>Demostración: supongamos que hay un óptimo que sí tiene inversiones. Como tiene inversiones, debería poder intercambiar siempre de a pares las tareas inversibles (que son contiguas). Luego de alguna cantidad de inversiones, llego al schedule sin inversiones que tiene la misma latencia máxima que el del Algoritmo.</a:t>
            </a:r>
            <a:endParaRPr/>
          </a:p>
          <a:p>
            <a:pPr indent="0" lvl="0" marL="0" rtl="0" algn="l">
              <a:spcBef>
                <a:spcPts val="1600"/>
              </a:spcBef>
              <a:spcAft>
                <a:spcPts val="0"/>
              </a:spcAft>
              <a:buNone/>
            </a:pPr>
            <a:r>
              <a:rPr lang="es"/>
              <a:t>El problema: quizás al invertir dos tareas contiguas, se incrementó la latencia máxima. Hay que poder demostrar que eso no puede ocurrir.</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idx="1" type="body"/>
          </p:nvPr>
        </p:nvSpPr>
        <p:spPr>
          <a:xfrm>
            <a:off x="311700" y="98975"/>
            <a:ext cx="8832300" cy="49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problema: quizás al invertir dos tareas contiguas, se incrementó la latencia máxima. Hay que poder demostrar que eso no puede ocurrir.</a:t>
            </a:r>
            <a:endParaRPr/>
          </a:p>
          <a:p>
            <a:pPr indent="0" lvl="0" marL="0" rtl="0" algn="l">
              <a:spcBef>
                <a:spcPts val="1600"/>
              </a:spcBef>
              <a:spcAft>
                <a:spcPts val="0"/>
              </a:spcAft>
              <a:buNone/>
            </a:pPr>
            <a:r>
              <a:rPr lang="es"/>
              <a:t>											Matemáticamente:</a:t>
            </a:r>
            <a:endParaRPr/>
          </a:p>
          <a:p>
            <a:pPr indent="0" lvl="0" marL="0" rtl="0" algn="l">
              <a:spcBef>
                <a:spcPts val="1600"/>
              </a:spcBef>
              <a:spcAft>
                <a:spcPts val="0"/>
              </a:spcAft>
              <a:buNone/>
            </a:pPr>
            <a:r>
              <a:rPr lang="es"/>
              <a:t>											fin_j = cteT + t_i + t_j</a:t>
            </a:r>
            <a:endParaRPr/>
          </a:p>
          <a:p>
            <a:pPr indent="0" lvl="0" marL="0" rtl="0" algn="l">
              <a:spcBef>
                <a:spcPts val="1600"/>
              </a:spcBef>
              <a:spcAft>
                <a:spcPts val="0"/>
              </a:spcAft>
              <a:buNone/>
            </a:pPr>
            <a:r>
              <a:rPr lang="es"/>
              <a:t>											lat_j = cteT + t_i + t_j - d_j</a:t>
            </a:r>
            <a:endParaRPr/>
          </a:p>
          <a:p>
            <a:pPr indent="0" lvl="0" marL="0" rtl="0" algn="l">
              <a:spcBef>
                <a:spcPts val="1600"/>
              </a:spcBef>
              <a:spcAft>
                <a:spcPts val="0"/>
              </a:spcAft>
              <a:buNone/>
            </a:pPr>
            <a:r>
              <a:rPr lang="es"/>
              <a:t>											fin_i’ = cteT + t_i + t_j</a:t>
            </a:r>
            <a:endParaRPr/>
          </a:p>
          <a:p>
            <a:pPr indent="0" lvl="0" marL="0" rtl="0" algn="l">
              <a:spcBef>
                <a:spcPts val="1600"/>
              </a:spcBef>
              <a:spcAft>
                <a:spcPts val="0"/>
              </a:spcAft>
              <a:buNone/>
            </a:pPr>
            <a:r>
              <a:rPr lang="es"/>
              <a:t>											lat_i’ = cteT + t_i + t_j - d_i</a:t>
            </a:r>
            <a:endParaRPr/>
          </a:p>
          <a:p>
            <a:pPr indent="0" lvl="0" marL="0" rtl="0" algn="l">
              <a:spcBef>
                <a:spcPts val="1600"/>
              </a:spcBef>
              <a:spcAft>
                <a:spcPts val="0"/>
              </a:spcAft>
              <a:buNone/>
            </a:pPr>
            <a:r>
              <a:rPr lang="es"/>
              <a:t>											pero d_i &gt; d_j entonces lat_j  &gt; lat_i</a:t>
            </a:r>
            <a:endParaRPr/>
          </a:p>
          <a:p>
            <a:pPr indent="0" lvl="0" marL="0" rtl="0" algn="l">
              <a:spcBef>
                <a:spcPts val="1600"/>
              </a:spcBef>
              <a:spcAft>
                <a:spcPts val="1600"/>
              </a:spcAft>
              <a:buNone/>
            </a:pPr>
            <a:r>
              <a:rPr lang="es"/>
              <a:t>Al invertir estas dos, no puede empeorar la latencia. A través de alguna cantidad de intercambios que no empeoran la latencia máxima, llegamos a nuestra solución original, la cual debe entonces ser óptima.</a:t>
            </a:r>
            <a:endParaRPr/>
          </a:p>
        </p:txBody>
      </p:sp>
      <p:pic>
        <p:nvPicPr>
          <p:cNvPr id="179" name="Google Shape;179;p33"/>
          <p:cNvPicPr preferRelativeResize="0"/>
          <p:nvPr/>
        </p:nvPicPr>
        <p:blipFill>
          <a:blip r:embed="rId3">
            <a:alphaModFix/>
          </a:blip>
          <a:stretch>
            <a:fillRect/>
          </a:stretch>
        </p:blipFill>
        <p:spPr>
          <a:xfrm>
            <a:off x="311700" y="995575"/>
            <a:ext cx="4922450" cy="2679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¿Qué demostramos?</a:t>
            </a:r>
            <a:endParaRPr/>
          </a:p>
        </p:txBody>
      </p:sp>
      <p:sp>
        <p:nvSpPr>
          <p:cNvPr id="185" name="Google Shape;185;p3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Que todos los schedules sin inversiones tienen misma latencia máxima (y por lo tanto, son "igual de óptimos").</a:t>
            </a:r>
            <a:endParaRPr/>
          </a:p>
          <a:p>
            <a:pPr indent="-342900" lvl="0" marL="457200" rtl="0" algn="l">
              <a:spcBef>
                <a:spcPts val="0"/>
              </a:spcBef>
              <a:spcAft>
                <a:spcPts val="0"/>
              </a:spcAft>
              <a:buSzPts val="1800"/>
              <a:buAutoNum type="arabicPeriod"/>
            </a:pPr>
            <a:r>
              <a:rPr lang="es"/>
              <a:t>Que existe un schedule sin inversiones que es óptimo.</a:t>
            </a:r>
            <a:endParaRPr/>
          </a:p>
          <a:p>
            <a:pPr indent="0" lvl="0" marL="0" rtl="0" algn="l">
              <a:spcBef>
                <a:spcPts val="1600"/>
              </a:spcBef>
              <a:spcAft>
                <a:spcPts val="1600"/>
              </a:spcAft>
              <a:buNone/>
            </a:pPr>
            <a:r>
              <a:rPr lang="es"/>
              <a:t>¿Por qué no es suficiente con el punto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Scheduling problem</a:t>
            </a:r>
            <a:endParaRPr/>
          </a:p>
        </p:txBody>
      </p:sp>
      <p:sp>
        <p:nvSpPr>
          <p:cNvPr id="191" name="Google Shape;191;p3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Hay más problemas de este tipo, o variaciones, pero en varios casos no es tan sencillo (o posible) obtener una solución óptima con un algoritmo greedy.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Optimal Caching</a:t>
            </a:r>
            <a:endParaRPr/>
          </a:p>
        </p:txBody>
      </p:sp>
      <p:sp>
        <p:nvSpPr>
          <p:cNvPr id="197" name="Google Shape;197;p3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Problema de </a:t>
            </a:r>
            <a:r>
              <a:rPr lang="es" sz="1600"/>
              <a:t>Caché</a:t>
            </a:r>
            <a:r>
              <a:rPr lang="es" sz="1600"/>
              <a:t>: podemos tener hasta k elementos de memoria bien a mano, el resto tendríamos que ir a RAM. Hay que decidir qué guardamos en la memoria </a:t>
            </a:r>
            <a:r>
              <a:rPr lang="es" sz="1600"/>
              <a:t>caché</a:t>
            </a:r>
            <a:r>
              <a:rPr lang="es" sz="1600"/>
              <a:t>. </a:t>
            </a:r>
            <a:endParaRPr sz="1600"/>
          </a:p>
          <a:p>
            <a:pPr indent="0" lvl="0" marL="0" rtl="0" algn="l">
              <a:spcBef>
                <a:spcPts val="1600"/>
              </a:spcBef>
              <a:spcAft>
                <a:spcPts val="0"/>
              </a:spcAft>
              <a:buNone/>
            </a:pPr>
            <a:r>
              <a:rPr lang="es" sz="1600"/>
              <a:t>Tenemos un conjunto de datos U en memoria general (n en total), una memoria </a:t>
            </a:r>
            <a:r>
              <a:rPr lang="es" sz="1600"/>
              <a:t>caché</a:t>
            </a:r>
            <a:r>
              <a:rPr lang="es" sz="1600"/>
              <a:t> de k &lt; n elementos. Tenemos una secuencia de pedidos de datos d</a:t>
            </a:r>
            <a:r>
              <a:rPr baseline="-25000" lang="es" sz="1600"/>
              <a:t>i</a:t>
            </a:r>
            <a:r>
              <a:rPr lang="es" sz="1600"/>
              <a:t>. Si d</a:t>
            </a:r>
            <a:r>
              <a:rPr baseline="-25000" lang="es" sz="1600"/>
              <a:t>i</a:t>
            </a:r>
            <a:r>
              <a:rPr lang="es" sz="1600"/>
              <a:t> está en la </a:t>
            </a:r>
            <a:r>
              <a:rPr lang="es" sz="1600"/>
              <a:t>caché</a:t>
            </a:r>
            <a:r>
              <a:rPr lang="es" sz="1600"/>
              <a:t>, accedemos muy rápido. Si no está → </a:t>
            </a:r>
            <a:r>
              <a:rPr i="1" lang="es" sz="1600"/>
              <a:t>cache miss</a:t>
            </a:r>
            <a:r>
              <a:rPr lang="es" sz="1600"/>
              <a:t> + ahora la tenemos que traer a la caché (y si la caché está llena, tenemos que </a:t>
            </a:r>
            <a:r>
              <a:rPr i="1" lang="es" sz="1600"/>
              <a:t>evictear</a:t>
            </a:r>
            <a:r>
              <a:rPr lang="es" sz="1600"/>
              <a:t> un dato previo). Queremos minimizar la cantidad de caché misses. </a:t>
            </a:r>
            <a:endParaRPr sz="1600"/>
          </a:p>
          <a:p>
            <a:pPr indent="0" lvl="0" marL="0" rtl="0" algn="l">
              <a:spcBef>
                <a:spcPts val="1600"/>
              </a:spcBef>
              <a:spcAft>
                <a:spcPts val="0"/>
              </a:spcAft>
              <a:buNone/>
            </a:pPr>
            <a:r>
              <a:rPr lang="es" sz="1600"/>
              <a:t>¿Cómo se resume el problema? ¿qué hay que definir?</a:t>
            </a:r>
            <a:endParaRPr sz="1600"/>
          </a:p>
          <a:p>
            <a:pPr indent="0" lvl="0" marL="0" rtl="0" algn="l">
              <a:spcBef>
                <a:spcPts val="1600"/>
              </a:spcBef>
              <a:spcAft>
                <a:spcPts val="1600"/>
              </a:spcAft>
              <a:buClr>
                <a:schemeClr val="dk1"/>
              </a:buClr>
              <a:buSzPts val="1100"/>
              <a:buFont typeface="Arial"/>
              <a:buNone/>
            </a:pPr>
            <a:r>
              <a:rPr lang="es" sz="1600"/>
              <a:t>La variable que tenemos que manejar es </a:t>
            </a:r>
            <a:r>
              <a:rPr i="1" lang="es" sz="1600"/>
              <a:t>qué evictear</a:t>
            </a:r>
            <a:r>
              <a:rPr lang="es" sz="1600"/>
              <a:t> en cada caso. </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10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10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10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1000"/>
                                        <p:tgtEl>
                                          <p:spTgt spid="1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Optimal Caching</a:t>
            </a:r>
            <a:endParaRPr/>
          </a:p>
        </p:txBody>
      </p:sp>
      <p:sp>
        <p:nvSpPr>
          <p:cNvPr id="203" name="Google Shape;203;p3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s" sz="1600"/>
              <a:t>Supongamos que sabemos cómo es la secuencia de datos a pedir, ¿cómo lo resolveríamos?</a:t>
            </a:r>
            <a:endParaRPr sz="1600"/>
          </a:p>
          <a:p>
            <a:pPr indent="-330200" lvl="0" marL="457200" rtl="0" algn="l">
              <a:spcBef>
                <a:spcPts val="0"/>
              </a:spcBef>
              <a:spcAft>
                <a:spcPts val="0"/>
              </a:spcAft>
              <a:buSzPts val="1600"/>
              <a:buAutoNum type="arabicPeriod"/>
            </a:pPr>
            <a:r>
              <a:rPr lang="es" sz="1600"/>
              <a:t>Supongamos que no sabemos cómo es lo que viene más adelante (pero si lo que vino en el pasado), ¿cómo lo resolveríamos?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10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1000"/>
                                        <p:tgtEl>
                                          <p:spTgt spid="20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coloreo de intervalos</a:t>
            </a:r>
            <a:endParaRPr/>
          </a:p>
        </p:txBody>
      </p:sp>
      <p:sp>
        <p:nvSpPr>
          <p:cNvPr id="209" name="Google Shape;209;p3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Contamos con un conjunto de “n” charlas. Cada una tiene hora de inicio y de finalización. Contamos también con un número “k” de salas donde se pueden llevar a cabo  (plot twist).</a:t>
            </a:r>
            <a:endParaRPr/>
          </a:p>
          <a:p>
            <a:pPr indent="0" lvl="0" marL="0" rtl="0" algn="l">
              <a:spcBef>
                <a:spcPts val="1600"/>
              </a:spcBef>
              <a:spcAft>
                <a:spcPts val="0"/>
              </a:spcAft>
              <a:buNone/>
            </a:pPr>
            <a:r>
              <a:rPr lang="es"/>
              <a:t>Se pide un algoritmo greedy que obtenga una asignación </a:t>
            </a:r>
            <a:r>
              <a:rPr lang="es"/>
              <a:t>(lista de asignaciones para cada sala)</a:t>
            </a:r>
            <a:r>
              <a:rPr lang="es"/>
              <a:t> que permita llevar a cabo TODAS las actividades, si es posible. </a:t>
            </a:r>
            <a:endParaRPr/>
          </a:p>
          <a:p>
            <a:pPr indent="0" lvl="0" marL="0" rtl="0" algn="l">
              <a:spcBef>
                <a:spcPts val="1600"/>
              </a:spcBef>
              <a:spcAft>
                <a:spcPts val="1600"/>
              </a:spcAft>
              <a:buNone/>
            </a:pPr>
            <a:r>
              <a:rPr lang="es"/>
              <a:t>Además se pide que la asignación use la menor cantidad de salas posible. </a:t>
            </a:r>
            <a:endParaRPr/>
          </a:p>
        </p:txBody>
      </p:sp>
      <p:sp>
        <p:nvSpPr>
          <p:cNvPr id="210" name="Google Shape;210;p38"/>
          <p:cNvSpPr txBox="1"/>
          <p:nvPr>
            <p:ph idx="1" type="body"/>
          </p:nvPr>
        </p:nvSpPr>
        <p:spPr>
          <a:xfrm>
            <a:off x="311700" y="4109200"/>
            <a:ext cx="5101500" cy="548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Ideas?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sp>
        <p:nvSpPr>
          <p:cNvPr id="215" name="Google Shape;215;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¿Ideas?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si nadie lo mencionó… ¿scheduling?</a:t>
            </a:r>
            <a:endParaRPr/>
          </a:p>
        </p:txBody>
      </p:sp>
      <p:pic>
        <p:nvPicPr>
          <p:cNvPr id="221" name="Google Shape;221;p40"/>
          <p:cNvPicPr preferRelativeResize="0"/>
          <p:nvPr/>
        </p:nvPicPr>
        <p:blipFill>
          <a:blip r:embed="rId3">
            <a:alphaModFix/>
          </a:blip>
          <a:stretch>
            <a:fillRect/>
          </a:stretch>
        </p:blipFill>
        <p:spPr>
          <a:xfrm>
            <a:off x="2427725" y="1485000"/>
            <a:ext cx="3909100" cy="2931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Usar Scheduling k veces</a:t>
            </a:r>
            <a:endParaRPr/>
          </a:p>
        </p:txBody>
      </p:sp>
      <p:sp>
        <p:nvSpPr>
          <p:cNvPr id="227" name="Google Shape;227;p41"/>
          <p:cNvSpPr txBox="1"/>
          <p:nvPr>
            <p:ph idx="1" type="body"/>
          </p:nvPr>
        </p:nvSpPr>
        <p:spPr>
          <a:xfrm>
            <a:off x="311700" y="1155750"/>
            <a:ext cx="4586400" cy="123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2 salas, y las charlas [ID,inicio,fin] :</a:t>
            </a:r>
            <a:endParaRPr/>
          </a:p>
          <a:p>
            <a:pPr indent="-342900" lvl="0" marL="457200" rtl="0" algn="l">
              <a:spcBef>
                <a:spcPts val="1600"/>
              </a:spcBef>
              <a:spcAft>
                <a:spcPts val="0"/>
              </a:spcAft>
              <a:buSzPts val="1800"/>
              <a:buChar char="-"/>
            </a:pPr>
            <a:r>
              <a:rPr lang="es"/>
              <a:t>[A,0,1],[B,1,2],[C,2,3],[D,3,4],[E,1,5]</a:t>
            </a:r>
            <a:endParaRPr/>
          </a:p>
          <a:p>
            <a:pPr indent="0" lvl="0" marL="0" rtl="0" algn="l">
              <a:spcBef>
                <a:spcPts val="1600"/>
              </a:spcBef>
              <a:spcAft>
                <a:spcPts val="0"/>
              </a:spcAft>
              <a:buNone/>
            </a:pPr>
            <a:r>
              <a:t/>
            </a:r>
            <a:endParaRPr/>
          </a:p>
          <a:p>
            <a:pPr indent="0" lvl="0" marL="45720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28" name="Google Shape;228;p41"/>
          <p:cNvSpPr/>
          <p:nvPr/>
        </p:nvSpPr>
        <p:spPr>
          <a:xfrm>
            <a:off x="7253451" y="2173649"/>
            <a:ext cx="509700" cy="2133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29" name="Google Shape;229;p41"/>
          <p:cNvSpPr/>
          <p:nvPr/>
        </p:nvSpPr>
        <p:spPr>
          <a:xfrm>
            <a:off x="7253451" y="2426135"/>
            <a:ext cx="509700" cy="2133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30" name="Google Shape;230;p41"/>
          <p:cNvSpPr/>
          <p:nvPr/>
        </p:nvSpPr>
        <p:spPr>
          <a:xfrm>
            <a:off x="7261413" y="3188135"/>
            <a:ext cx="509700" cy="2133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31" name="Google Shape;231;p41"/>
          <p:cNvSpPr/>
          <p:nvPr/>
        </p:nvSpPr>
        <p:spPr>
          <a:xfrm>
            <a:off x="7413813" y="3264335"/>
            <a:ext cx="509700" cy="2133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32" name="Google Shape;232;p41"/>
          <p:cNvSpPr/>
          <p:nvPr/>
        </p:nvSpPr>
        <p:spPr>
          <a:xfrm>
            <a:off x="7253438" y="2942987"/>
            <a:ext cx="509700" cy="2133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33" name="Google Shape;233;p41"/>
          <p:cNvSpPr txBox="1"/>
          <p:nvPr/>
        </p:nvSpPr>
        <p:spPr>
          <a:xfrm>
            <a:off x="311700" y="2995375"/>
            <a:ext cx="4358400" cy="13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800">
                <a:solidFill>
                  <a:schemeClr val="dk1"/>
                </a:solidFill>
                <a:latin typeface="Proxima Nova"/>
                <a:ea typeface="Proxima Nova"/>
                <a:cs typeface="Proxima Nova"/>
                <a:sym typeface="Proxima Nova"/>
              </a:rPr>
              <a:t>Pero si cambiamos un detalle…:</a:t>
            </a:r>
            <a:endParaRPr sz="1800">
              <a:solidFill>
                <a:schemeClr val="dk1"/>
              </a:solidFill>
              <a:latin typeface="Proxima Nova"/>
              <a:ea typeface="Proxima Nova"/>
              <a:cs typeface="Proxima Nova"/>
              <a:sym typeface="Proxima Nova"/>
            </a:endParaRPr>
          </a:p>
          <a:p>
            <a:pPr indent="-342900" lvl="0" marL="457200" rtl="0" algn="l">
              <a:lnSpc>
                <a:spcPct val="115000"/>
              </a:lnSpc>
              <a:spcBef>
                <a:spcPts val="1600"/>
              </a:spcBef>
              <a:spcAft>
                <a:spcPts val="0"/>
              </a:spcAft>
              <a:buClr>
                <a:schemeClr val="dk1"/>
              </a:buClr>
              <a:buSzPts val="1800"/>
              <a:buFont typeface="Proxima Nova"/>
              <a:buChar char="-"/>
            </a:pPr>
            <a:r>
              <a:rPr lang="es" sz="1800">
                <a:solidFill>
                  <a:schemeClr val="dk1"/>
                </a:solidFill>
                <a:latin typeface="Proxima Nova"/>
                <a:ea typeface="Proxima Nova"/>
                <a:cs typeface="Proxima Nova"/>
                <a:sym typeface="Proxima Nova"/>
              </a:rPr>
              <a:t> [A,0,1],[B,</a:t>
            </a:r>
            <a:r>
              <a:rPr b="1" lang="es" sz="1800">
                <a:solidFill>
                  <a:schemeClr val="dk1"/>
                </a:solidFill>
                <a:latin typeface="Proxima Nova"/>
                <a:ea typeface="Proxima Nova"/>
                <a:cs typeface="Proxima Nova"/>
                <a:sym typeface="Proxima Nova"/>
              </a:rPr>
              <a:t>0</a:t>
            </a:r>
            <a:r>
              <a:rPr lang="es" sz="1800">
                <a:solidFill>
                  <a:schemeClr val="dk1"/>
                </a:solidFill>
                <a:latin typeface="Proxima Nova"/>
                <a:ea typeface="Proxima Nova"/>
                <a:cs typeface="Proxima Nova"/>
                <a:sym typeface="Proxima Nova"/>
              </a:rPr>
              <a:t>,2],[C,2,3],[D,3,4],[E,1,5]</a:t>
            </a:r>
            <a:endParaRPr sz="1800">
              <a:solidFill>
                <a:schemeClr val="dk1"/>
              </a:solidFill>
              <a:latin typeface="Old Standard TT"/>
              <a:ea typeface="Old Standard TT"/>
              <a:cs typeface="Old Standard TT"/>
              <a:sym typeface="Old Standard TT"/>
            </a:endParaRPr>
          </a:p>
        </p:txBody>
      </p:sp>
      <p:pic>
        <p:nvPicPr>
          <p:cNvPr id="234" name="Google Shape;234;p41"/>
          <p:cNvPicPr preferRelativeResize="0"/>
          <p:nvPr/>
        </p:nvPicPr>
        <p:blipFill rotWithShape="1">
          <a:blip r:embed="rId3">
            <a:alphaModFix/>
          </a:blip>
          <a:srcRect b="0" l="4338" r="4521" t="4453"/>
          <a:stretch/>
        </p:blipFill>
        <p:spPr>
          <a:xfrm>
            <a:off x="5491825" y="758774"/>
            <a:ext cx="2935675" cy="1511676"/>
          </a:xfrm>
          <a:prstGeom prst="rect">
            <a:avLst/>
          </a:prstGeom>
          <a:noFill/>
          <a:ln>
            <a:noFill/>
          </a:ln>
        </p:spPr>
      </p:pic>
      <p:pic>
        <p:nvPicPr>
          <p:cNvPr id="235" name="Google Shape;235;p41"/>
          <p:cNvPicPr preferRelativeResize="0"/>
          <p:nvPr/>
        </p:nvPicPr>
        <p:blipFill rotWithShape="1">
          <a:blip r:embed="rId4">
            <a:alphaModFix/>
          </a:blip>
          <a:srcRect b="0" l="3831" r="7493" t="4471"/>
          <a:stretch/>
        </p:blipFill>
        <p:spPr>
          <a:xfrm>
            <a:off x="5482800" y="2624400"/>
            <a:ext cx="2934000" cy="1572771"/>
          </a:xfrm>
          <a:prstGeom prst="rect">
            <a:avLst/>
          </a:prstGeom>
          <a:noFill/>
          <a:ln>
            <a:noFill/>
          </a:ln>
        </p:spPr>
      </p:pic>
      <p:sp>
        <p:nvSpPr>
          <p:cNvPr id="236" name="Google Shape;236;p41"/>
          <p:cNvSpPr/>
          <p:nvPr/>
        </p:nvSpPr>
        <p:spPr>
          <a:xfrm>
            <a:off x="5203200" y="2521182"/>
            <a:ext cx="3362100" cy="2239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pic>
        <p:nvPicPr>
          <p:cNvPr id="237" name="Google Shape;237;p41"/>
          <p:cNvPicPr preferRelativeResize="0"/>
          <p:nvPr/>
        </p:nvPicPr>
        <p:blipFill rotWithShape="1">
          <a:blip r:embed="rId5">
            <a:alphaModFix/>
          </a:blip>
          <a:srcRect b="0" l="2367" r="6955" t="3166"/>
          <a:stretch/>
        </p:blipFill>
        <p:spPr>
          <a:xfrm>
            <a:off x="5491825" y="2642400"/>
            <a:ext cx="2935675" cy="2121258"/>
          </a:xfrm>
          <a:prstGeom prst="rect">
            <a:avLst/>
          </a:prstGeom>
          <a:noFill/>
          <a:ln>
            <a:noFill/>
          </a:ln>
        </p:spPr>
      </p:pic>
      <p:sp>
        <p:nvSpPr>
          <p:cNvPr id="238" name="Google Shape;238;p41"/>
          <p:cNvSpPr txBox="1"/>
          <p:nvPr>
            <p:ph idx="1" type="body"/>
          </p:nvPr>
        </p:nvSpPr>
        <p:spPr>
          <a:xfrm>
            <a:off x="311700" y="2318238"/>
            <a:ext cx="3663600" cy="5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Parece óptimo!</a:t>
            </a:r>
            <a:endParaRPr/>
          </a:p>
        </p:txBody>
      </p:sp>
      <p:pic>
        <p:nvPicPr>
          <p:cNvPr id="239" name="Google Shape;239;p41"/>
          <p:cNvPicPr preferRelativeResize="0"/>
          <p:nvPr/>
        </p:nvPicPr>
        <p:blipFill>
          <a:blip r:embed="rId6">
            <a:alphaModFix/>
          </a:blip>
          <a:stretch>
            <a:fillRect/>
          </a:stretch>
        </p:blipFill>
        <p:spPr>
          <a:xfrm>
            <a:off x="5268750" y="2618276"/>
            <a:ext cx="3362100" cy="2073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3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Ordenar por hora de inicio</a:t>
            </a:r>
            <a:endParaRPr/>
          </a:p>
        </p:txBody>
      </p:sp>
      <p:sp>
        <p:nvSpPr>
          <p:cNvPr id="245" name="Google Shape;245;p42"/>
          <p:cNvSpPr txBox="1"/>
          <p:nvPr>
            <p:ph idx="1" type="body"/>
          </p:nvPr>
        </p:nvSpPr>
        <p:spPr>
          <a:xfrm>
            <a:off x="311700" y="1171600"/>
            <a:ext cx="4523400" cy="30219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s"/>
              <a:t>Tomamos la próxima charla según el orden establecido y la asignamos (siempre que sea posible) a una sala previamente utilizada.</a:t>
            </a:r>
            <a:endParaRPr/>
          </a:p>
          <a:p>
            <a:pPr indent="-342900" lvl="0" marL="457200" rtl="0" algn="just">
              <a:spcBef>
                <a:spcPts val="0"/>
              </a:spcBef>
              <a:spcAft>
                <a:spcPts val="0"/>
              </a:spcAft>
              <a:buSzPts val="1800"/>
              <a:buChar char="-"/>
            </a:pPr>
            <a:r>
              <a:rPr lang="es"/>
              <a:t>Si no es posible, se debe usar otra sala (si nos excedimos de “k” salas no existe la asignación buscada).</a:t>
            </a:r>
            <a:endParaRPr/>
          </a:p>
          <a:p>
            <a:pPr indent="-342900" lvl="0" marL="457200" rtl="0" algn="just">
              <a:spcBef>
                <a:spcPts val="0"/>
              </a:spcBef>
              <a:spcAft>
                <a:spcPts val="0"/>
              </a:spcAft>
              <a:buSzPts val="1800"/>
              <a:buChar char="-"/>
            </a:pPr>
            <a:r>
              <a:rPr lang="es"/>
              <a:t>Repetimos hasta que todas las charlas estén asignadas.</a:t>
            </a:r>
            <a:endParaRPr/>
          </a:p>
          <a:p>
            <a:pPr indent="0" lvl="0" marL="0" rtl="0" algn="just">
              <a:spcBef>
                <a:spcPts val="1600"/>
              </a:spcBef>
              <a:spcAft>
                <a:spcPts val="1600"/>
              </a:spcAft>
              <a:buNone/>
            </a:pPr>
            <a:r>
              <a:t/>
            </a:r>
            <a:endParaRPr/>
          </a:p>
        </p:txBody>
      </p:sp>
      <p:pic>
        <p:nvPicPr>
          <p:cNvPr id="246" name="Google Shape;246;p42"/>
          <p:cNvPicPr preferRelativeResize="0"/>
          <p:nvPr/>
        </p:nvPicPr>
        <p:blipFill rotWithShape="1">
          <a:blip r:embed="rId3">
            <a:alphaModFix/>
          </a:blip>
          <a:srcRect b="0" l="3831" r="7493" t="4471"/>
          <a:stretch/>
        </p:blipFill>
        <p:spPr>
          <a:xfrm>
            <a:off x="5493600" y="1785365"/>
            <a:ext cx="2934000" cy="1572771"/>
          </a:xfrm>
          <a:prstGeom prst="rect">
            <a:avLst/>
          </a:prstGeom>
          <a:noFill/>
          <a:ln>
            <a:noFill/>
          </a:ln>
        </p:spPr>
      </p:pic>
      <p:sp>
        <p:nvSpPr>
          <p:cNvPr id="247" name="Google Shape;247;p42"/>
          <p:cNvSpPr txBox="1"/>
          <p:nvPr>
            <p:ph idx="1" type="body"/>
          </p:nvPr>
        </p:nvSpPr>
        <p:spPr>
          <a:xfrm>
            <a:off x="311700" y="4306875"/>
            <a:ext cx="1349400" cy="519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Es </a:t>
            </a:r>
            <a:r>
              <a:rPr lang="es"/>
              <a:t>óptimo?</a:t>
            </a:r>
            <a:endParaRPr/>
          </a:p>
          <a:p>
            <a:pPr indent="0" lvl="0" marL="0" rtl="0" algn="just">
              <a:spcBef>
                <a:spcPts val="1600"/>
              </a:spcBef>
              <a:spcAft>
                <a:spcPts val="1600"/>
              </a:spcAft>
              <a:buNone/>
            </a:pPr>
            <a:r>
              <a:t/>
            </a:r>
            <a:endParaRPr/>
          </a:p>
        </p:txBody>
      </p:sp>
      <p:sp>
        <p:nvSpPr>
          <p:cNvPr id="248" name="Google Shape;248;p42"/>
          <p:cNvSpPr txBox="1"/>
          <p:nvPr>
            <p:ph idx="1" type="body"/>
          </p:nvPr>
        </p:nvSpPr>
        <p:spPr>
          <a:xfrm>
            <a:off x="1661100" y="4306875"/>
            <a:ext cx="1349400" cy="519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a:t>Si</a:t>
            </a:r>
            <a:endParaRPr/>
          </a:p>
          <a:p>
            <a:pPr indent="0" lvl="0" marL="0" rtl="0" algn="just">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Ejercicio de Examen</a:t>
            </a:r>
            <a:endParaRPr/>
          </a:p>
        </p:txBody>
      </p:sp>
      <p:sp>
        <p:nvSpPr>
          <p:cNvPr id="254" name="Google Shape;254;p43"/>
          <p:cNvSpPr txBox="1"/>
          <p:nvPr>
            <p:ph idx="1" type="body"/>
          </p:nvPr>
        </p:nvSpPr>
        <p:spPr>
          <a:xfrm>
            <a:off x="311700" y="1171600"/>
            <a:ext cx="8520600" cy="35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Se tiene una matriz donde en cada celda hay submarinos, o no, y se quiere poner faros para </a:t>
            </a:r>
            <a:r>
              <a:rPr lang="es"/>
              <a:t>iluminarlos </a:t>
            </a:r>
            <a:r>
              <a:rPr lang="es"/>
              <a:t>a todos.</a:t>
            </a:r>
            <a:endParaRPr/>
          </a:p>
          <a:p>
            <a:pPr indent="0" lvl="0" marL="0" rtl="0" algn="l">
              <a:spcBef>
                <a:spcPts val="1600"/>
              </a:spcBef>
              <a:spcAft>
                <a:spcPts val="0"/>
              </a:spcAft>
              <a:buNone/>
            </a:pPr>
            <a:r>
              <a:rPr lang="es"/>
              <a:t>Implementar un algoritmo Greedy que dé la cantidad mínima de faros que se necesitan para que todos los submarinos queden iluminados, siendo que cada faro ilumina su celda y además todas las adyacentes (incluyendo las diagonales), y las directamente adyacentes a </a:t>
            </a:r>
            <a:r>
              <a:rPr lang="es"/>
              <a:t>éstas</a:t>
            </a:r>
            <a:r>
              <a:rPr lang="es"/>
              <a:t> (es decir, un “radio de 2 celdas”).</a:t>
            </a:r>
            <a:endParaRPr/>
          </a:p>
          <a:p>
            <a:pPr indent="0" lvl="0" marL="0" rtl="0" algn="l">
              <a:spcBef>
                <a:spcPts val="1600"/>
              </a:spcBef>
              <a:spcAft>
                <a:spcPts val="0"/>
              </a:spcAft>
              <a:buClr>
                <a:schemeClr val="dk1"/>
              </a:buClr>
              <a:buSzPts val="1100"/>
              <a:buFont typeface="Arial"/>
              <a:buNone/>
            </a:pPr>
            <a:r>
              <a:rPr lang="es"/>
              <a:t>Indicar y justificar la complejidad del algoritmo implementado. ¿El algoritmo implementado da siempre la solución óptima?</a:t>
            </a:r>
            <a:endParaRPr/>
          </a:p>
          <a:p>
            <a:pPr indent="0" lvl="0" marL="0" rtl="0" algn="l">
              <a:spcBef>
                <a:spcPts val="1600"/>
              </a:spcBef>
              <a:spcAft>
                <a:spcPts val="1600"/>
              </a:spcAft>
              <a:buNone/>
            </a:pPr>
            <a:r>
              <a:rPr lang="es"/>
              <a:t>Justificar por qué se trata de un algoritmo Greedy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44"/>
          <p:cNvPicPr preferRelativeResize="0"/>
          <p:nvPr/>
        </p:nvPicPr>
        <p:blipFill>
          <a:blip r:embed="rId3">
            <a:alphaModFix/>
          </a:blip>
          <a:stretch>
            <a:fillRect/>
          </a:stretch>
        </p:blipFill>
        <p:spPr>
          <a:xfrm>
            <a:off x="2266025" y="185579"/>
            <a:ext cx="4611950" cy="477235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45"/>
          <p:cNvPicPr preferRelativeResize="0"/>
          <p:nvPr/>
        </p:nvPicPr>
        <p:blipFill>
          <a:blip r:embed="rId3">
            <a:alphaModFix/>
          </a:blip>
          <a:stretch>
            <a:fillRect/>
          </a:stretch>
        </p:blipFill>
        <p:spPr>
          <a:xfrm>
            <a:off x="152400" y="152400"/>
            <a:ext cx="3276600" cy="2771775"/>
          </a:xfrm>
          <a:prstGeom prst="rect">
            <a:avLst/>
          </a:prstGeom>
          <a:noFill/>
          <a:ln>
            <a:noFill/>
          </a:ln>
        </p:spPr>
      </p:pic>
      <p:pic>
        <p:nvPicPr>
          <p:cNvPr id="265" name="Google Shape;265;p45"/>
          <p:cNvPicPr preferRelativeResize="0"/>
          <p:nvPr/>
        </p:nvPicPr>
        <p:blipFill>
          <a:blip r:embed="rId4">
            <a:alphaModFix/>
          </a:blip>
          <a:stretch>
            <a:fillRect/>
          </a:stretch>
        </p:blipFill>
        <p:spPr>
          <a:xfrm>
            <a:off x="4724400" y="152400"/>
            <a:ext cx="3295650" cy="275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46"/>
          <p:cNvPicPr preferRelativeResize="0"/>
          <p:nvPr/>
        </p:nvPicPr>
        <p:blipFill>
          <a:blip r:embed="rId3">
            <a:alphaModFix/>
          </a:blip>
          <a:stretch>
            <a:fillRect/>
          </a:stretch>
        </p:blipFill>
        <p:spPr>
          <a:xfrm>
            <a:off x="152400" y="152400"/>
            <a:ext cx="3331975" cy="2771975"/>
          </a:xfrm>
          <a:prstGeom prst="rect">
            <a:avLst/>
          </a:prstGeom>
          <a:noFill/>
          <a:ln>
            <a:noFill/>
          </a:ln>
        </p:spPr>
      </p:pic>
      <p:pic>
        <p:nvPicPr>
          <p:cNvPr id="271" name="Google Shape;271;p46"/>
          <p:cNvPicPr preferRelativeResize="0"/>
          <p:nvPr/>
        </p:nvPicPr>
        <p:blipFill>
          <a:blip r:embed="rId4">
            <a:alphaModFix/>
          </a:blip>
          <a:stretch>
            <a:fillRect/>
          </a:stretch>
        </p:blipFill>
        <p:spPr>
          <a:xfrm>
            <a:off x="3705225" y="152400"/>
            <a:ext cx="2546751" cy="2145400"/>
          </a:xfrm>
          <a:prstGeom prst="rect">
            <a:avLst/>
          </a:prstGeom>
          <a:noFill/>
          <a:ln>
            <a:noFill/>
          </a:ln>
        </p:spPr>
      </p:pic>
      <p:pic>
        <p:nvPicPr>
          <p:cNvPr id="272" name="Google Shape;272;p46"/>
          <p:cNvPicPr preferRelativeResize="0"/>
          <p:nvPr/>
        </p:nvPicPr>
        <p:blipFill>
          <a:blip r:embed="rId5">
            <a:alphaModFix/>
          </a:blip>
          <a:stretch>
            <a:fillRect/>
          </a:stretch>
        </p:blipFill>
        <p:spPr>
          <a:xfrm>
            <a:off x="3705225" y="2407800"/>
            <a:ext cx="3032675" cy="2515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47"/>
          <p:cNvPicPr preferRelativeResize="0"/>
          <p:nvPr/>
        </p:nvPicPr>
        <p:blipFill>
          <a:blip r:embed="rId3">
            <a:alphaModFix/>
          </a:blip>
          <a:stretch>
            <a:fillRect/>
          </a:stretch>
        </p:blipFill>
        <p:spPr>
          <a:xfrm>
            <a:off x="2276475" y="285750"/>
            <a:ext cx="4591050" cy="4572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48"/>
          <p:cNvPicPr preferRelativeResize="0"/>
          <p:nvPr/>
        </p:nvPicPr>
        <p:blipFill>
          <a:blip r:embed="rId3">
            <a:alphaModFix/>
          </a:blip>
          <a:stretch>
            <a:fillRect/>
          </a:stretch>
        </p:blipFill>
        <p:spPr>
          <a:xfrm>
            <a:off x="2266950" y="285750"/>
            <a:ext cx="4610100" cy="4572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9"/>
          <p:cNvPicPr preferRelativeResize="0"/>
          <p:nvPr/>
        </p:nvPicPr>
        <p:blipFill>
          <a:blip r:embed="rId3">
            <a:alphaModFix/>
          </a:blip>
          <a:stretch>
            <a:fillRect/>
          </a:stretch>
        </p:blipFill>
        <p:spPr>
          <a:xfrm>
            <a:off x="2281238" y="271463"/>
            <a:ext cx="4581525" cy="46005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Generación de un grafo</a:t>
            </a:r>
            <a:endParaRPr/>
          </a:p>
        </p:txBody>
      </p:sp>
      <p:sp>
        <p:nvSpPr>
          <p:cNvPr id="293" name="Google Shape;293;p50"/>
          <p:cNvSpPr txBox="1"/>
          <p:nvPr>
            <p:ph idx="1" type="body"/>
          </p:nvPr>
        </p:nvSpPr>
        <p:spPr>
          <a:xfrm>
            <a:off x="311700" y="1171600"/>
            <a:ext cx="8520600" cy="1266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Dado una lista de n números naturales, implementar un algoritmo en tiempo polinomial que cree un grafo de n nodos cuyos grados sean los indicados por esa lista. G debe ser simple y si bucles.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Proponemos lo siguiente</a:t>
            </a:r>
            <a:endParaRPr/>
          </a:p>
        </p:txBody>
      </p:sp>
      <p:sp>
        <p:nvSpPr>
          <p:cNvPr id="299" name="Google Shape;299;p51"/>
          <p:cNvSpPr txBox="1"/>
          <p:nvPr>
            <p:ph idx="1" type="body"/>
          </p:nvPr>
        </p:nvSpPr>
        <p:spPr>
          <a:xfrm>
            <a:off x="311700" y="1171600"/>
            <a:ext cx="8520600" cy="237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Creamos un grafo con cantidad de nodos igual al largo del arreglo</a:t>
            </a:r>
            <a:endParaRPr/>
          </a:p>
          <a:p>
            <a:pPr indent="-342900" lvl="0" marL="457200" rtl="0" algn="l">
              <a:spcBef>
                <a:spcPts val="0"/>
              </a:spcBef>
              <a:spcAft>
                <a:spcPts val="0"/>
              </a:spcAft>
              <a:buSzPts val="1800"/>
              <a:buAutoNum type="arabicPeriod"/>
            </a:pPr>
            <a:r>
              <a:rPr lang="es"/>
              <a:t>Ordenamos la lista de grados de mayor a menor </a:t>
            </a:r>
            <a:r>
              <a:rPr lang="es"/>
              <a:t>asignando</a:t>
            </a:r>
            <a:r>
              <a:rPr lang="es"/>
              <a:t> un </a:t>
            </a:r>
            <a:r>
              <a:rPr lang="es"/>
              <a:t>índice dependiendo de la posición en el arreglo ordenado</a:t>
            </a:r>
            <a:endParaRPr/>
          </a:p>
          <a:p>
            <a:pPr indent="-342900" lvl="0" marL="457200" rtl="0" algn="l">
              <a:spcBef>
                <a:spcPts val="0"/>
              </a:spcBef>
              <a:spcAft>
                <a:spcPts val="0"/>
              </a:spcAft>
              <a:buSzPts val="1800"/>
              <a:buAutoNum type="arabicPeriod"/>
            </a:pPr>
            <a:r>
              <a:rPr lang="es"/>
              <a:t>Mientras haya aristas para colocar:</a:t>
            </a:r>
            <a:endParaRPr/>
          </a:p>
          <a:p>
            <a:pPr indent="-317500" lvl="1" marL="914400" rtl="0" algn="l">
              <a:spcBef>
                <a:spcPts val="0"/>
              </a:spcBef>
              <a:spcAft>
                <a:spcPts val="0"/>
              </a:spcAft>
              <a:buSzPts val="1400"/>
              <a:buAutoNum type="alphaLcPeriod"/>
            </a:pPr>
            <a:r>
              <a:rPr lang="es" sz="1400"/>
              <a:t>Tomamos el valor del grado del vértice de menor grado y lo denominamos k</a:t>
            </a:r>
            <a:endParaRPr sz="1400"/>
          </a:p>
          <a:p>
            <a:pPr indent="-317500" lvl="1" marL="914400" rtl="0" algn="l">
              <a:spcBef>
                <a:spcPts val="0"/>
              </a:spcBef>
              <a:spcAft>
                <a:spcPts val="0"/>
              </a:spcAft>
              <a:buSzPts val="1400"/>
              <a:buAutoNum type="alphaLcPeriod"/>
            </a:pPr>
            <a:r>
              <a:rPr lang="es" sz="1400"/>
              <a:t>Creamos una arista entre los k vértices con mayor grado y el vértice de menor grado</a:t>
            </a:r>
            <a:endParaRPr sz="1400"/>
          </a:p>
          <a:p>
            <a:pPr indent="-317500" lvl="1" marL="914400" rtl="0" algn="l">
              <a:spcBef>
                <a:spcPts val="0"/>
              </a:spcBef>
              <a:spcAft>
                <a:spcPts val="0"/>
              </a:spcAft>
              <a:buSzPts val="1400"/>
              <a:buAutoNum type="alphaLcPeriod"/>
            </a:pPr>
            <a:r>
              <a:rPr lang="es" sz="1400"/>
              <a:t>Restamos el grado en cada uno de los k vértices de mayor grado</a:t>
            </a:r>
            <a:endParaRPr sz="1400"/>
          </a:p>
          <a:p>
            <a:pPr indent="-317500" lvl="1" marL="914400" rtl="0" algn="l">
              <a:spcBef>
                <a:spcPts val="0"/>
              </a:spcBef>
              <a:spcAft>
                <a:spcPts val="0"/>
              </a:spcAft>
              <a:buSzPts val="1400"/>
              <a:buAutoNum type="alphaLcPeriod"/>
            </a:pPr>
            <a:r>
              <a:rPr lang="es" sz="1400"/>
              <a:t>Eliminamos al vértice de menor grado del arreglo </a:t>
            </a:r>
            <a:endParaRPr sz="1400"/>
          </a:p>
          <a:p>
            <a:pPr indent="-317500" lvl="1" marL="914400" rtl="0" algn="l">
              <a:spcBef>
                <a:spcPts val="0"/>
              </a:spcBef>
              <a:spcAft>
                <a:spcPts val="0"/>
              </a:spcAft>
              <a:buSzPts val="1400"/>
              <a:buAutoNum type="alphaLcPeriod"/>
            </a:pPr>
            <a:r>
              <a:rPr lang="es" sz="1400"/>
              <a:t>Ordenamos el arreglo para que se mantenga el orden, si es necesario</a:t>
            </a:r>
            <a:endParaRPr/>
          </a:p>
          <a:p>
            <a:pPr indent="-342900" lvl="0" marL="457200" rtl="0" algn="l">
              <a:spcBef>
                <a:spcPts val="0"/>
              </a:spcBef>
              <a:spcAft>
                <a:spcPts val="0"/>
              </a:spcAft>
              <a:buSzPts val="1800"/>
              <a:buAutoNum type="arabicPeriod"/>
            </a:pPr>
            <a:r>
              <a:rPr lang="es"/>
              <a:t>Si el arreglo queda vac</a:t>
            </a:r>
            <a:r>
              <a:rPr lang="es"/>
              <a:t>ío, devolvemos la asignación</a:t>
            </a:r>
            <a:endParaRPr/>
          </a:p>
          <a:p>
            <a:pPr indent="-317500" lvl="1" marL="914400" rtl="0" algn="l">
              <a:spcBef>
                <a:spcPts val="0"/>
              </a:spcBef>
              <a:spcAft>
                <a:spcPts val="0"/>
              </a:spcAft>
              <a:buSzPts val="1400"/>
              <a:buAutoNum type="alphaLcPeriod"/>
            </a:pPr>
            <a:r>
              <a:rPr lang="es"/>
              <a:t>Si queda alguno, indicamos que falló</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 para [2,1,3,4,2]</a:t>
            </a:r>
            <a:endParaRPr/>
          </a:p>
        </p:txBody>
      </p:sp>
      <p:pic>
        <p:nvPicPr>
          <p:cNvPr id="305" name="Google Shape;305;p52"/>
          <p:cNvPicPr preferRelativeResize="0"/>
          <p:nvPr/>
        </p:nvPicPr>
        <p:blipFill>
          <a:blip r:embed="rId3">
            <a:alphaModFix/>
          </a:blip>
          <a:stretch>
            <a:fillRect/>
          </a:stretch>
        </p:blipFill>
        <p:spPr>
          <a:xfrm>
            <a:off x="4479450" y="1296200"/>
            <a:ext cx="3920375" cy="3274800"/>
          </a:xfrm>
          <a:prstGeom prst="rect">
            <a:avLst/>
          </a:prstGeom>
          <a:noFill/>
          <a:ln>
            <a:noFill/>
          </a:ln>
        </p:spPr>
      </p:pic>
      <p:sp>
        <p:nvSpPr>
          <p:cNvPr id="306" name="Google Shape;306;p52"/>
          <p:cNvSpPr txBox="1"/>
          <p:nvPr/>
        </p:nvSpPr>
        <p:spPr>
          <a:xfrm>
            <a:off x="557975" y="1433300"/>
            <a:ext cx="2433000" cy="5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
        <p:nvSpPr>
          <p:cNvPr id="307" name="Google Shape;307;p52"/>
          <p:cNvSpPr txBox="1"/>
          <p:nvPr>
            <p:ph idx="1" type="body"/>
          </p:nvPr>
        </p:nvSpPr>
        <p:spPr>
          <a:xfrm>
            <a:off x="311700" y="1344350"/>
            <a:ext cx="3805200" cy="720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Iteraci</a:t>
            </a:r>
            <a:r>
              <a:rPr lang="es"/>
              <a:t>ón 0: </a:t>
            </a:r>
            <a:r>
              <a:rPr lang="es"/>
              <a:t>[(0,4),(1,3),(2,2),(3,2),(4,1)]</a:t>
            </a:r>
            <a:endParaRPr/>
          </a:p>
          <a:p>
            <a:pPr indent="0" lvl="0" marL="0" rtl="0" algn="l">
              <a:lnSpc>
                <a:spcPct val="100000"/>
              </a:lnSpc>
              <a:spcBef>
                <a:spcPts val="100"/>
              </a:spcBef>
              <a:spcAft>
                <a:spcPts val="100"/>
              </a:spcAft>
              <a:buNone/>
            </a:pPr>
            <a:r>
              <a:rPr lang="es"/>
              <a:t>Conecto 0 con 4</a:t>
            </a:r>
            <a:endParaRPr/>
          </a:p>
        </p:txBody>
      </p:sp>
      <p:cxnSp>
        <p:nvCxnSpPr>
          <p:cNvPr id="308" name="Google Shape;308;p52"/>
          <p:cNvCxnSpPr/>
          <p:nvPr/>
        </p:nvCxnSpPr>
        <p:spPr>
          <a:xfrm flipH="1" rot="10800000">
            <a:off x="5082650" y="2016100"/>
            <a:ext cx="344100" cy="939300"/>
          </a:xfrm>
          <a:prstGeom prst="straightConnector1">
            <a:avLst/>
          </a:prstGeom>
          <a:noFill/>
          <a:ln cap="flat" cmpd="sng" w="28575">
            <a:solidFill>
              <a:schemeClr val="dk1"/>
            </a:solidFill>
            <a:prstDash val="solid"/>
            <a:round/>
            <a:headEnd len="med" w="med" type="none"/>
            <a:tailEnd len="med" w="med" type="none"/>
          </a:ln>
        </p:spPr>
      </p:cxnSp>
      <p:sp>
        <p:nvSpPr>
          <p:cNvPr id="309" name="Google Shape;309;p52"/>
          <p:cNvSpPr txBox="1"/>
          <p:nvPr>
            <p:ph idx="1" type="body"/>
          </p:nvPr>
        </p:nvSpPr>
        <p:spPr>
          <a:xfrm>
            <a:off x="311700" y="2064338"/>
            <a:ext cx="4043400" cy="542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Iteraci</a:t>
            </a:r>
            <a:r>
              <a:rPr lang="es"/>
              <a:t>ón 1: </a:t>
            </a:r>
            <a:r>
              <a:rPr lang="es"/>
              <a:t>[(0,3),(1,3),(2,2),(3,2)]</a:t>
            </a:r>
            <a:endParaRPr/>
          </a:p>
          <a:p>
            <a:pPr indent="0" lvl="0" marL="0" rtl="0" algn="l">
              <a:lnSpc>
                <a:spcPct val="100000"/>
              </a:lnSpc>
              <a:spcBef>
                <a:spcPts val="100"/>
              </a:spcBef>
              <a:spcAft>
                <a:spcPts val="100"/>
              </a:spcAft>
              <a:buNone/>
            </a:pPr>
            <a:r>
              <a:rPr lang="es"/>
              <a:t>Conecto 0 con 3 y 1 con 3</a:t>
            </a:r>
            <a:endParaRPr/>
          </a:p>
        </p:txBody>
      </p:sp>
      <p:sp>
        <p:nvSpPr>
          <p:cNvPr id="310" name="Google Shape;310;p52"/>
          <p:cNvSpPr txBox="1"/>
          <p:nvPr>
            <p:ph idx="1" type="body"/>
          </p:nvPr>
        </p:nvSpPr>
        <p:spPr>
          <a:xfrm>
            <a:off x="311700" y="2774450"/>
            <a:ext cx="4043400" cy="542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Iteraci</a:t>
            </a:r>
            <a:r>
              <a:rPr lang="es"/>
              <a:t>ón 2: </a:t>
            </a:r>
            <a:r>
              <a:rPr lang="es"/>
              <a:t> [(0,2),(1,2),(2,2)]</a:t>
            </a:r>
            <a:endParaRPr/>
          </a:p>
          <a:p>
            <a:pPr indent="0" lvl="0" marL="0" rtl="0" algn="l">
              <a:lnSpc>
                <a:spcPct val="100000"/>
              </a:lnSpc>
              <a:spcBef>
                <a:spcPts val="100"/>
              </a:spcBef>
              <a:spcAft>
                <a:spcPts val="100"/>
              </a:spcAft>
              <a:buNone/>
            </a:pPr>
            <a:r>
              <a:rPr lang="es"/>
              <a:t>Conecto 0 con 2 y 1 con 2</a:t>
            </a:r>
            <a:endParaRPr/>
          </a:p>
        </p:txBody>
      </p:sp>
      <p:cxnSp>
        <p:nvCxnSpPr>
          <p:cNvPr id="311" name="Google Shape;311;p52"/>
          <p:cNvCxnSpPr/>
          <p:nvPr/>
        </p:nvCxnSpPr>
        <p:spPr>
          <a:xfrm rot="10800000">
            <a:off x="5651525" y="2069000"/>
            <a:ext cx="555600" cy="1746300"/>
          </a:xfrm>
          <a:prstGeom prst="straightConnector1">
            <a:avLst/>
          </a:prstGeom>
          <a:noFill/>
          <a:ln cap="flat" cmpd="sng" w="28575">
            <a:solidFill>
              <a:schemeClr val="dk1"/>
            </a:solidFill>
            <a:prstDash val="solid"/>
            <a:round/>
            <a:headEnd len="med" w="med" type="none"/>
            <a:tailEnd len="med" w="med" type="none"/>
          </a:ln>
        </p:spPr>
      </p:cxnSp>
      <p:cxnSp>
        <p:nvCxnSpPr>
          <p:cNvPr id="312" name="Google Shape;312;p52"/>
          <p:cNvCxnSpPr/>
          <p:nvPr/>
        </p:nvCxnSpPr>
        <p:spPr>
          <a:xfrm flipH="1" rot="10800000">
            <a:off x="6524625" y="2135300"/>
            <a:ext cx="635100" cy="1680000"/>
          </a:xfrm>
          <a:prstGeom prst="straightConnector1">
            <a:avLst/>
          </a:prstGeom>
          <a:noFill/>
          <a:ln cap="flat" cmpd="sng" w="28575">
            <a:solidFill>
              <a:schemeClr val="dk1"/>
            </a:solidFill>
            <a:prstDash val="solid"/>
            <a:round/>
            <a:headEnd len="med" w="med" type="none"/>
            <a:tailEnd len="med" w="med" type="none"/>
          </a:ln>
        </p:spPr>
      </p:cxnSp>
      <p:sp>
        <p:nvSpPr>
          <p:cNvPr id="313" name="Google Shape;313;p52"/>
          <p:cNvSpPr txBox="1"/>
          <p:nvPr>
            <p:ph idx="1" type="body"/>
          </p:nvPr>
        </p:nvSpPr>
        <p:spPr>
          <a:xfrm>
            <a:off x="311700" y="3484575"/>
            <a:ext cx="4043400" cy="542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Iteración 3: [</a:t>
            </a:r>
            <a:r>
              <a:rPr lang="es"/>
              <a:t>(0,1),(1,1)</a:t>
            </a:r>
            <a:r>
              <a:rPr lang="es"/>
              <a:t>]</a:t>
            </a:r>
            <a:endParaRPr/>
          </a:p>
          <a:p>
            <a:pPr indent="0" lvl="0" marL="0" rtl="0" algn="l">
              <a:lnSpc>
                <a:spcPct val="100000"/>
              </a:lnSpc>
              <a:spcBef>
                <a:spcPts val="100"/>
              </a:spcBef>
              <a:spcAft>
                <a:spcPts val="100"/>
              </a:spcAft>
              <a:buNone/>
            </a:pPr>
            <a:r>
              <a:rPr lang="es"/>
              <a:t>Conecto 0 con 1</a:t>
            </a:r>
            <a:endParaRPr/>
          </a:p>
        </p:txBody>
      </p:sp>
      <p:cxnSp>
        <p:nvCxnSpPr>
          <p:cNvPr id="314" name="Google Shape;314;p52"/>
          <p:cNvCxnSpPr/>
          <p:nvPr/>
        </p:nvCxnSpPr>
        <p:spPr>
          <a:xfrm>
            <a:off x="5797025" y="1949975"/>
            <a:ext cx="1766400" cy="1005300"/>
          </a:xfrm>
          <a:prstGeom prst="straightConnector1">
            <a:avLst/>
          </a:prstGeom>
          <a:noFill/>
          <a:ln cap="flat" cmpd="sng" w="28575">
            <a:solidFill>
              <a:schemeClr val="dk1"/>
            </a:solidFill>
            <a:prstDash val="solid"/>
            <a:round/>
            <a:headEnd len="med" w="med" type="none"/>
            <a:tailEnd len="med" w="med" type="none"/>
          </a:ln>
        </p:spPr>
      </p:cxnSp>
      <p:cxnSp>
        <p:nvCxnSpPr>
          <p:cNvPr id="315" name="Google Shape;315;p52"/>
          <p:cNvCxnSpPr/>
          <p:nvPr/>
        </p:nvCxnSpPr>
        <p:spPr>
          <a:xfrm>
            <a:off x="7358050" y="2095500"/>
            <a:ext cx="330300" cy="806700"/>
          </a:xfrm>
          <a:prstGeom prst="straightConnector1">
            <a:avLst/>
          </a:prstGeom>
          <a:noFill/>
          <a:ln cap="flat" cmpd="sng" w="28575">
            <a:solidFill>
              <a:schemeClr val="dk1"/>
            </a:solidFill>
            <a:prstDash val="solid"/>
            <a:round/>
            <a:headEnd len="med" w="med" type="none"/>
            <a:tailEnd len="med" w="med" type="none"/>
          </a:ln>
        </p:spPr>
      </p:cxnSp>
      <p:sp>
        <p:nvSpPr>
          <p:cNvPr id="316" name="Google Shape;316;p52"/>
          <p:cNvSpPr txBox="1"/>
          <p:nvPr>
            <p:ph idx="1" type="body"/>
          </p:nvPr>
        </p:nvSpPr>
        <p:spPr>
          <a:xfrm>
            <a:off x="311700" y="4194700"/>
            <a:ext cx="4043400" cy="542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t>Iteración 4: []</a:t>
            </a:r>
            <a:endParaRPr/>
          </a:p>
          <a:p>
            <a:pPr indent="0" lvl="0" marL="0" rtl="0" algn="l">
              <a:lnSpc>
                <a:spcPct val="100000"/>
              </a:lnSpc>
              <a:spcBef>
                <a:spcPts val="100"/>
              </a:spcBef>
              <a:spcAft>
                <a:spcPts val="100"/>
              </a:spcAft>
              <a:buNone/>
            </a:pPr>
            <a:r>
              <a:rPr lang="es"/>
              <a:t>TODO OK! Devuelvo la asignaci</a:t>
            </a:r>
            <a:r>
              <a:rPr lang="es"/>
              <a:t>ón</a:t>
            </a:r>
            <a:endParaRPr/>
          </a:p>
        </p:txBody>
      </p:sp>
      <p:cxnSp>
        <p:nvCxnSpPr>
          <p:cNvPr id="317" name="Google Shape;317;p52"/>
          <p:cNvCxnSpPr/>
          <p:nvPr/>
        </p:nvCxnSpPr>
        <p:spPr>
          <a:xfrm>
            <a:off x="5833700" y="1777075"/>
            <a:ext cx="1137000" cy="528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¿Más sobre generación de grafos?</a:t>
            </a:r>
            <a:endParaRPr/>
          </a:p>
        </p:txBody>
      </p:sp>
      <p:sp>
        <p:nvSpPr>
          <p:cNvPr id="323" name="Google Shape;323;p5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Erdös-Renyi</a:t>
            </a:r>
            <a:endParaRPr/>
          </a:p>
          <a:p>
            <a:pPr indent="-342900" lvl="0" marL="457200" rtl="0" algn="l">
              <a:spcBef>
                <a:spcPts val="0"/>
              </a:spcBef>
              <a:spcAft>
                <a:spcPts val="0"/>
              </a:spcAft>
              <a:buSzPts val="1800"/>
              <a:buChar char="●"/>
            </a:pPr>
            <a:r>
              <a:rPr lang="es"/>
              <a:t>Lattice</a:t>
            </a:r>
            <a:endParaRPr/>
          </a:p>
          <a:p>
            <a:pPr indent="-342900" lvl="0" marL="457200" rtl="0" algn="l">
              <a:spcBef>
                <a:spcPts val="0"/>
              </a:spcBef>
              <a:spcAft>
                <a:spcPts val="0"/>
              </a:spcAft>
              <a:buSzPts val="1800"/>
              <a:buChar char="●"/>
            </a:pPr>
            <a:r>
              <a:rPr lang="es"/>
              <a:t>Preferential Attachment</a:t>
            </a:r>
            <a:endParaRPr/>
          </a:p>
          <a:p>
            <a:pPr indent="-342900" lvl="0" marL="457200" rtl="0" algn="l">
              <a:spcBef>
                <a:spcPts val="0"/>
              </a:spcBef>
              <a:spcAft>
                <a:spcPts val="0"/>
              </a:spcAft>
              <a:buSzPts val="1800"/>
              <a:buChar char="●"/>
            </a:pPr>
            <a:r>
              <a:rPr lang="es"/>
              <a:t>Configuration Model</a:t>
            </a:r>
            <a:endParaRPr/>
          </a:p>
          <a:p>
            <a:pPr indent="0" lvl="0" marL="0" rtl="0" algn="l">
              <a:spcBef>
                <a:spcPts val="1600"/>
              </a:spcBef>
              <a:spcAft>
                <a:spcPts val="1600"/>
              </a:spcAft>
              <a:buNone/>
            </a:pPr>
            <a:r>
              <a:rPr lang="es"/>
              <a:t>(Mucho) más sobre esto en Redes Complejas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Momento</a:t>
            </a:r>
            <a:r>
              <a:rPr lang="es"/>
              <a:t> TP1</a:t>
            </a:r>
            <a:endParaRPr/>
          </a:p>
        </p:txBody>
      </p:sp>
      <p:sp>
        <p:nvSpPr>
          <p:cNvPr id="329" name="Google Shape;329;p5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Le</a:t>
            </a:r>
            <a:r>
              <a:rPr lang="es"/>
              <a:t>an</a:t>
            </a:r>
            <a:r>
              <a:rPr lang="es"/>
              <a:t> </a:t>
            </a:r>
            <a:r>
              <a:rPr lang="es" u="sng">
                <a:solidFill>
                  <a:schemeClr val="hlink"/>
                </a:solidFill>
                <a:hlinkClick r:id="rId3"/>
              </a:rPr>
              <a:t>el enunciado</a:t>
            </a:r>
            <a:br>
              <a:rPr lang="es"/>
            </a:br>
            <a:r>
              <a:rPr lang="es"/>
              <a:t>Fin del momento TP1.</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5"/>
          <p:cNvSpPr txBox="1"/>
          <p:nvPr>
            <p:ph type="title"/>
          </p:nvPr>
        </p:nvSpPr>
        <p:spPr>
          <a:xfrm>
            <a:off x="311700" y="39367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Bonus</a:t>
            </a:r>
            <a:r>
              <a:rPr lang="es"/>
              <a:t>: Materias Compatibles</a:t>
            </a:r>
            <a:endParaRPr/>
          </a:p>
        </p:txBody>
      </p:sp>
      <p:sp>
        <p:nvSpPr>
          <p:cNvPr id="335" name="Google Shape;335;p55"/>
          <p:cNvSpPr txBox="1"/>
          <p:nvPr>
            <p:ph idx="1" type="body"/>
          </p:nvPr>
        </p:nvSpPr>
        <p:spPr>
          <a:xfrm>
            <a:off x="311700" y="1006875"/>
            <a:ext cx="6311400" cy="384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Se tiene una lista de materias que deben ser cursadas en el mismo cuatrimestre, cada materia está representada con una lista de cursos (horarios) posibles a cursar (debe elegirse un horario por cada materia). Cada materia puede tener varios cursos.</a:t>
            </a:r>
            <a:endParaRPr/>
          </a:p>
          <a:p>
            <a:pPr indent="0" lvl="0" marL="0" rtl="0" algn="l">
              <a:spcBef>
                <a:spcPts val="1600"/>
              </a:spcBef>
              <a:spcAft>
                <a:spcPts val="1600"/>
              </a:spcAft>
              <a:buClr>
                <a:schemeClr val="dk1"/>
              </a:buClr>
              <a:buSzPts val="1100"/>
              <a:buFont typeface="Arial"/>
              <a:buNone/>
            </a:pPr>
            <a:r>
              <a:rPr lang="es"/>
              <a:t>I</a:t>
            </a:r>
            <a:r>
              <a:rPr lang="es"/>
              <a:t>mplementar un algoritmo greedy que devuelva un listado de cursos de forma que se pueda cursar un curso por cada materia (sin que se solapen, etc). Considerar que existe una función son_compatibles(curso_1, curso_2) que dados dos cursos devuelve un valor booleano que indica si se pueden cursar al mismo tiempo.</a:t>
            </a:r>
            <a:endParaRPr/>
          </a:p>
        </p:txBody>
      </p:sp>
      <p:pic>
        <p:nvPicPr>
          <p:cNvPr id="336" name="Google Shape;336;p55"/>
          <p:cNvPicPr preferRelativeResize="0"/>
          <p:nvPr/>
        </p:nvPicPr>
        <p:blipFill rotWithShape="1">
          <a:blip r:embed="rId3">
            <a:alphaModFix/>
          </a:blip>
          <a:srcRect b="6033" l="21679" r="54197" t="0"/>
          <a:stretch/>
        </p:blipFill>
        <p:spPr>
          <a:xfrm>
            <a:off x="6780725" y="1006875"/>
            <a:ext cx="2019624" cy="35477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