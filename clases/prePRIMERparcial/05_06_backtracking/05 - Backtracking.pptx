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y="5143500" cx="9144000"/>
  <p:notesSz cx="6858000" cy="9144000"/>
  <p:embeddedFontLst>
    <p:embeddedFont>
      <p:font typeface="Proxima Nova"/>
      <p:regular r:id="rId59"/>
      <p:bold r:id="rId60"/>
      <p:italic r:id="rId61"/>
      <p:boldItalic r:id="rId62"/>
    </p:embeddedFont>
    <p:embeddedFont>
      <p:font typeface="Source Code Pro"/>
      <p:regular r:id="rId63"/>
      <p:bold r:id="rId64"/>
      <p:italic r:id="rId65"/>
      <p:boldItalic r:id="rId66"/>
    </p:embeddedFont>
    <p:embeddedFont>
      <p:font typeface="Old Standard TT"/>
      <p:regular r:id="rId67"/>
      <p:bold r:id="rId68"/>
      <p: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ProximaNova-boldItalic.fntdata"/><Relationship Id="rId61" Type="http://schemas.openxmlformats.org/officeDocument/2006/relationships/font" Target="fonts/ProximaNova-italic.fntdata"/><Relationship Id="rId20" Type="http://schemas.openxmlformats.org/officeDocument/2006/relationships/slide" Target="slides/slide15.xml"/><Relationship Id="rId64" Type="http://schemas.openxmlformats.org/officeDocument/2006/relationships/font" Target="fonts/SourceCodePro-bold.fntdata"/><Relationship Id="rId63" Type="http://schemas.openxmlformats.org/officeDocument/2006/relationships/font" Target="fonts/SourceCodePro-regular.fntdata"/><Relationship Id="rId22" Type="http://schemas.openxmlformats.org/officeDocument/2006/relationships/slide" Target="slides/slide17.xml"/><Relationship Id="rId66" Type="http://schemas.openxmlformats.org/officeDocument/2006/relationships/font" Target="fonts/SourceCodePro-boldItalic.fntdata"/><Relationship Id="rId21" Type="http://schemas.openxmlformats.org/officeDocument/2006/relationships/slide" Target="slides/slide16.xml"/><Relationship Id="rId65" Type="http://schemas.openxmlformats.org/officeDocument/2006/relationships/font" Target="fonts/SourceCodePro-italic.fntdata"/><Relationship Id="rId24" Type="http://schemas.openxmlformats.org/officeDocument/2006/relationships/slide" Target="slides/slide19.xml"/><Relationship Id="rId68" Type="http://schemas.openxmlformats.org/officeDocument/2006/relationships/font" Target="fonts/OldStandardTT-bold.fntdata"/><Relationship Id="rId23" Type="http://schemas.openxmlformats.org/officeDocument/2006/relationships/slide" Target="slides/slide18.xml"/><Relationship Id="rId67" Type="http://schemas.openxmlformats.org/officeDocument/2006/relationships/font" Target="fonts/OldStandardTT-regular.fntdata"/><Relationship Id="rId60" Type="http://schemas.openxmlformats.org/officeDocument/2006/relationships/font" Target="fonts/ProximaNova-bold.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OldStandardTT-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ProximaNova-regular.fntdata"/><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9b03970d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9b03970d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dceb505b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dceb505b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dceb505b0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dceb505b0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dceb505b0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dceb505b0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dceb505b0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dceb505b0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dceb505b08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dceb505b08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dceb505b08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dceb505b08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dceb505b0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dceb505b0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dceb505b0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dceb505b0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dceb505b0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dceb505b0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dceb505b0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dceb505b0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dceb505b0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dceb505b0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dceb505b08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dceb505b08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f4cd39588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f4cd39588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Solo hacemos el chequeo de si es una solución válida (es_compatible) cuando ya tenemos una “solución” construida (selección de k </a:t>
            </a:r>
            <a:r>
              <a:rPr lang="es"/>
              <a:t>vértices</a:t>
            </a:r>
            <a:r>
              <a:rPr lang="es"/>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dceb505b08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dceb505b08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dceb505b08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dceb505b08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dceb505b0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dceb505b0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2484461c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2484461c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estos “detalles” aportan a mejorar los tiempos de ejecución de </a:t>
            </a:r>
            <a:r>
              <a:rPr lang="es"/>
              <a:t>nuestros</a:t>
            </a:r>
            <a:r>
              <a:rPr lang="es"/>
              <a:t> algoritmos por más trivial que les pueda parecer. Solo piensen cuántas veces se repetiría el llamado a esta función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dceb505b08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dceb505b08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dceb505b08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dceb505b08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Variante de lo que nos pediría el problema. Si no nos lo piden </a:t>
            </a:r>
            <a:r>
              <a:rPr b="1" lang="es"/>
              <a:t>NO</a:t>
            </a:r>
            <a:r>
              <a:rPr lang="es"/>
              <a:t> hacer esto</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7a0464c1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7a0464c1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dceb505b08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dceb505b0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https://github.com/algoritmos-rw/tda_ejemplos/blob/a4e987639c8c2d67a1c899cb54ba5fa0f1a86bac/backtracking/nreinas.py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46ba66301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46ba66301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46ba6630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46ba6630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46ba66301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46ba66301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2b43cd2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d2b43cd2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2b43cd24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d2b43cd24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dceb505b0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dceb505b0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dceb505b08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dceb505b08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2b43cd24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d2b43cd24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dceb505b08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dceb505b08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dceb505b08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dceb505b08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dceb505b08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dceb505b08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dceb505b08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dceb505b08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dceb505b08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dceb505b08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dceb505b08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dceb505b08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dceb505b08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dceb505b08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dceb505b08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dceb505b08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dceb505b08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dceb505b08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dceb505b08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dceb505b08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dceb505b08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dceb505b08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dceb505b08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dceb505b08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dceb505b08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dceb505b08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dceb505b08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dceb505b08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dceb505b08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dceb505b08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dceb505b08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dceb505b08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dceb505b08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dceb505b08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dceb505b08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dceb505b08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dceb505b08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dceb505b08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dceb505b08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dceb505b08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1dceb505b08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1dceb505b08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dceb505b08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dceb505b08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dceb505b08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dceb505b08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jpg"/><Relationship Id="rId5" Type="http://schemas.openxmlformats.org/officeDocument/2006/relationships/image" Target="../media/image10.png"/><Relationship Id="rId6" Type="http://schemas.openxmlformats.org/officeDocument/2006/relationships/image" Target="../media/image1.png"/><Relationship Id="rId7"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Fuerza Bruta y Backtracking</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Teoría de Algoritmos</a:t>
            </a:r>
            <a:endParaRPr/>
          </a:p>
        </p:txBody>
      </p:sp>
      <p:pic>
        <p:nvPicPr>
          <p:cNvPr id="61" name="Google Shape;61;p13"/>
          <p:cNvPicPr preferRelativeResize="0"/>
          <p:nvPr/>
        </p:nvPicPr>
        <p:blipFill rotWithShape="1">
          <a:blip r:embed="rId3">
            <a:alphaModFix/>
          </a:blip>
          <a:srcRect b="80" l="0" r="0" t="70"/>
          <a:stretch/>
        </p:blipFill>
        <p:spPr>
          <a:xfrm>
            <a:off x="7060492" y="4349400"/>
            <a:ext cx="2079858" cy="787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Fuerza Bruta</a:t>
            </a:r>
            <a:endParaRPr/>
          </a:p>
        </p:txBody>
      </p:sp>
      <p:sp>
        <p:nvSpPr>
          <p:cNvPr id="67" name="Google Shape;67;p1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800"/>
              <a:t>Tenemos un problema combinatorio → Tenemos que probar todas las soluciones.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Fuerza Bruta - Ejemplo… ¿Ordenar?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Parece un ejemplo tonto pero...</a:t>
            </a:r>
            <a:endParaRPr/>
          </a:p>
        </p:txBody>
      </p:sp>
      <p:sp>
        <p:nvSpPr>
          <p:cNvPr id="78" name="Google Shape;78;p16"/>
          <p:cNvSpPr txBox="1"/>
          <p:nvPr>
            <p:ph idx="1" type="body"/>
          </p:nvPr>
        </p:nvSpPr>
        <p:spPr>
          <a:xfrm>
            <a:off x="311700" y="1171600"/>
            <a:ext cx="8520600" cy="101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A veces no nos queda otra…</a:t>
            </a:r>
            <a:endParaRPr sz="1800"/>
          </a:p>
          <a:p>
            <a:pPr indent="0" lvl="0" marL="0" rtl="0" algn="l">
              <a:spcBef>
                <a:spcPts val="1600"/>
              </a:spcBef>
              <a:spcAft>
                <a:spcPts val="1600"/>
              </a:spcAft>
              <a:buNone/>
            </a:pPr>
            <a:r>
              <a:rPr lang="es" sz="1800"/>
              <a:t>Ej: The Queen's Gambit</a:t>
            </a:r>
            <a:endParaRPr sz="1800"/>
          </a:p>
        </p:txBody>
      </p:sp>
      <p:pic>
        <p:nvPicPr>
          <p:cNvPr id="79" name="Google Shape;79;p16"/>
          <p:cNvPicPr preferRelativeResize="0"/>
          <p:nvPr/>
        </p:nvPicPr>
        <p:blipFill>
          <a:blip r:embed="rId3">
            <a:alphaModFix/>
          </a:blip>
          <a:stretch>
            <a:fillRect/>
          </a:stretch>
        </p:blipFill>
        <p:spPr>
          <a:xfrm>
            <a:off x="3024650" y="1619153"/>
            <a:ext cx="6029161" cy="3397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Backtracking</a:t>
            </a:r>
            <a:endParaRPr/>
          </a:p>
        </p:txBody>
      </p:sp>
      <p:sp>
        <p:nvSpPr>
          <p:cNvPr id="85" name="Google Shape;85;p1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Cuando sabemos que una combinación parcial que ya construimos no va a llevar a un resultado válido, </a:t>
            </a:r>
            <a:r>
              <a:rPr i="1" lang="es" sz="1800"/>
              <a:t>podamos</a:t>
            </a:r>
            <a:r>
              <a:rPr lang="es" sz="1800"/>
              <a:t>. </a:t>
            </a:r>
            <a:endParaRPr sz="1800"/>
          </a:p>
          <a:p>
            <a:pPr indent="0" lvl="0" marL="0" rtl="0" algn="l">
              <a:spcBef>
                <a:spcPts val="1600"/>
              </a:spcBef>
              <a:spcAft>
                <a:spcPts val="0"/>
              </a:spcAft>
              <a:buNone/>
            </a:pPr>
            <a:r>
              <a:rPr lang="es" sz="1800"/>
              <a:t>¿En el ejemplo del ordenamiento?</a:t>
            </a:r>
            <a:endParaRPr sz="1800"/>
          </a:p>
          <a:p>
            <a:pPr indent="0" lvl="0" marL="0" rtl="0" algn="l">
              <a:spcBef>
                <a:spcPts val="1600"/>
              </a:spcBef>
              <a:spcAft>
                <a:spcPts val="0"/>
              </a:spcAft>
              <a:buNone/>
            </a:pPr>
            <a:r>
              <a:rPr lang="es" sz="1800"/>
              <a:t>¿En el ejemplo del ajedrez?</a:t>
            </a:r>
            <a:endParaRPr sz="1800"/>
          </a:p>
          <a:p>
            <a:pPr indent="0" lvl="0" marL="0" rtl="0" algn="l">
              <a:spcBef>
                <a:spcPts val="1600"/>
              </a:spcBef>
              <a:spcAft>
                <a:spcPts val="0"/>
              </a:spcAft>
              <a:buNone/>
            </a:pPr>
            <a:r>
              <a:rPr lang="es" sz="1800"/>
              <a:t>Esto se puede aplicar a muchos tipos de problemas. </a:t>
            </a:r>
            <a:endParaRPr sz="1800"/>
          </a:p>
          <a:p>
            <a:pPr indent="0" lvl="0" marL="0" rtl="0" algn="l">
              <a:spcBef>
                <a:spcPts val="1600"/>
              </a:spcBef>
              <a:spcAft>
                <a:spcPts val="1600"/>
              </a:spcAft>
              <a:buNone/>
            </a:pPr>
            <a:r>
              <a:rPr lang="es"/>
              <a:t>Para el caso de grafos, l</a:t>
            </a:r>
            <a:r>
              <a:rPr lang="es" sz="1800"/>
              <a:t>os tipos de resoluciones generalmente serán dos: ir moviéndonos sin un </a:t>
            </a:r>
            <a:r>
              <a:rPr i="1" lang="es" sz="1800"/>
              <a:t>recorrido</a:t>
            </a:r>
            <a:r>
              <a:rPr lang="es" sz="1800"/>
              <a:t>, o hacerlo con DFS (si nos importa seguir un recorrido), desmarcando los visitados cuando no hay solución </a:t>
            </a:r>
            <a:r>
              <a:rPr i="1" lang="es" sz="1800"/>
              <a:t>"por este camino"</a:t>
            </a:r>
            <a:r>
              <a:rPr lang="es" sz="1800"/>
              <a: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I - N reinas</a:t>
            </a:r>
            <a:endParaRPr/>
          </a:p>
        </p:txBody>
      </p:sp>
      <p:sp>
        <p:nvSpPr>
          <p:cNvPr id="91" name="Google Shape;91;p1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Dado un tablero de ajedrez NxN, ubicar (si es posible) a N reinas de tal manera que ninguna pueda </a:t>
            </a:r>
            <a:r>
              <a:rPr i="1" lang="es"/>
              <a:t>comerse</a:t>
            </a:r>
            <a:r>
              <a:rPr lang="es"/>
              <a:t> con ninguna.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Dibujemos un poco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Backtracking - Ejemplo II: Independent Set</a:t>
            </a:r>
            <a:endParaRPr/>
          </a:p>
        </p:txBody>
      </p:sp>
      <p:sp>
        <p:nvSpPr>
          <p:cNvPr id="102" name="Google Shape;102;p2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Quiero guardar en </a:t>
            </a:r>
            <a:r>
              <a:rPr lang="es"/>
              <a:t>los V vértices de un </a:t>
            </a:r>
            <a:r>
              <a:rPr lang="es" sz="1800"/>
              <a:t>grafo, un número </a:t>
            </a:r>
            <a:r>
              <a:rPr lang="es"/>
              <a:t>K de</a:t>
            </a:r>
            <a:r>
              <a:rPr lang="es" sz="1800"/>
              <a:t> elementos. Debo elegir un total de </a:t>
            </a:r>
            <a:r>
              <a:rPr lang="es"/>
              <a:t>K</a:t>
            </a:r>
            <a:r>
              <a:rPr lang="es" sz="1800"/>
              <a:t> vértices en los cuales guardar </a:t>
            </a:r>
            <a:r>
              <a:rPr lang="es"/>
              <a:t>los elementos</a:t>
            </a:r>
            <a:r>
              <a:rPr lang="es" sz="1800"/>
              <a:t>. Restricción! Queremos ver de ubicar lo</a:t>
            </a:r>
            <a:r>
              <a:rPr lang="es"/>
              <a:t>s K</a:t>
            </a:r>
            <a:r>
              <a:rPr lang="es" sz="1800"/>
              <a:t> elementos en vértices, sin que hayan dos vértices adyacentes con elementos.</a:t>
            </a:r>
            <a:endParaRPr/>
          </a:p>
          <a:p>
            <a:pPr indent="0" lvl="0" marL="0" rtl="0" algn="l">
              <a:spcBef>
                <a:spcPts val="1600"/>
              </a:spcBef>
              <a:spcAft>
                <a:spcPts val="1600"/>
              </a:spcAft>
              <a:buNone/>
            </a:pPr>
            <a:r>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¿Cómo resolvemos?</a:t>
            </a:r>
            <a:endParaRPr/>
          </a:p>
        </p:txBody>
      </p:sp>
      <p:pic>
        <p:nvPicPr>
          <p:cNvPr id="108" name="Google Shape;108;p21"/>
          <p:cNvPicPr preferRelativeResize="0"/>
          <p:nvPr/>
        </p:nvPicPr>
        <p:blipFill>
          <a:blip r:embed="rId3">
            <a:alphaModFix/>
          </a:blip>
          <a:stretch>
            <a:fillRect/>
          </a:stretch>
        </p:blipFill>
        <p:spPr>
          <a:xfrm>
            <a:off x="-3" y="1346525"/>
            <a:ext cx="4973300" cy="2981901"/>
          </a:xfrm>
          <a:prstGeom prst="rect">
            <a:avLst/>
          </a:prstGeom>
          <a:noFill/>
          <a:ln>
            <a:noFill/>
          </a:ln>
        </p:spPr>
      </p:pic>
      <p:sp>
        <p:nvSpPr>
          <p:cNvPr id="109" name="Google Shape;109;p21"/>
          <p:cNvSpPr txBox="1"/>
          <p:nvPr/>
        </p:nvSpPr>
        <p:spPr>
          <a:xfrm>
            <a:off x="5022525" y="1630875"/>
            <a:ext cx="3604800" cy="17376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s" sz="1600">
                <a:latin typeface="Proxima Nova"/>
                <a:ea typeface="Proxima Nova"/>
                <a:cs typeface="Proxima Nova"/>
                <a:sym typeface="Proxima Nova"/>
              </a:rPr>
              <a:t>Con Fuerza Bruta y Backtracking probamos todas nuestras opciones en cada paso en el que estoy.</a:t>
            </a:r>
            <a:endParaRPr sz="1600">
              <a:latin typeface="Proxima Nova"/>
              <a:ea typeface="Proxima Nova"/>
              <a:cs typeface="Proxima Nova"/>
              <a:sym typeface="Proxima Nova"/>
            </a:endParaRPr>
          </a:p>
          <a:p>
            <a:pPr indent="0" lvl="0" marL="0" rtl="0" algn="l">
              <a:spcBef>
                <a:spcPts val="0"/>
              </a:spcBef>
              <a:spcAft>
                <a:spcPts val="0"/>
              </a:spcAft>
              <a:buNone/>
            </a:pPr>
            <a:r>
              <a:t/>
            </a:r>
            <a:endParaRPr sz="1600">
              <a:latin typeface="Proxima Nova"/>
              <a:ea typeface="Proxima Nova"/>
              <a:cs typeface="Proxima Nova"/>
              <a:sym typeface="Proxima Nova"/>
            </a:endParaRPr>
          </a:p>
          <a:p>
            <a:pPr indent="0" lvl="0" marL="0" rtl="0" algn="l">
              <a:spcBef>
                <a:spcPts val="0"/>
              </a:spcBef>
              <a:spcAft>
                <a:spcPts val="0"/>
              </a:spcAft>
              <a:buNone/>
            </a:pPr>
            <a:r>
              <a:rPr lang="es" sz="1600">
                <a:latin typeface="Proxima Nova"/>
                <a:ea typeface="Proxima Nova"/>
                <a:cs typeface="Proxima Nova"/>
                <a:sym typeface="Proxima Nova"/>
              </a:rPr>
              <a:t>En cada vértice, nuestras opciones son: ¿Guardo el elemento acá, o no? </a:t>
            </a:r>
            <a:endParaRPr sz="1600">
              <a:latin typeface="Proxima Nova"/>
              <a:ea typeface="Proxima Nova"/>
              <a:cs typeface="Proxima Nova"/>
              <a:sym typeface="Proxima Nova"/>
            </a:endParaRPr>
          </a:p>
          <a:p>
            <a:pPr indent="0" lvl="0" marL="0" rtl="0" algn="l">
              <a:spcBef>
                <a:spcPts val="0"/>
              </a:spcBef>
              <a:spcAft>
                <a:spcPts val="0"/>
              </a:spcAft>
              <a:buNone/>
            </a:pPr>
            <a:r>
              <a:rPr lang="es" sz="1600">
                <a:latin typeface="Proxima Nova"/>
                <a:ea typeface="Proxima Nova"/>
                <a:cs typeface="Proxima Nova"/>
                <a:sym typeface="Proxima Nova"/>
              </a:rPr>
              <a:t>Probamos </a:t>
            </a:r>
            <a:r>
              <a:rPr b="1" lang="es" sz="1600">
                <a:latin typeface="Proxima Nova"/>
                <a:ea typeface="Proxima Nova"/>
                <a:cs typeface="Proxima Nova"/>
                <a:sym typeface="Proxima Nova"/>
              </a:rPr>
              <a:t>AMBAS</a:t>
            </a:r>
            <a:r>
              <a:rPr lang="es" sz="1600">
                <a:latin typeface="Proxima Nova"/>
                <a:ea typeface="Proxima Nova"/>
                <a:cs typeface="Proxima Nova"/>
                <a:sym typeface="Proxima Nova"/>
              </a:rPr>
              <a:t> opciones</a:t>
            </a:r>
            <a:endParaRPr sz="1600">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Vamos viendo la idea por Fuerza Bruta</a:t>
            </a:r>
            <a:endParaRPr/>
          </a:p>
        </p:txBody>
      </p:sp>
      <p:pic>
        <p:nvPicPr>
          <p:cNvPr id="115" name="Google Shape;115;p22"/>
          <p:cNvPicPr preferRelativeResize="0"/>
          <p:nvPr/>
        </p:nvPicPr>
        <p:blipFill>
          <a:blip r:embed="rId3">
            <a:alphaModFix/>
          </a:blip>
          <a:stretch>
            <a:fillRect/>
          </a:stretch>
        </p:blipFill>
        <p:spPr>
          <a:xfrm>
            <a:off x="-3" y="1346525"/>
            <a:ext cx="4973300" cy="2981901"/>
          </a:xfrm>
          <a:prstGeom prst="rect">
            <a:avLst/>
          </a:prstGeom>
          <a:noFill/>
          <a:ln>
            <a:noFill/>
          </a:ln>
        </p:spPr>
      </p:pic>
      <p:sp>
        <p:nvSpPr>
          <p:cNvPr id="116" name="Google Shape;116;p22"/>
          <p:cNvSpPr/>
          <p:nvPr/>
        </p:nvSpPr>
        <p:spPr>
          <a:xfrm>
            <a:off x="969225" y="1939375"/>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2"/>
          <p:cNvSpPr/>
          <p:nvPr/>
        </p:nvSpPr>
        <p:spPr>
          <a:xfrm>
            <a:off x="1011225" y="1058225"/>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2"/>
          <p:cNvSpPr txBox="1"/>
          <p:nvPr/>
        </p:nvSpPr>
        <p:spPr>
          <a:xfrm>
            <a:off x="5142301" y="1286825"/>
            <a:ext cx="33465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900">
                <a:latin typeface="Proxima Nova"/>
                <a:ea typeface="Proxima Nova"/>
                <a:cs typeface="Proxima Nova"/>
                <a:sym typeface="Proxima Nova"/>
              </a:rPr>
              <a:t> k = 4</a:t>
            </a:r>
            <a:endParaRPr sz="1900">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5059725" y="1823674"/>
            <a:ext cx="3543200" cy="2304746"/>
          </a:xfrm>
          <a:prstGeom prst="rect">
            <a:avLst/>
          </a:prstGeom>
          <a:noFill/>
          <a:ln>
            <a:noFill/>
          </a:ln>
        </p:spPr>
      </p:pic>
      <p:pic>
        <p:nvPicPr>
          <p:cNvPr id="124" name="Google Shape;124;p23"/>
          <p:cNvPicPr preferRelativeResize="0"/>
          <p:nvPr/>
        </p:nvPicPr>
        <p:blipFill>
          <a:blip r:embed="rId4">
            <a:alphaModFix/>
          </a:blip>
          <a:stretch>
            <a:fillRect/>
          </a:stretch>
        </p:blipFill>
        <p:spPr>
          <a:xfrm>
            <a:off x="5090525" y="1823675"/>
            <a:ext cx="2882801" cy="2882801"/>
          </a:xfrm>
          <a:prstGeom prst="rect">
            <a:avLst/>
          </a:prstGeom>
          <a:noFill/>
          <a:ln>
            <a:noFill/>
          </a:ln>
        </p:spPr>
      </p:pic>
      <p:pic>
        <p:nvPicPr>
          <p:cNvPr id="125" name="Google Shape;125;p23"/>
          <p:cNvPicPr preferRelativeResize="0"/>
          <p:nvPr/>
        </p:nvPicPr>
        <p:blipFill>
          <a:blip r:embed="rId5">
            <a:alphaModFix/>
          </a:blip>
          <a:stretch>
            <a:fillRect/>
          </a:stretch>
        </p:blipFill>
        <p:spPr>
          <a:xfrm>
            <a:off x="5083211" y="1823675"/>
            <a:ext cx="2882801" cy="2882801"/>
          </a:xfrm>
          <a:prstGeom prst="rect">
            <a:avLst/>
          </a:prstGeom>
          <a:noFill/>
          <a:ln>
            <a:noFill/>
          </a:ln>
        </p:spPr>
      </p:pic>
      <p:sp>
        <p:nvSpPr>
          <p:cNvPr id="126" name="Google Shape;126;p2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Vamos viendo la idea por Fuerza Bruta</a:t>
            </a:r>
            <a:endParaRPr/>
          </a:p>
        </p:txBody>
      </p:sp>
      <p:pic>
        <p:nvPicPr>
          <p:cNvPr id="127" name="Google Shape;127;p23"/>
          <p:cNvPicPr preferRelativeResize="0"/>
          <p:nvPr/>
        </p:nvPicPr>
        <p:blipFill>
          <a:blip r:embed="rId6">
            <a:alphaModFix/>
          </a:blip>
          <a:stretch>
            <a:fillRect/>
          </a:stretch>
        </p:blipFill>
        <p:spPr>
          <a:xfrm>
            <a:off x="-3" y="1346525"/>
            <a:ext cx="4973300" cy="2981901"/>
          </a:xfrm>
          <a:prstGeom prst="rect">
            <a:avLst/>
          </a:prstGeom>
          <a:noFill/>
          <a:ln>
            <a:noFill/>
          </a:ln>
        </p:spPr>
      </p:pic>
      <p:sp>
        <p:nvSpPr>
          <p:cNvPr id="128" name="Google Shape;128;p23"/>
          <p:cNvSpPr/>
          <p:nvPr/>
        </p:nvSpPr>
        <p:spPr>
          <a:xfrm>
            <a:off x="969225" y="1939375"/>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3"/>
          <p:cNvSpPr/>
          <p:nvPr/>
        </p:nvSpPr>
        <p:spPr>
          <a:xfrm>
            <a:off x="2677225" y="1899425"/>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3"/>
          <p:cNvSpPr/>
          <p:nvPr/>
        </p:nvSpPr>
        <p:spPr>
          <a:xfrm>
            <a:off x="4443775" y="2060175"/>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3"/>
          <p:cNvSpPr/>
          <p:nvPr/>
        </p:nvSpPr>
        <p:spPr>
          <a:xfrm>
            <a:off x="4067275" y="3350000"/>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3"/>
          <p:cNvSpPr/>
          <p:nvPr/>
        </p:nvSpPr>
        <p:spPr>
          <a:xfrm>
            <a:off x="3053725" y="4179825"/>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3"/>
          <p:cNvSpPr/>
          <p:nvPr/>
        </p:nvSpPr>
        <p:spPr>
          <a:xfrm>
            <a:off x="1839950" y="3161375"/>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3"/>
          <p:cNvSpPr/>
          <p:nvPr/>
        </p:nvSpPr>
        <p:spPr>
          <a:xfrm>
            <a:off x="118925" y="2923400"/>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3"/>
          <p:cNvSpPr/>
          <p:nvPr/>
        </p:nvSpPr>
        <p:spPr>
          <a:xfrm>
            <a:off x="789875" y="3993075"/>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p:nvPr/>
        </p:nvSpPr>
        <p:spPr>
          <a:xfrm>
            <a:off x="831875" y="3098900"/>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3"/>
          <p:cNvSpPr/>
          <p:nvPr/>
        </p:nvSpPr>
        <p:spPr>
          <a:xfrm>
            <a:off x="146075" y="2108300"/>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3"/>
          <p:cNvSpPr/>
          <p:nvPr/>
        </p:nvSpPr>
        <p:spPr>
          <a:xfrm>
            <a:off x="1822475" y="2260700"/>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3"/>
          <p:cNvSpPr/>
          <p:nvPr/>
        </p:nvSpPr>
        <p:spPr>
          <a:xfrm>
            <a:off x="3041675" y="3327500"/>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3"/>
          <p:cNvSpPr txBox="1"/>
          <p:nvPr/>
        </p:nvSpPr>
        <p:spPr>
          <a:xfrm>
            <a:off x="5135125" y="2108300"/>
            <a:ext cx="4817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latin typeface="Proxima Nova"/>
                <a:ea typeface="Proxima Nova"/>
                <a:cs typeface="Proxima Nova"/>
                <a:sym typeface="Proxima Nova"/>
              </a:rPr>
              <a:t>Y eso que sólo tenemos 8 vértices...</a:t>
            </a:r>
            <a:endParaRPr>
              <a:latin typeface="Proxima Nova"/>
              <a:ea typeface="Proxima Nova"/>
              <a:cs typeface="Proxima Nova"/>
              <a:sym typeface="Proxima Nova"/>
            </a:endParaRPr>
          </a:p>
        </p:txBody>
      </p:sp>
      <p:pic>
        <p:nvPicPr>
          <p:cNvPr id="141" name="Google Shape;141;p23"/>
          <p:cNvPicPr preferRelativeResize="0"/>
          <p:nvPr/>
        </p:nvPicPr>
        <p:blipFill rotWithShape="1">
          <a:blip r:embed="rId7">
            <a:alphaModFix/>
          </a:blip>
          <a:srcRect b="3846" l="0" r="0" t="0"/>
          <a:stretch/>
        </p:blipFill>
        <p:spPr>
          <a:xfrm>
            <a:off x="5251475" y="2456550"/>
            <a:ext cx="2168500" cy="2085050"/>
          </a:xfrm>
          <a:prstGeom prst="rect">
            <a:avLst/>
          </a:prstGeom>
          <a:noFill/>
          <a:ln>
            <a:noFill/>
          </a:ln>
        </p:spPr>
      </p:pic>
      <p:sp>
        <p:nvSpPr>
          <p:cNvPr id="142" name="Google Shape;142;p23"/>
          <p:cNvSpPr txBox="1"/>
          <p:nvPr/>
        </p:nvSpPr>
        <p:spPr>
          <a:xfrm>
            <a:off x="4485875" y="1143000"/>
            <a:ext cx="1440600" cy="5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0000"/>
                </a:solidFill>
                <a:latin typeface="Proxima Nova"/>
                <a:ea typeface="Proxima Nova"/>
                <a:cs typeface="Proxima Nova"/>
                <a:sym typeface="Proxima Nova"/>
              </a:rPr>
              <a:t>¿Es compatible?</a:t>
            </a:r>
            <a:endParaRPr>
              <a:solidFill>
                <a:srgbClr val="FF0000"/>
              </a:solidFill>
              <a:latin typeface="Proxima Nova"/>
              <a:ea typeface="Proxima Nova"/>
              <a:cs typeface="Proxima Nova"/>
              <a:sym typeface="Proxima Nova"/>
            </a:endParaRPr>
          </a:p>
        </p:txBody>
      </p:sp>
      <p:sp>
        <p:nvSpPr>
          <p:cNvPr id="143" name="Google Shape;143;p23"/>
          <p:cNvSpPr/>
          <p:nvPr/>
        </p:nvSpPr>
        <p:spPr>
          <a:xfrm>
            <a:off x="3803675" y="2489300"/>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3"/>
          <p:cNvSpPr/>
          <p:nvPr/>
        </p:nvSpPr>
        <p:spPr>
          <a:xfrm>
            <a:off x="4260875" y="1270100"/>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3"/>
          <p:cNvSpPr/>
          <p:nvPr/>
        </p:nvSpPr>
        <p:spPr>
          <a:xfrm>
            <a:off x="2660675" y="1041500"/>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3"/>
          <p:cNvSpPr txBox="1"/>
          <p:nvPr/>
        </p:nvSpPr>
        <p:spPr>
          <a:xfrm>
            <a:off x="5142301" y="1286825"/>
            <a:ext cx="33465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900">
                <a:latin typeface="Proxima Nova"/>
                <a:ea typeface="Proxima Nova"/>
                <a:cs typeface="Proxima Nova"/>
                <a:sym typeface="Proxima Nova"/>
              </a:rPr>
              <a:t> k = 4</a:t>
            </a:r>
            <a:endParaRPr sz="1900">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3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3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3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3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8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311700" y="445025"/>
            <a:ext cx="87627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Vamos viendo la idea por Super Lord Backtracking</a:t>
            </a:r>
            <a:endParaRPr/>
          </a:p>
        </p:txBody>
      </p:sp>
      <p:pic>
        <p:nvPicPr>
          <p:cNvPr id="152" name="Google Shape;152;p24"/>
          <p:cNvPicPr preferRelativeResize="0"/>
          <p:nvPr/>
        </p:nvPicPr>
        <p:blipFill>
          <a:blip r:embed="rId3">
            <a:alphaModFix/>
          </a:blip>
          <a:stretch>
            <a:fillRect/>
          </a:stretch>
        </p:blipFill>
        <p:spPr>
          <a:xfrm>
            <a:off x="-3" y="1346525"/>
            <a:ext cx="4973300" cy="2981901"/>
          </a:xfrm>
          <a:prstGeom prst="rect">
            <a:avLst/>
          </a:prstGeom>
          <a:noFill/>
          <a:ln>
            <a:noFill/>
          </a:ln>
        </p:spPr>
      </p:pic>
      <p:sp>
        <p:nvSpPr>
          <p:cNvPr id="153" name="Google Shape;153;p24"/>
          <p:cNvSpPr/>
          <p:nvPr/>
        </p:nvSpPr>
        <p:spPr>
          <a:xfrm>
            <a:off x="969225" y="1939375"/>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4"/>
          <p:cNvSpPr/>
          <p:nvPr/>
        </p:nvSpPr>
        <p:spPr>
          <a:xfrm>
            <a:off x="2687625" y="1058225"/>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4"/>
          <p:cNvSpPr/>
          <p:nvPr/>
        </p:nvSpPr>
        <p:spPr>
          <a:xfrm>
            <a:off x="2645625" y="1939375"/>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4"/>
          <p:cNvSpPr/>
          <p:nvPr/>
        </p:nvSpPr>
        <p:spPr>
          <a:xfrm>
            <a:off x="3915025" y="3347100"/>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4"/>
          <p:cNvSpPr/>
          <p:nvPr/>
        </p:nvSpPr>
        <p:spPr>
          <a:xfrm>
            <a:off x="181225" y="2966100"/>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4"/>
          <p:cNvSpPr/>
          <p:nvPr/>
        </p:nvSpPr>
        <p:spPr>
          <a:xfrm>
            <a:off x="1781425" y="3118500"/>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4"/>
          <p:cNvSpPr/>
          <p:nvPr/>
        </p:nvSpPr>
        <p:spPr>
          <a:xfrm>
            <a:off x="1828425" y="2282250"/>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4"/>
          <p:cNvSpPr/>
          <p:nvPr/>
        </p:nvSpPr>
        <p:spPr>
          <a:xfrm>
            <a:off x="4448425" y="2127900"/>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4"/>
          <p:cNvSpPr/>
          <p:nvPr/>
        </p:nvSpPr>
        <p:spPr>
          <a:xfrm>
            <a:off x="3076825" y="4185300"/>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4"/>
          <p:cNvSpPr/>
          <p:nvPr/>
        </p:nvSpPr>
        <p:spPr>
          <a:xfrm>
            <a:off x="3047625" y="3349050"/>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4"/>
          <p:cNvSpPr/>
          <p:nvPr/>
        </p:nvSpPr>
        <p:spPr>
          <a:xfrm>
            <a:off x="790825" y="3956700"/>
            <a:ext cx="376500" cy="4266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4"/>
          <p:cNvSpPr/>
          <p:nvPr/>
        </p:nvSpPr>
        <p:spPr>
          <a:xfrm>
            <a:off x="837825" y="3120450"/>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4"/>
          <p:cNvSpPr/>
          <p:nvPr/>
        </p:nvSpPr>
        <p:spPr>
          <a:xfrm>
            <a:off x="4364025" y="1286825"/>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4"/>
          <p:cNvSpPr/>
          <p:nvPr/>
        </p:nvSpPr>
        <p:spPr>
          <a:xfrm>
            <a:off x="228225" y="2053650"/>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4"/>
          <p:cNvSpPr/>
          <p:nvPr/>
        </p:nvSpPr>
        <p:spPr>
          <a:xfrm>
            <a:off x="3830625" y="2506025"/>
            <a:ext cx="334500" cy="4266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4"/>
          <p:cNvPicPr preferRelativeResize="0"/>
          <p:nvPr/>
        </p:nvPicPr>
        <p:blipFill>
          <a:blip r:embed="rId4">
            <a:alphaModFix/>
          </a:blip>
          <a:stretch>
            <a:fillRect/>
          </a:stretch>
        </p:blipFill>
        <p:spPr>
          <a:xfrm>
            <a:off x="5070897" y="2424075"/>
            <a:ext cx="3865903" cy="2054991"/>
          </a:xfrm>
          <a:prstGeom prst="rect">
            <a:avLst/>
          </a:prstGeom>
          <a:noFill/>
          <a:ln>
            <a:noFill/>
          </a:ln>
        </p:spPr>
      </p:pic>
      <p:sp>
        <p:nvSpPr>
          <p:cNvPr id="169" name="Google Shape;169;p24"/>
          <p:cNvSpPr txBox="1"/>
          <p:nvPr/>
        </p:nvSpPr>
        <p:spPr>
          <a:xfrm>
            <a:off x="5142301" y="1286825"/>
            <a:ext cx="33465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900">
                <a:latin typeface="Proxima Nova"/>
                <a:ea typeface="Proxima Nova"/>
                <a:cs typeface="Proxima Nova"/>
                <a:sym typeface="Proxima Nova"/>
              </a:rPr>
              <a:t> k = 4</a:t>
            </a:r>
            <a:endParaRPr sz="1900">
              <a:latin typeface="Proxima Nova"/>
              <a:ea typeface="Proxima Nova"/>
              <a:cs typeface="Proxima Nova"/>
              <a:sym typeface="Proxima Nova"/>
            </a:endParaRPr>
          </a:p>
          <a:p>
            <a:pPr indent="0" lvl="0" marL="0" rtl="0" algn="ctr">
              <a:spcBef>
                <a:spcPts val="0"/>
              </a:spcBef>
              <a:spcAft>
                <a:spcPts val="0"/>
              </a:spcAft>
              <a:buNone/>
            </a:pPr>
            <a:r>
              <a:rPr lang="es" sz="1900">
                <a:latin typeface="Proxima Nova"/>
                <a:ea typeface="Proxima Nova"/>
                <a:cs typeface="Proxima Nova"/>
                <a:sym typeface="Proxima Nova"/>
              </a:rPr>
              <a:t>Con más atención en el armado de la construcción</a:t>
            </a:r>
            <a:endParaRPr sz="1900">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Bueno, ¿y ahora </a:t>
            </a:r>
            <a:r>
              <a:rPr lang="es"/>
              <a:t>cómo</a:t>
            </a:r>
            <a:r>
              <a:rPr lang="es"/>
              <a:t> lo codeamos?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idx="1" type="body"/>
          </p:nvPr>
        </p:nvSpPr>
        <p:spPr>
          <a:xfrm>
            <a:off x="311700" y="1101600"/>
            <a:ext cx="8520600" cy="38499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s" sz="1200">
                <a:solidFill>
                  <a:srgbClr val="0000FF"/>
                </a:solidFill>
                <a:latin typeface="Courier New"/>
                <a:ea typeface="Courier New"/>
                <a:cs typeface="Courier New"/>
                <a:sym typeface="Courier New"/>
              </a:rPr>
              <a:t>def</a:t>
            </a:r>
            <a:r>
              <a:rPr lang="es" sz="1200">
                <a:solidFill>
                  <a:srgbClr val="3B3B3B"/>
                </a:solidFill>
                <a:latin typeface="Courier New"/>
                <a:ea typeface="Courier New"/>
                <a:cs typeface="Courier New"/>
                <a:sym typeface="Courier New"/>
              </a:rPr>
              <a:t> </a:t>
            </a:r>
            <a:r>
              <a:rPr lang="es" sz="1200">
                <a:solidFill>
                  <a:srgbClr val="795E26"/>
                </a:solidFill>
                <a:latin typeface="Courier New"/>
                <a:ea typeface="Courier New"/>
                <a:cs typeface="Courier New"/>
                <a:sym typeface="Courier New"/>
              </a:rPr>
              <a:t>_ubicacion_FB</a:t>
            </a:r>
            <a:r>
              <a:rPr lang="es" sz="1200">
                <a:solidFill>
                  <a:srgbClr val="3B3B3B"/>
                </a:solidFill>
                <a:latin typeface="Courier New"/>
                <a:ea typeface="Courier New"/>
                <a:cs typeface="Courier New"/>
                <a:sym typeface="Courier New"/>
              </a:rPr>
              <a:t>(</a:t>
            </a:r>
            <a:r>
              <a:rPr lang="es" sz="1200">
                <a:solidFill>
                  <a:srgbClr val="001080"/>
                </a:solidFill>
                <a:latin typeface="Courier New"/>
                <a:ea typeface="Courier New"/>
                <a:cs typeface="Courier New"/>
                <a:sym typeface="Courier New"/>
              </a:rPr>
              <a:t>grafo</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vertices</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v_actual</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puestos</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k</a:t>
            </a:r>
            <a:r>
              <a:rPr lang="es" sz="1200">
                <a:solidFill>
                  <a:srgbClr val="3B3B3B"/>
                </a:solidFill>
                <a:latin typeface="Courier New"/>
                <a:ea typeface="Courier New"/>
                <a:cs typeface="Courier New"/>
                <a:sym typeface="Courier New"/>
              </a:rPr>
              <a:t>):</a:t>
            </a:r>
            <a:endParaRPr sz="12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urier New"/>
                <a:ea typeface="Courier New"/>
                <a:cs typeface="Courier New"/>
                <a:sym typeface="Courier New"/>
              </a:rPr>
              <a:t>   </a:t>
            </a:r>
            <a:r>
              <a:rPr lang="es" sz="1200">
                <a:solidFill>
                  <a:srgbClr val="AF00DB"/>
                </a:solidFill>
                <a:latin typeface="Courier New"/>
                <a:ea typeface="Courier New"/>
                <a:cs typeface="Courier New"/>
                <a:sym typeface="Courier New"/>
              </a:rPr>
              <a:t>if</a:t>
            </a:r>
            <a:r>
              <a:rPr lang="es" sz="1200">
                <a:solidFill>
                  <a:srgbClr val="3B3B3B"/>
                </a:solidFill>
                <a:latin typeface="Courier New"/>
                <a:ea typeface="Courier New"/>
                <a:cs typeface="Courier New"/>
                <a:sym typeface="Courier New"/>
              </a:rPr>
              <a:t> </a:t>
            </a:r>
            <a:r>
              <a:rPr lang="es" sz="1200">
                <a:solidFill>
                  <a:srgbClr val="795E26"/>
                </a:solidFill>
                <a:latin typeface="Courier New"/>
                <a:ea typeface="Courier New"/>
                <a:cs typeface="Courier New"/>
                <a:sym typeface="Courier New"/>
              </a:rPr>
              <a:t>len</a:t>
            </a:r>
            <a:r>
              <a:rPr lang="es" sz="1200">
                <a:solidFill>
                  <a:srgbClr val="3B3B3B"/>
                </a:solidFill>
                <a:latin typeface="Courier New"/>
                <a:ea typeface="Courier New"/>
                <a:cs typeface="Courier New"/>
                <a:sym typeface="Courier New"/>
              </a:rPr>
              <a:t>(</a:t>
            </a:r>
            <a:r>
              <a:rPr lang="es" sz="1200">
                <a:solidFill>
                  <a:srgbClr val="001080"/>
                </a:solidFill>
                <a:latin typeface="Courier New"/>
                <a:ea typeface="Courier New"/>
                <a:cs typeface="Courier New"/>
                <a:sym typeface="Courier New"/>
              </a:rPr>
              <a:t>puestos</a:t>
            </a:r>
            <a:r>
              <a:rPr lang="es" sz="1200">
                <a:solidFill>
                  <a:srgbClr val="3B3B3B"/>
                </a:solidFill>
                <a:latin typeface="Courier New"/>
                <a:ea typeface="Courier New"/>
                <a:cs typeface="Courier New"/>
                <a:sym typeface="Courier New"/>
              </a:rPr>
              <a:t>) </a:t>
            </a:r>
            <a:r>
              <a:rPr lang="es" sz="1200">
                <a:latin typeface="Courier New"/>
                <a:ea typeface="Courier New"/>
                <a:cs typeface="Courier New"/>
                <a:sym typeface="Courier New"/>
              </a:rPr>
              <a:t>==</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k</a:t>
            </a:r>
            <a:r>
              <a:rPr lang="es" sz="1200">
                <a:solidFill>
                  <a:srgbClr val="3B3B3B"/>
                </a:solidFill>
                <a:latin typeface="Courier New"/>
                <a:ea typeface="Courier New"/>
                <a:cs typeface="Courier New"/>
                <a:sym typeface="Courier New"/>
              </a:rPr>
              <a:t>:</a:t>
            </a:r>
            <a:endParaRPr sz="12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urier New"/>
                <a:ea typeface="Courier New"/>
                <a:cs typeface="Courier New"/>
                <a:sym typeface="Courier New"/>
              </a:rPr>
              <a:t>       </a:t>
            </a:r>
            <a:r>
              <a:rPr lang="es" sz="1200">
                <a:solidFill>
                  <a:srgbClr val="AF00DB"/>
                </a:solidFill>
                <a:latin typeface="Courier New"/>
                <a:ea typeface="Courier New"/>
                <a:cs typeface="Courier New"/>
                <a:sym typeface="Courier New"/>
              </a:rPr>
              <a:t>return</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puestos </a:t>
            </a:r>
            <a:r>
              <a:rPr lang="es" sz="1200">
                <a:solidFill>
                  <a:srgbClr val="AF00DB"/>
                </a:solidFill>
                <a:latin typeface="Courier New"/>
                <a:ea typeface="Courier New"/>
                <a:cs typeface="Courier New"/>
                <a:sym typeface="Courier New"/>
              </a:rPr>
              <a:t>if</a:t>
            </a:r>
            <a:r>
              <a:rPr lang="es" sz="1200">
                <a:solidFill>
                  <a:srgbClr val="3B3B3B"/>
                </a:solidFill>
                <a:latin typeface="Courier New"/>
                <a:ea typeface="Courier New"/>
                <a:cs typeface="Courier New"/>
                <a:sym typeface="Courier New"/>
              </a:rPr>
              <a:t> </a:t>
            </a:r>
            <a:r>
              <a:rPr lang="es" sz="1200">
                <a:solidFill>
                  <a:srgbClr val="795E26"/>
                </a:solidFill>
                <a:latin typeface="Courier New"/>
                <a:ea typeface="Courier New"/>
                <a:cs typeface="Courier New"/>
                <a:sym typeface="Courier New"/>
              </a:rPr>
              <a:t>es_compatible</a:t>
            </a:r>
            <a:r>
              <a:rPr lang="es" sz="1200">
                <a:solidFill>
                  <a:srgbClr val="3B3B3B"/>
                </a:solidFill>
                <a:latin typeface="Courier New"/>
                <a:ea typeface="Courier New"/>
                <a:cs typeface="Courier New"/>
                <a:sym typeface="Courier New"/>
              </a:rPr>
              <a:t>(</a:t>
            </a:r>
            <a:r>
              <a:rPr lang="es" sz="1200">
                <a:solidFill>
                  <a:srgbClr val="001080"/>
                </a:solidFill>
                <a:latin typeface="Courier New"/>
                <a:ea typeface="Courier New"/>
                <a:cs typeface="Courier New"/>
                <a:sym typeface="Courier New"/>
              </a:rPr>
              <a:t>grafo</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puestos</a:t>
            </a:r>
            <a:r>
              <a:rPr lang="es" sz="1200">
                <a:solidFill>
                  <a:srgbClr val="3B3B3B"/>
                </a:solidFill>
                <a:latin typeface="Courier New"/>
                <a:ea typeface="Courier New"/>
                <a:cs typeface="Courier New"/>
                <a:sym typeface="Courier New"/>
              </a:rPr>
              <a:t>) </a:t>
            </a:r>
            <a:r>
              <a:rPr lang="es" sz="1200">
                <a:solidFill>
                  <a:srgbClr val="AF00DB"/>
                </a:solidFill>
                <a:latin typeface="Courier New"/>
                <a:ea typeface="Courier New"/>
                <a:cs typeface="Courier New"/>
                <a:sym typeface="Courier New"/>
              </a:rPr>
              <a:t>else </a:t>
            </a:r>
            <a:r>
              <a:rPr lang="es" sz="1200">
                <a:solidFill>
                  <a:srgbClr val="0000FF"/>
                </a:solidFill>
                <a:latin typeface="Courier New"/>
                <a:ea typeface="Courier New"/>
                <a:cs typeface="Courier New"/>
                <a:sym typeface="Courier New"/>
              </a:rPr>
              <a:t>None</a:t>
            </a:r>
            <a:endParaRPr sz="12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urier New"/>
                <a:ea typeface="Courier New"/>
                <a:cs typeface="Courier New"/>
                <a:sym typeface="Courier New"/>
              </a:rPr>
              <a:t>   </a:t>
            </a:r>
            <a:r>
              <a:rPr lang="es" sz="1200">
                <a:solidFill>
                  <a:srgbClr val="AF00DB"/>
                </a:solidFill>
                <a:latin typeface="Courier New"/>
                <a:ea typeface="Courier New"/>
                <a:cs typeface="Courier New"/>
                <a:sym typeface="Courier New"/>
              </a:rPr>
              <a:t>if</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v_actual</a:t>
            </a:r>
            <a:r>
              <a:rPr lang="es" sz="1200">
                <a:solidFill>
                  <a:srgbClr val="3B3B3B"/>
                </a:solidFill>
                <a:latin typeface="Courier New"/>
                <a:ea typeface="Courier New"/>
                <a:cs typeface="Courier New"/>
                <a:sym typeface="Courier New"/>
              </a:rPr>
              <a:t> </a:t>
            </a:r>
            <a:r>
              <a:rPr lang="es" sz="1200">
                <a:latin typeface="Courier New"/>
                <a:ea typeface="Courier New"/>
                <a:cs typeface="Courier New"/>
                <a:sym typeface="Courier New"/>
              </a:rPr>
              <a:t>==</a:t>
            </a:r>
            <a:r>
              <a:rPr lang="es" sz="1200">
                <a:solidFill>
                  <a:srgbClr val="3B3B3B"/>
                </a:solidFill>
                <a:latin typeface="Courier New"/>
                <a:ea typeface="Courier New"/>
                <a:cs typeface="Courier New"/>
                <a:sym typeface="Courier New"/>
              </a:rPr>
              <a:t> </a:t>
            </a:r>
            <a:r>
              <a:rPr lang="es" sz="1200">
                <a:solidFill>
                  <a:srgbClr val="795E26"/>
                </a:solidFill>
                <a:latin typeface="Courier New"/>
                <a:ea typeface="Courier New"/>
                <a:cs typeface="Courier New"/>
                <a:sym typeface="Courier New"/>
              </a:rPr>
              <a:t>len</a:t>
            </a:r>
            <a:r>
              <a:rPr lang="es" sz="1200">
                <a:solidFill>
                  <a:srgbClr val="3B3B3B"/>
                </a:solidFill>
                <a:latin typeface="Courier New"/>
                <a:ea typeface="Courier New"/>
                <a:cs typeface="Courier New"/>
                <a:sym typeface="Courier New"/>
              </a:rPr>
              <a:t>(</a:t>
            </a:r>
            <a:r>
              <a:rPr lang="es" sz="1200">
                <a:solidFill>
                  <a:srgbClr val="001080"/>
                </a:solidFill>
                <a:latin typeface="Courier New"/>
                <a:ea typeface="Courier New"/>
                <a:cs typeface="Courier New"/>
                <a:sym typeface="Courier New"/>
              </a:rPr>
              <a:t>grafo</a:t>
            </a:r>
            <a:r>
              <a:rPr lang="es" sz="1200">
                <a:solidFill>
                  <a:srgbClr val="3B3B3B"/>
                </a:solidFill>
                <a:latin typeface="Courier New"/>
                <a:ea typeface="Courier New"/>
                <a:cs typeface="Courier New"/>
                <a:sym typeface="Courier New"/>
              </a:rPr>
              <a:t>):</a:t>
            </a:r>
            <a:endParaRPr sz="12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urier New"/>
                <a:ea typeface="Courier New"/>
                <a:cs typeface="Courier New"/>
                <a:sym typeface="Courier New"/>
              </a:rPr>
              <a:t>       </a:t>
            </a:r>
            <a:r>
              <a:rPr lang="es" sz="1200">
                <a:solidFill>
                  <a:srgbClr val="AF00DB"/>
                </a:solidFill>
                <a:latin typeface="Courier New"/>
                <a:ea typeface="Courier New"/>
                <a:cs typeface="Courier New"/>
                <a:sym typeface="Courier New"/>
              </a:rPr>
              <a:t>return</a:t>
            </a:r>
            <a:r>
              <a:rPr lang="es" sz="1200">
                <a:solidFill>
                  <a:srgbClr val="3B3B3B"/>
                </a:solidFill>
                <a:latin typeface="Courier New"/>
                <a:ea typeface="Courier New"/>
                <a:cs typeface="Courier New"/>
                <a:sym typeface="Courier New"/>
              </a:rPr>
              <a:t> </a:t>
            </a:r>
            <a:r>
              <a:rPr lang="es" sz="1200">
                <a:solidFill>
                  <a:srgbClr val="0000FF"/>
                </a:solidFill>
                <a:latin typeface="Courier New"/>
                <a:ea typeface="Courier New"/>
                <a:cs typeface="Courier New"/>
                <a:sym typeface="Courier New"/>
              </a:rPr>
              <a:t>None</a:t>
            </a:r>
            <a:endParaRPr sz="12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2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2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2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urier New"/>
                <a:ea typeface="Courier New"/>
                <a:cs typeface="Courier New"/>
                <a:sym typeface="Courier New"/>
              </a:rPr>
              <a:t>   </a:t>
            </a:r>
            <a:r>
              <a:rPr lang="es" sz="1200">
                <a:solidFill>
                  <a:srgbClr val="008000"/>
                </a:solidFill>
                <a:latin typeface="Courier New"/>
                <a:ea typeface="Courier New"/>
                <a:cs typeface="Courier New"/>
                <a:sym typeface="Courier New"/>
              </a:rPr>
              <a:t># Mis opciones son poner acá, o no</a:t>
            </a:r>
            <a:endParaRPr sz="12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puestos</a:t>
            </a:r>
            <a:r>
              <a:rPr lang="es" sz="1200">
                <a:solidFill>
                  <a:srgbClr val="3B3B3B"/>
                </a:solidFill>
                <a:latin typeface="Courier New"/>
                <a:ea typeface="Courier New"/>
                <a:cs typeface="Courier New"/>
                <a:sym typeface="Courier New"/>
              </a:rPr>
              <a:t>.add(</a:t>
            </a:r>
            <a:r>
              <a:rPr lang="es" sz="1200">
                <a:solidFill>
                  <a:srgbClr val="001080"/>
                </a:solidFill>
                <a:latin typeface="Courier New"/>
                <a:ea typeface="Courier New"/>
                <a:cs typeface="Courier New"/>
                <a:sym typeface="Courier New"/>
              </a:rPr>
              <a:t>vertices</a:t>
            </a:r>
            <a:r>
              <a:rPr lang="es" sz="1200">
                <a:solidFill>
                  <a:srgbClr val="3B3B3B"/>
                </a:solidFill>
                <a:latin typeface="Courier New"/>
                <a:ea typeface="Courier New"/>
                <a:cs typeface="Courier New"/>
                <a:sym typeface="Courier New"/>
              </a:rPr>
              <a:t>[</a:t>
            </a:r>
            <a:r>
              <a:rPr lang="es" sz="1200">
                <a:solidFill>
                  <a:srgbClr val="001080"/>
                </a:solidFill>
                <a:latin typeface="Courier New"/>
                <a:ea typeface="Courier New"/>
                <a:cs typeface="Courier New"/>
                <a:sym typeface="Courier New"/>
              </a:rPr>
              <a:t>v_actual</a:t>
            </a:r>
            <a:r>
              <a:rPr lang="es" sz="1200">
                <a:solidFill>
                  <a:srgbClr val="3B3B3B"/>
                </a:solidFill>
                <a:latin typeface="Courier New"/>
                <a:ea typeface="Courier New"/>
                <a:cs typeface="Courier New"/>
                <a:sym typeface="Courier New"/>
              </a:rPr>
              <a:t>])</a:t>
            </a:r>
            <a:endParaRPr sz="12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solucion = </a:t>
            </a:r>
            <a:r>
              <a:rPr lang="es" sz="1200">
                <a:solidFill>
                  <a:srgbClr val="795E26"/>
                </a:solidFill>
                <a:latin typeface="Courier New"/>
                <a:ea typeface="Courier New"/>
                <a:cs typeface="Courier New"/>
                <a:sym typeface="Courier New"/>
              </a:rPr>
              <a:t>_ubicacion_FB</a:t>
            </a:r>
            <a:r>
              <a:rPr lang="es" sz="1200">
                <a:solidFill>
                  <a:srgbClr val="3B3B3B"/>
                </a:solidFill>
                <a:latin typeface="Courier New"/>
                <a:ea typeface="Courier New"/>
                <a:cs typeface="Courier New"/>
                <a:sym typeface="Courier New"/>
              </a:rPr>
              <a:t>(</a:t>
            </a:r>
            <a:r>
              <a:rPr lang="es" sz="1200">
                <a:solidFill>
                  <a:srgbClr val="001080"/>
                </a:solidFill>
                <a:latin typeface="Courier New"/>
                <a:ea typeface="Courier New"/>
                <a:cs typeface="Courier New"/>
                <a:sym typeface="Courier New"/>
              </a:rPr>
              <a:t>grafo</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vertices</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v_actual</a:t>
            </a:r>
            <a:r>
              <a:rPr lang="es" sz="1200">
                <a:solidFill>
                  <a:srgbClr val="3B3B3B"/>
                </a:solidFill>
                <a:latin typeface="Courier New"/>
                <a:ea typeface="Courier New"/>
                <a:cs typeface="Courier New"/>
                <a:sym typeface="Courier New"/>
              </a:rPr>
              <a:t> </a:t>
            </a:r>
            <a:r>
              <a:rPr lang="es" sz="1200">
                <a:latin typeface="Courier New"/>
                <a:ea typeface="Courier New"/>
                <a:cs typeface="Courier New"/>
                <a:sym typeface="Courier New"/>
              </a:rPr>
              <a:t>+</a:t>
            </a:r>
            <a:r>
              <a:rPr lang="es" sz="1200">
                <a:solidFill>
                  <a:srgbClr val="3B3B3B"/>
                </a:solidFill>
                <a:latin typeface="Courier New"/>
                <a:ea typeface="Courier New"/>
                <a:cs typeface="Courier New"/>
                <a:sym typeface="Courier New"/>
              </a:rPr>
              <a:t> </a:t>
            </a:r>
            <a:r>
              <a:rPr lang="es" sz="1200">
                <a:solidFill>
                  <a:srgbClr val="098658"/>
                </a:solidFill>
                <a:latin typeface="Courier New"/>
                <a:ea typeface="Courier New"/>
                <a:cs typeface="Courier New"/>
                <a:sym typeface="Courier New"/>
              </a:rPr>
              <a:t>1</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puestos</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k</a:t>
            </a:r>
            <a:r>
              <a:rPr lang="es" sz="1200">
                <a:solidFill>
                  <a:srgbClr val="3B3B3B"/>
                </a:solidFill>
                <a:latin typeface="Courier New"/>
                <a:ea typeface="Courier New"/>
                <a:cs typeface="Courier New"/>
                <a:sym typeface="Courier New"/>
              </a:rPr>
              <a:t>)</a:t>
            </a:r>
            <a:endParaRPr sz="12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urier New"/>
                <a:ea typeface="Courier New"/>
                <a:cs typeface="Courier New"/>
                <a:sym typeface="Courier New"/>
              </a:rPr>
              <a:t>   </a:t>
            </a:r>
            <a:r>
              <a:rPr lang="es" sz="1200">
                <a:solidFill>
                  <a:srgbClr val="AF00DB"/>
                </a:solidFill>
                <a:latin typeface="Courier New"/>
                <a:ea typeface="Courier New"/>
                <a:cs typeface="Courier New"/>
                <a:sym typeface="Courier New"/>
              </a:rPr>
              <a:t>if</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solucion </a:t>
            </a:r>
            <a:r>
              <a:rPr lang="es" sz="1200">
                <a:solidFill>
                  <a:srgbClr val="3B3B3B"/>
                </a:solidFill>
                <a:latin typeface="Courier New"/>
                <a:ea typeface="Courier New"/>
                <a:cs typeface="Courier New"/>
                <a:sym typeface="Courier New"/>
              </a:rPr>
              <a:t>!= </a:t>
            </a:r>
            <a:r>
              <a:rPr lang="es" sz="1200">
                <a:solidFill>
                  <a:srgbClr val="0000FF"/>
                </a:solidFill>
                <a:latin typeface="Courier New"/>
                <a:ea typeface="Courier New"/>
                <a:cs typeface="Courier New"/>
                <a:sym typeface="Courier New"/>
              </a:rPr>
              <a:t>None</a:t>
            </a:r>
            <a:r>
              <a:rPr lang="es" sz="1200">
                <a:solidFill>
                  <a:srgbClr val="3B3B3B"/>
                </a:solidFill>
                <a:latin typeface="Courier New"/>
                <a:ea typeface="Courier New"/>
                <a:cs typeface="Courier New"/>
                <a:sym typeface="Courier New"/>
              </a:rPr>
              <a:t>:</a:t>
            </a:r>
            <a:endParaRPr sz="12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urier New"/>
                <a:ea typeface="Courier New"/>
                <a:cs typeface="Courier New"/>
                <a:sym typeface="Courier New"/>
              </a:rPr>
              <a:t>       </a:t>
            </a:r>
            <a:r>
              <a:rPr lang="es" sz="1200">
                <a:solidFill>
                  <a:srgbClr val="AF00DB"/>
                </a:solidFill>
                <a:latin typeface="Courier New"/>
                <a:ea typeface="Courier New"/>
                <a:cs typeface="Courier New"/>
                <a:sym typeface="Courier New"/>
              </a:rPr>
              <a:t>return</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solucion</a:t>
            </a:r>
            <a:endParaRPr sz="1200">
              <a:solidFill>
                <a:srgbClr val="0000FF"/>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puestos</a:t>
            </a:r>
            <a:r>
              <a:rPr lang="es" sz="1200">
                <a:solidFill>
                  <a:srgbClr val="3B3B3B"/>
                </a:solidFill>
                <a:latin typeface="Courier New"/>
                <a:ea typeface="Courier New"/>
                <a:cs typeface="Courier New"/>
                <a:sym typeface="Courier New"/>
              </a:rPr>
              <a:t>.</a:t>
            </a:r>
            <a:r>
              <a:rPr lang="es" sz="1200">
                <a:solidFill>
                  <a:srgbClr val="795E26"/>
                </a:solidFill>
                <a:latin typeface="Courier New"/>
                <a:ea typeface="Courier New"/>
                <a:cs typeface="Courier New"/>
                <a:sym typeface="Courier New"/>
              </a:rPr>
              <a:t>remove</a:t>
            </a:r>
            <a:r>
              <a:rPr lang="es" sz="1200">
                <a:solidFill>
                  <a:srgbClr val="3B3B3B"/>
                </a:solidFill>
                <a:latin typeface="Courier New"/>
                <a:ea typeface="Courier New"/>
                <a:cs typeface="Courier New"/>
                <a:sym typeface="Courier New"/>
              </a:rPr>
              <a:t>(</a:t>
            </a:r>
            <a:r>
              <a:rPr lang="es" sz="1200">
                <a:solidFill>
                  <a:srgbClr val="001080"/>
                </a:solidFill>
                <a:latin typeface="Courier New"/>
                <a:ea typeface="Courier New"/>
                <a:cs typeface="Courier New"/>
                <a:sym typeface="Courier New"/>
              </a:rPr>
              <a:t>vertices</a:t>
            </a:r>
            <a:r>
              <a:rPr lang="es" sz="1200">
                <a:solidFill>
                  <a:srgbClr val="3B3B3B"/>
                </a:solidFill>
                <a:latin typeface="Courier New"/>
                <a:ea typeface="Courier New"/>
                <a:cs typeface="Courier New"/>
                <a:sym typeface="Courier New"/>
              </a:rPr>
              <a:t>[</a:t>
            </a:r>
            <a:r>
              <a:rPr lang="es" sz="1200">
                <a:solidFill>
                  <a:srgbClr val="001080"/>
                </a:solidFill>
                <a:latin typeface="Courier New"/>
                <a:ea typeface="Courier New"/>
                <a:cs typeface="Courier New"/>
                <a:sym typeface="Courier New"/>
              </a:rPr>
              <a:t>v_actual</a:t>
            </a:r>
            <a:r>
              <a:rPr lang="es" sz="1200">
                <a:solidFill>
                  <a:srgbClr val="3B3B3B"/>
                </a:solidFill>
                <a:latin typeface="Courier New"/>
                <a:ea typeface="Courier New"/>
                <a:cs typeface="Courier New"/>
                <a:sym typeface="Courier New"/>
              </a:rPr>
              <a:t>])</a:t>
            </a:r>
            <a:endParaRPr sz="12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urier New"/>
                <a:ea typeface="Courier New"/>
                <a:cs typeface="Courier New"/>
                <a:sym typeface="Courier New"/>
              </a:rPr>
              <a:t>   </a:t>
            </a:r>
            <a:r>
              <a:rPr lang="es" sz="1200">
                <a:solidFill>
                  <a:srgbClr val="AF00DB"/>
                </a:solidFill>
                <a:latin typeface="Courier New"/>
                <a:ea typeface="Courier New"/>
                <a:cs typeface="Courier New"/>
                <a:sym typeface="Courier New"/>
              </a:rPr>
              <a:t>return</a:t>
            </a:r>
            <a:r>
              <a:rPr lang="es" sz="1200">
                <a:solidFill>
                  <a:srgbClr val="3B3B3B"/>
                </a:solidFill>
                <a:latin typeface="Courier New"/>
                <a:ea typeface="Courier New"/>
                <a:cs typeface="Courier New"/>
                <a:sym typeface="Courier New"/>
              </a:rPr>
              <a:t> </a:t>
            </a:r>
            <a:r>
              <a:rPr lang="es" sz="1200">
                <a:solidFill>
                  <a:srgbClr val="795E26"/>
                </a:solidFill>
                <a:latin typeface="Courier New"/>
                <a:ea typeface="Courier New"/>
                <a:cs typeface="Courier New"/>
                <a:sym typeface="Courier New"/>
              </a:rPr>
              <a:t>_ubicacion_FB</a:t>
            </a:r>
            <a:r>
              <a:rPr lang="es" sz="1200">
                <a:solidFill>
                  <a:srgbClr val="3B3B3B"/>
                </a:solidFill>
                <a:latin typeface="Courier New"/>
                <a:ea typeface="Courier New"/>
                <a:cs typeface="Courier New"/>
                <a:sym typeface="Courier New"/>
              </a:rPr>
              <a:t>(</a:t>
            </a:r>
            <a:r>
              <a:rPr lang="es" sz="1200">
                <a:solidFill>
                  <a:srgbClr val="001080"/>
                </a:solidFill>
                <a:latin typeface="Courier New"/>
                <a:ea typeface="Courier New"/>
                <a:cs typeface="Courier New"/>
                <a:sym typeface="Courier New"/>
              </a:rPr>
              <a:t>grafo</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vertices</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v_actual</a:t>
            </a:r>
            <a:r>
              <a:rPr lang="es" sz="1200">
                <a:solidFill>
                  <a:srgbClr val="3B3B3B"/>
                </a:solidFill>
                <a:latin typeface="Courier New"/>
                <a:ea typeface="Courier New"/>
                <a:cs typeface="Courier New"/>
                <a:sym typeface="Courier New"/>
              </a:rPr>
              <a:t> </a:t>
            </a:r>
            <a:r>
              <a:rPr lang="es" sz="1200">
                <a:latin typeface="Courier New"/>
                <a:ea typeface="Courier New"/>
                <a:cs typeface="Courier New"/>
                <a:sym typeface="Courier New"/>
              </a:rPr>
              <a:t>+</a:t>
            </a:r>
            <a:r>
              <a:rPr lang="es" sz="1200">
                <a:solidFill>
                  <a:srgbClr val="3B3B3B"/>
                </a:solidFill>
                <a:latin typeface="Courier New"/>
                <a:ea typeface="Courier New"/>
                <a:cs typeface="Courier New"/>
                <a:sym typeface="Courier New"/>
              </a:rPr>
              <a:t> </a:t>
            </a:r>
            <a:r>
              <a:rPr lang="es" sz="1200">
                <a:solidFill>
                  <a:srgbClr val="098658"/>
                </a:solidFill>
                <a:latin typeface="Courier New"/>
                <a:ea typeface="Courier New"/>
                <a:cs typeface="Courier New"/>
                <a:sym typeface="Courier New"/>
              </a:rPr>
              <a:t>1</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puestos</a:t>
            </a:r>
            <a:r>
              <a:rPr lang="es" sz="1200">
                <a:solidFill>
                  <a:srgbClr val="3B3B3B"/>
                </a:solidFill>
                <a:latin typeface="Courier New"/>
                <a:ea typeface="Courier New"/>
                <a:cs typeface="Courier New"/>
                <a:sym typeface="Courier New"/>
              </a:rPr>
              <a:t>, </a:t>
            </a:r>
            <a:r>
              <a:rPr lang="es" sz="1200">
                <a:solidFill>
                  <a:srgbClr val="001080"/>
                </a:solidFill>
                <a:latin typeface="Courier New"/>
                <a:ea typeface="Courier New"/>
                <a:cs typeface="Courier New"/>
                <a:sym typeface="Courier New"/>
              </a:rPr>
              <a:t>k</a:t>
            </a:r>
            <a:r>
              <a:rPr lang="es" sz="1200">
                <a:solidFill>
                  <a:srgbClr val="3B3B3B"/>
                </a:solidFill>
                <a:latin typeface="Courier New"/>
                <a:ea typeface="Courier New"/>
                <a:cs typeface="Courier New"/>
                <a:sym typeface="Courier New"/>
              </a:rPr>
              <a:t>)</a:t>
            </a:r>
            <a:endParaRPr sz="1200">
              <a:latin typeface="Consolas"/>
              <a:ea typeface="Consolas"/>
              <a:cs typeface="Consolas"/>
              <a:sym typeface="Consolas"/>
            </a:endParaRPr>
          </a:p>
        </p:txBody>
      </p:sp>
      <p:sp>
        <p:nvSpPr>
          <p:cNvPr id="180" name="Google Shape;180;p2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Por Fuerza Bruta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idx="1" type="body"/>
          </p:nvPr>
        </p:nvSpPr>
        <p:spPr>
          <a:xfrm>
            <a:off x="311700" y="1101600"/>
            <a:ext cx="8520600" cy="3397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s" sz="1200">
                <a:solidFill>
                  <a:srgbClr val="0000FF"/>
                </a:solidFill>
                <a:latin typeface="Consolas"/>
                <a:ea typeface="Consolas"/>
                <a:cs typeface="Consolas"/>
                <a:sym typeface="Consolas"/>
              </a:rPr>
              <a:t>def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es_compatible</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for</a:t>
            </a:r>
            <a:r>
              <a:rPr lang="es" sz="1200">
                <a:solidFill>
                  <a:srgbClr val="3B3B3B"/>
                </a:solidFill>
                <a:latin typeface="Consolas"/>
                <a:ea typeface="Consolas"/>
                <a:cs typeface="Consolas"/>
                <a:sym typeface="Consolas"/>
              </a:rPr>
              <a:t> v </a:t>
            </a:r>
            <a:r>
              <a:rPr lang="es" sz="1200">
                <a:solidFill>
                  <a:srgbClr val="AF00DB"/>
                </a:solidFill>
                <a:latin typeface="Consolas"/>
                <a:ea typeface="Consolas"/>
                <a:cs typeface="Consolas"/>
                <a:sym typeface="Consolas"/>
              </a:rPr>
              <a:t>in</a:t>
            </a:r>
            <a:r>
              <a:rPr lang="es" sz="1200">
                <a:solidFill>
                  <a:srgbClr val="3B3B3B"/>
                </a:solidFill>
                <a:latin typeface="Consolas"/>
                <a:ea typeface="Consolas"/>
                <a:cs typeface="Consolas"/>
                <a:sym typeface="Consolas"/>
              </a:rPr>
              <a:t> puestos:</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for</a:t>
            </a:r>
            <a:r>
              <a:rPr lang="es" sz="1200">
                <a:solidFill>
                  <a:srgbClr val="3B3B3B"/>
                </a:solidFill>
                <a:latin typeface="Consolas"/>
                <a:ea typeface="Consolas"/>
                <a:cs typeface="Consolas"/>
                <a:sym typeface="Consolas"/>
              </a:rPr>
              <a:t> w </a:t>
            </a:r>
            <a:r>
              <a:rPr lang="es" sz="1200">
                <a:solidFill>
                  <a:srgbClr val="AF00DB"/>
                </a:solidFill>
                <a:latin typeface="Consolas"/>
                <a:ea typeface="Consolas"/>
                <a:cs typeface="Consolas"/>
                <a:sym typeface="Consolas"/>
              </a:rPr>
              <a:t>in</a:t>
            </a:r>
            <a:r>
              <a:rPr lang="es" sz="1200">
                <a:solidFill>
                  <a:srgbClr val="3B3B3B"/>
                </a:solidFill>
                <a:latin typeface="Consolas"/>
                <a:ea typeface="Consolas"/>
                <a:cs typeface="Consolas"/>
                <a:sym typeface="Consolas"/>
              </a:rPr>
              <a:t> puestos:</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v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w: </a:t>
            </a:r>
            <a:r>
              <a:rPr lang="es" sz="1200">
                <a:solidFill>
                  <a:srgbClr val="AF00DB"/>
                </a:solidFill>
                <a:latin typeface="Consolas"/>
                <a:ea typeface="Consolas"/>
                <a:cs typeface="Consolas"/>
                <a:sym typeface="Consolas"/>
              </a:rPr>
              <a:t>continue</a:t>
            </a:r>
            <a:endParaRPr sz="1200">
              <a:solidFill>
                <a:srgbClr val="AF00D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grafo.</a:t>
            </a:r>
            <a:r>
              <a:rPr lang="es" sz="1200">
                <a:solidFill>
                  <a:srgbClr val="795E26"/>
                </a:solidFill>
                <a:latin typeface="Consolas"/>
                <a:ea typeface="Consolas"/>
                <a:cs typeface="Consolas"/>
                <a:sym typeface="Consolas"/>
              </a:rPr>
              <a:t>hay_arista</a:t>
            </a:r>
            <a:r>
              <a:rPr lang="es" sz="1200">
                <a:solidFill>
                  <a:srgbClr val="3B3B3B"/>
                </a:solidFill>
                <a:latin typeface="Consolas"/>
                <a:ea typeface="Consolas"/>
                <a:cs typeface="Consolas"/>
                <a:sym typeface="Consolas"/>
              </a:rPr>
              <a:t>(v, w):</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0000FF"/>
                </a:solidFill>
                <a:latin typeface="Consolas"/>
                <a:ea typeface="Consolas"/>
                <a:cs typeface="Consolas"/>
                <a:sym typeface="Consolas"/>
              </a:rPr>
              <a:t>False</a:t>
            </a:r>
            <a:endParaRPr sz="1200">
              <a:solidFill>
                <a:srgbClr val="0000FF"/>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0000FF"/>
                </a:solidFill>
                <a:latin typeface="Consolas"/>
                <a:ea typeface="Consolas"/>
                <a:cs typeface="Consolas"/>
                <a:sym typeface="Consolas"/>
              </a:rPr>
              <a:t>True</a:t>
            </a:r>
            <a:endParaRPr sz="1200">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Por Backtracking</a:t>
            </a:r>
            <a:endParaRPr/>
          </a:p>
        </p:txBody>
      </p:sp>
      <p:sp>
        <p:nvSpPr>
          <p:cNvPr id="191" name="Google Shape;191;p28"/>
          <p:cNvSpPr txBox="1"/>
          <p:nvPr>
            <p:ph idx="1" type="body"/>
          </p:nvPr>
        </p:nvSpPr>
        <p:spPr>
          <a:xfrm>
            <a:off x="311700" y="1101950"/>
            <a:ext cx="8520600" cy="3772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s" sz="1200">
                <a:solidFill>
                  <a:srgbClr val="0000FF"/>
                </a:solidFill>
                <a:latin typeface="Consolas"/>
                <a:ea typeface="Consolas"/>
                <a:cs typeface="Consolas"/>
                <a:sym typeface="Consolas"/>
              </a:rPr>
              <a:t>def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_ubicacion_BT</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len</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 </a:t>
            </a:r>
            <a:r>
              <a:rPr lang="es" sz="1200">
                <a:solidFill>
                  <a:srgbClr val="001080"/>
                </a:solidFill>
                <a:latin typeface="Consolas"/>
                <a:ea typeface="Consolas"/>
                <a:cs typeface="Consolas"/>
                <a:sym typeface="Consolas"/>
              </a:rPr>
              <a:t>puestos </a:t>
            </a:r>
            <a:r>
              <a:rPr lang="es" sz="1200">
                <a:solidFill>
                  <a:srgbClr val="AF00DB"/>
                </a:solidFill>
                <a:latin typeface="Consolas"/>
                <a:ea typeface="Consolas"/>
                <a:cs typeface="Consolas"/>
                <a:sym typeface="Consolas"/>
              </a:rPr>
              <a:t>if</a:t>
            </a:r>
            <a:r>
              <a:rPr lang="es" sz="1200">
                <a:solidFill>
                  <a:srgbClr val="795E26"/>
                </a:solidFill>
                <a:latin typeface="Consolas"/>
                <a:ea typeface="Consolas"/>
                <a:cs typeface="Consolas"/>
                <a:sym typeface="Consolas"/>
              </a:rPr>
              <a:t> es_compatible</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else </a:t>
            </a:r>
            <a:r>
              <a:rPr lang="es" sz="1200">
                <a:solidFill>
                  <a:srgbClr val="0070C1"/>
                </a:solidFill>
                <a:latin typeface="Consolas"/>
                <a:ea typeface="Consolas"/>
                <a:cs typeface="Consolas"/>
                <a:sym typeface="Consolas"/>
              </a:rPr>
              <a:t>None</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len</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0070C1"/>
                </a:solidFill>
                <a:latin typeface="Consolas"/>
                <a:ea typeface="Consolas"/>
                <a:cs typeface="Consolas"/>
                <a:sym typeface="Consolas"/>
              </a:rPr>
              <a:t>None</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s" sz="1200">
                <a:solidFill>
                  <a:srgbClr val="3B3B3B"/>
                </a:solidFill>
                <a:latin typeface="Consolas"/>
                <a:ea typeface="Consolas"/>
                <a:cs typeface="Consolas"/>
                <a:sym typeface="Consolas"/>
              </a:rPr>
              <a:t>    </a:t>
            </a:r>
            <a:r>
              <a:rPr b="1" lang="es" sz="1200">
                <a:solidFill>
                  <a:srgbClr val="AF00DB"/>
                </a:solidFill>
                <a:latin typeface="Consolas"/>
                <a:ea typeface="Consolas"/>
                <a:cs typeface="Consolas"/>
                <a:sym typeface="Consolas"/>
              </a:rPr>
              <a:t>if</a:t>
            </a:r>
            <a:r>
              <a:rPr b="1" lang="es" sz="1200">
                <a:solidFill>
                  <a:srgbClr val="3B3B3B"/>
                </a:solidFill>
                <a:latin typeface="Consolas"/>
                <a:ea typeface="Consolas"/>
                <a:cs typeface="Consolas"/>
                <a:sym typeface="Consolas"/>
              </a:rPr>
              <a:t> </a:t>
            </a:r>
            <a:r>
              <a:rPr b="1" lang="es" sz="1200">
                <a:solidFill>
                  <a:srgbClr val="0000FF"/>
                </a:solidFill>
                <a:latin typeface="Consolas"/>
                <a:ea typeface="Consolas"/>
                <a:cs typeface="Consolas"/>
                <a:sym typeface="Consolas"/>
              </a:rPr>
              <a:t>not</a:t>
            </a:r>
            <a:r>
              <a:rPr b="1" lang="es" sz="1200">
                <a:solidFill>
                  <a:srgbClr val="3B3B3B"/>
                </a:solidFill>
                <a:latin typeface="Consolas"/>
                <a:ea typeface="Consolas"/>
                <a:cs typeface="Consolas"/>
                <a:sym typeface="Consolas"/>
              </a:rPr>
              <a:t> </a:t>
            </a:r>
            <a:r>
              <a:rPr b="1" lang="es" sz="1200">
                <a:solidFill>
                  <a:srgbClr val="795E26"/>
                </a:solidFill>
                <a:latin typeface="Consolas"/>
                <a:ea typeface="Consolas"/>
                <a:cs typeface="Consolas"/>
                <a:sym typeface="Consolas"/>
              </a:rPr>
              <a:t>es_compatible</a:t>
            </a:r>
            <a:r>
              <a:rPr b="1" lang="es" sz="1200">
                <a:solidFill>
                  <a:srgbClr val="3B3B3B"/>
                </a:solidFill>
                <a:latin typeface="Consolas"/>
                <a:ea typeface="Consolas"/>
                <a:cs typeface="Consolas"/>
                <a:sym typeface="Consolas"/>
              </a:rPr>
              <a:t>(</a:t>
            </a:r>
            <a:r>
              <a:rPr b="1" lang="es" sz="1200">
                <a:solidFill>
                  <a:srgbClr val="001080"/>
                </a:solidFill>
                <a:latin typeface="Consolas"/>
                <a:ea typeface="Consolas"/>
                <a:cs typeface="Consolas"/>
                <a:sym typeface="Consolas"/>
              </a:rPr>
              <a:t>grafo</a:t>
            </a:r>
            <a:r>
              <a:rPr b="1" lang="es" sz="1200">
                <a:solidFill>
                  <a:srgbClr val="3B3B3B"/>
                </a:solidFill>
                <a:latin typeface="Consolas"/>
                <a:ea typeface="Consolas"/>
                <a:cs typeface="Consolas"/>
                <a:sym typeface="Consolas"/>
              </a:rPr>
              <a:t>, </a:t>
            </a:r>
            <a:r>
              <a:rPr b="1" lang="es" sz="1200">
                <a:solidFill>
                  <a:srgbClr val="001080"/>
                </a:solidFill>
                <a:latin typeface="Consolas"/>
                <a:ea typeface="Consolas"/>
                <a:cs typeface="Consolas"/>
                <a:sym typeface="Consolas"/>
              </a:rPr>
              <a:t>puestos</a:t>
            </a:r>
            <a:r>
              <a:rPr b="1" lang="es" sz="1200">
                <a:solidFill>
                  <a:srgbClr val="3B3B3B"/>
                </a:solidFill>
                <a:latin typeface="Consolas"/>
                <a:ea typeface="Consolas"/>
                <a:cs typeface="Consolas"/>
                <a:sym typeface="Consolas"/>
              </a:rPr>
              <a:t>):</a:t>
            </a:r>
            <a:endParaRPr b="1"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s" sz="1200">
                <a:solidFill>
                  <a:srgbClr val="3B3B3B"/>
                </a:solidFill>
                <a:latin typeface="Consolas"/>
                <a:ea typeface="Consolas"/>
                <a:cs typeface="Consolas"/>
                <a:sym typeface="Consolas"/>
              </a:rPr>
              <a:t>        </a:t>
            </a:r>
            <a:r>
              <a:rPr b="1" lang="es" sz="1200">
                <a:solidFill>
                  <a:srgbClr val="AF00DB"/>
                </a:solidFill>
                <a:latin typeface="Consolas"/>
                <a:ea typeface="Consolas"/>
                <a:cs typeface="Consolas"/>
                <a:sym typeface="Consolas"/>
              </a:rPr>
              <a:t>return</a:t>
            </a:r>
            <a:r>
              <a:rPr b="1" lang="es" sz="1200">
                <a:solidFill>
                  <a:srgbClr val="3B3B3B"/>
                </a:solidFill>
                <a:latin typeface="Consolas"/>
                <a:ea typeface="Consolas"/>
                <a:cs typeface="Consolas"/>
                <a:sym typeface="Consolas"/>
              </a:rPr>
              <a:t> </a:t>
            </a:r>
            <a:r>
              <a:rPr lang="es" sz="1200">
                <a:solidFill>
                  <a:srgbClr val="0070C1"/>
                </a:solidFill>
                <a:latin typeface="Consolas"/>
                <a:ea typeface="Consolas"/>
                <a:cs typeface="Consolas"/>
                <a:sym typeface="Consolas"/>
              </a:rPr>
              <a:t>None</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8000"/>
                </a:solidFill>
                <a:latin typeface="Consolas"/>
                <a:ea typeface="Consolas"/>
                <a:cs typeface="Consolas"/>
                <a:sym typeface="Consolas"/>
              </a:rPr>
              <a:t># Mis opciones son poner acá, o no</a:t>
            </a:r>
            <a:endParaRPr sz="1200">
              <a:solidFill>
                <a:srgbClr val="00800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a:t>
            </a:r>
            <a:r>
              <a:rPr lang="es" sz="1200">
                <a:solidFill>
                  <a:srgbClr val="795E26"/>
                </a:solidFill>
                <a:latin typeface="Consolas"/>
                <a:ea typeface="Consolas"/>
                <a:cs typeface="Consolas"/>
                <a:sym typeface="Consolas"/>
              </a:rPr>
              <a:t>add</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a:t>
            </a:r>
            <a:endParaRPr sz="1200">
              <a:solidFill>
                <a:srgbClr val="00800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 = </a:t>
            </a:r>
            <a:r>
              <a:rPr lang="es" sz="1200">
                <a:solidFill>
                  <a:srgbClr val="795E26"/>
                </a:solidFill>
                <a:latin typeface="Consolas"/>
                <a:ea typeface="Consolas"/>
                <a:cs typeface="Consolas"/>
                <a:sym typeface="Consolas"/>
              </a:rPr>
              <a:t>_ubicacion_BT</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098658"/>
                </a:solidFill>
                <a:latin typeface="Consolas"/>
                <a:ea typeface="Consolas"/>
                <a:cs typeface="Consolas"/>
                <a:sym typeface="Consolas"/>
              </a:rPr>
              <a:t>1</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a:t>
            </a:r>
            <a:r>
              <a:rPr lang="es" sz="1200">
                <a:solidFill>
                  <a:srgbClr val="001080"/>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AF00DB"/>
                </a:solidFill>
                <a:latin typeface="Consolas"/>
                <a:ea typeface="Consolas"/>
                <a:cs typeface="Consolas"/>
                <a:sym typeface="Consolas"/>
              </a:rPr>
              <a:t> </a:t>
            </a:r>
            <a:r>
              <a:rPr lang="es" sz="1200">
                <a:solidFill>
                  <a:srgbClr val="0070C1"/>
                </a:solidFill>
                <a:latin typeface="Consolas"/>
                <a:ea typeface="Consolas"/>
                <a:cs typeface="Consolas"/>
                <a:sym typeface="Consolas"/>
              </a:rPr>
              <a:t>None</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a:t>
            </a:r>
            <a:endParaRPr sz="1200">
              <a:solidFill>
                <a:srgbClr val="0070C1"/>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a:t>
            </a:r>
            <a:r>
              <a:rPr lang="es" sz="1200">
                <a:solidFill>
                  <a:srgbClr val="795E26"/>
                </a:solidFill>
                <a:latin typeface="Consolas"/>
                <a:ea typeface="Consolas"/>
                <a:cs typeface="Consolas"/>
                <a:sym typeface="Consolas"/>
              </a:rPr>
              <a:t>remove</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_ubicacion_BT</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098658"/>
                </a:solidFill>
                <a:latin typeface="Consolas"/>
                <a:ea typeface="Consolas"/>
                <a:cs typeface="Consolas"/>
                <a:sym typeface="Consolas"/>
              </a:rPr>
              <a:t>1</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Por Backtracking</a:t>
            </a:r>
            <a:endParaRPr/>
          </a:p>
        </p:txBody>
      </p:sp>
      <p:sp>
        <p:nvSpPr>
          <p:cNvPr id="197" name="Google Shape;197;p29"/>
          <p:cNvSpPr txBox="1"/>
          <p:nvPr>
            <p:ph idx="1" type="body"/>
          </p:nvPr>
        </p:nvSpPr>
        <p:spPr>
          <a:xfrm>
            <a:off x="313200" y="1101600"/>
            <a:ext cx="8095500" cy="3832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s" sz="1200">
                <a:solidFill>
                  <a:srgbClr val="0000FF"/>
                </a:solidFill>
                <a:latin typeface="Consolas"/>
                <a:ea typeface="Consolas"/>
                <a:cs typeface="Consolas"/>
                <a:sym typeface="Consolas"/>
              </a:rPr>
              <a:t>def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_ubicacion_BT</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len</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 </a:t>
            </a:r>
            <a:r>
              <a:rPr lang="es" sz="1200">
                <a:solidFill>
                  <a:srgbClr val="001080"/>
                </a:solidFill>
                <a:latin typeface="Consolas"/>
                <a:ea typeface="Consolas"/>
                <a:cs typeface="Consolas"/>
                <a:sym typeface="Consolas"/>
              </a:rPr>
              <a:t>puestos </a:t>
            </a:r>
            <a:r>
              <a:rPr lang="es" sz="1200">
                <a:solidFill>
                  <a:srgbClr val="AF00DB"/>
                </a:solidFill>
                <a:latin typeface="Consolas"/>
                <a:ea typeface="Consolas"/>
                <a:cs typeface="Consolas"/>
                <a:sym typeface="Consolas"/>
              </a:rPr>
              <a:t>if</a:t>
            </a:r>
            <a:r>
              <a:rPr lang="es" sz="1200">
                <a:solidFill>
                  <a:srgbClr val="795E26"/>
                </a:solidFill>
                <a:latin typeface="Consolas"/>
                <a:ea typeface="Consolas"/>
                <a:cs typeface="Consolas"/>
                <a:sym typeface="Consolas"/>
              </a:rPr>
              <a:t> es_compatible</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else </a:t>
            </a:r>
            <a:r>
              <a:rPr lang="es" sz="1200">
                <a:solidFill>
                  <a:srgbClr val="0070C1"/>
                </a:solidFill>
                <a:latin typeface="Consolas"/>
                <a:ea typeface="Consolas"/>
                <a:cs typeface="Consolas"/>
                <a:sym typeface="Consolas"/>
              </a:rPr>
              <a:t>None</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len</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0070C1"/>
                </a:solidFill>
                <a:latin typeface="Consolas"/>
                <a:ea typeface="Consolas"/>
                <a:cs typeface="Consolas"/>
                <a:sym typeface="Consolas"/>
              </a:rPr>
              <a:t>None</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s" sz="1200">
                <a:solidFill>
                  <a:srgbClr val="3B3B3B"/>
                </a:solidFill>
                <a:latin typeface="Consolas"/>
                <a:ea typeface="Consolas"/>
                <a:cs typeface="Consolas"/>
                <a:sym typeface="Consolas"/>
              </a:rPr>
              <a:t>    </a:t>
            </a:r>
            <a:r>
              <a:rPr b="1" lang="es" sz="1200">
                <a:solidFill>
                  <a:srgbClr val="AF00DB"/>
                </a:solidFill>
                <a:latin typeface="Consolas"/>
                <a:ea typeface="Consolas"/>
                <a:cs typeface="Consolas"/>
                <a:sym typeface="Consolas"/>
              </a:rPr>
              <a:t>if</a:t>
            </a:r>
            <a:r>
              <a:rPr b="1" lang="es" sz="1200">
                <a:solidFill>
                  <a:srgbClr val="3B3B3B"/>
                </a:solidFill>
                <a:latin typeface="Consolas"/>
                <a:ea typeface="Consolas"/>
                <a:cs typeface="Consolas"/>
                <a:sym typeface="Consolas"/>
              </a:rPr>
              <a:t> </a:t>
            </a:r>
            <a:r>
              <a:rPr b="1" lang="es" sz="1200">
                <a:solidFill>
                  <a:srgbClr val="0000FF"/>
                </a:solidFill>
                <a:latin typeface="Consolas"/>
                <a:ea typeface="Consolas"/>
                <a:cs typeface="Consolas"/>
                <a:sym typeface="Consolas"/>
              </a:rPr>
              <a:t>not</a:t>
            </a:r>
            <a:r>
              <a:rPr b="1" lang="es" sz="1200">
                <a:solidFill>
                  <a:srgbClr val="3B3B3B"/>
                </a:solidFill>
                <a:latin typeface="Consolas"/>
                <a:ea typeface="Consolas"/>
                <a:cs typeface="Consolas"/>
                <a:sym typeface="Consolas"/>
              </a:rPr>
              <a:t> </a:t>
            </a:r>
            <a:r>
              <a:rPr b="1" lang="es" sz="1200">
                <a:solidFill>
                  <a:srgbClr val="795E26"/>
                </a:solidFill>
                <a:latin typeface="Consolas"/>
                <a:ea typeface="Consolas"/>
                <a:cs typeface="Consolas"/>
                <a:sym typeface="Consolas"/>
              </a:rPr>
              <a:t>es_compatible</a:t>
            </a:r>
            <a:r>
              <a:rPr b="1" lang="es" sz="1200">
                <a:solidFill>
                  <a:srgbClr val="3B3B3B"/>
                </a:solidFill>
                <a:latin typeface="Consolas"/>
                <a:ea typeface="Consolas"/>
                <a:cs typeface="Consolas"/>
                <a:sym typeface="Consolas"/>
              </a:rPr>
              <a:t>(</a:t>
            </a:r>
            <a:r>
              <a:rPr b="1" lang="es" sz="1200">
                <a:solidFill>
                  <a:srgbClr val="001080"/>
                </a:solidFill>
                <a:latin typeface="Consolas"/>
                <a:ea typeface="Consolas"/>
                <a:cs typeface="Consolas"/>
                <a:sym typeface="Consolas"/>
              </a:rPr>
              <a:t>grafo</a:t>
            </a:r>
            <a:r>
              <a:rPr b="1" lang="es" sz="1200">
                <a:solidFill>
                  <a:srgbClr val="3B3B3B"/>
                </a:solidFill>
                <a:latin typeface="Consolas"/>
                <a:ea typeface="Consolas"/>
                <a:cs typeface="Consolas"/>
                <a:sym typeface="Consolas"/>
              </a:rPr>
              <a:t>, </a:t>
            </a:r>
            <a:r>
              <a:rPr b="1" lang="es" sz="1200">
                <a:solidFill>
                  <a:srgbClr val="001080"/>
                </a:solidFill>
                <a:latin typeface="Consolas"/>
                <a:ea typeface="Consolas"/>
                <a:cs typeface="Consolas"/>
                <a:sym typeface="Consolas"/>
              </a:rPr>
              <a:t>puestos</a:t>
            </a:r>
            <a:r>
              <a:rPr b="1" lang="es" sz="1200">
                <a:solidFill>
                  <a:srgbClr val="3B3B3B"/>
                </a:solidFill>
                <a:latin typeface="Consolas"/>
                <a:ea typeface="Consolas"/>
                <a:cs typeface="Consolas"/>
                <a:sym typeface="Consolas"/>
              </a:rPr>
              <a:t>) </a:t>
            </a:r>
            <a:r>
              <a:rPr b="1" lang="es" sz="1200">
                <a:solidFill>
                  <a:srgbClr val="0000FF"/>
                </a:solidFill>
                <a:latin typeface="Consolas"/>
                <a:ea typeface="Consolas"/>
                <a:cs typeface="Consolas"/>
                <a:sym typeface="Consolas"/>
              </a:rPr>
              <a:t>or</a:t>
            </a:r>
            <a:r>
              <a:rPr b="1" lang="es" sz="1200">
                <a:solidFill>
                  <a:srgbClr val="3B3B3B"/>
                </a:solidFill>
                <a:latin typeface="Consolas"/>
                <a:ea typeface="Consolas"/>
                <a:cs typeface="Consolas"/>
                <a:sym typeface="Consolas"/>
              </a:rPr>
              <a:t> </a:t>
            </a:r>
            <a:r>
              <a:rPr b="1" lang="es" sz="1200">
                <a:solidFill>
                  <a:srgbClr val="795E26"/>
                </a:solidFill>
                <a:latin typeface="Consolas"/>
                <a:ea typeface="Consolas"/>
                <a:cs typeface="Consolas"/>
                <a:sym typeface="Consolas"/>
              </a:rPr>
              <a:t>ya_no_llego</a:t>
            </a:r>
            <a:r>
              <a:rPr b="1" lang="es" sz="1200">
                <a:solidFill>
                  <a:srgbClr val="3B3B3B"/>
                </a:solidFill>
                <a:latin typeface="Consolas"/>
                <a:ea typeface="Consolas"/>
                <a:cs typeface="Consolas"/>
                <a:sym typeface="Consolas"/>
              </a:rPr>
              <a:t>(</a:t>
            </a:r>
            <a:r>
              <a:rPr b="1" lang="es" sz="1200">
                <a:solidFill>
                  <a:srgbClr val="001080"/>
                </a:solidFill>
                <a:latin typeface="Consolas"/>
                <a:ea typeface="Consolas"/>
                <a:cs typeface="Consolas"/>
                <a:sym typeface="Consolas"/>
              </a:rPr>
              <a:t>grafo</a:t>
            </a:r>
            <a:r>
              <a:rPr b="1" lang="es" sz="1200">
                <a:solidFill>
                  <a:srgbClr val="3B3B3B"/>
                </a:solidFill>
                <a:latin typeface="Consolas"/>
                <a:ea typeface="Consolas"/>
                <a:cs typeface="Consolas"/>
                <a:sym typeface="Consolas"/>
              </a:rPr>
              <a:t>, </a:t>
            </a:r>
            <a:r>
              <a:rPr b="1" lang="es" sz="1200">
                <a:solidFill>
                  <a:srgbClr val="001080"/>
                </a:solidFill>
                <a:latin typeface="Consolas"/>
                <a:ea typeface="Consolas"/>
                <a:cs typeface="Consolas"/>
                <a:sym typeface="Consolas"/>
              </a:rPr>
              <a:t>vertices</a:t>
            </a:r>
            <a:r>
              <a:rPr b="1" lang="es" sz="1200">
                <a:solidFill>
                  <a:srgbClr val="3B3B3B"/>
                </a:solidFill>
                <a:latin typeface="Consolas"/>
                <a:ea typeface="Consolas"/>
                <a:cs typeface="Consolas"/>
                <a:sym typeface="Consolas"/>
              </a:rPr>
              <a:t>, </a:t>
            </a:r>
            <a:r>
              <a:rPr b="1" lang="es" sz="1200">
                <a:solidFill>
                  <a:srgbClr val="001080"/>
                </a:solidFill>
                <a:latin typeface="Consolas"/>
                <a:ea typeface="Consolas"/>
                <a:cs typeface="Consolas"/>
                <a:sym typeface="Consolas"/>
              </a:rPr>
              <a:t>v_actual</a:t>
            </a:r>
            <a:r>
              <a:rPr b="1" lang="es" sz="1200">
                <a:solidFill>
                  <a:srgbClr val="3B3B3B"/>
                </a:solidFill>
                <a:latin typeface="Consolas"/>
                <a:ea typeface="Consolas"/>
                <a:cs typeface="Consolas"/>
                <a:sym typeface="Consolas"/>
              </a:rPr>
              <a:t>, </a:t>
            </a:r>
            <a:r>
              <a:rPr b="1" lang="es" sz="1200">
                <a:solidFill>
                  <a:srgbClr val="001080"/>
                </a:solidFill>
                <a:latin typeface="Consolas"/>
                <a:ea typeface="Consolas"/>
                <a:cs typeface="Consolas"/>
                <a:sym typeface="Consolas"/>
              </a:rPr>
              <a:t>puestos</a:t>
            </a:r>
            <a:r>
              <a:rPr b="1" lang="es" sz="1200">
                <a:solidFill>
                  <a:srgbClr val="3B3B3B"/>
                </a:solidFill>
                <a:latin typeface="Consolas"/>
                <a:ea typeface="Consolas"/>
                <a:cs typeface="Consolas"/>
                <a:sym typeface="Consolas"/>
              </a:rPr>
              <a:t>):</a:t>
            </a:r>
            <a:endParaRPr b="1"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s" sz="1200">
                <a:solidFill>
                  <a:srgbClr val="3B3B3B"/>
                </a:solidFill>
                <a:latin typeface="Consolas"/>
                <a:ea typeface="Consolas"/>
                <a:cs typeface="Consolas"/>
                <a:sym typeface="Consolas"/>
              </a:rPr>
              <a:t>        </a:t>
            </a:r>
            <a:r>
              <a:rPr b="1" lang="es" sz="1200">
                <a:solidFill>
                  <a:srgbClr val="AF00DB"/>
                </a:solidFill>
                <a:latin typeface="Consolas"/>
                <a:ea typeface="Consolas"/>
                <a:cs typeface="Consolas"/>
                <a:sym typeface="Consolas"/>
              </a:rPr>
              <a:t>return</a:t>
            </a:r>
            <a:r>
              <a:rPr b="1" lang="es" sz="1200">
                <a:solidFill>
                  <a:srgbClr val="3B3B3B"/>
                </a:solidFill>
                <a:latin typeface="Consolas"/>
                <a:ea typeface="Consolas"/>
                <a:cs typeface="Consolas"/>
                <a:sym typeface="Consolas"/>
              </a:rPr>
              <a:t> </a:t>
            </a:r>
            <a:r>
              <a:rPr lang="es" sz="1200">
                <a:solidFill>
                  <a:srgbClr val="0070C1"/>
                </a:solidFill>
                <a:latin typeface="Consolas"/>
                <a:ea typeface="Consolas"/>
                <a:cs typeface="Consolas"/>
                <a:sym typeface="Consolas"/>
              </a:rPr>
              <a:t>None</a:t>
            </a:r>
            <a:endParaRPr b="1" sz="1200">
              <a:solidFill>
                <a:srgbClr val="0070C1"/>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8000"/>
                </a:solidFill>
                <a:latin typeface="Consolas"/>
                <a:ea typeface="Consolas"/>
                <a:cs typeface="Consolas"/>
                <a:sym typeface="Consolas"/>
              </a:rPr>
              <a:t># Mis opciones son poner acá, o no</a:t>
            </a:r>
            <a:endParaRPr sz="1200">
              <a:solidFill>
                <a:srgbClr val="00800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a:t>
            </a:r>
            <a:r>
              <a:rPr lang="es" sz="1200">
                <a:solidFill>
                  <a:srgbClr val="795E26"/>
                </a:solidFill>
                <a:latin typeface="Consolas"/>
                <a:ea typeface="Consolas"/>
                <a:cs typeface="Consolas"/>
                <a:sym typeface="Consolas"/>
              </a:rPr>
              <a:t>add</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a:t>
            </a:r>
            <a:endParaRPr sz="1200">
              <a:solidFill>
                <a:srgbClr val="00800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 = </a:t>
            </a:r>
            <a:r>
              <a:rPr lang="es" sz="1200">
                <a:solidFill>
                  <a:srgbClr val="795E26"/>
                </a:solidFill>
                <a:latin typeface="Consolas"/>
                <a:ea typeface="Consolas"/>
                <a:cs typeface="Consolas"/>
                <a:sym typeface="Consolas"/>
              </a:rPr>
              <a:t>_ubicacion_BT</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098658"/>
                </a:solidFill>
                <a:latin typeface="Consolas"/>
                <a:ea typeface="Consolas"/>
                <a:cs typeface="Consolas"/>
                <a:sym typeface="Consolas"/>
              </a:rPr>
              <a:t>1</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 </a:t>
            </a:r>
            <a:r>
              <a:rPr lang="es" sz="1200">
                <a:latin typeface="Consolas"/>
                <a:ea typeface="Consolas"/>
                <a:cs typeface="Consolas"/>
                <a:sym typeface="Consolas"/>
              </a:rPr>
              <a:t>!=</a:t>
            </a:r>
            <a:r>
              <a:rPr lang="es" sz="1200">
                <a:solidFill>
                  <a:srgbClr val="AF00DB"/>
                </a:solidFill>
                <a:latin typeface="Consolas"/>
                <a:ea typeface="Consolas"/>
                <a:cs typeface="Consolas"/>
                <a:sym typeface="Consolas"/>
              </a:rPr>
              <a:t> </a:t>
            </a:r>
            <a:r>
              <a:rPr lang="es" sz="1200">
                <a:solidFill>
                  <a:srgbClr val="0070C1"/>
                </a:solidFill>
                <a:latin typeface="Consolas"/>
                <a:ea typeface="Consolas"/>
                <a:cs typeface="Consolas"/>
                <a:sym typeface="Consolas"/>
              </a:rPr>
              <a:t>None</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a:t>
            </a:r>
            <a:r>
              <a:rPr lang="es" sz="1200">
                <a:solidFill>
                  <a:srgbClr val="795E26"/>
                </a:solidFill>
                <a:latin typeface="Consolas"/>
                <a:ea typeface="Consolas"/>
                <a:cs typeface="Consolas"/>
                <a:sym typeface="Consolas"/>
              </a:rPr>
              <a:t>remove</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_ubicacion_BT</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098658"/>
                </a:solidFill>
                <a:latin typeface="Consolas"/>
                <a:ea typeface="Consolas"/>
                <a:cs typeface="Consolas"/>
                <a:sym typeface="Consolas"/>
              </a:rPr>
              <a:t>1</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Mejoremos esto</a:t>
            </a:r>
            <a:r>
              <a:rPr lang="es"/>
              <a:t>...</a:t>
            </a:r>
            <a:endParaRPr/>
          </a:p>
        </p:txBody>
      </p:sp>
      <p:sp>
        <p:nvSpPr>
          <p:cNvPr id="203" name="Google Shape;203;p3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s" sz="1200">
                <a:solidFill>
                  <a:srgbClr val="0000FF"/>
                </a:solidFill>
                <a:latin typeface="Consolas"/>
                <a:ea typeface="Consolas"/>
                <a:cs typeface="Consolas"/>
                <a:sym typeface="Consolas"/>
              </a:rPr>
              <a:t>def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es_compatible</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 ultimo_puesto</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for</a:t>
            </a:r>
            <a:r>
              <a:rPr lang="es" sz="1200">
                <a:solidFill>
                  <a:srgbClr val="3B3B3B"/>
                </a:solidFill>
                <a:latin typeface="Consolas"/>
                <a:ea typeface="Consolas"/>
                <a:cs typeface="Consolas"/>
                <a:sym typeface="Consolas"/>
              </a:rPr>
              <a:t> w </a:t>
            </a:r>
            <a:r>
              <a:rPr lang="es" sz="1200">
                <a:solidFill>
                  <a:srgbClr val="AF00DB"/>
                </a:solidFill>
                <a:latin typeface="Consolas"/>
                <a:ea typeface="Consolas"/>
                <a:cs typeface="Consolas"/>
                <a:sym typeface="Consolas"/>
              </a:rPr>
              <a:t>in</a:t>
            </a:r>
            <a:r>
              <a:rPr lang="es" sz="1200">
                <a:solidFill>
                  <a:srgbClr val="3B3B3B"/>
                </a:solidFill>
                <a:latin typeface="Consolas"/>
                <a:ea typeface="Consolas"/>
                <a:cs typeface="Consolas"/>
                <a:sym typeface="Consolas"/>
              </a:rPr>
              <a:t> puestos:</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ultimo_puesto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w: </a:t>
            </a:r>
            <a:r>
              <a:rPr lang="es" sz="1200">
                <a:solidFill>
                  <a:srgbClr val="AF00DB"/>
                </a:solidFill>
                <a:latin typeface="Consolas"/>
                <a:ea typeface="Consolas"/>
                <a:cs typeface="Consolas"/>
                <a:sym typeface="Consolas"/>
              </a:rPr>
              <a:t>continue</a:t>
            </a:r>
            <a:endParaRPr sz="1200">
              <a:solidFill>
                <a:srgbClr val="AF00D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grafo.</a:t>
            </a:r>
            <a:r>
              <a:rPr lang="es" sz="1200">
                <a:solidFill>
                  <a:srgbClr val="795E26"/>
                </a:solidFill>
                <a:latin typeface="Consolas"/>
                <a:ea typeface="Consolas"/>
                <a:cs typeface="Consolas"/>
                <a:sym typeface="Consolas"/>
              </a:rPr>
              <a:t>hay_arista</a:t>
            </a:r>
            <a:r>
              <a:rPr lang="es" sz="1200">
                <a:solidFill>
                  <a:srgbClr val="3B3B3B"/>
                </a:solidFill>
                <a:latin typeface="Consolas"/>
                <a:ea typeface="Consolas"/>
                <a:cs typeface="Consolas"/>
                <a:sym typeface="Consolas"/>
              </a:rPr>
              <a:t>(ultimo_puesto, w):</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0000FF"/>
                </a:solidFill>
                <a:latin typeface="Consolas"/>
                <a:ea typeface="Consolas"/>
                <a:cs typeface="Consolas"/>
                <a:sym typeface="Consolas"/>
              </a:rPr>
              <a:t>False</a:t>
            </a:r>
            <a:endParaRPr sz="1200">
              <a:solidFill>
                <a:srgbClr val="0000FF"/>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0000FF"/>
                </a:solidFill>
                <a:latin typeface="Consolas"/>
                <a:ea typeface="Consolas"/>
                <a:cs typeface="Consolas"/>
                <a:sym typeface="Consolas"/>
              </a:rPr>
              <a:t>True</a:t>
            </a:r>
            <a:endParaRPr sz="1200">
              <a:latin typeface="Consolas"/>
              <a:ea typeface="Consolas"/>
              <a:cs typeface="Consolas"/>
              <a:sym typeface="Consolas"/>
            </a:endParaRPr>
          </a:p>
          <a:p>
            <a:pPr indent="0" lvl="0" marL="0" rtl="0" algn="l">
              <a:spcBef>
                <a:spcPts val="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¿Complejidad?</a:t>
            </a:r>
            <a:endParaRPr/>
          </a:p>
        </p:txBody>
      </p:sp>
      <p:sp>
        <p:nvSpPr>
          <p:cNvPr id="209" name="Google Shape;209;p3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sz="1800"/>
              <a:t>Fuerza Bruta: más o menos fácil de ver que es O(2</a:t>
            </a:r>
            <a:r>
              <a:rPr baseline="30000" lang="es" sz="1800"/>
              <a:t>n</a:t>
            </a:r>
            <a:r>
              <a:rPr lang="es" sz="1800"/>
              <a:t>)</a:t>
            </a:r>
            <a:endParaRPr sz="1800"/>
          </a:p>
          <a:p>
            <a:pPr indent="-342900" lvl="0" marL="457200" rtl="0" algn="l">
              <a:spcBef>
                <a:spcPts val="0"/>
              </a:spcBef>
              <a:spcAft>
                <a:spcPts val="0"/>
              </a:spcAft>
              <a:buSzPts val="1800"/>
              <a:buChar char="●"/>
            </a:pPr>
            <a:r>
              <a:rPr lang="es" sz="1800"/>
              <a:t>Backtracking: La poda </a:t>
            </a:r>
            <a:r>
              <a:rPr lang="es"/>
              <a:t>mejora mucho los tiempos de ejecución</a:t>
            </a:r>
            <a:r>
              <a:rPr lang="es" sz="1800"/>
              <a:t> pero la complejidad sigue siendo la misma.</a:t>
            </a:r>
            <a:endParaRPr sz="1800"/>
          </a:p>
          <a:p>
            <a:pPr indent="0" lvl="0" marL="0" rtl="0" algn="l">
              <a:spcBef>
                <a:spcPts val="1600"/>
              </a:spcBef>
              <a:spcAft>
                <a:spcPts val="1600"/>
              </a:spcAft>
              <a:buNone/>
            </a:pPr>
            <a:r>
              <a:rPr lang="es" sz="1800"/>
              <a:t>Se puede hacer un análisis amortizado, y </a:t>
            </a:r>
            <a:r>
              <a:rPr lang="es"/>
              <a:t>en algunos casos tal vez</a:t>
            </a:r>
            <a:r>
              <a:rPr lang="es" sz="1800"/>
              <a:t> dé mejor, pero es bastante más complejo.</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Otra variante...</a:t>
            </a:r>
            <a:endParaRPr/>
          </a:p>
        </p:txBody>
      </p:sp>
      <p:sp>
        <p:nvSpPr>
          <p:cNvPr id="215" name="Google Shape;215;p3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En vez de devolver una opción, devolver </a:t>
            </a:r>
            <a:r>
              <a:rPr i="1" lang="es" sz="1800"/>
              <a:t>todas</a:t>
            </a:r>
            <a:r>
              <a:rPr lang="es" sz="1800"/>
              <a:t> las opciones viables. </a:t>
            </a:r>
            <a:endParaRPr sz="1800"/>
          </a:p>
          <a:p>
            <a:pPr indent="0" lvl="0" marL="0" rtl="0" algn="l">
              <a:spcBef>
                <a:spcPts val="1600"/>
              </a:spcBef>
              <a:spcAft>
                <a:spcPts val="1600"/>
              </a:spcAft>
              <a:buNone/>
            </a:pPr>
            <a:r>
              <a:rPr lang="es" sz="1800"/>
              <a:t>Entonces no podemos parar en cuanto encontramos una.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¿Notaron… una similaridad entre IS y N-Reinas?</a:t>
            </a:r>
            <a:endParaRPr/>
          </a:p>
        </p:txBody>
      </p:sp>
      <p:sp>
        <p:nvSpPr>
          <p:cNvPr id="221" name="Google Shape;221;p3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DEMO!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Resolución en el github de Ejemplos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6"/>
          <p:cNvSpPr txBox="1"/>
          <p:nvPr>
            <p:ph type="title"/>
          </p:nvPr>
        </p:nvSpPr>
        <p:spPr>
          <a:xfrm>
            <a:off x="311700" y="2164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Segmento de cosas que </a:t>
            </a:r>
            <a:r>
              <a:rPr b="1" lang="es"/>
              <a:t>no</a:t>
            </a:r>
            <a:r>
              <a:rPr lang="es"/>
              <a:t> se deben hacer</a:t>
            </a:r>
            <a:endParaRPr/>
          </a:p>
        </p:txBody>
      </p:sp>
      <p:sp>
        <p:nvSpPr>
          <p:cNvPr id="237" name="Google Shape;237;p36"/>
          <p:cNvSpPr txBox="1"/>
          <p:nvPr>
            <p:ph idx="1" type="body"/>
          </p:nvPr>
        </p:nvSpPr>
        <p:spPr>
          <a:xfrm>
            <a:off x="311700" y="943000"/>
            <a:ext cx="8520600" cy="40860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s" sz="1200">
                <a:solidFill>
                  <a:srgbClr val="0000FF"/>
                </a:solidFill>
                <a:latin typeface="Consolas"/>
                <a:ea typeface="Consolas"/>
                <a:cs typeface="Consolas"/>
                <a:sym typeface="Consolas"/>
              </a:rPr>
              <a:t>def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_ubicacion_BT</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visitados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len</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 </a:t>
            </a:r>
            <a:r>
              <a:rPr lang="es" sz="1200">
                <a:solidFill>
                  <a:srgbClr val="001080"/>
                </a:solidFill>
                <a:latin typeface="Consolas"/>
                <a:ea typeface="Consolas"/>
                <a:cs typeface="Consolas"/>
                <a:sym typeface="Consolas"/>
              </a:rPr>
              <a:t>puestos </a:t>
            </a:r>
            <a:r>
              <a:rPr lang="es" sz="1200">
                <a:solidFill>
                  <a:srgbClr val="AF00DB"/>
                </a:solidFill>
                <a:latin typeface="Consolas"/>
                <a:ea typeface="Consolas"/>
                <a:cs typeface="Consolas"/>
                <a:sym typeface="Consolas"/>
              </a:rPr>
              <a:t>if</a:t>
            </a:r>
            <a:r>
              <a:rPr lang="es" sz="1200">
                <a:solidFill>
                  <a:srgbClr val="795E26"/>
                </a:solidFill>
                <a:latin typeface="Consolas"/>
                <a:ea typeface="Consolas"/>
                <a:cs typeface="Consolas"/>
                <a:sym typeface="Consolas"/>
              </a:rPr>
              <a:t> es_compatible</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else </a:t>
            </a:r>
            <a:r>
              <a:rPr lang="es" sz="1200">
                <a:solidFill>
                  <a:srgbClr val="0070C1"/>
                </a:solidFill>
                <a:latin typeface="Consolas"/>
                <a:ea typeface="Consolas"/>
                <a:cs typeface="Consolas"/>
                <a:sym typeface="Consolas"/>
              </a:rPr>
              <a:t>None</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len</a:t>
            </a:r>
            <a:r>
              <a:rPr lang="es" sz="1200">
                <a:solidFill>
                  <a:srgbClr val="001080"/>
                </a:solidFill>
                <a:latin typeface="Consolas"/>
                <a:ea typeface="Consolas"/>
                <a:cs typeface="Consolas"/>
                <a:sym typeface="Consolas"/>
              </a:rPr>
              <a:t>(visitados)</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len</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b="1" lang="es" sz="1200">
                <a:solidFill>
                  <a:srgbClr val="0000FF"/>
                </a:solidFill>
                <a:latin typeface="Consolas"/>
                <a:ea typeface="Consolas"/>
                <a:cs typeface="Consolas"/>
                <a:sym typeface="Consolas"/>
              </a:rPr>
              <a:t>or</a:t>
            </a:r>
            <a:r>
              <a:rPr b="1" lang="es" sz="1200">
                <a:solidFill>
                  <a:srgbClr val="3B3B3B"/>
                </a:solidFill>
                <a:latin typeface="Consolas"/>
                <a:ea typeface="Consolas"/>
                <a:cs typeface="Consolas"/>
                <a:sym typeface="Consolas"/>
              </a:rPr>
              <a:t> </a:t>
            </a:r>
            <a:r>
              <a:rPr b="1" lang="es" sz="1200">
                <a:solidFill>
                  <a:srgbClr val="0000FF"/>
                </a:solidFill>
                <a:latin typeface="Consolas"/>
                <a:ea typeface="Consolas"/>
                <a:cs typeface="Consolas"/>
                <a:sym typeface="Consolas"/>
              </a:rPr>
              <a:t>not</a:t>
            </a:r>
            <a:r>
              <a:rPr b="1" lang="es" sz="1200">
                <a:solidFill>
                  <a:srgbClr val="3B3B3B"/>
                </a:solidFill>
                <a:latin typeface="Consolas"/>
                <a:ea typeface="Consolas"/>
                <a:cs typeface="Consolas"/>
                <a:sym typeface="Consolas"/>
              </a:rPr>
              <a:t> </a:t>
            </a:r>
            <a:r>
              <a:rPr b="1" lang="es" sz="1200">
                <a:solidFill>
                  <a:srgbClr val="795E26"/>
                </a:solidFill>
                <a:latin typeface="Consolas"/>
                <a:ea typeface="Consolas"/>
                <a:cs typeface="Consolas"/>
                <a:sym typeface="Consolas"/>
              </a:rPr>
              <a:t>es_compatible</a:t>
            </a:r>
            <a:r>
              <a:rPr b="1" lang="es" sz="1200">
                <a:solidFill>
                  <a:srgbClr val="3B3B3B"/>
                </a:solidFill>
                <a:latin typeface="Consolas"/>
                <a:ea typeface="Consolas"/>
                <a:cs typeface="Consolas"/>
                <a:sym typeface="Consolas"/>
              </a:rPr>
              <a:t>(</a:t>
            </a:r>
            <a:r>
              <a:rPr b="1" lang="es" sz="1200">
                <a:solidFill>
                  <a:srgbClr val="001080"/>
                </a:solidFill>
                <a:latin typeface="Consolas"/>
                <a:ea typeface="Consolas"/>
                <a:cs typeface="Consolas"/>
                <a:sym typeface="Consolas"/>
              </a:rPr>
              <a:t>grafo</a:t>
            </a:r>
            <a:r>
              <a:rPr b="1" lang="es" sz="1200">
                <a:solidFill>
                  <a:srgbClr val="3B3B3B"/>
                </a:solidFill>
                <a:latin typeface="Consolas"/>
                <a:ea typeface="Consolas"/>
                <a:cs typeface="Consolas"/>
                <a:sym typeface="Consolas"/>
              </a:rPr>
              <a:t>, </a:t>
            </a:r>
            <a:r>
              <a:rPr b="1" lang="es" sz="1200">
                <a:solidFill>
                  <a:srgbClr val="001080"/>
                </a:solidFill>
                <a:latin typeface="Consolas"/>
                <a:ea typeface="Consolas"/>
                <a:cs typeface="Consolas"/>
                <a:sym typeface="Consolas"/>
              </a:rPr>
              <a:t>puestos</a:t>
            </a:r>
            <a:r>
              <a:rPr b="1" lang="es" sz="1200">
                <a:solidFill>
                  <a:srgbClr val="3B3B3B"/>
                </a:solidFill>
                <a:latin typeface="Consolas"/>
                <a:ea typeface="Consolas"/>
                <a:cs typeface="Consolas"/>
                <a:sym typeface="Consolas"/>
              </a:rPr>
              <a:t>)</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0070C1"/>
                </a:solidFill>
                <a:latin typeface="Consolas"/>
                <a:ea typeface="Consolas"/>
                <a:cs typeface="Consolas"/>
                <a:sym typeface="Consolas"/>
              </a:rPr>
              <a:t>None</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8000"/>
                </a:solidFill>
                <a:latin typeface="Consolas"/>
                <a:ea typeface="Consolas"/>
                <a:cs typeface="Consolas"/>
                <a:sym typeface="Consolas"/>
              </a:rPr>
              <a:t># Pruebo poner diferentes vértices que aún no están visitados</a:t>
            </a:r>
            <a:endParaRPr sz="1200">
              <a:solidFill>
                <a:srgbClr val="00800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008000"/>
                </a:solidFill>
                <a:latin typeface="Consolas"/>
                <a:ea typeface="Consolas"/>
                <a:cs typeface="Consolas"/>
                <a:sym typeface="Consolas"/>
              </a:rPr>
              <a:t>    </a:t>
            </a:r>
            <a:r>
              <a:rPr lang="es" sz="1200">
                <a:solidFill>
                  <a:srgbClr val="AF00DB"/>
                </a:solidFill>
                <a:latin typeface="Consolas"/>
                <a:ea typeface="Consolas"/>
                <a:cs typeface="Consolas"/>
                <a:sym typeface="Consolas"/>
              </a:rPr>
              <a:t>for </a:t>
            </a:r>
            <a:r>
              <a:rPr lang="es" sz="1200">
                <a:solidFill>
                  <a:srgbClr val="001080"/>
                </a:solidFill>
                <a:latin typeface="Consolas"/>
                <a:ea typeface="Consolas"/>
                <a:cs typeface="Consolas"/>
                <a:sym typeface="Consolas"/>
              </a:rPr>
              <a:t>vertice </a:t>
            </a:r>
            <a:r>
              <a:rPr lang="es" sz="1200">
                <a:solidFill>
                  <a:srgbClr val="AF00DB"/>
                </a:solidFill>
                <a:latin typeface="Consolas"/>
                <a:ea typeface="Consolas"/>
                <a:cs typeface="Consolas"/>
                <a:sym typeface="Consolas"/>
              </a:rPr>
              <a:t>in </a:t>
            </a:r>
            <a:r>
              <a:rPr lang="es" sz="1200">
                <a:solidFill>
                  <a:srgbClr val="001080"/>
                </a:solidFill>
                <a:latin typeface="Consolas"/>
                <a:ea typeface="Consolas"/>
                <a:cs typeface="Consolas"/>
                <a:sym typeface="Consolas"/>
              </a:rPr>
              <a:t>grafo:</a:t>
            </a:r>
            <a:endParaRPr sz="1200">
              <a:solidFill>
                <a:srgbClr val="00108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001080"/>
                </a:solidFill>
                <a:latin typeface="Consolas"/>
                <a:ea typeface="Consolas"/>
                <a:cs typeface="Consolas"/>
                <a:sym typeface="Consolas"/>
              </a:rPr>
              <a:t>        </a:t>
            </a:r>
            <a:r>
              <a:rPr lang="es" sz="1200">
                <a:solidFill>
                  <a:srgbClr val="AF00DB"/>
                </a:solidFill>
                <a:latin typeface="Consolas"/>
                <a:ea typeface="Consolas"/>
                <a:cs typeface="Consolas"/>
                <a:sym typeface="Consolas"/>
              </a:rPr>
              <a:t>if </a:t>
            </a:r>
            <a:r>
              <a:rPr lang="es" sz="1200">
                <a:solidFill>
                  <a:srgbClr val="001080"/>
                </a:solidFill>
                <a:latin typeface="Consolas"/>
                <a:ea typeface="Consolas"/>
                <a:cs typeface="Consolas"/>
                <a:sym typeface="Consolas"/>
              </a:rPr>
              <a:t>vertice </a:t>
            </a:r>
            <a:r>
              <a:rPr lang="es" sz="1200">
                <a:solidFill>
                  <a:srgbClr val="AF00DB"/>
                </a:solidFill>
                <a:latin typeface="Consolas"/>
                <a:ea typeface="Consolas"/>
                <a:cs typeface="Consolas"/>
                <a:sym typeface="Consolas"/>
              </a:rPr>
              <a:t>not in </a:t>
            </a:r>
            <a:r>
              <a:rPr lang="es" sz="1200">
                <a:solidFill>
                  <a:srgbClr val="001080"/>
                </a:solidFill>
                <a:latin typeface="Consolas"/>
                <a:ea typeface="Consolas"/>
                <a:cs typeface="Consolas"/>
                <a:sym typeface="Consolas"/>
              </a:rPr>
              <a:t>visitados:</a:t>
            </a:r>
            <a:endParaRPr sz="1200">
              <a:solidFill>
                <a:srgbClr val="00108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008000"/>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a:t>
            </a:r>
            <a:r>
              <a:rPr lang="es" sz="1200">
                <a:solidFill>
                  <a:srgbClr val="795E26"/>
                </a:solidFill>
                <a:latin typeface="Consolas"/>
                <a:ea typeface="Consolas"/>
                <a:cs typeface="Consolas"/>
                <a:sym typeface="Consolas"/>
              </a:rPr>
              <a:t>add</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vertice</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008000"/>
                </a:solidFill>
                <a:latin typeface="Consolas"/>
                <a:ea typeface="Consolas"/>
                <a:cs typeface="Consolas"/>
                <a:sym typeface="Consolas"/>
              </a:rPr>
              <a:t>            </a:t>
            </a:r>
            <a:r>
              <a:rPr lang="es" sz="1200">
                <a:solidFill>
                  <a:srgbClr val="001080"/>
                </a:solidFill>
                <a:latin typeface="Consolas"/>
                <a:ea typeface="Consolas"/>
                <a:cs typeface="Consolas"/>
                <a:sym typeface="Consolas"/>
              </a:rPr>
              <a:t>visitados</a:t>
            </a:r>
            <a:r>
              <a:rPr lang="es" sz="1200">
                <a:solidFill>
                  <a:srgbClr val="3B3B3B"/>
                </a:solidFill>
                <a:latin typeface="Consolas"/>
                <a:ea typeface="Consolas"/>
                <a:cs typeface="Consolas"/>
                <a:sym typeface="Consolas"/>
              </a:rPr>
              <a:t>.</a:t>
            </a:r>
            <a:r>
              <a:rPr lang="es" sz="1200">
                <a:solidFill>
                  <a:srgbClr val="795E26"/>
                </a:solidFill>
                <a:latin typeface="Consolas"/>
                <a:ea typeface="Consolas"/>
                <a:cs typeface="Consolas"/>
                <a:sym typeface="Consolas"/>
              </a:rPr>
              <a:t>add</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vertice</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 = </a:t>
            </a:r>
            <a:r>
              <a:rPr lang="es" sz="1200">
                <a:solidFill>
                  <a:srgbClr val="795E26"/>
                </a:solidFill>
                <a:latin typeface="Consolas"/>
                <a:ea typeface="Consolas"/>
                <a:cs typeface="Consolas"/>
                <a:sym typeface="Consolas"/>
              </a:rPr>
              <a:t>_ubicacion_BT</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visitados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 </a:t>
            </a:r>
            <a:r>
              <a:rPr lang="es" sz="1200">
                <a:latin typeface="Consolas"/>
                <a:ea typeface="Consolas"/>
                <a:cs typeface="Consolas"/>
                <a:sym typeface="Consolas"/>
              </a:rPr>
              <a:t>!=</a:t>
            </a:r>
            <a:r>
              <a:rPr lang="es" sz="1200">
                <a:solidFill>
                  <a:srgbClr val="AF00DB"/>
                </a:solidFill>
                <a:latin typeface="Consolas"/>
                <a:ea typeface="Consolas"/>
                <a:cs typeface="Consolas"/>
                <a:sym typeface="Consolas"/>
              </a:rPr>
              <a:t> </a:t>
            </a:r>
            <a:r>
              <a:rPr lang="es" sz="1200">
                <a:solidFill>
                  <a:srgbClr val="0070C1"/>
                </a:solidFill>
                <a:latin typeface="Consolas"/>
                <a:ea typeface="Consolas"/>
                <a:cs typeface="Consolas"/>
                <a:sym typeface="Consolas"/>
              </a:rPr>
              <a:t>None</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a:t>
            </a:r>
            <a:r>
              <a:rPr lang="es" sz="1200">
                <a:solidFill>
                  <a:srgbClr val="795E26"/>
                </a:solidFill>
                <a:latin typeface="Consolas"/>
                <a:ea typeface="Consolas"/>
                <a:cs typeface="Consolas"/>
                <a:sym typeface="Consolas"/>
              </a:rPr>
              <a:t>remove</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vertice</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visitados</a:t>
            </a:r>
            <a:r>
              <a:rPr lang="es" sz="1200">
                <a:solidFill>
                  <a:srgbClr val="3B3B3B"/>
                </a:solidFill>
                <a:latin typeface="Consolas"/>
                <a:ea typeface="Consolas"/>
                <a:cs typeface="Consolas"/>
                <a:sym typeface="Consolas"/>
              </a:rPr>
              <a:t>.</a:t>
            </a:r>
            <a:r>
              <a:rPr lang="es" sz="1200">
                <a:solidFill>
                  <a:srgbClr val="795E26"/>
                </a:solidFill>
                <a:latin typeface="Consolas"/>
                <a:ea typeface="Consolas"/>
                <a:cs typeface="Consolas"/>
                <a:sym typeface="Consolas"/>
              </a:rPr>
              <a:t>remove</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vertice</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r>
              <a:rPr lang="es" sz="1200">
                <a:solidFill>
                  <a:srgbClr val="3B3B3B"/>
                </a:solidFill>
                <a:latin typeface="Consolas"/>
                <a:ea typeface="Consolas"/>
                <a:cs typeface="Consolas"/>
                <a:sym typeface="Consolas"/>
              </a:rPr>
              <a:t> </a:t>
            </a:r>
            <a:r>
              <a:rPr lang="es" sz="1200">
                <a:solidFill>
                  <a:srgbClr val="0070C1"/>
                </a:solidFill>
                <a:latin typeface="Consolas"/>
                <a:ea typeface="Consolas"/>
                <a:cs typeface="Consolas"/>
                <a:sym typeface="Consolas"/>
              </a:rPr>
              <a:t>None</a:t>
            </a:r>
            <a:endParaRPr/>
          </a:p>
          <a:p>
            <a:pPr indent="0" lvl="0" marL="0" rtl="0" algn="l">
              <a:spcBef>
                <a:spcPts val="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7"/>
          <p:cNvSpPr txBox="1"/>
          <p:nvPr>
            <p:ph type="title"/>
          </p:nvPr>
        </p:nvSpPr>
        <p:spPr>
          <a:xfrm>
            <a:off x="311700" y="2164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Segmento de cosas que </a:t>
            </a:r>
            <a:r>
              <a:rPr b="1" lang="es"/>
              <a:t>no</a:t>
            </a:r>
            <a:r>
              <a:rPr lang="es"/>
              <a:t> se deben hacer</a:t>
            </a:r>
            <a:endParaRPr/>
          </a:p>
          <a:p>
            <a:pPr indent="0" lvl="0" marL="0" rtl="0" algn="l">
              <a:spcBef>
                <a:spcPts val="0"/>
              </a:spcBef>
              <a:spcAft>
                <a:spcPts val="0"/>
              </a:spcAft>
              <a:buNone/>
            </a:pPr>
            <a:r>
              <a:t/>
            </a:r>
            <a:endParaRPr/>
          </a:p>
        </p:txBody>
      </p:sp>
      <p:sp>
        <p:nvSpPr>
          <p:cNvPr id="243" name="Google Shape;243;p37"/>
          <p:cNvSpPr txBox="1"/>
          <p:nvPr>
            <p:ph idx="1" type="body"/>
          </p:nvPr>
        </p:nvSpPr>
        <p:spPr>
          <a:xfrm>
            <a:off x="6900" y="943000"/>
            <a:ext cx="6174900" cy="40860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s" sz="1200">
                <a:solidFill>
                  <a:srgbClr val="0000FF"/>
                </a:solidFill>
                <a:latin typeface="Consolas"/>
                <a:ea typeface="Consolas"/>
                <a:cs typeface="Consolas"/>
                <a:sym typeface="Consolas"/>
              </a:rPr>
              <a:t>def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_ubicacion_BT</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 </a:t>
            </a:r>
            <a:r>
              <a:rPr b="1" lang="es" sz="1200">
                <a:solidFill>
                  <a:srgbClr val="001080"/>
                </a:solidFill>
                <a:latin typeface="Consolas"/>
                <a:ea typeface="Consolas"/>
                <a:cs typeface="Consolas"/>
                <a:sym typeface="Consolas"/>
              </a:rPr>
              <a:t>solucion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len</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 = puestos </a:t>
            </a:r>
            <a:r>
              <a:rPr lang="es" sz="1200">
                <a:solidFill>
                  <a:srgbClr val="AF00DB"/>
                </a:solidFill>
                <a:latin typeface="Consolas"/>
                <a:ea typeface="Consolas"/>
                <a:cs typeface="Consolas"/>
                <a:sym typeface="Consolas"/>
              </a:rPr>
              <a:t>if</a:t>
            </a:r>
            <a:r>
              <a:rPr lang="es" sz="1200">
                <a:solidFill>
                  <a:srgbClr val="795E26"/>
                </a:solidFill>
                <a:latin typeface="Consolas"/>
                <a:ea typeface="Consolas"/>
                <a:cs typeface="Consolas"/>
                <a:sym typeface="Consolas"/>
              </a:rPr>
              <a:t> es_compatible</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else </a:t>
            </a:r>
            <a:r>
              <a:rPr lang="es" sz="1200">
                <a:solidFill>
                  <a:srgbClr val="0070C1"/>
                </a:solidFill>
                <a:latin typeface="Consolas"/>
                <a:ea typeface="Consolas"/>
                <a:cs typeface="Consolas"/>
                <a:sym typeface="Consolas"/>
              </a:rPr>
              <a:t>None</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len</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b="1" lang="es" sz="1200">
                <a:solidFill>
                  <a:srgbClr val="0000FF"/>
                </a:solidFill>
                <a:latin typeface="Consolas"/>
                <a:ea typeface="Consolas"/>
                <a:cs typeface="Consolas"/>
                <a:sym typeface="Consolas"/>
              </a:rPr>
              <a:t>or</a:t>
            </a:r>
            <a:r>
              <a:rPr b="1" lang="es" sz="1200">
                <a:solidFill>
                  <a:srgbClr val="3B3B3B"/>
                </a:solidFill>
                <a:latin typeface="Consolas"/>
                <a:ea typeface="Consolas"/>
                <a:cs typeface="Consolas"/>
                <a:sym typeface="Consolas"/>
              </a:rPr>
              <a:t> </a:t>
            </a:r>
            <a:r>
              <a:rPr b="1" lang="es" sz="1200">
                <a:solidFill>
                  <a:srgbClr val="0000FF"/>
                </a:solidFill>
                <a:latin typeface="Consolas"/>
                <a:ea typeface="Consolas"/>
                <a:cs typeface="Consolas"/>
                <a:sym typeface="Consolas"/>
              </a:rPr>
              <a:t>not</a:t>
            </a:r>
            <a:r>
              <a:rPr b="1" lang="es" sz="1200">
                <a:solidFill>
                  <a:srgbClr val="3B3B3B"/>
                </a:solidFill>
                <a:latin typeface="Consolas"/>
                <a:ea typeface="Consolas"/>
                <a:cs typeface="Consolas"/>
                <a:sym typeface="Consolas"/>
              </a:rPr>
              <a:t> </a:t>
            </a:r>
            <a:r>
              <a:rPr b="1" lang="es" sz="1200">
                <a:solidFill>
                  <a:srgbClr val="795E26"/>
                </a:solidFill>
                <a:latin typeface="Consolas"/>
                <a:ea typeface="Consolas"/>
                <a:cs typeface="Consolas"/>
                <a:sym typeface="Consolas"/>
              </a:rPr>
              <a:t>es_compatible</a:t>
            </a:r>
            <a:r>
              <a:rPr b="1" lang="es" sz="1200">
                <a:solidFill>
                  <a:srgbClr val="3B3B3B"/>
                </a:solidFill>
                <a:latin typeface="Consolas"/>
                <a:ea typeface="Consolas"/>
                <a:cs typeface="Consolas"/>
                <a:sym typeface="Consolas"/>
              </a:rPr>
              <a:t>(</a:t>
            </a:r>
            <a:r>
              <a:rPr b="1" lang="es" sz="1200">
                <a:solidFill>
                  <a:srgbClr val="001080"/>
                </a:solidFill>
                <a:latin typeface="Consolas"/>
                <a:ea typeface="Consolas"/>
                <a:cs typeface="Consolas"/>
                <a:sym typeface="Consolas"/>
              </a:rPr>
              <a:t>grafo</a:t>
            </a:r>
            <a:r>
              <a:rPr b="1" lang="es" sz="1200">
                <a:solidFill>
                  <a:srgbClr val="3B3B3B"/>
                </a:solidFill>
                <a:latin typeface="Consolas"/>
                <a:ea typeface="Consolas"/>
                <a:cs typeface="Consolas"/>
                <a:sym typeface="Consolas"/>
              </a:rPr>
              <a:t>, </a:t>
            </a:r>
            <a:r>
              <a:rPr b="1" lang="es" sz="1200">
                <a:solidFill>
                  <a:srgbClr val="001080"/>
                </a:solidFill>
                <a:latin typeface="Consolas"/>
                <a:ea typeface="Consolas"/>
                <a:cs typeface="Consolas"/>
                <a:sym typeface="Consolas"/>
              </a:rPr>
              <a:t>puestos</a:t>
            </a:r>
            <a:r>
              <a:rPr b="1" lang="es" sz="1200">
                <a:solidFill>
                  <a:srgbClr val="3B3B3B"/>
                </a:solidFill>
                <a:latin typeface="Consolas"/>
                <a:ea typeface="Consolas"/>
                <a:cs typeface="Consolas"/>
                <a:sym typeface="Consolas"/>
              </a:rPr>
              <a:t>)</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 = </a:t>
            </a:r>
            <a:r>
              <a:rPr lang="es" sz="1200">
                <a:solidFill>
                  <a:srgbClr val="0070C1"/>
                </a:solidFill>
                <a:latin typeface="Consolas"/>
                <a:ea typeface="Consolas"/>
                <a:cs typeface="Consolas"/>
                <a:sym typeface="Consolas"/>
              </a:rPr>
              <a:t>None</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8000"/>
                </a:solidFill>
                <a:latin typeface="Consolas"/>
                <a:ea typeface="Consolas"/>
                <a:cs typeface="Consolas"/>
                <a:sym typeface="Consolas"/>
              </a:rPr>
              <a:t># Mis opciones son poner acá, o no</a:t>
            </a:r>
            <a:endParaRPr sz="1200">
              <a:solidFill>
                <a:srgbClr val="00800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a:t>
            </a:r>
            <a:r>
              <a:rPr lang="es" sz="1200">
                <a:solidFill>
                  <a:srgbClr val="795E26"/>
                </a:solidFill>
                <a:latin typeface="Consolas"/>
                <a:ea typeface="Consolas"/>
                <a:cs typeface="Consolas"/>
                <a:sym typeface="Consolas"/>
              </a:rPr>
              <a:t>add</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a:t>
            </a:r>
            <a:endParaRPr sz="1200">
              <a:solidFill>
                <a:srgbClr val="00800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 = </a:t>
            </a:r>
            <a:r>
              <a:rPr lang="es" sz="1200">
                <a:solidFill>
                  <a:srgbClr val="795E26"/>
                </a:solidFill>
                <a:latin typeface="Consolas"/>
                <a:ea typeface="Consolas"/>
                <a:cs typeface="Consolas"/>
                <a:sym typeface="Consolas"/>
              </a:rPr>
              <a:t>_ubicacion_BT</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098658"/>
                </a:solidFill>
                <a:latin typeface="Consolas"/>
                <a:ea typeface="Consolas"/>
                <a:cs typeface="Consolas"/>
                <a:sym typeface="Consolas"/>
              </a:rPr>
              <a:t>1</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if</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 </a:t>
            </a:r>
            <a:r>
              <a:rPr lang="es" sz="1200">
                <a:latin typeface="Consolas"/>
                <a:ea typeface="Consolas"/>
                <a:cs typeface="Consolas"/>
                <a:sym typeface="Consolas"/>
              </a:rPr>
              <a:t>!=</a:t>
            </a:r>
            <a:r>
              <a:rPr lang="es" sz="1200">
                <a:solidFill>
                  <a:srgbClr val="AF00DB"/>
                </a:solidFill>
                <a:latin typeface="Consolas"/>
                <a:ea typeface="Consolas"/>
                <a:cs typeface="Consolas"/>
                <a:sym typeface="Consolas"/>
              </a:rPr>
              <a:t> </a:t>
            </a:r>
            <a:r>
              <a:rPr lang="es" sz="1200">
                <a:solidFill>
                  <a:srgbClr val="0070C1"/>
                </a:solidFill>
                <a:latin typeface="Consolas"/>
                <a:ea typeface="Consolas"/>
                <a:cs typeface="Consolas"/>
                <a:sym typeface="Consolas"/>
              </a:rPr>
              <a:t>None</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a:t>
            </a:r>
            <a:r>
              <a:rPr lang="es" sz="1200">
                <a:solidFill>
                  <a:srgbClr val="795E26"/>
                </a:solidFill>
                <a:latin typeface="Consolas"/>
                <a:ea typeface="Consolas"/>
                <a:cs typeface="Consolas"/>
                <a:sym typeface="Consolas"/>
              </a:rPr>
              <a:t>remove</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 = </a:t>
            </a:r>
            <a:r>
              <a:rPr lang="es" sz="1200">
                <a:solidFill>
                  <a:srgbClr val="795E26"/>
                </a:solidFill>
                <a:latin typeface="Consolas"/>
                <a:ea typeface="Consolas"/>
                <a:cs typeface="Consolas"/>
                <a:sym typeface="Consolas"/>
              </a:rPr>
              <a:t>_ubicacion_BT</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vertices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098658"/>
                </a:solidFill>
                <a:latin typeface="Consolas"/>
                <a:ea typeface="Consolas"/>
                <a:cs typeface="Consolas"/>
                <a:sym typeface="Consolas"/>
              </a:rPr>
              <a:t>1</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puestos</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a:t>
            </a:r>
            <a:endParaRPr sz="1200">
              <a:solidFill>
                <a:srgbClr val="3B3B3B"/>
              </a:solidFill>
              <a:latin typeface="Consolas"/>
              <a:ea typeface="Consolas"/>
              <a:cs typeface="Consolas"/>
              <a:sym typeface="Consolas"/>
            </a:endParaRPr>
          </a:p>
          <a:p>
            <a:pPr indent="0" lvl="0" marL="0" rtl="0" algn="l">
              <a:spcBef>
                <a:spcPts val="0"/>
              </a:spcBef>
              <a:spcAft>
                <a:spcPts val="1600"/>
              </a:spcAft>
              <a:buNone/>
            </a:pPr>
            <a:r>
              <a:t/>
            </a:r>
            <a:endParaRPr/>
          </a:p>
        </p:txBody>
      </p:sp>
      <p:sp>
        <p:nvSpPr>
          <p:cNvPr id="244" name="Google Shape;244;p37"/>
          <p:cNvSpPr/>
          <p:nvPr/>
        </p:nvSpPr>
        <p:spPr>
          <a:xfrm>
            <a:off x="6181800" y="1751700"/>
            <a:ext cx="2855400" cy="1640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s" sz="1200">
                <a:solidFill>
                  <a:srgbClr val="0000FF"/>
                </a:solidFill>
                <a:latin typeface="Consolas"/>
                <a:ea typeface="Consolas"/>
                <a:cs typeface="Consolas"/>
                <a:sym typeface="Consolas"/>
              </a:rPr>
              <a:t>def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resolver</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 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solucion = </a:t>
            </a:r>
            <a:r>
              <a:rPr lang="es" sz="1200">
                <a:solidFill>
                  <a:srgbClr val="0070C1"/>
                </a:solidFill>
                <a:latin typeface="Consolas"/>
                <a:ea typeface="Consolas"/>
                <a:cs typeface="Consolas"/>
                <a:sym typeface="Consolas"/>
              </a:rPr>
              <a:t>None</a:t>
            </a:r>
            <a:endParaRPr sz="1200">
              <a:solidFill>
                <a:srgbClr val="0070C1"/>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0070C1"/>
                </a:solidFill>
                <a:latin typeface="Consolas"/>
                <a:ea typeface="Consolas"/>
                <a:cs typeface="Consolas"/>
                <a:sym typeface="Consolas"/>
              </a:rPr>
              <a:t>    </a:t>
            </a:r>
            <a:r>
              <a:rPr lang="es" sz="1200">
                <a:solidFill>
                  <a:srgbClr val="795E26"/>
                </a:solidFill>
                <a:latin typeface="Consolas"/>
                <a:ea typeface="Consolas"/>
                <a:cs typeface="Consolas"/>
                <a:sym typeface="Consolas"/>
              </a:rPr>
              <a:t>_ubicacion_BT</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endParaRPr sz="1200">
              <a:solidFill>
                <a:srgbClr val="3B3B3B"/>
              </a:solidFill>
              <a:latin typeface="Consolas"/>
              <a:ea typeface="Consolas"/>
              <a:cs typeface="Consolas"/>
              <a:sym typeface="Consolas"/>
            </a:endParaRPr>
          </a:p>
          <a:p>
            <a:pPr indent="0" lvl="0" marL="457200" rtl="0" algn="l">
              <a:lnSpc>
                <a:spcPct val="135714"/>
              </a:lnSpc>
              <a:spcBef>
                <a:spcPts val="0"/>
              </a:spcBef>
              <a:spcAft>
                <a:spcPts val="0"/>
              </a:spcAft>
              <a:buNone/>
            </a:pPr>
            <a:r>
              <a:rPr lang="es" sz="1200">
                <a:solidFill>
                  <a:srgbClr val="001080"/>
                </a:solidFill>
                <a:latin typeface="Consolas"/>
                <a:ea typeface="Consolas"/>
                <a:cs typeface="Consolas"/>
                <a:sym typeface="Consolas"/>
              </a:rPr>
              <a:t>   grafo</a:t>
            </a:r>
            <a:r>
              <a:rPr lang="es" sz="1200">
                <a:solidFill>
                  <a:srgbClr val="3B3B3B"/>
                </a:solidFill>
                <a:latin typeface="Consolas"/>
                <a:ea typeface="Consolas"/>
                <a:cs typeface="Consolas"/>
                <a:sym typeface="Consolas"/>
              </a:rPr>
              <a:t>.</a:t>
            </a:r>
            <a:r>
              <a:rPr lang="es" sz="1200">
                <a:solidFill>
                  <a:srgbClr val="795E26"/>
                </a:solidFill>
                <a:latin typeface="Consolas"/>
                <a:ea typeface="Consolas"/>
                <a:cs typeface="Consolas"/>
                <a:sym typeface="Consolas"/>
              </a:rPr>
              <a:t>obtener_vertices</a:t>
            </a:r>
            <a:r>
              <a:rPr lang="es" sz="1200">
                <a:solidFill>
                  <a:srgbClr val="3B3B3B"/>
                </a:solidFill>
                <a:latin typeface="Consolas"/>
                <a:ea typeface="Consolas"/>
                <a:cs typeface="Consolas"/>
                <a:sym typeface="Consolas"/>
              </a:rPr>
              <a:t>, </a:t>
            </a:r>
            <a:endParaRPr sz="1200">
              <a:solidFill>
                <a:srgbClr val="3B3B3B"/>
              </a:solidFill>
              <a:latin typeface="Consolas"/>
              <a:ea typeface="Consolas"/>
              <a:cs typeface="Consolas"/>
              <a:sym typeface="Consolas"/>
            </a:endParaRPr>
          </a:p>
          <a:p>
            <a:pPr indent="0" lvl="0" marL="457200" rtl="0" algn="l">
              <a:lnSpc>
                <a:spcPct val="135714"/>
              </a:lnSpc>
              <a:spcBef>
                <a:spcPts val="0"/>
              </a:spcBef>
              <a:spcAft>
                <a:spcPts val="0"/>
              </a:spcAft>
              <a:buNone/>
            </a:pPr>
            <a:r>
              <a:rPr lang="es" sz="1200">
                <a:solidFill>
                  <a:srgbClr val="001080"/>
                </a:solidFill>
                <a:latin typeface="Consolas"/>
                <a:ea typeface="Consolas"/>
                <a:cs typeface="Consolas"/>
                <a:sym typeface="Consolas"/>
              </a:rPr>
              <a:t>   0</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 </a:t>
            </a:r>
            <a:r>
              <a:rPr b="1" lang="es" sz="1200">
                <a:solidFill>
                  <a:srgbClr val="001080"/>
                </a:solidFill>
                <a:latin typeface="Consolas"/>
                <a:ea typeface="Consolas"/>
                <a:cs typeface="Consolas"/>
                <a:sym typeface="Consolas"/>
              </a:rPr>
              <a:t>solucion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200">
                <a:solidFill>
                  <a:srgbClr val="3B3B3B"/>
                </a:solidFill>
                <a:latin typeface="Consolas"/>
                <a:ea typeface="Consolas"/>
                <a:cs typeface="Consolas"/>
                <a:sym typeface="Consolas"/>
              </a:rPr>
              <a:t>    </a:t>
            </a:r>
            <a:r>
              <a:rPr lang="es" sz="1200">
                <a:solidFill>
                  <a:srgbClr val="AF00DB"/>
                </a:solidFill>
                <a:latin typeface="Consolas"/>
                <a:ea typeface="Consolas"/>
                <a:cs typeface="Consolas"/>
                <a:sym typeface="Consolas"/>
              </a:rPr>
              <a:t>return </a:t>
            </a:r>
            <a:r>
              <a:rPr lang="es" sz="1200">
                <a:solidFill>
                  <a:srgbClr val="001080"/>
                </a:solidFill>
                <a:latin typeface="Consolas"/>
                <a:ea typeface="Consolas"/>
                <a:cs typeface="Consolas"/>
                <a:sym typeface="Consolas"/>
              </a:rPr>
              <a:t>solucion</a:t>
            </a:r>
            <a:endParaRPr sz="1200">
              <a:solidFill>
                <a:srgbClr val="3B3B3B"/>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Segmento de cosas que </a:t>
            </a:r>
            <a:r>
              <a:rPr b="1" lang="es"/>
              <a:t>no</a:t>
            </a:r>
            <a:r>
              <a:rPr lang="es"/>
              <a:t> se deben hacer</a:t>
            </a:r>
            <a:endParaRPr/>
          </a:p>
        </p:txBody>
      </p:sp>
      <p:sp>
        <p:nvSpPr>
          <p:cNvPr id="250" name="Google Shape;250;p38"/>
          <p:cNvSpPr txBox="1"/>
          <p:nvPr>
            <p:ph idx="1" type="body"/>
          </p:nvPr>
        </p:nvSpPr>
        <p:spPr>
          <a:xfrm>
            <a:off x="311700" y="1033287"/>
            <a:ext cx="8520600" cy="3397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s" sz="1200">
                <a:solidFill>
                  <a:srgbClr val="0000FF"/>
                </a:solidFill>
                <a:latin typeface="Consolas"/>
                <a:ea typeface="Consolas"/>
                <a:cs typeface="Consolas"/>
                <a:sym typeface="Consolas"/>
              </a:rPr>
              <a:t>def</a:t>
            </a:r>
            <a:r>
              <a:rPr lang="es" sz="1200">
                <a:solidFill>
                  <a:srgbClr val="3B3B3B"/>
                </a:solidFill>
                <a:latin typeface="Consolas"/>
                <a:ea typeface="Consolas"/>
                <a:cs typeface="Consolas"/>
                <a:sym typeface="Consolas"/>
              </a:rPr>
              <a:t> </a:t>
            </a:r>
            <a:r>
              <a:rPr lang="es" sz="1200">
                <a:solidFill>
                  <a:srgbClr val="795E26"/>
                </a:solidFill>
                <a:latin typeface="Consolas"/>
                <a:ea typeface="Consolas"/>
                <a:cs typeface="Consolas"/>
                <a:sym typeface="Consolas"/>
              </a:rPr>
              <a:t>ubicacion</a:t>
            </a:r>
            <a:r>
              <a:rPr lang="es" sz="1200">
                <a:solidFill>
                  <a:srgbClr val="3B3B3B"/>
                </a:solidFill>
                <a:latin typeface="Consolas"/>
                <a:ea typeface="Consolas"/>
                <a:cs typeface="Consolas"/>
                <a:sym typeface="Consolas"/>
              </a:rPr>
              <a:t>(</a:t>
            </a:r>
            <a:r>
              <a:rPr lang="es" sz="1200">
                <a:solidFill>
                  <a:srgbClr val="001080"/>
                </a:solidFill>
                <a:latin typeface="Consolas"/>
                <a:ea typeface="Consolas"/>
                <a:cs typeface="Consolas"/>
                <a:sym typeface="Consolas"/>
              </a:rPr>
              <a:t>grafo</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v_actual</a:t>
            </a:r>
            <a:r>
              <a:rPr lang="es" sz="1200">
                <a:solidFill>
                  <a:srgbClr val="3B3B3B"/>
                </a:solidFill>
                <a:latin typeface="Consolas"/>
                <a:ea typeface="Consolas"/>
                <a:cs typeface="Consolas"/>
                <a:sym typeface="Consolas"/>
              </a:rPr>
              <a:t>, </a:t>
            </a:r>
            <a:r>
              <a:rPr lang="es" sz="1200">
                <a:solidFill>
                  <a:srgbClr val="001080"/>
                </a:solidFill>
                <a:latin typeface="Consolas"/>
                <a:ea typeface="Consolas"/>
                <a:cs typeface="Consolas"/>
                <a:sym typeface="Consolas"/>
              </a:rPr>
              <a:t>n</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3B3B3B"/>
                </a:solidFill>
                <a:latin typeface="Consolas"/>
                <a:ea typeface="Consolas"/>
                <a:cs typeface="Consolas"/>
                <a:sym typeface="Consolas"/>
              </a:rPr>
              <a:t>	solucion = None</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3B3B3B"/>
                </a:solidFill>
                <a:latin typeface="Consolas"/>
                <a:ea typeface="Consolas"/>
                <a:cs typeface="Consolas"/>
                <a:sym typeface="Consolas"/>
              </a:rPr>
              <a:t>	puestos = []</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3B3B3B"/>
                </a:solidFill>
                <a:latin typeface="Consolas"/>
                <a:ea typeface="Consolas"/>
                <a:cs typeface="Consolas"/>
                <a:sym typeface="Consolas"/>
              </a:rPr>
              <a:t>	vertices = grafo.</a:t>
            </a:r>
            <a:r>
              <a:rPr lang="es" sz="1200">
                <a:solidFill>
                  <a:srgbClr val="795E26"/>
                </a:solidFill>
                <a:latin typeface="Consolas"/>
                <a:ea typeface="Consolas"/>
                <a:cs typeface="Consolas"/>
                <a:sym typeface="Consolas"/>
              </a:rPr>
              <a:t>obtener_vertices</a:t>
            </a:r>
            <a:r>
              <a:rPr lang="es" sz="1200">
                <a:solidFill>
                  <a:srgbClr val="3B3B3B"/>
                </a:solidFill>
                <a:latin typeface="Consolas"/>
                <a:ea typeface="Consolas"/>
                <a:cs typeface="Consolas"/>
                <a:sym typeface="Consolas"/>
              </a:rPr>
              <a:t>()</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3B3B3B"/>
                </a:solidFill>
                <a:latin typeface="Consolas"/>
                <a:ea typeface="Consolas"/>
                <a:cs typeface="Consolas"/>
                <a:sym typeface="Consolas"/>
              </a:rPr>
              <a:t>    	def funcionconBt(v_actual):</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3B3B3B"/>
                </a:solidFill>
                <a:latin typeface="Consolas"/>
                <a:ea typeface="Consolas"/>
                <a:cs typeface="Consolas"/>
                <a:sym typeface="Consolas"/>
              </a:rPr>
              <a:t>		MiCodigoRecursivoQueTocaCosasExternas</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3B3B3B"/>
                </a:solidFill>
                <a:latin typeface="Consolas"/>
                <a:ea typeface="Consolas"/>
                <a:cs typeface="Consolas"/>
                <a:sym typeface="Consolas"/>
              </a:rPr>
              <a:t>	funcionconBt(0)</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3B3B3B"/>
                </a:solidFill>
                <a:latin typeface="Consolas"/>
                <a:ea typeface="Consolas"/>
                <a:cs typeface="Consolas"/>
                <a:sym typeface="Consolas"/>
              </a:rPr>
              <a:t>	return solucion</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t/>
            </a:r>
            <a:endParaRPr sz="1200">
              <a:solidFill>
                <a:srgbClr val="3B3B3B"/>
              </a:solidFill>
              <a:latin typeface="Consolas"/>
              <a:ea typeface="Consolas"/>
              <a:cs typeface="Consolas"/>
              <a:sym typeface="Consolas"/>
            </a:endParaRPr>
          </a:p>
          <a:p>
            <a:pPr indent="0" lvl="0" marL="0" rtl="0" algn="l">
              <a:lnSpc>
                <a:spcPct val="135714"/>
              </a:lnSpc>
              <a:spcBef>
                <a:spcPts val="0"/>
              </a:spcBef>
              <a:spcAft>
                <a:spcPts val="0"/>
              </a:spcAft>
              <a:buNone/>
            </a:pPr>
            <a:r>
              <a:rPr lang="es" sz="1200">
                <a:solidFill>
                  <a:srgbClr val="3B3B3B"/>
                </a:solidFill>
              </a:rPr>
              <a:t>Este código debería ser denunciado penalmente por muchos motivos. Si ves este código en la calle, escondete y llamá a la policía. </a:t>
            </a:r>
            <a:endParaRPr sz="1200">
              <a:solidFill>
                <a:srgbClr val="3B3B3B"/>
              </a:solidFill>
            </a:endParaRPr>
          </a:p>
          <a:p>
            <a:pPr indent="0" lvl="0" marL="0" rtl="0" algn="l">
              <a:lnSpc>
                <a:spcPct val="135714"/>
              </a:lnSpc>
              <a:spcBef>
                <a:spcPts val="0"/>
              </a:spcBef>
              <a:spcAft>
                <a:spcPts val="0"/>
              </a:spcAft>
              <a:buNone/>
            </a:pPr>
            <a:r>
              <a:rPr lang="es" sz="1200">
                <a:solidFill>
                  <a:srgbClr val="3B3B3B"/>
                </a:solidFill>
              </a:rPr>
              <a:t>El que escribe código así es porque no entiende cómo funciona ni recursividad, ni BT en muchos niveles conceptuales, y será anulado. </a:t>
            </a:r>
            <a:endParaRPr sz="1200">
              <a:solidFill>
                <a:srgbClr val="3B3B3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resumen</a:t>
            </a:r>
            <a:endParaRPr/>
          </a:p>
        </p:txBody>
      </p:sp>
      <p:pic>
        <p:nvPicPr>
          <p:cNvPr id="256" name="Google Shape;256;p39"/>
          <p:cNvPicPr preferRelativeResize="0"/>
          <p:nvPr/>
        </p:nvPicPr>
        <p:blipFill>
          <a:blip r:embed="rId3">
            <a:alphaModFix/>
          </a:blip>
          <a:stretch>
            <a:fillRect/>
          </a:stretch>
        </p:blipFill>
        <p:spPr>
          <a:xfrm>
            <a:off x="2219088" y="1210625"/>
            <a:ext cx="4705825" cy="3529375"/>
          </a:xfrm>
          <a:prstGeom prst="rect">
            <a:avLst/>
          </a:prstGeom>
          <a:noFill/>
          <a:ln>
            <a:noFill/>
          </a:ln>
        </p:spPr>
      </p:pic>
      <p:sp>
        <p:nvSpPr>
          <p:cNvPr id="257" name="Google Shape;257;p39"/>
          <p:cNvSpPr/>
          <p:nvPr/>
        </p:nvSpPr>
        <p:spPr>
          <a:xfrm>
            <a:off x="4054300" y="3769025"/>
            <a:ext cx="1512900" cy="2766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solidFill>
                  <a:schemeClr val="lt1"/>
                </a:solidFill>
              </a:rPr>
              <a:t>Escribir código</a:t>
            </a:r>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900"/>
              <a:t>De Wikipedia: </a:t>
            </a:r>
            <a:endParaRPr sz="1900"/>
          </a:p>
          <a:p>
            <a:pPr indent="0" lvl="0" marL="0" rtl="0" algn="l">
              <a:spcBef>
                <a:spcPts val="0"/>
              </a:spcBef>
              <a:spcAft>
                <a:spcPts val="0"/>
              </a:spcAft>
              <a:buClr>
                <a:schemeClr val="dk1"/>
              </a:buClr>
              <a:buSzPts val="1100"/>
              <a:buFont typeface="Arial"/>
              <a:buNone/>
            </a:pPr>
            <a:r>
              <a:rPr i="1" lang="es" sz="1900"/>
              <a:t>Un camino hamiltoniano, en el campo matemático de la teoría de grafos, es un camino de un grafo, que visita todos los vértices del grafo una sola vez. Si además el último vértice visitado es adyacente al primero, el camino es un ciclo hamiltoniano.</a:t>
            </a:r>
            <a:endParaRPr i="1" sz="3000"/>
          </a:p>
        </p:txBody>
      </p:sp>
      <p:sp>
        <p:nvSpPr>
          <p:cNvPr id="263" name="Google Shape;263;p4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II - Camino Hamiltoniano</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II - Camino Hamiltoniano</a:t>
            </a:r>
            <a:endParaRPr/>
          </a:p>
        </p:txBody>
      </p:sp>
      <p:pic>
        <p:nvPicPr>
          <p:cNvPr id="269" name="Google Shape;269;p41"/>
          <p:cNvPicPr preferRelativeResize="0"/>
          <p:nvPr/>
        </p:nvPicPr>
        <p:blipFill>
          <a:blip r:embed="rId3">
            <a:alphaModFix/>
          </a:blip>
          <a:stretch>
            <a:fillRect/>
          </a:stretch>
        </p:blipFill>
        <p:spPr>
          <a:xfrm>
            <a:off x="414922" y="1456125"/>
            <a:ext cx="4973300" cy="2981901"/>
          </a:xfrm>
          <a:prstGeom prst="rect">
            <a:avLst/>
          </a:prstGeom>
          <a:noFill/>
          <a:ln>
            <a:noFill/>
          </a:ln>
        </p:spPr>
      </p:pic>
      <p:cxnSp>
        <p:nvCxnSpPr>
          <p:cNvPr id="270" name="Google Shape;270;p41"/>
          <p:cNvCxnSpPr/>
          <p:nvPr/>
        </p:nvCxnSpPr>
        <p:spPr>
          <a:xfrm>
            <a:off x="1792800" y="1888825"/>
            <a:ext cx="1236900" cy="0"/>
          </a:xfrm>
          <a:prstGeom prst="straightConnector1">
            <a:avLst/>
          </a:prstGeom>
          <a:noFill/>
          <a:ln cap="flat" cmpd="sng" w="9525">
            <a:solidFill>
              <a:srgbClr val="FF0000"/>
            </a:solidFill>
            <a:prstDash val="solid"/>
            <a:round/>
            <a:headEnd len="med" w="med" type="none"/>
            <a:tailEnd len="med" w="med" type="none"/>
          </a:ln>
        </p:spPr>
      </p:cxnSp>
      <p:cxnSp>
        <p:nvCxnSpPr>
          <p:cNvPr id="271" name="Google Shape;271;p41"/>
          <p:cNvCxnSpPr/>
          <p:nvPr/>
        </p:nvCxnSpPr>
        <p:spPr>
          <a:xfrm flipH="1">
            <a:off x="2497375" y="1957200"/>
            <a:ext cx="571500" cy="845400"/>
          </a:xfrm>
          <a:prstGeom prst="straightConnector1">
            <a:avLst/>
          </a:prstGeom>
          <a:noFill/>
          <a:ln cap="flat" cmpd="sng" w="9525">
            <a:solidFill>
              <a:srgbClr val="FF0000"/>
            </a:solidFill>
            <a:prstDash val="solid"/>
            <a:round/>
            <a:headEnd len="med" w="med" type="none"/>
            <a:tailEnd len="med" w="med" type="none"/>
          </a:ln>
        </p:spPr>
      </p:cxnSp>
      <p:cxnSp>
        <p:nvCxnSpPr>
          <p:cNvPr id="272" name="Google Shape;272;p41"/>
          <p:cNvCxnSpPr/>
          <p:nvPr/>
        </p:nvCxnSpPr>
        <p:spPr>
          <a:xfrm>
            <a:off x="2622625" y="2982750"/>
            <a:ext cx="1691100" cy="164400"/>
          </a:xfrm>
          <a:prstGeom prst="straightConnector1">
            <a:avLst/>
          </a:prstGeom>
          <a:noFill/>
          <a:ln cap="flat" cmpd="sng" w="9525">
            <a:solidFill>
              <a:srgbClr val="FF0000"/>
            </a:solidFill>
            <a:prstDash val="solid"/>
            <a:round/>
            <a:headEnd len="med" w="med" type="none"/>
            <a:tailEnd len="med" w="med" type="none"/>
          </a:ln>
        </p:spPr>
      </p:cxnSp>
      <p:cxnSp>
        <p:nvCxnSpPr>
          <p:cNvPr id="273" name="Google Shape;273;p41"/>
          <p:cNvCxnSpPr/>
          <p:nvPr/>
        </p:nvCxnSpPr>
        <p:spPr>
          <a:xfrm flipH="1" rot="10800000">
            <a:off x="4462400" y="2160700"/>
            <a:ext cx="313200" cy="884700"/>
          </a:xfrm>
          <a:prstGeom prst="straightConnector1">
            <a:avLst/>
          </a:prstGeom>
          <a:noFill/>
          <a:ln cap="flat" cmpd="sng" w="9525">
            <a:solidFill>
              <a:srgbClr val="FF0000"/>
            </a:solidFill>
            <a:prstDash val="solid"/>
            <a:round/>
            <a:headEnd len="med" w="med" type="none"/>
            <a:tailEnd len="med" w="med" type="none"/>
          </a:ln>
        </p:spPr>
      </p:cxnSp>
      <p:cxnSp>
        <p:nvCxnSpPr>
          <p:cNvPr id="274" name="Google Shape;274;p41"/>
          <p:cNvCxnSpPr/>
          <p:nvPr/>
        </p:nvCxnSpPr>
        <p:spPr>
          <a:xfrm flipH="1">
            <a:off x="3869600" y="3468150"/>
            <a:ext cx="516600" cy="532200"/>
          </a:xfrm>
          <a:prstGeom prst="straightConnector1">
            <a:avLst/>
          </a:prstGeom>
          <a:noFill/>
          <a:ln cap="flat" cmpd="sng" w="9525">
            <a:solidFill>
              <a:srgbClr val="FF0000"/>
            </a:solidFill>
            <a:prstDash val="solid"/>
            <a:round/>
            <a:headEnd len="med" w="med" type="none"/>
            <a:tailEnd len="med" w="med" type="none"/>
          </a:ln>
        </p:spPr>
      </p:cxnSp>
      <p:cxnSp>
        <p:nvCxnSpPr>
          <p:cNvPr id="275" name="Google Shape;275;p41"/>
          <p:cNvCxnSpPr/>
          <p:nvPr/>
        </p:nvCxnSpPr>
        <p:spPr>
          <a:xfrm rot="10800000">
            <a:off x="1612675" y="3969225"/>
            <a:ext cx="1863300" cy="172200"/>
          </a:xfrm>
          <a:prstGeom prst="straightConnector1">
            <a:avLst/>
          </a:prstGeom>
          <a:noFill/>
          <a:ln cap="flat" cmpd="sng" w="9525">
            <a:solidFill>
              <a:srgbClr val="FF0000"/>
            </a:solidFill>
            <a:prstDash val="solid"/>
            <a:round/>
            <a:headEnd len="med" w="med" type="none"/>
            <a:tailEnd len="med" w="med" type="none"/>
          </a:ln>
        </p:spPr>
      </p:cxnSp>
      <p:cxnSp>
        <p:nvCxnSpPr>
          <p:cNvPr id="276" name="Google Shape;276;p41"/>
          <p:cNvCxnSpPr/>
          <p:nvPr/>
        </p:nvCxnSpPr>
        <p:spPr>
          <a:xfrm rot="10800000">
            <a:off x="837625" y="3053300"/>
            <a:ext cx="391500" cy="673200"/>
          </a:xfrm>
          <a:prstGeom prst="straightConnector1">
            <a:avLst/>
          </a:prstGeom>
          <a:noFill/>
          <a:ln cap="flat" cmpd="sng" w="9525">
            <a:solidFill>
              <a:srgbClr val="FF0000"/>
            </a:solidFill>
            <a:prstDash val="solid"/>
            <a:round/>
            <a:headEnd len="med" w="med" type="none"/>
            <a:tailEnd len="med" w="med" type="none"/>
          </a:ln>
        </p:spPr>
      </p:cxnSp>
      <p:cxnSp>
        <p:nvCxnSpPr>
          <p:cNvPr id="277" name="Google Shape;277;p41"/>
          <p:cNvCxnSpPr/>
          <p:nvPr/>
        </p:nvCxnSpPr>
        <p:spPr>
          <a:xfrm rot="10800000">
            <a:off x="963000" y="2779250"/>
            <a:ext cx="1323000" cy="172200"/>
          </a:xfrm>
          <a:prstGeom prst="straightConnector1">
            <a:avLst/>
          </a:prstGeom>
          <a:noFill/>
          <a:ln cap="flat" cmpd="sng" w="952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Codiemo un poco</a:t>
            </a:r>
            <a:endParaRPr/>
          </a:p>
        </p:txBody>
      </p:sp>
      <p:sp>
        <p:nvSpPr>
          <p:cNvPr id="283" name="Google Shape;283;p4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(en las diapos siguientes tienen el c</a:t>
            </a:r>
            <a:r>
              <a:rPr lang="es"/>
              <a:t>ódigo, pero ahora codiemos)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7" name="Shape 287"/>
        <p:cNvGrpSpPr/>
        <p:nvPr/>
      </p:nvGrpSpPr>
      <p:grpSpPr>
        <a:xfrm>
          <a:off x="0" y="0"/>
          <a:ext cx="0" cy="0"/>
          <a:chOff x="0" y="0"/>
          <a:chExt cx="0" cy="0"/>
        </a:xfrm>
      </p:grpSpPr>
      <p:sp>
        <p:nvSpPr>
          <p:cNvPr id="288" name="Google Shape;288;p4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Y en código...</a:t>
            </a:r>
            <a:endParaRPr/>
          </a:p>
        </p:txBody>
      </p:sp>
      <p:sp>
        <p:nvSpPr>
          <p:cNvPr id="289" name="Google Shape;289;p43"/>
          <p:cNvSpPr txBox="1"/>
          <p:nvPr>
            <p:ph idx="1" type="body"/>
          </p:nvPr>
        </p:nvSpPr>
        <p:spPr>
          <a:xfrm>
            <a:off x="311700" y="1171600"/>
            <a:ext cx="8520600" cy="3655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s" sz="1400">
                <a:solidFill>
                  <a:srgbClr val="0000FF"/>
                </a:solidFill>
                <a:latin typeface="Consolas"/>
                <a:ea typeface="Consolas"/>
                <a:cs typeface="Consolas"/>
                <a:sym typeface="Consolas"/>
              </a:rPr>
              <a:t>def</a:t>
            </a:r>
            <a:r>
              <a:rPr lang="es" sz="1400">
                <a:solidFill>
                  <a:srgbClr val="3B3B3B"/>
                </a:solidFill>
                <a:latin typeface="Consolas"/>
                <a:ea typeface="Consolas"/>
                <a:cs typeface="Consolas"/>
                <a:sym typeface="Consolas"/>
              </a:rPr>
              <a:t> </a:t>
            </a:r>
            <a:r>
              <a:rPr lang="es" sz="1400">
                <a:solidFill>
                  <a:srgbClr val="795E26"/>
                </a:solidFill>
                <a:latin typeface="Consolas"/>
                <a:ea typeface="Consolas"/>
                <a:cs typeface="Consolas"/>
                <a:sym typeface="Consolas"/>
              </a:rPr>
              <a:t>camino_hamiltoniano_dfs</a:t>
            </a:r>
            <a:r>
              <a:rPr lang="es" sz="1400">
                <a:solidFill>
                  <a:srgbClr val="3B3B3B"/>
                </a:solidFill>
                <a:latin typeface="Consolas"/>
                <a:ea typeface="Consolas"/>
                <a:cs typeface="Consolas"/>
                <a:sym typeface="Consolas"/>
              </a:rPr>
              <a:t>(</a:t>
            </a:r>
            <a:r>
              <a:rPr lang="es" sz="1400">
                <a:solidFill>
                  <a:srgbClr val="001080"/>
                </a:solidFill>
                <a:latin typeface="Consolas"/>
                <a:ea typeface="Consolas"/>
                <a:cs typeface="Consolas"/>
                <a:sym typeface="Consolas"/>
              </a:rPr>
              <a:t>grafo</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v</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visitados</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camino</a:t>
            </a:r>
            <a:r>
              <a:rPr lang="es" sz="1400">
                <a:solidFill>
                  <a:srgbClr val="3B3B3B"/>
                </a:solidFill>
                <a:latin typeface="Consolas"/>
                <a:ea typeface="Consolas"/>
                <a:cs typeface="Consolas"/>
                <a:sym typeface="Consolas"/>
              </a:rPr>
              <a:t>):</a:t>
            </a:r>
            <a:endParaRPr sz="1400">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visitados</a:t>
            </a:r>
            <a:r>
              <a:rPr lang="es" sz="1400">
                <a:solidFill>
                  <a:srgbClr val="3B3B3B"/>
                </a:solidFill>
                <a:latin typeface="Consolas"/>
                <a:ea typeface="Consolas"/>
                <a:cs typeface="Consolas"/>
                <a:sym typeface="Consolas"/>
              </a:rPr>
              <a:t>.</a:t>
            </a:r>
            <a:r>
              <a:rPr lang="es" sz="1400">
                <a:solidFill>
                  <a:srgbClr val="795E26"/>
                </a:solidFill>
                <a:latin typeface="Consolas"/>
                <a:ea typeface="Consolas"/>
                <a:cs typeface="Consolas"/>
                <a:sym typeface="Consolas"/>
              </a:rPr>
              <a:t>add</a:t>
            </a:r>
            <a:r>
              <a:rPr lang="es" sz="1400">
                <a:solidFill>
                  <a:srgbClr val="3B3B3B"/>
                </a:solidFill>
                <a:latin typeface="Consolas"/>
                <a:ea typeface="Consolas"/>
                <a:cs typeface="Consolas"/>
                <a:sym typeface="Consolas"/>
              </a:rPr>
              <a:t>(</a:t>
            </a:r>
            <a:r>
              <a:rPr lang="es" sz="1400">
                <a:solidFill>
                  <a:srgbClr val="001080"/>
                </a:solidFill>
                <a:latin typeface="Consolas"/>
                <a:ea typeface="Consolas"/>
                <a:cs typeface="Consolas"/>
                <a:sym typeface="Consolas"/>
              </a:rPr>
              <a:t>v</a:t>
            </a:r>
            <a:r>
              <a:rPr lang="es" sz="1400">
                <a:solidFill>
                  <a:srgbClr val="3B3B3B"/>
                </a:solidFill>
                <a:latin typeface="Consolas"/>
                <a:ea typeface="Consolas"/>
                <a:cs typeface="Consolas"/>
                <a:sym typeface="Consolas"/>
              </a:rPr>
              <a:t>)</a:t>
            </a:r>
            <a:endParaRPr sz="14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camino</a:t>
            </a:r>
            <a:r>
              <a:rPr lang="es" sz="1400">
                <a:solidFill>
                  <a:srgbClr val="3B3B3B"/>
                </a:solidFill>
                <a:latin typeface="Consolas"/>
                <a:ea typeface="Consolas"/>
                <a:cs typeface="Consolas"/>
                <a:sym typeface="Consolas"/>
              </a:rPr>
              <a:t>.</a:t>
            </a:r>
            <a:r>
              <a:rPr lang="es" sz="1400">
                <a:solidFill>
                  <a:srgbClr val="795E26"/>
                </a:solidFill>
                <a:latin typeface="Consolas"/>
                <a:ea typeface="Consolas"/>
                <a:cs typeface="Consolas"/>
                <a:sym typeface="Consolas"/>
              </a:rPr>
              <a:t>append</a:t>
            </a:r>
            <a:r>
              <a:rPr lang="es" sz="1400">
                <a:solidFill>
                  <a:srgbClr val="3B3B3B"/>
                </a:solidFill>
                <a:latin typeface="Consolas"/>
                <a:ea typeface="Consolas"/>
                <a:cs typeface="Consolas"/>
                <a:sym typeface="Consolas"/>
              </a:rPr>
              <a:t>(</a:t>
            </a:r>
            <a:r>
              <a:rPr lang="es" sz="1400">
                <a:solidFill>
                  <a:srgbClr val="001080"/>
                </a:solidFill>
                <a:latin typeface="Consolas"/>
                <a:ea typeface="Consolas"/>
                <a:cs typeface="Consolas"/>
                <a:sym typeface="Consolas"/>
              </a:rPr>
              <a:t>v</a:t>
            </a:r>
            <a:r>
              <a:rPr lang="es" sz="1400">
                <a:solidFill>
                  <a:srgbClr val="3B3B3B"/>
                </a:solidFill>
                <a:latin typeface="Consolas"/>
                <a:ea typeface="Consolas"/>
                <a:cs typeface="Consolas"/>
                <a:sym typeface="Consolas"/>
              </a:rPr>
              <a:t>)</a:t>
            </a:r>
            <a:endParaRPr sz="14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if</a:t>
            </a:r>
            <a:r>
              <a:rPr lang="es" sz="1400">
                <a:solidFill>
                  <a:srgbClr val="3B3B3B"/>
                </a:solidFill>
                <a:latin typeface="Consolas"/>
                <a:ea typeface="Consolas"/>
                <a:cs typeface="Consolas"/>
                <a:sym typeface="Consolas"/>
              </a:rPr>
              <a:t> </a:t>
            </a:r>
            <a:r>
              <a:rPr lang="es" sz="1400">
                <a:solidFill>
                  <a:srgbClr val="795E26"/>
                </a:solidFill>
                <a:latin typeface="Consolas"/>
                <a:ea typeface="Consolas"/>
                <a:cs typeface="Consolas"/>
                <a:sym typeface="Consolas"/>
              </a:rPr>
              <a:t>len</a:t>
            </a:r>
            <a:r>
              <a:rPr lang="es" sz="1400">
                <a:solidFill>
                  <a:srgbClr val="3B3B3B"/>
                </a:solidFill>
                <a:latin typeface="Consolas"/>
                <a:ea typeface="Consolas"/>
                <a:cs typeface="Consolas"/>
                <a:sym typeface="Consolas"/>
              </a:rPr>
              <a:t>(</a:t>
            </a:r>
            <a:r>
              <a:rPr lang="es" sz="1400">
                <a:solidFill>
                  <a:srgbClr val="001080"/>
                </a:solidFill>
                <a:latin typeface="Consolas"/>
                <a:ea typeface="Consolas"/>
                <a:cs typeface="Consolas"/>
                <a:sym typeface="Consolas"/>
              </a:rPr>
              <a:t>visitados</a:t>
            </a:r>
            <a:r>
              <a:rPr lang="es" sz="1400">
                <a:solidFill>
                  <a:srgbClr val="3B3B3B"/>
                </a:solidFill>
                <a:latin typeface="Consolas"/>
                <a:ea typeface="Consolas"/>
                <a:cs typeface="Consolas"/>
                <a:sym typeface="Consolas"/>
              </a:rPr>
              <a:t>) </a:t>
            </a:r>
            <a:r>
              <a:rPr lang="es" sz="1400">
                <a:latin typeface="Consolas"/>
                <a:ea typeface="Consolas"/>
                <a:cs typeface="Consolas"/>
                <a:sym typeface="Consolas"/>
              </a:rPr>
              <a:t>==</a:t>
            </a:r>
            <a:r>
              <a:rPr lang="es" sz="1400">
                <a:solidFill>
                  <a:srgbClr val="3B3B3B"/>
                </a:solidFill>
                <a:latin typeface="Consolas"/>
                <a:ea typeface="Consolas"/>
                <a:cs typeface="Consolas"/>
                <a:sym typeface="Consolas"/>
              </a:rPr>
              <a:t> </a:t>
            </a:r>
            <a:r>
              <a:rPr lang="es" sz="1400">
                <a:solidFill>
                  <a:srgbClr val="795E26"/>
                </a:solidFill>
                <a:latin typeface="Consolas"/>
                <a:ea typeface="Consolas"/>
                <a:cs typeface="Consolas"/>
                <a:sym typeface="Consolas"/>
              </a:rPr>
              <a:t>len</a:t>
            </a:r>
            <a:r>
              <a:rPr lang="es" sz="1400">
                <a:solidFill>
                  <a:srgbClr val="3B3B3B"/>
                </a:solidFill>
                <a:latin typeface="Consolas"/>
                <a:ea typeface="Consolas"/>
                <a:cs typeface="Consolas"/>
                <a:sym typeface="Consolas"/>
              </a:rPr>
              <a:t>(</a:t>
            </a:r>
            <a:r>
              <a:rPr lang="es" sz="1400">
                <a:solidFill>
                  <a:srgbClr val="001080"/>
                </a:solidFill>
                <a:latin typeface="Consolas"/>
                <a:ea typeface="Consolas"/>
                <a:cs typeface="Consolas"/>
                <a:sym typeface="Consolas"/>
              </a:rPr>
              <a:t>grafo</a:t>
            </a:r>
            <a:r>
              <a:rPr lang="es" sz="1400">
                <a:solidFill>
                  <a:srgbClr val="3B3B3B"/>
                </a:solidFill>
                <a:latin typeface="Consolas"/>
                <a:ea typeface="Consolas"/>
                <a:cs typeface="Consolas"/>
                <a:sym typeface="Consolas"/>
              </a:rPr>
              <a:t>):</a:t>
            </a:r>
            <a:endParaRPr sz="14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return</a:t>
            </a:r>
            <a:r>
              <a:rPr lang="es" sz="1400">
                <a:solidFill>
                  <a:srgbClr val="3B3B3B"/>
                </a:solidFill>
                <a:latin typeface="Consolas"/>
                <a:ea typeface="Consolas"/>
                <a:cs typeface="Consolas"/>
                <a:sym typeface="Consolas"/>
              </a:rPr>
              <a:t> </a:t>
            </a:r>
            <a:r>
              <a:rPr lang="es" sz="1400">
                <a:solidFill>
                  <a:srgbClr val="0070C1"/>
                </a:solidFill>
                <a:latin typeface="Consolas"/>
                <a:ea typeface="Consolas"/>
                <a:cs typeface="Consolas"/>
                <a:sym typeface="Consolas"/>
              </a:rPr>
              <a:t>True</a:t>
            </a:r>
            <a:endParaRPr sz="1400">
              <a:solidFill>
                <a:srgbClr val="0070C1"/>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for</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w</a:t>
            </a: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in</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grafo</a:t>
            </a:r>
            <a:r>
              <a:rPr lang="es" sz="1400">
                <a:solidFill>
                  <a:srgbClr val="3B3B3B"/>
                </a:solidFill>
                <a:latin typeface="Consolas"/>
                <a:ea typeface="Consolas"/>
                <a:cs typeface="Consolas"/>
                <a:sym typeface="Consolas"/>
              </a:rPr>
              <a:t>.</a:t>
            </a:r>
            <a:r>
              <a:rPr lang="es" sz="1400">
                <a:solidFill>
                  <a:srgbClr val="795E26"/>
                </a:solidFill>
                <a:latin typeface="Consolas"/>
                <a:ea typeface="Consolas"/>
                <a:cs typeface="Consolas"/>
                <a:sym typeface="Consolas"/>
              </a:rPr>
              <a:t>adyacentes</a:t>
            </a:r>
            <a:r>
              <a:rPr lang="es" sz="1400">
                <a:solidFill>
                  <a:srgbClr val="3B3B3B"/>
                </a:solidFill>
                <a:latin typeface="Consolas"/>
                <a:ea typeface="Consolas"/>
                <a:cs typeface="Consolas"/>
                <a:sym typeface="Consolas"/>
              </a:rPr>
              <a:t>(</a:t>
            </a:r>
            <a:r>
              <a:rPr lang="es" sz="1400">
                <a:solidFill>
                  <a:srgbClr val="001080"/>
                </a:solidFill>
                <a:latin typeface="Consolas"/>
                <a:ea typeface="Consolas"/>
                <a:cs typeface="Consolas"/>
                <a:sym typeface="Consolas"/>
              </a:rPr>
              <a:t>v</a:t>
            </a:r>
            <a:r>
              <a:rPr lang="es" sz="1400">
                <a:solidFill>
                  <a:srgbClr val="3B3B3B"/>
                </a:solidFill>
                <a:latin typeface="Consolas"/>
                <a:ea typeface="Consolas"/>
                <a:cs typeface="Consolas"/>
                <a:sym typeface="Consolas"/>
              </a:rPr>
              <a:t>):</a:t>
            </a:r>
            <a:endParaRPr sz="14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if</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w</a:t>
            </a:r>
            <a:r>
              <a:rPr lang="es" sz="1400">
                <a:solidFill>
                  <a:srgbClr val="3B3B3B"/>
                </a:solidFill>
                <a:latin typeface="Consolas"/>
                <a:ea typeface="Consolas"/>
                <a:cs typeface="Consolas"/>
                <a:sym typeface="Consolas"/>
              </a:rPr>
              <a:t> </a:t>
            </a:r>
            <a:r>
              <a:rPr lang="es" sz="1400">
                <a:solidFill>
                  <a:srgbClr val="0000FF"/>
                </a:solidFill>
                <a:latin typeface="Consolas"/>
                <a:ea typeface="Consolas"/>
                <a:cs typeface="Consolas"/>
                <a:sym typeface="Consolas"/>
              </a:rPr>
              <a:t>not</a:t>
            </a:r>
            <a:r>
              <a:rPr lang="es" sz="1400">
                <a:solidFill>
                  <a:srgbClr val="3B3B3B"/>
                </a:solidFill>
                <a:latin typeface="Consolas"/>
                <a:ea typeface="Consolas"/>
                <a:cs typeface="Consolas"/>
                <a:sym typeface="Consolas"/>
              </a:rPr>
              <a:t> </a:t>
            </a:r>
            <a:r>
              <a:rPr lang="es" sz="1400">
                <a:solidFill>
                  <a:srgbClr val="0000FF"/>
                </a:solidFill>
                <a:latin typeface="Consolas"/>
                <a:ea typeface="Consolas"/>
                <a:cs typeface="Consolas"/>
                <a:sym typeface="Consolas"/>
              </a:rPr>
              <a:t>in</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visitados</a:t>
            </a:r>
            <a:r>
              <a:rPr lang="es" sz="1400">
                <a:solidFill>
                  <a:srgbClr val="3B3B3B"/>
                </a:solidFill>
                <a:latin typeface="Consolas"/>
                <a:ea typeface="Consolas"/>
                <a:cs typeface="Consolas"/>
                <a:sym typeface="Consolas"/>
              </a:rPr>
              <a:t>: </a:t>
            </a:r>
            <a:r>
              <a:rPr lang="es" sz="1400">
                <a:solidFill>
                  <a:srgbClr val="008000"/>
                </a:solidFill>
                <a:latin typeface="Consolas"/>
                <a:ea typeface="Consolas"/>
                <a:cs typeface="Consolas"/>
                <a:sym typeface="Consolas"/>
              </a:rPr>
              <a:t># Esta es en sí nuestra poda</a:t>
            </a:r>
            <a:endParaRPr sz="1400">
              <a:solidFill>
                <a:srgbClr val="00800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if</a:t>
            </a:r>
            <a:r>
              <a:rPr lang="es" sz="1400">
                <a:solidFill>
                  <a:srgbClr val="3B3B3B"/>
                </a:solidFill>
                <a:latin typeface="Consolas"/>
                <a:ea typeface="Consolas"/>
                <a:cs typeface="Consolas"/>
                <a:sym typeface="Consolas"/>
              </a:rPr>
              <a:t> </a:t>
            </a:r>
            <a:r>
              <a:rPr lang="es" sz="1400">
                <a:solidFill>
                  <a:srgbClr val="795E26"/>
                </a:solidFill>
                <a:latin typeface="Consolas"/>
                <a:ea typeface="Consolas"/>
                <a:cs typeface="Consolas"/>
                <a:sym typeface="Consolas"/>
              </a:rPr>
              <a:t>camino_hamiltoniano_dfs</a:t>
            </a:r>
            <a:r>
              <a:rPr lang="es" sz="1400">
                <a:solidFill>
                  <a:srgbClr val="3B3B3B"/>
                </a:solidFill>
                <a:latin typeface="Consolas"/>
                <a:ea typeface="Consolas"/>
                <a:cs typeface="Consolas"/>
                <a:sym typeface="Consolas"/>
              </a:rPr>
              <a:t>(</a:t>
            </a:r>
            <a:r>
              <a:rPr lang="es" sz="1400">
                <a:solidFill>
                  <a:srgbClr val="001080"/>
                </a:solidFill>
                <a:latin typeface="Consolas"/>
                <a:ea typeface="Consolas"/>
                <a:cs typeface="Consolas"/>
                <a:sym typeface="Consolas"/>
              </a:rPr>
              <a:t>grafo</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w</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visitados</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camino</a:t>
            </a:r>
            <a:r>
              <a:rPr lang="es" sz="1400">
                <a:solidFill>
                  <a:srgbClr val="3B3B3B"/>
                </a:solidFill>
                <a:latin typeface="Consolas"/>
                <a:ea typeface="Consolas"/>
                <a:cs typeface="Consolas"/>
                <a:sym typeface="Consolas"/>
              </a:rPr>
              <a:t>):</a:t>
            </a:r>
            <a:endParaRPr sz="14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return</a:t>
            </a:r>
            <a:r>
              <a:rPr lang="es" sz="1400">
                <a:solidFill>
                  <a:srgbClr val="3B3B3B"/>
                </a:solidFill>
                <a:latin typeface="Consolas"/>
                <a:ea typeface="Consolas"/>
                <a:cs typeface="Consolas"/>
                <a:sym typeface="Consolas"/>
              </a:rPr>
              <a:t> </a:t>
            </a:r>
            <a:r>
              <a:rPr lang="es" sz="1400">
                <a:solidFill>
                  <a:srgbClr val="0070C1"/>
                </a:solidFill>
                <a:latin typeface="Consolas"/>
                <a:ea typeface="Consolas"/>
                <a:cs typeface="Consolas"/>
                <a:sym typeface="Consolas"/>
              </a:rPr>
              <a:t>True</a:t>
            </a:r>
            <a:endParaRPr sz="1400">
              <a:solidFill>
                <a:srgbClr val="0070C1"/>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visitados</a:t>
            </a:r>
            <a:r>
              <a:rPr lang="es" sz="1400">
                <a:solidFill>
                  <a:srgbClr val="3B3B3B"/>
                </a:solidFill>
                <a:latin typeface="Consolas"/>
                <a:ea typeface="Consolas"/>
                <a:cs typeface="Consolas"/>
                <a:sym typeface="Consolas"/>
              </a:rPr>
              <a:t>.</a:t>
            </a:r>
            <a:r>
              <a:rPr lang="es" sz="1400">
                <a:solidFill>
                  <a:srgbClr val="795E26"/>
                </a:solidFill>
                <a:latin typeface="Consolas"/>
                <a:ea typeface="Consolas"/>
                <a:cs typeface="Consolas"/>
                <a:sym typeface="Consolas"/>
              </a:rPr>
              <a:t>remove</a:t>
            </a:r>
            <a:r>
              <a:rPr lang="es" sz="1400">
                <a:solidFill>
                  <a:srgbClr val="3B3B3B"/>
                </a:solidFill>
                <a:latin typeface="Consolas"/>
                <a:ea typeface="Consolas"/>
                <a:cs typeface="Consolas"/>
                <a:sym typeface="Consolas"/>
              </a:rPr>
              <a:t>(</a:t>
            </a:r>
            <a:r>
              <a:rPr lang="es" sz="1400">
                <a:solidFill>
                  <a:srgbClr val="001080"/>
                </a:solidFill>
                <a:latin typeface="Consolas"/>
                <a:ea typeface="Consolas"/>
                <a:cs typeface="Consolas"/>
                <a:sym typeface="Consolas"/>
              </a:rPr>
              <a:t>v</a:t>
            </a:r>
            <a:r>
              <a:rPr lang="es" sz="1400">
                <a:solidFill>
                  <a:srgbClr val="3B3B3B"/>
                </a:solidFill>
                <a:latin typeface="Consolas"/>
                <a:ea typeface="Consolas"/>
                <a:cs typeface="Consolas"/>
                <a:sym typeface="Consolas"/>
              </a:rPr>
              <a:t>)     </a:t>
            </a:r>
            <a:r>
              <a:rPr lang="es" sz="1400">
                <a:solidFill>
                  <a:srgbClr val="008000"/>
                </a:solidFill>
                <a:latin typeface="Consolas"/>
                <a:ea typeface="Consolas"/>
                <a:cs typeface="Consolas"/>
                <a:sym typeface="Consolas"/>
              </a:rPr>
              <a:t># Permitiendo volver a venir a este vértice</a:t>
            </a:r>
            <a:endParaRPr sz="1400">
              <a:solidFill>
                <a:srgbClr val="00800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camino</a:t>
            </a:r>
            <a:r>
              <a:rPr lang="es" sz="1400">
                <a:solidFill>
                  <a:srgbClr val="3B3B3B"/>
                </a:solidFill>
                <a:latin typeface="Consolas"/>
                <a:ea typeface="Consolas"/>
                <a:cs typeface="Consolas"/>
                <a:sym typeface="Consolas"/>
              </a:rPr>
              <a:t>.</a:t>
            </a:r>
            <a:r>
              <a:rPr lang="es" sz="1400">
                <a:solidFill>
                  <a:srgbClr val="795E26"/>
                </a:solidFill>
                <a:latin typeface="Consolas"/>
                <a:ea typeface="Consolas"/>
                <a:cs typeface="Consolas"/>
                <a:sym typeface="Consolas"/>
              </a:rPr>
              <a:t>pop</a:t>
            </a:r>
            <a:r>
              <a:rPr lang="es" sz="1400">
                <a:solidFill>
                  <a:srgbClr val="3B3B3B"/>
                </a:solidFill>
                <a:latin typeface="Consolas"/>
                <a:ea typeface="Consolas"/>
                <a:cs typeface="Consolas"/>
                <a:sym typeface="Consolas"/>
              </a:rPr>
              <a:t>()            </a:t>
            </a:r>
            <a:r>
              <a:rPr lang="es" sz="1400">
                <a:solidFill>
                  <a:srgbClr val="008000"/>
                </a:solidFill>
                <a:latin typeface="Consolas"/>
                <a:ea typeface="Consolas"/>
                <a:cs typeface="Consolas"/>
                <a:sym typeface="Consolas"/>
              </a:rPr>
              <a:t># por otro camino</a:t>
            </a:r>
            <a:endParaRPr sz="1400">
              <a:solidFill>
                <a:srgbClr val="00800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return</a:t>
            </a:r>
            <a:r>
              <a:rPr lang="es" sz="1400">
                <a:solidFill>
                  <a:srgbClr val="3B3B3B"/>
                </a:solidFill>
                <a:latin typeface="Consolas"/>
                <a:ea typeface="Consolas"/>
                <a:cs typeface="Consolas"/>
                <a:sym typeface="Consolas"/>
              </a:rPr>
              <a:t> </a:t>
            </a:r>
            <a:r>
              <a:rPr lang="es" sz="1400">
                <a:solidFill>
                  <a:srgbClr val="0070C1"/>
                </a:solidFill>
                <a:latin typeface="Consolas"/>
                <a:ea typeface="Consolas"/>
                <a:cs typeface="Consolas"/>
                <a:sym typeface="Consolas"/>
              </a:rPr>
              <a:t>False</a:t>
            </a:r>
            <a:endParaRPr sz="1400">
              <a:solidFill>
                <a:srgbClr val="0070C1"/>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t/>
            </a:r>
            <a:endParaRPr sz="1200">
              <a:solidFill>
                <a:srgbClr val="0070C1"/>
              </a:solidFill>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3" name="Shape 293"/>
        <p:cNvGrpSpPr/>
        <p:nvPr/>
      </p:nvGrpSpPr>
      <p:grpSpPr>
        <a:xfrm>
          <a:off x="0" y="0"/>
          <a:ext cx="0" cy="0"/>
          <a:chOff x="0" y="0"/>
          <a:chExt cx="0" cy="0"/>
        </a:xfrm>
      </p:grpSpPr>
      <p:sp>
        <p:nvSpPr>
          <p:cNvPr id="294" name="Google Shape;294;p4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No da lo mismo de dónde comencemos, así que...</a:t>
            </a:r>
            <a:endParaRPr/>
          </a:p>
        </p:txBody>
      </p:sp>
      <p:sp>
        <p:nvSpPr>
          <p:cNvPr id="295" name="Google Shape;295;p44"/>
          <p:cNvSpPr txBox="1"/>
          <p:nvPr>
            <p:ph idx="1" type="body"/>
          </p:nvPr>
        </p:nvSpPr>
        <p:spPr>
          <a:xfrm>
            <a:off x="313200" y="1170000"/>
            <a:ext cx="8520600" cy="3397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s" sz="1400">
                <a:solidFill>
                  <a:srgbClr val="0000FF"/>
                </a:solidFill>
                <a:latin typeface="Consolas"/>
                <a:ea typeface="Consolas"/>
                <a:cs typeface="Consolas"/>
                <a:sym typeface="Consolas"/>
              </a:rPr>
              <a:t>def</a:t>
            </a:r>
            <a:r>
              <a:rPr lang="es" sz="1400">
                <a:solidFill>
                  <a:srgbClr val="3B3B3B"/>
                </a:solidFill>
                <a:latin typeface="Consolas"/>
                <a:ea typeface="Consolas"/>
                <a:cs typeface="Consolas"/>
                <a:sym typeface="Consolas"/>
              </a:rPr>
              <a:t> </a:t>
            </a:r>
            <a:r>
              <a:rPr lang="es" sz="1400">
                <a:solidFill>
                  <a:srgbClr val="795E26"/>
                </a:solidFill>
                <a:latin typeface="Consolas"/>
                <a:ea typeface="Consolas"/>
                <a:cs typeface="Consolas"/>
                <a:sym typeface="Consolas"/>
              </a:rPr>
              <a:t>camino_hamiltoniano</a:t>
            </a:r>
            <a:r>
              <a:rPr lang="es" sz="1400">
                <a:solidFill>
                  <a:srgbClr val="3B3B3B"/>
                </a:solidFill>
                <a:latin typeface="Consolas"/>
                <a:ea typeface="Consolas"/>
                <a:cs typeface="Consolas"/>
                <a:sym typeface="Consolas"/>
              </a:rPr>
              <a:t>(</a:t>
            </a:r>
            <a:r>
              <a:rPr lang="es" sz="1400">
                <a:solidFill>
                  <a:srgbClr val="001080"/>
                </a:solidFill>
                <a:latin typeface="Consolas"/>
                <a:ea typeface="Consolas"/>
                <a:cs typeface="Consolas"/>
                <a:sym typeface="Consolas"/>
              </a:rPr>
              <a:t>grafo</a:t>
            </a:r>
            <a:r>
              <a:rPr lang="es" sz="1400">
                <a:solidFill>
                  <a:srgbClr val="3B3B3B"/>
                </a:solidFill>
                <a:latin typeface="Consolas"/>
                <a:ea typeface="Consolas"/>
                <a:cs typeface="Consolas"/>
                <a:sym typeface="Consolas"/>
              </a:rPr>
              <a:t>):</a:t>
            </a:r>
            <a:endParaRPr sz="14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camino</a:t>
            </a:r>
            <a:r>
              <a:rPr lang="es" sz="1400">
                <a:solidFill>
                  <a:srgbClr val="3B3B3B"/>
                </a:solidFill>
                <a:latin typeface="Consolas"/>
                <a:ea typeface="Consolas"/>
                <a:cs typeface="Consolas"/>
                <a:sym typeface="Consolas"/>
              </a:rPr>
              <a:t> </a:t>
            </a:r>
            <a:r>
              <a:rPr lang="es" sz="1400">
                <a:latin typeface="Consolas"/>
                <a:ea typeface="Consolas"/>
                <a:cs typeface="Consolas"/>
                <a:sym typeface="Consolas"/>
              </a:rPr>
              <a:t>=</a:t>
            </a:r>
            <a:r>
              <a:rPr lang="es" sz="1400">
                <a:solidFill>
                  <a:srgbClr val="3B3B3B"/>
                </a:solidFill>
                <a:latin typeface="Consolas"/>
                <a:ea typeface="Consolas"/>
                <a:cs typeface="Consolas"/>
                <a:sym typeface="Consolas"/>
              </a:rPr>
              <a:t> []</a:t>
            </a:r>
            <a:endParaRPr sz="14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visitados</a:t>
            </a:r>
            <a:r>
              <a:rPr lang="es" sz="1400">
                <a:solidFill>
                  <a:srgbClr val="3B3B3B"/>
                </a:solidFill>
                <a:latin typeface="Consolas"/>
                <a:ea typeface="Consolas"/>
                <a:cs typeface="Consolas"/>
                <a:sym typeface="Consolas"/>
              </a:rPr>
              <a:t> </a:t>
            </a:r>
            <a:r>
              <a:rPr lang="es" sz="1400">
                <a:latin typeface="Consolas"/>
                <a:ea typeface="Consolas"/>
                <a:cs typeface="Consolas"/>
                <a:sym typeface="Consolas"/>
              </a:rPr>
              <a:t>=</a:t>
            </a:r>
            <a:r>
              <a:rPr lang="es" sz="1400">
                <a:solidFill>
                  <a:srgbClr val="3B3B3B"/>
                </a:solidFill>
                <a:latin typeface="Consolas"/>
                <a:ea typeface="Consolas"/>
                <a:cs typeface="Consolas"/>
                <a:sym typeface="Consolas"/>
              </a:rPr>
              <a:t> </a:t>
            </a:r>
            <a:r>
              <a:rPr lang="es" sz="1400">
                <a:solidFill>
                  <a:srgbClr val="267F99"/>
                </a:solidFill>
                <a:latin typeface="Consolas"/>
                <a:ea typeface="Consolas"/>
                <a:cs typeface="Consolas"/>
                <a:sym typeface="Consolas"/>
              </a:rPr>
              <a:t>set</a:t>
            </a:r>
            <a:r>
              <a:rPr lang="es" sz="1400">
                <a:solidFill>
                  <a:srgbClr val="3B3B3B"/>
                </a:solidFill>
                <a:latin typeface="Consolas"/>
                <a:ea typeface="Consolas"/>
                <a:cs typeface="Consolas"/>
                <a:sym typeface="Consolas"/>
              </a:rPr>
              <a:t>()  </a:t>
            </a:r>
            <a:endParaRPr sz="14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for</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v</a:t>
            </a: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in</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grafo</a:t>
            </a:r>
            <a:r>
              <a:rPr lang="es" sz="1400">
                <a:solidFill>
                  <a:srgbClr val="3B3B3B"/>
                </a:solidFill>
                <a:latin typeface="Consolas"/>
                <a:ea typeface="Consolas"/>
                <a:cs typeface="Consolas"/>
                <a:sym typeface="Consolas"/>
              </a:rPr>
              <a:t>:</a:t>
            </a:r>
            <a:endParaRPr sz="14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if</a:t>
            </a:r>
            <a:r>
              <a:rPr lang="es" sz="1400">
                <a:solidFill>
                  <a:srgbClr val="3B3B3B"/>
                </a:solidFill>
                <a:latin typeface="Consolas"/>
                <a:ea typeface="Consolas"/>
                <a:cs typeface="Consolas"/>
                <a:sym typeface="Consolas"/>
              </a:rPr>
              <a:t> </a:t>
            </a:r>
            <a:r>
              <a:rPr lang="es" sz="1400">
                <a:solidFill>
                  <a:srgbClr val="795E26"/>
                </a:solidFill>
                <a:latin typeface="Consolas"/>
                <a:ea typeface="Consolas"/>
                <a:cs typeface="Consolas"/>
                <a:sym typeface="Consolas"/>
              </a:rPr>
              <a:t>camino_hamiltoniano_dfs</a:t>
            </a:r>
            <a:r>
              <a:rPr lang="es" sz="1400">
                <a:solidFill>
                  <a:srgbClr val="3B3B3B"/>
                </a:solidFill>
                <a:latin typeface="Consolas"/>
                <a:ea typeface="Consolas"/>
                <a:cs typeface="Consolas"/>
                <a:sym typeface="Consolas"/>
              </a:rPr>
              <a:t>(</a:t>
            </a:r>
            <a:r>
              <a:rPr lang="es" sz="1400">
                <a:solidFill>
                  <a:srgbClr val="001080"/>
                </a:solidFill>
                <a:latin typeface="Consolas"/>
                <a:ea typeface="Consolas"/>
                <a:cs typeface="Consolas"/>
                <a:sym typeface="Consolas"/>
              </a:rPr>
              <a:t>grafo</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v</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visitados</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camino</a:t>
            </a:r>
            <a:r>
              <a:rPr lang="es" sz="1400">
                <a:solidFill>
                  <a:srgbClr val="3B3B3B"/>
                </a:solidFill>
                <a:latin typeface="Consolas"/>
                <a:ea typeface="Consolas"/>
                <a:cs typeface="Consolas"/>
                <a:sym typeface="Consolas"/>
              </a:rPr>
              <a:t>):</a:t>
            </a:r>
            <a:endParaRPr sz="1400">
              <a:solidFill>
                <a:srgbClr val="3B3B3B"/>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return</a:t>
            </a:r>
            <a:r>
              <a:rPr lang="es" sz="1400">
                <a:solidFill>
                  <a:srgbClr val="3B3B3B"/>
                </a:solidFill>
                <a:latin typeface="Consolas"/>
                <a:ea typeface="Consolas"/>
                <a:cs typeface="Consolas"/>
                <a:sym typeface="Consolas"/>
              </a:rPr>
              <a:t> </a:t>
            </a:r>
            <a:r>
              <a:rPr lang="es" sz="1400">
                <a:solidFill>
                  <a:srgbClr val="001080"/>
                </a:solidFill>
                <a:latin typeface="Consolas"/>
                <a:ea typeface="Consolas"/>
                <a:cs typeface="Consolas"/>
                <a:sym typeface="Consolas"/>
              </a:rPr>
              <a:t>camino</a:t>
            </a:r>
            <a:endParaRPr sz="1400">
              <a:solidFill>
                <a:srgbClr val="001080"/>
              </a:solidFill>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s" sz="1400">
                <a:solidFill>
                  <a:srgbClr val="3B3B3B"/>
                </a:solidFill>
                <a:latin typeface="Consolas"/>
                <a:ea typeface="Consolas"/>
                <a:cs typeface="Consolas"/>
                <a:sym typeface="Consolas"/>
              </a:rPr>
              <a:t>    </a:t>
            </a:r>
            <a:r>
              <a:rPr lang="es" sz="1400">
                <a:solidFill>
                  <a:srgbClr val="AF00DB"/>
                </a:solidFill>
                <a:latin typeface="Consolas"/>
                <a:ea typeface="Consolas"/>
                <a:cs typeface="Consolas"/>
                <a:sym typeface="Consolas"/>
              </a:rPr>
              <a:t>return</a:t>
            </a:r>
            <a:r>
              <a:rPr lang="es" sz="1400">
                <a:solidFill>
                  <a:srgbClr val="3B3B3B"/>
                </a:solidFill>
                <a:latin typeface="Consolas"/>
                <a:ea typeface="Consolas"/>
                <a:cs typeface="Consolas"/>
                <a:sym typeface="Consolas"/>
              </a:rPr>
              <a:t> </a:t>
            </a:r>
            <a:r>
              <a:rPr lang="es" sz="1400">
                <a:solidFill>
                  <a:srgbClr val="0070C1"/>
                </a:solidFill>
                <a:latin typeface="Consolas"/>
                <a:ea typeface="Consolas"/>
                <a:cs typeface="Consolas"/>
                <a:sym typeface="Consolas"/>
              </a:rPr>
              <a:t>None</a:t>
            </a:r>
            <a:endParaRPr>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Coloreo de grafos</a:t>
            </a:r>
            <a:endParaRPr/>
          </a:p>
        </p:txBody>
      </p:sp>
      <p:sp>
        <p:nvSpPr>
          <p:cNvPr id="301" name="Google Shape;301;p45"/>
          <p:cNvSpPr txBox="1"/>
          <p:nvPr>
            <p:ph idx="1" type="body"/>
          </p:nvPr>
        </p:nvSpPr>
        <p:spPr>
          <a:xfrm>
            <a:off x="311700" y="943000"/>
            <a:ext cx="8520600" cy="813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Dado un grafo y K colores diferentes, ¿es posible pintar los vértices de tal forma que ningún par de vértices adyacentes tengan el mismo color?</a:t>
            </a:r>
            <a:endParaRPr/>
          </a:p>
        </p:txBody>
      </p:sp>
      <p:pic>
        <p:nvPicPr>
          <p:cNvPr id="302" name="Google Shape;302;p45"/>
          <p:cNvPicPr preferRelativeResize="0"/>
          <p:nvPr/>
        </p:nvPicPr>
        <p:blipFill>
          <a:blip r:embed="rId3">
            <a:alphaModFix/>
          </a:blip>
          <a:stretch>
            <a:fillRect/>
          </a:stretch>
        </p:blipFill>
        <p:spPr>
          <a:xfrm>
            <a:off x="926438" y="1693025"/>
            <a:ext cx="2324033" cy="3374276"/>
          </a:xfrm>
          <a:prstGeom prst="rect">
            <a:avLst/>
          </a:prstGeom>
          <a:noFill/>
          <a:ln>
            <a:noFill/>
          </a:ln>
        </p:spPr>
      </p:pic>
      <p:pic>
        <p:nvPicPr>
          <p:cNvPr id="303" name="Google Shape;303;p45"/>
          <p:cNvPicPr preferRelativeResize="0"/>
          <p:nvPr/>
        </p:nvPicPr>
        <p:blipFill>
          <a:blip r:embed="rId4">
            <a:alphaModFix/>
          </a:blip>
          <a:stretch>
            <a:fillRect/>
          </a:stretch>
        </p:blipFill>
        <p:spPr>
          <a:xfrm>
            <a:off x="5727688" y="1693575"/>
            <a:ext cx="2317054" cy="3373200"/>
          </a:xfrm>
          <a:prstGeom prst="rect">
            <a:avLst/>
          </a:prstGeom>
          <a:noFill/>
          <a:ln>
            <a:noFill/>
          </a:ln>
        </p:spPr>
      </p:pic>
      <p:cxnSp>
        <p:nvCxnSpPr>
          <p:cNvPr id="304" name="Google Shape;304;p45"/>
          <p:cNvCxnSpPr/>
          <p:nvPr/>
        </p:nvCxnSpPr>
        <p:spPr>
          <a:xfrm>
            <a:off x="3945925" y="3380175"/>
            <a:ext cx="1086300" cy="0"/>
          </a:xfrm>
          <a:prstGeom prst="straightConnector1">
            <a:avLst/>
          </a:prstGeom>
          <a:noFill/>
          <a:ln cap="flat" cmpd="sng" w="28575">
            <a:solidFill>
              <a:schemeClr val="dk1"/>
            </a:solidFill>
            <a:prstDash val="solid"/>
            <a:round/>
            <a:headEnd len="med" w="med" type="none"/>
            <a:tailEnd len="med" w="med" type="triangle"/>
          </a:ln>
        </p:spPr>
      </p:cxnSp>
      <p:sp>
        <p:nvSpPr>
          <p:cNvPr id="305" name="Google Shape;305;p45"/>
          <p:cNvSpPr txBox="1"/>
          <p:nvPr/>
        </p:nvSpPr>
        <p:spPr>
          <a:xfrm>
            <a:off x="2676600" y="1693575"/>
            <a:ext cx="796800" cy="469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i="1" lang="es" sz="1800">
                <a:solidFill>
                  <a:schemeClr val="dk1"/>
                </a:solidFill>
              </a:rPr>
              <a:t>k</a:t>
            </a:r>
            <a:r>
              <a:rPr i="1" lang="es" sz="1800">
                <a:solidFill>
                  <a:schemeClr val="dk1"/>
                </a:solidFill>
              </a:rPr>
              <a:t> = 4</a:t>
            </a:r>
            <a:endParaRPr i="1">
              <a:solidFill>
                <a:schemeClr val="dk1"/>
              </a:solidFill>
            </a:endParaRPr>
          </a:p>
        </p:txBody>
      </p:sp>
      <p:sp>
        <p:nvSpPr>
          <p:cNvPr id="306" name="Google Shape;306;p45"/>
          <p:cNvSpPr txBox="1"/>
          <p:nvPr/>
        </p:nvSpPr>
        <p:spPr>
          <a:xfrm>
            <a:off x="7581150" y="1693575"/>
            <a:ext cx="378600" cy="469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s" sz="2100">
                <a:solidFill>
                  <a:srgbClr val="93C47D"/>
                </a:solidFill>
              </a:rPr>
              <a:t>✔</a:t>
            </a:r>
            <a:endParaRPr sz="1700">
              <a:solidFill>
                <a:srgbClr val="93C47D"/>
              </a:solidFill>
            </a:endParaRPr>
          </a:p>
        </p:txBody>
      </p:sp>
      <p:pic>
        <p:nvPicPr>
          <p:cNvPr id="307" name="Google Shape;307;p45"/>
          <p:cNvPicPr preferRelativeResize="0"/>
          <p:nvPr/>
        </p:nvPicPr>
        <p:blipFill>
          <a:blip r:embed="rId5">
            <a:alphaModFix/>
          </a:blip>
          <a:stretch>
            <a:fillRect/>
          </a:stretch>
        </p:blipFill>
        <p:spPr>
          <a:xfrm>
            <a:off x="6223800" y="3555628"/>
            <a:ext cx="796799" cy="7905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par>
                                <p:cTn fill="hold" nodeType="with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par>
                                <p:cTn fill="hold" nodeType="with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k = 2…?</a:t>
            </a:r>
            <a:endParaRPr/>
          </a:p>
        </p:txBody>
      </p:sp>
      <p:sp>
        <p:nvSpPr>
          <p:cNvPr id="313" name="Google Shape;313;p4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Sería el problema de detectar si el grafo es bipartito.</a:t>
            </a:r>
            <a:endParaRPr/>
          </a:p>
          <a:p>
            <a:pPr indent="0" lvl="0" marL="0" rtl="0" algn="l">
              <a:spcBef>
                <a:spcPts val="1600"/>
              </a:spcBef>
              <a:spcAft>
                <a:spcPts val="0"/>
              </a:spcAft>
              <a:buNone/>
            </a:pPr>
            <a:r>
              <a:rPr lang="es"/>
              <a:t>Es un problema </a:t>
            </a:r>
            <a:r>
              <a:rPr i="1" lang="es"/>
              <a:t>fácil</a:t>
            </a:r>
            <a:r>
              <a:rPr lang="es"/>
              <a:t>.</a:t>
            </a:r>
            <a:endParaRPr/>
          </a:p>
          <a:p>
            <a:pPr indent="0" lvl="0" marL="0" rtl="0" algn="l">
              <a:spcBef>
                <a:spcPts val="1600"/>
              </a:spcBef>
              <a:spcAft>
                <a:spcPts val="0"/>
              </a:spcAft>
              <a:buNone/>
            </a:pPr>
            <a:r>
              <a:rPr lang="es"/>
              <a:t>Pero si k &gt;= 3, ahí ya cagamos. </a:t>
            </a:r>
            <a:endParaRPr/>
          </a:p>
          <a:p>
            <a:pPr indent="0" lvl="0" marL="0" rtl="0" algn="l">
              <a:spcBef>
                <a:spcPts val="1600"/>
              </a:spcBef>
              <a:spcAft>
                <a:spcPts val="0"/>
              </a:spcAft>
              <a:buNone/>
            </a:pPr>
            <a:r>
              <a:rPr lang="es"/>
              <a:t>¿Posta?</a:t>
            </a:r>
            <a:endParaRPr/>
          </a:p>
          <a:p>
            <a:pPr indent="0" lvl="0" marL="0" rtl="0" algn="l">
              <a:spcBef>
                <a:spcPts val="1600"/>
              </a:spcBef>
              <a:spcAft>
                <a:spcPts val="1600"/>
              </a:spcAft>
              <a:buNone/>
            </a:pPr>
            <a:r>
              <a:rPr lang="es"/>
              <a:t>Si, lo vemos en unas clases.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animEffect filter="fade" transition="in">
                                      <p:cBhvr>
                                        <p:cTn dur="1000"/>
                                        <p:tgtEl>
                                          <p:spTgt spid="3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animEffect filter="fade" transition="in">
                                      <p:cBhvr>
                                        <p:cTn dur="1000"/>
                                        <p:tgtEl>
                                          <p:spTgt spid="3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2" st="2"/>
                                            </p:txEl>
                                          </p:spTgt>
                                        </p:tgtEl>
                                        <p:attrNameLst>
                                          <p:attrName>style.visibility</p:attrName>
                                        </p:attrNameLst>
                                      </p:cBhvr>
                                      <p:to>
                                        <p:strVal val="visible"/>
                                      </p:to>
                                    </p:set>
                                    <p:animEffect filter="fade" transition="in">
                                      <p:cBhvr>
                                        <p:cTn dur="1000"/>
                                        <p:tgtEl>
                                          <p:spTgt spid="3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3" st="3"/>
                                            </p:txEl>
                                          </p:spTgt>
                                        </p:tgtEl>
                                        <p:attrNameLst>
                                          <p:attrName>style.visibility</p:attrName>
                                        </p:attrNameLst>
                                      </p:cBhvr>
                                      <p:to>
                                        <p:strVal val="visible"/>
                                      </p:to>
                                    </p:set>
                                    <p:animEffect filter="fade" transition="in">
                                      <p:cBhvr>
                                        <p:cTn dur="1000"/>
                                        <p:tgtEl>
                                          <p:spTgt spid="3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4" st="4"/>
                                            </p:txEl>
                                          </p:spTgt>
                                        </p:tgtEl>
                                        <p:attrNameLst>
                                          <p:attrName>style.visibility</p:attrName>
                                        </p:attrNameLst>
                                      </p:cBhvr>
                                      <p:to>
                                        <p:strVal val="visible"/>
                                      </p:to>
                                    </p:set>
                                    <p:animEffect filter="fade" transition="in">
                                      <p:cBhvr>
                                        <p:cTn dur="1000"/>
                                        <p:tgtEl>
                                          <p:spTgt spid="31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Recordamos rápidamente "receta" de Algoritmo backtracking</a:t>
            </a:r>
            <a:endParaRPr/>
          </a:p>
        </p:txBody>
      </p:sp>
      <p:sp>
        <p:nvSpPr>
          <p:cNvPr id="319" name="Google Shape;319;p47"/>
          <p:cNvSpPr txBox="1"/>
          <p:nvPr/>
        </p:nvSpPr>
        <p:spPr>
          <a:xfrm>
            <a:off x="0" y="1659700"/>
            <a:ext cx="8832300" cy="2339700"/>
          </a:xfrm>
          <a:prstGeom prst="rect">
            <a:avLst/>
          </a:prstGeom>
          <a:noFill/>
          <a:ln>
            <a:noFill/>
          </a:ln>
        </p:spPr>
        <p:txBody>
          <a:bodyPr anchorCtr="0" anchor="t" bIns="91425" lIns="91425" spcFirstLastPara="1" rIns="91425" wrap="square" tIns="91425">
            <a:spAutoFit/>
          </a:bodyPr>
          <a:lstStyle/>
          <a:p>
            <a:pPr indent="-342900" lvl="0" marL="1371600" rtl="0" algn="l">
              <a:spcBef>
                <a:spcPts val="0"/>
              </a:spcBef>
              <a:spcAft>
                <a:spcPts val="0"/>
              </a:spcAft>
              <a:buClr>
                <a:schemeClr val="dk1"/>
              </a:buClr>
              <a:buSzPts val="1800"/>
              <a:buFont typeface="Source Code Pro"/>
              <a:buAutoNum type="arabicParenR"/>
            </a:pPr>
            <a:r>
              <a:rPr lang="es" sz="1800">
                <a:solidFill>
                  <a:schemeClr val="dk1"/>
                </a:solidFill>
                <a:latin typeface="Source Code Pro"/>
                <a:ea typeface="Source Code Pro"/>
                <a:cs typeface="Source Code Pro"/>
                <a:sym typeface="Source Code Pro"/>
              </a:rPr>
              <a:t>Si ya encontre una solucion, la devuelvo y termino.</a:t>
            </a:r>
            <a:endParaRPr sz="1800">
              <a:solidFill>
                <a:schemeClr val="dk1"/>
              </a:solidFill>
              <a:latin typeface="Source Code Pro"/>
              <a:ea typeface="Source Code Pro"/>
              <a:cs typeface="Source Code Pro"/>
              <a:sym typeface="Source Code Pro"/>
            </a:endParaRPr>
          </a:p>
          <a:p>
            <a:pPr indent="-342900" lvl="0" marL="1371600" rtl="0" algn="l">
              <a:spcBef>
                <a:spcPts val="0"/>
              </a:spcBef>
              <a:spcAft>
                <a:spcPts val="0"/>
              </a:spcAft>
              <a:buClr>
                <a:schemeClr val="dk1"/>
              </a:buClr>
              <a:buSzPts val="1800"/>
              <a:buFont typeface="Source Code Pro"/>
              <a:buAutoNum type="arabicParenR"/>
            </a:pPr>
            <a:r>
              <a:rPr lang="es" sz="1800">
                <a:solidFill>
                  <a:schemeClr val="dk1"/>
                </a:solidFill>
                <a:latin typeface="Source Code Pro"/>
                <a:ea typeface="Source Code Pro"/>
                <a:cs typeface="Source Code Pro"/>
                <a:sym typeface="Source Code Pro"/>
              </a:rPr>
              <a:t>Avanzo si puedo</a:t>
            </a:r>
            <a:endParaRPr sz="1800">
              <a:solidFill>
                <a:schemeClr val="dk1"/>
              </a:solidFill>
              <a:latin typeface="Source Code Pro"/>
              <a:ea typeface="Source Code Pro"/>
              <a:cs typeface="Source Code Pro"/>
              <a:sym typeface="Source Code Pro"/>
            </a:endParaRPr>
          </a:p>
          <a:p>
            <a:pPr indent="-342900" lvl="0" marL="1371600" rtl="0" algn="l">
              <a:spcBef>
                <a:spcPts val="0"/>
              </a:spcBef>
              <a:spcAft>
                <a:spcPts val="0"/>
              </a:spcAft>
              <a:buClr>
                <a:schemeClr val="dk1"/>
              </a:buClr>
              <a:buSzPts val="1800"/>
              <a:buFont typeface="Source Code Pro"/>
              <a:buAutoNum type="arabicParenR"/>
            </a:pPr>
            <a:r>
              <a:rPr lang="es" sz="1800">
                <a:solidFill>
                  <a:schemeClr val="dk1"/>
                </a:solidFill>
                <a:latin typeface="Source Code Pro"/>
                <a:ea typeface="Source Code Pro"/>
                <a:cs typeface="Source Code Pro"/>
                <a:sym typeface="Source Code Pro"/>
              </a:rPr>
              <a:t>Pruebo si la solución parcial es válida</a:t>
            </a:r>
            <a:endParaRPr sz="1800">
              <a:solidFill>
                <a:schemeClr val="dk1"/>
              </a:solidFill>
              <a:latin typeface="Source Code Pro"/>
              <a:ea typeface="Source Code Pro"/>
              <a:cs typeface="Source Code Pro"/>
              <a:sym typeface="Source Code Pro"/>
            </a:endParaRPr>
          </a:p>
          <a:p>
            <a:pPr indent="-330200" lvl="0" marL="1828800" rtl="0" algn="l">
              <a:spcBef>
                <a:spcPts val="0"/>
              </a:spcBef>
              <a:spcAft>
                <a:spcPts val="0"/>
              </a:spcAft>
              <a:buClr>
                <a:schemeClr val="dk1"/>
              </a:buClr>
              <a:buSzPts val="1600"/>
              <a:buFont typeface="Source Code Pro"/>
              <a:buAutoNum type="alphaLcParenR"/>
            </a:pPr>
            <a:r>
              <a:rPr lang="es" sz="1800">
                <a:solidFill>
                  <a:schemeClr val="dk1"/>
                </a:solidFill>
                <a:latin typeface="Source Code Pro"/>
                <a:ea typeface="Source Code Pro"/>
                <a:cs typeface="Source Code Pro"/>
                <a:sym typeface="Source Code Pro"/>
              </a:rPr>
              <a:t>Si no lo es, retrocedo </a:t>
            </a:r>
            <a:r>
              <a:rPr lang="es" sz="1600">
                <a:solidFill>
                  <a:schemeClr val="dk1"/>
                </a:solidFill>
                <a:latin typeface="Source Code Pro"/>
                <a:ea typeface="Source Code Pro"/>
                <a:cs typeface="Source Code Pro"/>
                <a:sym typeface="Source Code Pro"/>
              </a:rPr>
              <a:t>y vuelvo a 2)</a:t>
            </a:r>
            <a:endParaRPr sz="1800">
              <a:solidFill>
                <a:schemeClr val="dk1"/>
              </a:solidFill>
              <a:latin typeface="Source Code Pro"/>
              <a:ea typeface="Source Code Pro"/>
              <a:cs typeface="Source Code Pro"/>
              <a:sym typeface="Source Code Pro"/>
            </a:endParaRPr>
          </a:p>
          <a:p>
            <a:pPr indent="-342900" lvl="0" marL="1828800" rtl="0" algn="l">
              <a:spcBef>
                <a:spcPts val="0"/>
              </a:spcBef>
              <a:spcAft>
                <a:spcPts val="0"/>
              </a:spcAft>
              <a:buClr>
                <a:schemeClr val="dk1"/>
              </a:buClr>
              <a:buSzPts val="1800"/>
              <a:buFont typeface="Source Code Pro"/>
              <a:buAutoNum type="alphaLcParenR"/>
            </a:pPr>
            <a:r>
              <a:rPr lang="es" sz="1800">
                <a:solidFill>
                  <a:schemeClr val="dk1"/>
                </a:solidFill>
                <a:latin typeface="Source Code Pro"/>
                <a:ea typeface="Source Code Pro"/>
                <a:cs typeface="Source Code Pro"/>
                <a:sym typeface="Source Code Pro"/>
              </a:rPr>
              <a:t>Si lo es, llamo recursivamente y vuelvo a 1)</a:t>
            </a:r>
            <a:endParaRPr sz="1800">
              <a:solidFill>
                <a:schemeClr val="dk1"/>
              </a:solidFill>
              <a:latin typeface="Source Code Pro"/>
              <a:ea typeface="Source Code Pro"/>
              <a:cs typeface="Source Code Pro"/>
              <a:sym typeface="Source Code Pro"/>
            </a:endParaRPr>
          </a:p>
          <a:p>
            <a:pPr indent="-342900" lvl="0" marL="1371600" rtl="0" algn="l">
              <a:spcBef>
                <a:spcPts val="0"/>
              </a:spcBef>
              <a:spcAft>
                <a:spcPts val="0"/>
              </a:spcAft>
              <a:buClr>
                <a:schemeClr val="dk1"/>
              </a:buClr>
              <a:buSzPts val="1800"/>
              <a:buFont typeface="Source Code Pro"/>
              <a:buAutoNum type="arabicParenR"/>
            </a:pPr>
            <a:r>
              <a:rPr lang="es" sz="1800">
                <a:solidFill>
                  <a:schemeClr val="dk1"/>
                </a:solidFill>
                <a:latin typeface="Source Code Pro"/>
                <a:ea typeface="Source Code Pro"/>
                <a:cs typeface="Source Code Pro"/>
                <a:sym typeface="Source Code Pro"/>
              </a:rPr>
              <a:t>Si llegue hasta aca, ya probe con todo y no encontre una solucion</a:t>
            </a:r>
            <a:endParaRPr sz="1800">
              <a:solidFill>
                <a:schemeClr val="dk1"/>
              </a:solidFill>
              <a:latin typeface="Source Code Pro"/>
              <a:ea typeface="Source Code Pro"/>
              <a:cs typeface="Source Code Pro"/>
              <a:sym typeface="Source Code Pro"/>
            </a:endParaRPr>
          </a:p>
          <a:p>
            <a:pPr indent="457200" lvl="0" marL="0" rtl="0" algn="l">
              <a:spcBef>
                <a:spcPts val="0"/>
              </a:spcBef>
              <a:spcAft>
                <a:spcPts val="0"/>
              </a:spcAft>
              <a:buNone/>
            </a:pPr>
            <a:r>
              <a:rPr lang="es">
                <a:solidFill>
                  <a:schemeClr val="dk1"/>
                </a:solidFill>
                <a:latin typeface="Source Code Pro"/>
                <a:ea typeface="Source Code Pro"/>
                <a:cs typeface="Source Code Pro"/>
                <a:sym typeface="Source Code Pro"/>
              </a:rPr>
              <a:t>(no válido para todos los casos, pero el esquema suele ser similar)</a:t>
            </a:r>
            <a:endParaRPr>
              <a:solidFill>
                <a:schemeClr val="dk1"/>
              </a:solidFill>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animEffect filter="fade" transition="in">
                                      <p:cBhvr>
                                        <p:cTn dur="1000"/>
                                        <p:tgtEl>
                                          <p:spTgt spid="3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1" st="1"/>
                                            </p:txEl>
                                          </p:spTgt>
                                        </p:tgtEl>
                                        <p:attrNameLst>
                                          <p:attrName>style.visibility</p:attrName>
                                        </p:attrNameLst>
                                      </p:cBhvr>
                                      <p:to>
                                        <p:strVal val="visible"/>
                                      </p:to>
                                    </p:set>
                                    <p:animEffect filter="fade" transition="in">
                                      <p:cBhvr>
                                        <p:cTn dur="1000"/>
                                        <p:tgtEl>
                                          <p:spTgt spid="3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2" st="2"/>
                                            </p:txEl>
                                          </p:spTgt>
                                        </p:tgtEl>
                                        <p:attrNameLst>
                                          <p:attrName>style.visibility</p:attrName>
                                        </p:attrNameLst>
                                      </p:cBhvr>
                                      <p:to>
                                        <p:strVal val="visible"/>
                                      </p:to>
                                    </p:set>
                                    <p:animEffect filter="fade" transition="in">
                                      <p:cBhvr>
                                        <p:cTn dur="1000"/>
                                        <p:tgtEl>
                                          <p:spTgt spid="3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3" st="3"/>
                                            </p:txEl>
                                          </p:spTgt>
                                        </p:tgtEl>
                                        <p:attrNameLst>
                                          <p:attrName>style.visibility</p:attrName>
                                        </p:attrNameLst>
                                      </p:cBhvr>
                                      <p:to>
                                        <p:strVal val="visible"/>
                                      </p:to>
                                    </p:set>
                                    <p:animEffect filter="fade" transition="in">
                                      <p:cBhvr>
                                        <p:cTn dur="1000"/>
                                        <p:tgtEl>
                                          <p:spTgt spid="3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4" st="4"/>
                                            </p:txEl>
                                          </p:spTgt>
                                        </p:tgtEl>
                                        <p:attrNameLst>
                                          <p:attrName>style.visibility</p:attrName>
                                        </p:attrNameLst>
                                      </p:cBhvr>
                                      <p:to>
                                        <p:strVal val="visible"/>
                                      </p:to>
                                    </p:set>
                                    <p:animEffect filter="fade" transition="in">
                                      <p:cBhvr>
                                        <p:cTn dur="1000"/>
                                        <p:tgtEl>
                                          <p:spTgt spid="3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5" st="5"/>
                                            </p:txEl>
                                          </p:spTgt>
                                        </p:tgtEl>
                                        <p:attrNameLst>
                                          <p:attrName>style.visibility</p:attrName>
                                        </p:attrNameLst>
                                      </p:cBhvr>
                                      <p:to>
                                        <p:strVal val="visible"/>
                                      </p:to>
                                    </p:set>
                                    <p:animEffect filter="fade" transition="in">
                                      <p:cBhvr>
                                        <p:cTn dur="1000"/>
                                        <p:tgtEl>
                                          <p:spTgt spid="3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6" st="6"/>
                                            </p:txEl>
                                          </p:spTgt>
                                        </p:tgtEl>
                                        <p:attrNameLst>
                                          <p:attrName>style.visibility</p:attrName>
                                        </p:attrNameLst>
                                      </p:cBhvr>
                                      <p:to>
                                        <p:strVal val="visible"/>
                                      </p:to>
                                    </p:set>
                                    <p:animEffect filter="fade" transition="in">
                                      <p:cBhvr>
                                        <p:cTn dur="1000"/>
                                        <p:tgtEl>
                                          <p:spTgt spid="31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48"/>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325" name="Google Shape;325;p48"/>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Si ya encontre una solucion, la devuelvo y termino</a:t>
            </a:r>
            <a:endParaRPr>
              <a:solidFill>
                <a:srgbClr val="93C47D"/>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Avanzo si puedo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Pruebo si la solución parcial es válida</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no lo es, retrocedo y vuelvo a 2)</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lo es, llamo recursivamente y vuelvo a 1)</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p>
        </p:txBody>
      </p:sp>
      <p:sp>
        <p:nvSpPr>
          <p:cNvPr id="326" name="Google Shape;326;p48"/>
          <p:cNvSpPr txBox="1"/>
          <p:nvPr>
            <p:ph type="title"/>
          </p:nvPr>
        </p:nvSpPr>
        <p:spPr>
          <a:xfrm>
            <a:off x="277050" y="211225"/>
            <a:ext cx="8520600" cy="57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9"/>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
        <p:nvSpPr>
          <p:cNvPr id="332" name="Google Shape;332;p49"/>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ya encontre una solucion, la devuelvo y termino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Avanzo si puedo</a:t>
            </a:r>
            <a:endParaRPr>
              <a:solidFill>
                <a:srgbClr val="93C47D"/>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Pruebo si la solución parcial es válida</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no lo es, retrocedo y vuelvo a 2)</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lo es, llamo recursivamente y vuelvo a 1)</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p>
        </p:txBody>
      </p:sp>
      <p:sp>
        <p:nvSpPr>
          <p:cNvPr id="333" name="Google Shape;333;p49"/>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pic>
        <p:nvPicPr>
          <p:cNvPr id="334" name="Google Shape;334;p49"/>
          <p:cNvPicPr preferRelativeResize="0"/>
          <p:nvPr/>
        </p:nvPicPr>
        <p:blipFill>
          <a:blip r:embed="rId3">
            <a:alphaModFix/>
          </a:blip>
          <a:stretch>
            <a:fillRect/>
          </a:stretch>
        </p:blipFill>
        <p:spPr>
          <a:xfrm>
            <a:off x="311700" y="1464425"/>
            <a:ext cx="2324033" cy="337427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0"/>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ya encontre una solucion, la devuelvo y termino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Avanzo si puedo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Pruebo si la solución parcial es válida</a:t>
            </a:r>
            <a:endParaRPr>
              <a:solidFill>
                <a:srgbClr val="93C47D"/>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no lo es, retrocedo y vuelvo a 2)</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rgbClr val="93C47D"/>
              </a:buClr>
              <a:buSzPts val="1400"/>
              <a:buFont typeface="Source Code Pro"/>
              <a:buAutoNum type="alphaLcParenR"/>
            </a:pPr>
            <a:r>
              <a:rPr lang="es">
                <a:solidFill>
                  <a:srgbClr val="93C47D"/>
                </a:solidFill>
                <a:latin typeface="Source Code Pro"/>
                <a:ea typeface="Source Code Pro"/>
                <a:cs typeface="Source Code Pro"/>
                <a:sym typeface="Source Code Pro"/>
              </a:rPr>
              <a:t>Si lo es, llamo recursivamente y vuelvo a 1)</a:t>
            </a:r>
            <a:endParaRPr>
              <a:solidFill>
                <a:srgbClr val="93C47D"/>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p>
        </p:txBody>
      </p:sp>
      <p:sp>
        <p:nvSpPr>
          <p:cNvPr id="340" name="Google Shape;340;p50"/>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pic>
        <p:nvPicPr>
          <p:cNvPr id="341" name="Google Shape;341;p50"/>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342" name="Google Shape;342;p50"/>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1"/>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Si ya encontre una solucion, la devuelvo y termino</a:t>
            </a:r>
            <a:endParaRPr>
              <a:solidFill>
                <a:srgbClr val="93C47D"/>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Avanzo si puedo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Pruebo si la solución parcial es válida</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no lo es, retrocedo y vuelvo a 2)</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lo es, llamo recursivamente y vuelvo a 1)</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solidFill>
                <a:schemeClr val="dk1"/>
              </a:solidFill>
            </a:endParaRPr>
          </a:p>
        </p:txBody>
      </p:sp>
      <p:sp>
        <p:nvSpPr>
          <p:cNvPr id="348" name="Google Shape;348;p51"/>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pic>
        <p:nvPicPr>
          <p:cNvPr id="349" name="Google Shape;349;p51"/>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350" name="Google Shape;350;p51"/>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2"/>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ya encontre una solucion, la devuelvo y termino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Avanzo si puedo</a:t>
            </a:r>
            <a:endParaRPr>
              <a:solidFill>
                <a:srgbClr val="93C47D"/>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Pruebo si la solución parcial es válida</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no lo es, retrocedo y vuelvo a 2)</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lo es, llamo recursivamente y vuelvo a 1)</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solidFill>
                <a:schemeClr val="dk1"/>
              </a:solidFill>
            </a:endParaRPr>
          </a:p>
        </p:txBody>
      </p:sp>
      <p:sp>
        <p:nvSpPr>
          <p:cNvPr id="356" name="Google Shape;356;p52"/>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sp>
        <p:nvSpPr>
          <p:cNvPr id="357" name="Google Shape;357;p52"/>
          <p:cNvSpPr/>
          <p:nvPr/>
        </p:nvSpPr>
        <p:spPr>
          <a:xfrm>
            <a:off x="1048275" y="1972287"/>
            <a:ext cx="1342200" cy="1484450"/>
          </a:xfrm>
          <a:custGeom>
            <a:rect b="b" l="l" r="r" t="t"/>
            <a:pathLst>
              <a:path extrusionOk="0" h="59378" w="53688">
                <a:moveTo>
                  <a:pt x="0" y="12797"/>
                </a:moveTo>
                <a:cubicBezTo>
                  <a:pt x="2842" y="9955"/>
                  <a:pt x="5823" y="7253"/>
                  <a:pt x="8665" y="4411"/>
                </a:cubicBezTo>
                <a:cubicBezTo>
                  <a:pt x="9738" y="3338"/>
                  <a:pt x="11111" y="122"/>
                  <a:pt x="12020" y="1336"/>
                </a:cubicBezTo>
                <a:cubicBezTo>
                  <a:pt x="16716" y="7607"/>
                  <a:pt x="-2947" y="15782"/>
                  <a:pt x="1397" y="22302"/>
                </a:cubicBezTo>
                <a:cubicBezTo>
                  <a:pt x="1968" y="23159"/>
                  <a:pt x="3537" y="22453"/>
                  <a:pt x="4472" y="22022"/>
                </a:cubicBezTo>
                <a:cubicBezTo>
                  <a:pt x="10880" y="19065"/>
                  <a:pt x="14413" y="11952"/>
                  <a:pt x="18729" y="6368"/>
                </a:cubicBezTo>
                <a:cubicBezTo>
                  <a:pt x="20381" y="4230"/>
                  <a:pt x="22698" y="-1663"/>
                  <a:pt x="24320" y="498"/>
                </a:cubicBezTo>
                <a:cubicBezTo>
                  <a:pt x="25772" y="2433"/>
                  <a:pt x="23332" y="5270"/>
                  <a:pt x="22363" y="7486"/>
                </a:cubicBezTo>
                <a:cubicBezTo>
                  <a:pt x="20476" y="11801"/>
                  <a:pt x="18874" y="16387"/>
                  <a:pt x="15933" y="20065"/>
                </a:cubicBezTo>
                <a:cubicBezTo>
                  <a:pt x="14625" y="21700"/>
                  <a:pt x="13618" y="23559"/>
                  <a:pt x="12579" y="25377"/>
                </a:cubicBezTo>
                <a:cubicBezTo>
                  <a:pt x="12124" y="26174"/>
                  <a:pt x="10640" y="28303"/>
                  <a:pt x="11461" y="27893"/>
                </a:cubicBezTo>
                <a:cubicBezTo>
                  <a:pt x="18196" y="24526"/>
                  <a:pt x="20396" y="15544"/>
                  <a:pt x="26276" y="10841"/>
                </a:cubicBezTo>
                <a:cubicBezTo>
                  <a:pt x="27476" y="9881"/>
                  <a:pt x="29789" y="8523"/>
                  <a:pt x="30749" y="9723"/>
                </a:cubicBezTo>
                <a:cubicBezTo>
                  <a:pt x="31949" y="11223"/>
                  <a:pt x="29552" y="13418"/>
                  <a:pt x="28513" y="15034"/>
                </a:cubicBezTo>
                <a:cubicBezTo>
                  <a:pt x="25807" y="19244"/>
                  <a:pt x="23728" y="23826"/>
                  <a:pt x="21245" y="28172"/>
                </a:cubicBezTo>
                <a:cubicBezTo>
                  <a:pt x="20206" y="29990"/>
                  <a:pt x="17846" y="32300"/>
                  <a:pt x="19008" y="34042"/>
                </a:cubicBezTo>
                <a:cubicBezTo>
                  <a:pt x="20147" y="35749"/>
                  <a:pt x="22409" y="31673"/>
                  <a:pt x="23760" y="30129"/>
                </a:cubicBezTo>
                <a:cubicBezTo>
                  <a:pt x="27839" y="25468"/>
                  <a:pt x="31485" y="19999"/>
                  <a:pt x="36899" y="16991"/>
                </a:cubicBezTo>
                <a:cubicBezTo>
                  <a:pt x="38254" y="16238"/>
                  <a:pt x="39572" y="13544"/>
                  <a:pt x="40812" y="14475"/>
                </a:cubicBezTo>
                <a:cubicBezTo>
                  <a:pt x="42204" y="15520"/>
                  <a:pt x="40380" y="18058"/>
                  <a:pt x="39415" y="19506"/>
                </a:cubicBezTo>
                <a:cubicBezTo>
                  <a:pt x="35353" y="25600"/>
                  <a:pt x="30852" y="31399"/>
                  <a:pt x="26276" y="37117"/>
                </a:cubicBezTo>
                <a:cubicBezTo>
                  <a:pt x="24918" y="38814"/>
                  <a:pt x="21951" y="40764"/>
                  <a:pt x="22922" y="42708"/>
                </a:cubicBezTo>
                <a:cubicBezTo>
                  <a:pt x="24278" y="45422"/>
                  <a:pt x="27781" y="38963"/>
                  <a:pt x="29631" y="36558"/>
                </a:cubicBezTo>
                <a:cubicBezTo>
                  <a:pt x="33996" y="30883"/>
                  <a:pt x="37612" y="24445"/>
                  <a:pt x="43049" y="19786"/>
                </a:cubicBezTo>
                <a:cubicBezTo>
                  <a:pt x="44209" y="18792"/>
                  <a:pt x="45372" y="16205"/>
                  <a:pt x="46683" y="16991"/>
                </a:cubicBezTo>
                <a:cubicBezTo>
                  <a:pt x="48528" y="18097"/>
                  <a:pt x="47230" y="21576"/>
                  <a:pt x="46123" y="23420"/>
                </a:cubicBezTo>
                <a:cubicBezTo>
                  <a:pt x="42257" y="29859"/>
                  <a:pt x="37479" y="35753"/>
                  <a:pt x="32426" y="41310"/>
                </a:cubicBezTo>
                <a:cubicBezTo>
                  <a:pt x="29956" y="44027"/>
                  <a:pt x="25106" y="46694"/>
                  <a:pt x="25997" y="50256"/>
                </a:cubicBezTo>
                <a:cubicBezTo>
                  <a:pt x="26757" y="53293"/>
                  <a:pt x="31991" y="47383"/>
                  <a:pt x="33544" y="44665"/>
                </a:cubicBezTo>
                <a:cubicBezTo>
                  <a:pt x="37154" y="38346"/>
                  <a:pt x="42377" y="33041"/>
                  <a:pt x="47521" y="27893"/>
                </a:cubicBezTo>
                <a:cubicBezTo>
                  <a:pt x="48966" y="26447"/>
                  <a:pt x="51667" y="23932"/>
                  <a:pt x="53112" y="25377"/>
                </a:cubicBezTo>
                <a:cubicBezTo>
                  <a:pt x="54999" y="27264"/>
                  <a:pt x="51644" y="30758"/>
                  <a:pt x="49757" y="32645"/>
                </a:cubicBezTo>
                <a:cubicBezTo>
                  <a:pt x="43235" y="39167"/>
                  <a:pt x="36192" y="45208"/>
                  <a:pt x="30190" y="52212"/>
                </a:cubicBezTo>
                <a:cubicBezTo>
                  <a:pt x="28357" y="54351"/>
                  <a:pt x="23094" y="57639"/>
                  <a:pt x="25438" y="59201"/>
                </a:cubicBezTo>
                <a:cubicBezTo>
                  <a:pt x="26449" y="59875"/>
                  <a:pt x="27564" y="58003"/>
                  <a:pt x="28513" y="57244"/>
                </a:cubicBezTo>
                <a:cubicBezTo>
                  <a:pt x="34943" y="52098"/>
                  <a:pt x="39412" y="44777"/>
                  <a:pt x="45844" y="39633"/>
                </a:cubicBezTo>
                <a:cubicBezTo>
                  <a:pt x="47257" y="38503"/>
                  <a:pt x="48637" y="35886"/>
                  <a:pt x="50317" y="36558"/>
                </a:cubicBezTo>
                <a:cubicBezTo>
                  <a:pt x="54573" y="38260"/>
                  <a:pt x="46709" y="45043"/>
                  <a:pt x="44167" y="48858"/>
                </a:cubicBezTo>
              </a:path>
            </a:pathLst>
          </a:custGeom>
          <a:noFill/>
          <a:ln cap="flat" cmpd="sng" w="19050">
            <a:solidFill>
              <a:srgbClr val="3C78D8"/>
            </a:solidFill>
            <a:prstDash val="solid"/>
            <a:round/>
            <a:headEnd len="med" w="med" type="none"/>
            <a:tailEnd len="med" w="med" type="none"/>
          </a:ln>
        </p:spPr>
      </p:sp>
      <p:pic>
        <p:nvPicPr>
          <p:cNvPr id="358" name="Google Shape;358;p52"/>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359" name="Google Shape;359;p52"/>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3"/>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ya encontre una solucion, la devuelvo y termino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Avanzo si puedo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Pruebo si la solución parcial es válida</a:t>
            </a:r>
            <a:endParaRPr>
              <a:solidFill>
                <a:srgbClr val="93C47D"/>
              </a:solidFill>
              <a:latin typeface="Source Code Pro"/>
              <a:ea typeface="Source Code Pro"/>
              <a:cs typeface="Source Code Pro"/>
              <a:sym typeface="Source Code Pro"/>
            </a:endParaRPr>
          </a:p>
          <a:p>
            <a:pPr indent="-317500" lvl="0" marL="1828800" rtl="0" algn="l">
              <a:spcBef>
                <a:spcPts val="0"/>
              </a:spcBef>
              <a:spcAft>
                <a:spcPts val="0"/>
              </a:spcAft>
              <a:buClr>
                <a:srgbClr val="93C47D"/>
              </a:buClr>
              <a:buSzPts val="1400"/>
              <a:buFont typeface="Source Code Pro"/>
              <a:buAutoNum type="alphaLcParenR"/>
            </a:pPr>
            <a:r>
              <a:rPr lang="es">
                <a:solidFill>
                  <a:srgbClr val="93C47D"/>
                </a:solidFill>
                <a:latin typeface="Source Code Pro"/>
                <a:ea typeface="Source Code Pro"/>
                <a:cs typeface="Source Code Pro"/>
                <a:sym typeface="Source Code Pro"/>
              </a:rPr>
              <a:t>Si no lo es, retrocedo y vuelvo a 2)</a:t>
            </a:r>
            <a:endParaRPr>
              <a:solidFill>
                <a:srgbClr val="93C47D"/>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lo es, llamo recursivamente y vuelvo a 1)</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solidFill>
                <a:schemeClr val="dk1"/>
              </a:solidFill>
            </a:endParaRPr>
          </a:p>
        </p:txBody>
      </p:sp>
      <p:sp>
        <p:nvSpPr>
          <p:cNvPr id="365" name="Google Shape;365;p53"/>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pic>
        <p:nvPicPr>
          <p:cNvPr id="366" name="Google Shape;366;p53"/>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367" name="Google Shape;367;p53"/>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4"/>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ya encontre una solucion, la devuelvo y termino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Avanzo si puedo</a:t>
            </a:r>
            <a:endParaRPr>
              <a:solidFill>
                <a:srgbClr val="93C47D"/>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Pruebo si la solución parcial es válida</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no lo es, retrocedo y vuelvo a 2)</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lo es, llamo recursivamente y vuelvo a 1)</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solidFill>
                <a:schemeClr val="dk1"/>
              </a:solidFill>
            </a:endParaRPr>
          </a:p>
        </p:txBody>
      </p:sp>
      <p:sp>
        <p:nvSpPr>
          <p:cNvPr id="373" name="Google Shape;373;p54"/>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sp>
        <p:nvSpPr>
          <p:cNvPr id="374" name="Google Shape;374;p54"/>
          <p:cNvSpPr/>
          <p:nvPr/>
        </p:nvSpPr>
        <p:spPr>
          <a:xfrm>
            <a:off x="1048275" y="1972287"/>
            <a:ext cx="1342200" cy="1484450"/>
          </a:xfrm>
          <a:custGeom>
            <a:rect b="b" l="l" r="r" t="t"/>
            <a:pathLst>
              <a:path extrusionOk="0" h="59378" w="53688">
                <a:moveTo>
                  <a:pt x="0" y="12797"/>
                </a:moveTo>
                <a:cubicBezTo>
                  <a:pt x="2842" y="9955"/>
                  <a:pt x="5823" y="7253"/>
                  <a:pt x="8665" y="4411"/>
                </a:cubicBezTo>
                <a:cubicBezTo>
                  <a:pt x="9738" y="3338"/>
                  <a:pt x="11111" y="122"/>
                  <a:pt x="12020" y="1336"/>
                </a:cubicBezTo>
                <a:cubicBezTo>
                  <a:pt x="16716" y="7607"/>
                  <a:pt x="-2947" y="15782"/>
                  <a:pt x="1397" y="22302"/>
                </a:cubicBezTo>
                <a:cubicBezTo>
                  <a:pt x="1968" y="23159"/>
                  <a:pt x="3537" y="22453"/>
                  <a:pt x="4472" y="22022"/>
                </a:cubicBezTo>
                <a:cubicBezTo>
                  <a:pt x="10880" y="19065"/>
                  <a:pt x="14413" y="11952"/>
                  <a:pt x="18729" y="6368"/>
                </a:cubicBezTo>
                <a:cubicBezTo>
                  <a:pt x="20381" y="4230"/>
                  <a:pt x="22698" y="-1663"/>
                  <a:pt x="24320" y="498"/>
                </a:cubicBezTo>
                <a:cubicBezTo>
                  <a:pt x="25772" y="2433"/>
                  <a:pt x="23332" y="5270"/>
                  <a:pt x="22363" y="7486"/>
                </a:cubicBezTo>
                <a:cubicBezTo>
                  <a:pt x="20476" y="11801"/>
                  <a:pt x="18874" y="16387"/>
                  <a:pt x="15933" y="20065"/>
                </a:cubicBezTo>
                <a:cubicBezTo>
                  <a:pt x="14625" y="21700"/>
                  <a:pt x="13618" y="23559"/>
                  <a:pt x="12579" y="25377"/>
                </a:cubicBezTo>
                <a:cubicBezTo>
                  <a:pt x="12124" y="26174"/>
                  <a:pt x="10640" y="28303"/>
                  <a:pt x="11461" y="27893"/>
                </a:cubicBezTo>
                <a:cubicBezTo>
                  <a:pt x="18196" y="24526"/>
                  <a:pt x="20396" y="15544"/>
                  <a:pt x="26276" y="10841"/>
                </a:cubicBezTo>
                <a:cubicBezTo>
                  <a:pt x="27476" y="9881"/>
                  <a:pt x="29789" y="8523"/>
                  <a:pt x="30749" y="9723"/>
                </a:cubicBezTo>
                <a:cubicBezTo>
                  <a:pt x="31949" y="11223"/>
                  <a:pt x="29552" y="13418"/>
                  <a:pt x="28513" y="15034"/>
                </a:cubicBezTo>
                <a:cubicBezTo>
                  <a:pt x="25807" y="19244"/>
                  <a:pt x="23728" y="23826"/>
                  <a:pt x="21245" y="28172"/>
                </a:cubicBezTo>
                <a:cubicBezTo>
                  <a:pt x="20206" y="29990"/>
                  <a:pt x="17846" y="32300"/>
                  <a:pt x="19008" y="34042"/>
                </a:cubicBezTo>
                <a:cubicBezTo>
                  <a:pt x="20147" y="35749"/>
                  <a:pt x="22409" y="31673"/>
                  <a:pt x="23760" y="30129"/>
                </a:cubicBezTo>
                <a:cubicBezTo>
                  <a:pt x="27839" y="25468"/>
                  <a:pt x="31485" y="19999"/>
                  <a:pt x="36899" y="16991"/>
                </a:cubicBezTo>
                <a:cubicBezTo>
                  <a:pt x="38254" y="16238"/>
                  <a:pt x="39572" y="13544"/>
                  <a:pt x="40812" y="14475"/>
                </a:cubicBezTo>
                <a:cubicBezTo>
                  <a:pt x="42204" y="15520"/>
                  <a:pt x="40380" y="18058"/>
                  <a:pt x="39415" y="19506"/>
                </a:cubicBezTo>
                <a:cubicBezTo>
                  <a:pt x="35353" y="25600"/>
                  <a:pt x="30852" y="31399"/>
                  <a:pt x="26276" y="37117"/>
                </a:cubicBezTo>
                <a:cubicBezTo>
                  <a:pt x="24918" y="38814"/>
                  <a:pt x="21951" y="40764"/>
                  <a:pt x="22922" y="42708"/>
                </a:cubicBezTo>
                <a:cubicBezTo>
                  <a:pt x="24278" y="45422"/>
                  <a:pt x="27781" y="38963"/>
                  <a:pt x="29631" y="36558"/>
                </a:cubicBezTo>
                <a:cubicBezTo>
                  <a:pt x="33996" y="30883"/>
                  <a:pt x="37612" y="24445"/>
                  <a:pt x="43049" y="19786"/>
                </a:cubicBezTo>
                <a:cubicBezTo>
                  <a:pt x="44209" y="18792"/>
                  <a:pt x="45372" y="16205"/>
                  <a:pt x="46683" y="16991"/>
                </a:cubicBezTo>
                <a:cubicBezTo>
                  <a:pt x="48528" y="18097"/>
                  <a:pt x="47230" y="21576"/>
                  <a:pt x="46123" y="23420"/>
                </a:cubicBezTo>
                <a:cubicBezTo>
                  <a:pt x="42257" y="29859"/>
                  <a:pt x="37479" y="35753"/>
                  <a:pt x="32426" y="41310"/>
                </a:cubicBezTo>
                <a:cubicBezTo>
                  <a:pt x="29956" y="44027"/>
                  <a:pt x="25106" y="46694"/>
                  <a:pt x="25997" y="50256"/>
                </a:cubicBezTo>
                <a:cubicBezTo>
                  <a:pt x="26757" y="53293"/>
                  <a:pt x="31991" y="47383"/>
                  <a:pt x="33544" y="44665"/>
                </a:cubicBezTo>
                <a:cubicBezTo>
                  <a:pt x="37154" y="38346"/>
                  <a:pt x="42377" y="33041"/>
                  <a:pt x="47521" y="27893"/>
                </a:cubicBezTo>
                <a:cubicBezTo>
                  <a:pt x="48966" y="26447"/>
                  <a:pt x="51667" y="23932"/>
                  <a:pt x="53112" y="25377"/>
                </a:cubicBezTo>
                <a:cubicBezTo>
                  <a:pt x="54999" y="27264"/>
                  <a:pt x="51644" y="30758"/>
                  <a:pt x="49757" y="32645"/>
                </a:cubicBezTo>
                <a:cubicBezTo>
                  <a:pt x="43235" y="39167"/>
                  <a:pt x="36192" y="45208"/>
                  <a:pt x="30190" y="52212"/>
                </a:cubicBezTo>
                <a:cubicBezTo>
                  <a:pt x="28357" y="54351"/>
                  <a:pt x="23094" y="57639"/>
                  <a:pt x="25438" y="59201"/>
                </a:cubicBezTo>
                <a:cubicBezTo>
                  <a:pt x="26449" y="59875"/>
                  <a:pt x="27564" y="58003"/>
                  <a:pt x="28513" y="57244"/>
                </a:cubicBezTo>
                <a:cubicBezTo>
                  <a:pt x="34943" y="52098"/>
                  <a:pt x="39412" y="44777"/>
                  <a:pt x="45844" y="39633"/>
                </a:cubicBezTo>
                <a:cubicBezTo>
                  <a:pt x="47257" y="38503"/>
                  <a:pt x="48637" y="35886"/>
                  <a:pt x="50317" y="36558"/>
                </a:cubicBezTo>
                <a:cubicBezTo>
                  <a:pt x="54573" y="38260"/>
                  <a:pt x="46709" y="45043"/>
                  <a:pt x="44167" y="48858"/>
                </a:cubicBezTo>
              </a:path>
            </a:pathLst>
          </a:custGeom>
          <a:noFill/>
          <a:ln cap="flat" cmpd="sng" w="19050">
            <a:solidFill>
              <a:srgbClr val="6AA84F"/>
            </a:solidFill>
            <a:prstDash val="solid"/>
            <a:round/>
            <a:headEnd len="med" w="med" type="none"/>
            <a:tailEnd len="med" w="med" type="none"/>
          </a:ln>
        </p:spPr>
      </p:sp>
      <p:pic>
        <p:nvPicPr>
          <p:cNvPr id="375" name="Google Shape;375;p54"/>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376" name="Google Shape;376;p54"/>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5"/>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ya encontre una solucion, la devuelvo y termino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Avanzo si puedo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Pruebo si la solución parcial es válida</a:t>
            </a:r>
            <a:endParaRPr>
              <a:solidFill>
                <a:srgbClr val="93C47D"/>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no lo es, retrocedo </a:t>
            </a:r>
            <a:r>
              <a:rPr lang="es">
                <a:solidFill>
                  <a:srgbClr val="FFFFFF"/>
                </a:solidFill>
                <a:latin typeface="Source Code Pro"/>
                <a:ea typeface="Source Code Pro"/>
                <a:cs typeface="Source Code Pro"/>
                <a:sym typeface="Source Code Pro"/>
              </a:rPr>
              <a:t>y vuelvo a 2)</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rgbClr val="93C47D"/>
              </a:buClr>
              <a:buSzPts val="1400"/>
              <a:buFont typeface="Source Code Pro"/>
              <a:buAutoNum type="alphaLcParenR"/>
            </a:pPr>
            <a:r>
              <a:rPr lang="es">
                <a:solidFill>
                  <a:srgbClr val="93C47D"/>
                </a:solidFill>
                <a:latin typeface="Source Code Pro"/>
                <a:ea typeface="Source Code Pro"/>
                <a:cs typeface="Source Code Pro"/>
                <a:sym typeface="Source Code Pro"/>
              </a:rPr>
              <a:t>Si lo es, llamo recursivamente y vuelvo a 1)</a:t>
            </a:r>
            <a:endParaRPr>
              <a:solidFill>
                <a:srgbClr val="93C47D"/>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p>
        </p:txBody>
      </p:sp>
      <p:sp>
        <p:nvSpPr>
          <p:cNvPr id="382" name="Google Shape;382;p55"/>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sp>
        <p:nvSpPr>
          <p:cNvPr id="383" name="Google Shape;383;p55"/>
          <p:cNvSpPr/>
          <p:nvPr/>
        </p:nvSpPr>
        <p:spPr>
          <a:xfrm>
            <a:off x="1048275" y="1972287"/>
            <a:ext cx="1342200" cy="1484450"/>
          </a:xfrm>
          <a:custGeom>
            <a:rect b="b" l="l" r="r" t="t"/>
            <a:pathLst>
              <a:path extrusionOk="0" h="59378" w="53688">
                <a:moveTo>
                  <a:pt x="0" y="12797"/>
                </a:moveTo>
                <a:cubicBezTo>
                  <a:pt x="2842" y="9955"/>
                  <a:pt x="5823" y="7253"/>
                  <a:pt x="8665" y="4411"/>
                </a:cubicBezTo>
                <a:cubicBezTo>
                  <a:pt x="9738" y="3338"/>
                  <a:pt x="11111" y="122"/>
                  <a:pt x="12020" y="1336"/>
                </a:cubicBezTo>
                <a:cubicBezTo>
                  <a:pt x="16716" y="7607"/>
                  <a:pt x="-2947" y="15782"/>
                  <a:pt x="1397" y="22302"/>
                </a:cubicBezTo>
                <a:cubicBezTo>
                  <a:pt x="1968" y="23159"/>
                  <a:pt x="3537" y="22453"/>
                  <a:pt x="4472" y="22022"/>
                </a:cubicBezTo>
                <a:cubicBezTo>
                  <a:pt x="10880" y="19065"/>
                  <a:pt x="14413" y="11952"/>
                  <a:pt x="18729" y="6368"/>
                </a:cubicBezTo>
                <a:cubicBezTo>
                  <a:pt x="20381" y="4230"/>
                  <a:pt x="22698" y="-1663"/>
                  <a:pt x="24320" y="498"/>
                </a:cubicBezTo>
                <a:cubicBezTo>
                  <a:pt x="25772" y="2433"/>
                  <a:pt x="23332" y="5270"/>
                  <a:pt x="22363" y="7486"/>
                </a:cubicBezTo>
                <a:cubicBezTo>
                  <a:pt x="20476" y="11801"/>
                  <a:pt x="18874" y="16387"/>
                  <a:pt x="15933" y="20065"/>
                </a:cubicBezTo>
                <a:cubicBezTo>
                  <a:pt x="14625" y="21700"/>
                  <a:pt x="13618" y="23559"/>
                  <a:pt x="12579" y="25377"/>
                </a:cubicBezTo>
                <a:cubicBezTo>
                  <a:pt x="12124" y="26174"/>
                  <a:pt x="10640" y="28303"/>
                  <a:pt x="11461" y="27893"/>
                </a:cubicBezTo>
                <a:cubicBezTo>
                  <a:pt x="18196" y="24526"/>
                  <a:pt x="20396" y="15544"/>
                  <a:pt x="26276" y="10841"/>
                </a:cubicBezTo>
                <a:cubicBezTo>
                  <a:pt x="27476" y="9881"/>
                  <a:pt x="29789" y="8523"/>
                  <a:pt x="30749" y="9723"/>
                </a:cubicBezTo>
                <a:cubicBezTo>
                  <a:pt x="31949" y="11223"/>
                  <a:pt x="29552" y="13418"/>
                  <a:pt x="28513" y="15034"/>
                </a:cubicBezTo>
                <a:cubicBezTo>
                  <a:pt x="25807" y="19244"/>
                  <a:pt x="23728" y="23826"/>
                  <a:pt x="21245" y="28172"/>
                </a:cubicBezTo>
                <a:cubicBezTo>
                  <a:pt x="20206" y="29990"/>
                  <a:pt x="17846" y="32300"/>
                  <a:pt x="19008" y="34042"/>
                </a:cubicBezTo>
                <a:cubicBezTo>
                  <a:pt x="20147" y="35749"/>
                  <a:pt x="22409" y="31673"/>
                  <a:pt x="23760" y="30129"/>
                </a:cubicBezTo>
                <a:cubicBezTo>
                  <a:pt x="27839" y="25468"/>
                  <a:pt x="31485" y="19999"/>
                  <a:pt x="36899" y="16991"/>
                </a:cubicBezTo>
                <a:cubicBezTo>
                  <a:pt x="38254" y="16238"/>
                  <a:pt x="39572" y="13544"/>
                  <a:pt x="40812" y="14475"/>
                </a:cubicBezTo>
                <a:cubicBezTo>
                  <a:pt x="42204" y="15520"/>
                  <a:pt x="40380" y="18058"/>
                  <a:pt x="39415" y="19506"/>
                </a:cubicBezTo>
                <a:cubicBezTo>
                  <a:pt x="35353" y="25600"/>
                  <a:pt x="30852" y="31399"/>
                  <a:pt x="26276" y="37117"/>
                </a:cubicBezTo>
                <a:cubicBezTo>
                  <a:pt x="24918" y="38814"/>
                  <a:pt x="21951" y="40764"/>
                  <a:pt x="22922" y="42708"/>
                </a:cubicBezTo>
                <a:cubicBezTo>
                  <a:pt x="24278" y="45422"/>
                  <a:pt x="27781" y="38963"/>
                  <a:pt x="29631" y="36558"/>
                </a:cubicBezTo>
                <a:cubicBezTo>
                  <a:pt x="33996" y="30883"/>
                  <a:pt x="37612" y="24445"/>
                  <a:pt x="43049" y="19786"/>
                </a:cubicBezTo>
                <a:cubicBezTo>
                  <a:pt x="44209" y="18792"/>
                  <a:pt x="45372" y="16205"/>
                  <a:pt x="46683" y="16991"/>
                </a:cubicBezTo>
                <a:cubicBezTo>
                  <a:pt x="48528" y="18097"/>
                  <a:pt x="47230" y="21576"/>
                  <a:pt x="46123" y="23420"/>
                </a:cubicBezTo>
                <a:cubicBezTo>
                  <a:pt x="42257" y="29859"/>
                  <a:pt x="37479" y="35753"/>
                  <a:pt x="32426" y="41310"/>
                </a:cubicBezTo>
                <a:cubicBezTo>
                  <a:pt x="29956" y="44027"/>
                  <a:pt x="25106" y="46694"/>
                  <a:pt x="25997" y="50256"/>
                </a:cubicBezTo>
                <a:cubicBezTo>
                  <a:pt x="26757" y="53293"/>
                  <a:pt x="31991" y="47383"/>
                  <a:pt x="33544" y="44665"/>
                </a:cubicBezTo>
                <a:cubicBezTo>
                  <a:pt x="37154" y="38346"/>
                  <a:pt x="42377" y="33041"/>
                  <a:pt x="47521" y="27893"/>
                </a:cubicBezTo>
                <a:cubicBezTo>
                  <a:pt x="48966" y="26447"/>
                  <a:pt x="51667" y="23932"/>
                  <a:pt x="53112" y="25377"/>
                </a:cubicBezTo>
                <a:cubicBezTo>
                  <a:pt x="54999" y="27264"/>
                  <a:pt x="51644" y="30758"/>
                  <a:pt x="49757" y="32645"/>
                </a:cubicBezTo>
                <a:cubicBezTo>
                  <a:pt x="43235" y="39167"/>
                  <a:pt x="36192" y="45208"/>
                  <a:pt x="30190" y="52212"/>
                </a:cubicBezTo>
                <a:cubicBezTo>
                  <a:pt x="28357" y="54351"/>
                  <a:pt x="23094" y="57639"/>
                  <a:pt x="25438" y="59201"/>
                </a:cubicBezTo>
                <a:cubicBezTo>
                  <a:pt x="26449" y="59875"/>
                  <a:pt x="27564" y="58003"/>
                  <a:pt x="28513" y="57244"/>
                </a:cubicBezTo>
                <a:cubicBezTo>
                  <a:pt x="34943" y="52098"/>
                  <a:pt x="39412" y="44777"/>
                  <a:pt x="45844" y="39633"/>
                </a:cubicBezTo>
                <a:cubicBezTo>
                  <a:pt x="47257" y="38503"/>
                  <a:pt x="48637" y="35886"/>
                  <a:pt x="50317" y="36558"/>
                </a:cubicBezTo>
                <a:cubicBezTo>
                  <a:pt x="54573" y="38260"/>
                  <a:pt x="46709" y="45043"/>
                  <a:pt x="44167" y="48858"/>
                </a:cubicBezTo>
              </a:path>
            </a:pathLst>
          </a:custGeom>
          <a:noFill/>
          <a:ln cap="flat" cmpd="sng" w="19050">
            <a:solidFill>
              <a:srgbClr val="6AA84F"/>
            </a:solidFill>
            <a:prstDash val="solid"/>
            <a:round/>
            <a:headEnd len="med" w="med" type="none"/>
            <a:tailEnd len="med" w="med" type="none"/>
          </a:ln>
        </p:spPr>
      </p:sp>
      <p:pic>
        <p:nvPicPr>
          <p:cNvPr id="384" name="Google Shape;384;p55"/>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385" name="Google Shape;385;p55"/>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6"/>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Si ya encontre una solucion, la devuelvo y termino</a:t>
            </a:r>
            <a:endParaRPr>
              <a:solidFill>
                <a:srgbClr val="93C47D"/>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Avanzo si puedo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Pruebo si la solución parcial es válida</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no lo es, retrocedo y vuelvo a 2)</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lo es, llamo recursivamente y vuelvo a 1)</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solidFill>
                <a:schemeClr val="dk1"/>
              </a:solidFill>
            </a:endParaRPr>
          </a:p>
        </p:txBody>
      </p:sp>
      <p:sp>
        <p:nvSpPr>
          <p:cNvPr id="391" name="Google Shape;391;p56"/>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sp>
        <p:nvSpPr>
          <p:cNvPr id="392" name="Google Shape;392;p56"/>
          <p:cNvSpPr/>
          <p:nvPr/>
        </p:nvSpPr>
        <p:spPr>
          <a:xfrm>
            <a:off x="1048275" y="1972287"/>
            <a:ext cx="1342200" cy="1484450"/>
          </a:xfrm>
          <a:custGeom>
            <a:rect b="b" l="l" r="r" t="t"/>
            <a:pathLst>
              <a:path extrusionOk="0" h="59378" w="53688">
                <a:moveTo>
                  <a:pt x="0" y="12797"/>
                </a:moveTo>
                <a:cubicBezTo>
                  <a:pt x="2842" y="9955"/>
                  <a:pt x="5823" y="7253"/>
                  <a:pt x="8665" y="4411"/>
                </a:cubicBezTo>
                <a:cubicBezTo>
                  <a:pt x="9738" y="3338"/>
                  <a:pt x="11111" y="122"/>
                  <a:pt x="12020" y="1336"/>
                </a:cubicBezTo>
                <a:cubicBezTo>
                  <a:pt x="16716" y="7607"/>
                  <a:pt x="-2947" y="15782"/>
                  <a:pt x="1397" y="22302"/>
                </a:cubicBezTo>
                <a:cubicBezTo>
                  <a:pt x="1968" y="23159"/>
                  <a:pt x="3537" y="22453"/>
                  <a:pt x="4472" y="22022"/>
                </a:cubicBezTo>
                <a:cubicBezTo>
                  <a:pt x="10880" y="19065"/>
                  <a:pt x="14413" y="11952"/>
                  <a:pt x="18729" y="6368"/>
                </a:cubicBezTo>
                <a:cubicBezTo>
                  <a:pt x="20381" y="4230"/>
                  <a:pt x="22698" y="-1663"/>
                  <a:pt x="24320" y="498"/>
                </a:cubicBezTo>
                <a:cubicBezTo>
                  <a:pt x="25772" y="2433"/>
                  <a:pt x="23332" y="5270"/>
                  <a:pt x="22363" y="7486"/>
                </a:cubicBezTo>
                <a:cubicBezTo>
                  <a:pt x="20476" y="11801"/>
                  <a:pt x="18874" y="16387"/>
                  <a:pt x="15933" y="20065"/>
                </a:cubicBezTo>
                <a:cubicBezTo>
                  <a:pt x="14625" y="21700"/>
                  <a:pt x="13618" y="23559"/>
                  <a:pt x="12579" y="25377"/>
                </a:cubicBezTo>
                <a:cubicBezTo>
                  <a:pt x="12124" y="26174"/>
                  <a:pt x="10640" y="28303"/>
                  <a:pt x="11461" y="27893"/>
                </a:cubicBezTo>
                <a:cubicBezTo>
                  <a:pt x="18196" y="24526"/>
                  <a:pt x="20396" y="15544"/>
                  <a:pt x="26276" y="10841"/>
                </a:cubicBezTo>
                <a:cubicBezTo>
                  <a:pt x="27476" y="9881"/>
                  <a:pt x="29789" y="8523"/>
                  <a:pt x="30749" y="9723"/>
                </a:cubicBezTo>
                <a:cubicBezTo>
                  <a:pt x="31949" y="11223"/>
                  <a:pt x="29552" y="13418"/>
                  <a:pt x="28513" y="15034"/>
                </a:cubicBezTo>
                <a:cubicBezTo>
                  <a:pt x="25807" y="19244"/>
                  <a:pt x="23728" y="23826"/>
                  <a:pt x="21245" y="28172"/>
                </a:cubicBezTo>
                <a:cubicBezTo>
                  <a:pt x="20206" y="29990"/>
                  <a:pt x="17846" y="32300"/>
                  <a:pt x="19008" y="34042"/>
                </a:cubicBezTo>
                <a:cubicBezTo>
                  <a:pt x="20147" y="35749"/>
                  <a:pt x="22409" y="31673"/>
                  <a:pt x="23760" y="30129"/>
                </a:cubicBezTo>
                <a:cubicBezTo>
                  <a:pt x="27839" y="25468"/>
                  <a:pt x="31485" y="19999"/>
                  <a:pt x="36899" y="16991"/>
                </a:cubicBezTo>
                <a:cubicBezTo>
                  <a:pt x="38254" y="16238"/>
                  <a:pt x="39572" y="13544"/>
                  <a:pt x="40812" y="14475"/>
                </a:cubicBezTo>
                <a:cubicBezTo>
                  <a:pt x="42204" y="15520"/>
                  <a:pt x="40380" y="18058"/>
                  <a:pt x="39415" y="19506"/>
                </a:cubicBezTo>
                <a:cubicBezTo>
                  <a:pt x="35353" y="25600"/>
                  <a:pt x="30852" y="31399"/>
                  <a:pt x="26276" y="37117"/>
                </a:cubicBezTo>
                <a:cubicBezTo>
                  <a:pt x="24918" y="38814"/>
                  <a:pt x="21951" y="40764"/>
                  <a:pt x="22922" y="42708"/>
                </a:cubicBezTo>
                <a:cubicBezTo>
                  <a:pt x="24278" y="45422"/>
                  <a:pt x="27781" y="38963"/>
                  <a:pt x="29631" y="36558"/>
                </a:cubicBezTo>
                <a:cubicBezTo>
                  <a:pt x="33996" y="30883"/>
                  <a:pt x="37612" y="24445"/>
                  <a:pt x="43049" y="19786"/>
                </a:cubicBezTo>
                <a:cubicBezTo>
                  <a:pt x="44209" y="18792"/>
                  <a:pt x="45372" y="16205"/>
                  <a:pt x="46683" y="16991"/>
                </a:cubicBezTo>
                <a:cubicBezTo>
                  <a:pt x="48528" y="18097"/>
                  <a:pt x="47230" y="21576"/>
                  <a:pt x="46123" y="23420"/>
                </a:cubicBezTo>
                <a:cubicBezTo>
                  <a:pt x="42257" y="29859"/>
                  <a:pt x="37479" y="35753"/>
                  <a:pt x="32426" y="41310"/>
                </a:cubicBezTo>
                <a:cubicBezTo>
                  <a:pt x="29956" y="44027"/>
                  <a:pt x="25106" y="46694"/>
                  <a:pt x="25997" y="50256"/>
                </a:cubicBezTo>
                <a:cubicBezTo>
                  <a:pt x="26757" y="53293"/>
                  <a:pt x="31991" y="47383"/>
                  <a:pt x="33544" y="44665"/>
                </a:cubicBezTo>
                <a:cubicBezTo>
                  <a:pt x="37154" y="38346"/>
                  <a:pt x="42377" y="33041"/>
                  <a:pt x="47521" y="27893"/>
                </a:cubicBezTo>
                <a:cubicBezTo>
                  <a:pt x="48966" y="26447"/>
                  <a:pt x="51667" y="23932"/>
                  <a:pt x="53112" y="25377"/>
                </a:cubicBezTo>
                <a:cubicBezTo>
                  <a:pt x="54999" y="27264"/>
                  <a:pt x="51644" y="30758"/>
                  <a:pt x="49757" y="32645"/>
                </a:cubicBezTo>
                <a:cubicBezTo>
                  <a:pt x="43235" y="39167"/>
                  <a:pt x="36192" y="45208"/>
                  <a:pt x="30190" y="52212"/>
                </a:cubicBezTo>
                <a:cubicBezTo>
                  <a:pt x="28357" y="54351"/>
                  <a:pt x="23094" y="57639"/>
                  <a:pt x="25438" y="59201"/>
                </a:cubicBezTo>
                <a:cubicBezTo>
                  <a:pt x="26449" y="59875"/>
                  <a:pt x="27564" y="58003"/>
                  <a:pt x="28513" y="57244"/>
                </a:cubicBezTo>
                <a:cubicBezTo>
                  <a:pt x="34943" y="52098"/>
                  <a:pt x="39412" y="44777"/>
                  <a:pt x="45844" y="39633"/>
                </a:cubicBezTo>
                <a:cubicBezTo>
                  <a:pt x="47257" y="38503"/>
                  <a:pt x="48637" y="35886"/>
                  <a:pt x="50317" y="36558"/>
                </a:cubicBezTo>
                <a:cubicBezTo>
                  <a:pt x="54573" y="38260"/>
                  <a:pt x="46709" y="45043"/>
                  <a:pt x="44167" y="48858"/>
                </a:cubicBezTo>
              </a:path>
            </a:pathLst>
          </a:custGeom>
          <a:noFill/>
          <a:ln cap="flat" cmpd="sng" w="19050">
            <a:solidFill>
              <a:srgbClr val="6AA84F"/>
            </a:solidFill>
            <a:prstDash val="solid"/>
            <a:round/>
            <a:headEnd len="med" w="med" type="none"/>
            <a:tailEnd len="med" w="med" type="none"/>
          </a:ln>
        </p:spPr>
      </p:sp>
      <p:pic>
        <p:nvPicPr>
          <p:cNvPr id="393" name="Google Shape;393;p56"/>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394" name="Google Shape;394;p56"/>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7"/>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ya encontre una solucion, la devuelvo y termino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Avanzo si puedo</a:t>
            </a:r>
            <a:endParaRPr>
              <a:solidFill>
                <a:srgbClr val="93C47D"/>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Pruebo si la solución parcial es válida</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no lo es, retrocedo y vuelvo a 2)</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lo es, llamo recursivamente y vuelvo a 1)</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solidFill>
                <a:schemeClr val="dk1"/>
              </a:solidFill>
            </a:endParaRPr>
          </a:p>
        </p:txBody>
      </p:sp>
      <p:sp>
        <p:nvSpPr>
          <p:cNvPr id="400" name="Google Shape;400;p57"/>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sp>
        <p:nvSpPr>
          <p:cNvPr id="401" name="Google Shape;401;p57"/>
          <p:cNvSpPr/>
          <p:nvPr/>
        </p:nvSpPr>
        <p:spPr>
          <a:xfrm>
            <a:off x="1048275" y="1972287"/>
            <a:ext cx="1342200" cy="1484450"/>
          </a:xfrm>
          <a:custGeom>
            <a:rect b="b" l="l" r="r" t="t"/>
            <a:pathLst>
              <a:path extrusionOk="0" h="59378" w="53688">
                <a:moveTo>
                  <a:pt x="0" y="12797"/>
                </a:moveTo>
                <a:cubicBezTo>
                  <a:pt x="2842" y="9955"/>
                  <a:pt x="5823" y="7253"/>
                  <a:pt x="8665" y="4411"/>
                </a:cubicBezTo>
                <a:cubicBezTo>
                  <a:pt x="9738" y="3338"/>
                  <a:pt x="11111" y="122"/>
                  <a:pt x="12020" y="1336"/>
                </a:cubicBezTo>
                <a:cubicBezTo>
                  <a:pt x="16716" y="7607"/>
                  <a:pt x="-2947" y="15782"/>
                  <a:pt x="1397" y="22302"/>
                </a:cubicBezTo>
                <a:cubicBezTo>
                  <a:pt x="1968" y="23159"/>
                  <a:pt x="3537" y="22453"/>
                  <a:pt x="4472" y="22022"/>
                </a:cubicBezTo>
                <a:cubicBezTo>
                  <a:pt x="10880" y="19065"/>
                  <a:pt x="14413" y="11952"/>
                  <a:pt x="18729" y="6368"/>
                </a:cubicBezTo>
                <a:cubicBezTo>
                  <a:pt x="20381" y="4230"/>
                  <a:pt x="22698" y="-1663"/>
                  <a:pt x="24320" y="498"/>
                </a:cubicBezTo>
                <a:cubicBezTo>
                  <a:pt x="25772" y="2433"/>
                  <a:pt x="23332" y="5270"/>
                  <a:pt x="22363" y="7486"/>
                </a:cubicBezTo>
                <a:cubicBezTo>
                  <a:pt x="20476" y="11801"/>
                  <a:pt x="18874" y="16387"/>
                  <a:pt x="15933" y="20065"/>
                </a:cubicBezTo>
                <a:cubicBezTo>
                  <a:pt x="14625" y="21700"/>
                  <a:pt x="13618" y="23559"/>
                  <a:pt x="12579" y="25377"/>
                </a:cubicBezTo>
                <a:cubicBezTo>
                  <a:pt x="12124" y="26174"/>
                  <a:pt x="10640" y="28303"/>
                  <a:pt x="11461" y="27893"/>
                </a:cubicBezTo>
                <a:cubicBezTo>
                  <a:pt x="18196" y="24526"/>
                  <a:pt x="20396" y="15544"/>
                  <a:pt x="26276" y="10841"/>
                </a:cubicBezTo>
                <a:cubicBezTo>
                  <a:pt x="27476" y="9881"/>
                  <a:pt x="29789" y="8523"/>
                  <a:pt x="30749" y="9723"/>
                </a:cubicBezTo>
                <a:cubicBezTo>
                  <a:pt x="31949" y="11223"/>
                  <a:pt x="29552" y="13418"/>
                  <a:pt x="28513" y="15034"/>
                </a:cubicBezTo>
                <a:cubicBezTo>
                  <a:pt x="25807" y="19244"/>
                  <a:pt x="23728" y="23826"/>
                  <a:pt x="21245" y="28172"/>
                </a:cubicBezTo>
                <a:cubicBezTo>
                  <a:pt x="20206" y="29990"/>
                  <a:pt x="17846" y="32300"/>
                  <a:pt x="19008" y="34042"/>
                </a:cubicBezTo>
                <a:cubicBezTo>
                  <a:pt x="20147" y="35749"/>
                  <a:pt x="22409" y="31673"/>
                  <a:pt x="23760" y="30129"/>
                </a:cubicBezTo>
                <a:cubicBezTo>
                  <a:pt x="27839" y="25468"/>
                  <a:pt x="31485" y="19999"/>
                  <a:pt x="36899" y="16991"/>
                </a:cubicBezTo>
                <a:cubicBezTo>
                  <a:pt x="38254" y="16238"/>
                  <a:pt x="39572" y="13544"/>
                  <a:pt x="40812" y="14475"/>
                </a:cubicBezTo>
                <a:cubicBezTo>
                  <a:pt x="42204" y="15520"/>
                  <a:pt x="40380" y="18058"/>
                  <a:pt x="39415" y="19506"/>
                </a:cubicBezTo>
                <a:cubicBezTo>
                  <a:pt x="35353" y="25600"/>
                  <a:pt x="30852" y="31399"/>
                  <a:pt x="26276" y="37117"/>
                </a:cubicBezTo>
                <a:cubicBezTo>
                  <a:pt x="24918" y="38814"/>
                  <a:pt x="21951" y="40764"/>
                  <a:pt x="22922" y="42708"/>
                </a:cubicBezTo>
                <a:cubicBezTo>
                  <a:pt x="24278" y="45422"/>
                  <a:pt x="27781" y="38963"/>
                  <a:pt x="29631" y="36558"/>
                </a:cubicBezTo>
                <a:cubicBezTo>
                  <a:pt x="33996" y="30883"/>
                  <a:pt x="37612" y="24445"/>
                  <a:pt x="43049" y="19786"/>
                </a:cubicBezTo>
                <a:cubicBezTo>
                  <a:pt x="44209" y="18792"/>
                  <a:pt x="45372" y="16205"/>
                  <a:pt x="46683" y="16991"/>
                </a:cubicBezTo>
                <a:cubicBezTo>
                  <a:pt x="48528" y="18097"/>
                  <a:pt x="47230" y="21576"/>
                  <a:pt x="46123" y="23420"/>
                </a:cubicBezTo>
                <a:cubicBezTo>
                  <a:pt x="42257" y="29859"/>
                  <a:pt x="37479" y="35753"/>
                  <a:pt x="32426" y="41310"/>
                </a:cubicBezTo>
                <a:cubicBezTo>
                  <a:pt x="29956" y="44027"/>
                  <a:pt x="25106" y="46694"/>
                  <a:pt x="25997" y="50256"/>
                </a:cubicBezTo>
                <a:cubicBezTo>
                  <a:pt x="26757" y="53293"/>
                  <a:pt x="31991" y="47383"/>
                  <a:pt x="33544" y="44665"/>
                </a:cubicBezTo>
                <a:cubicBezTo>
                  <a:pt x="37154" y="38346"/>
                  <a:pt x="42377" y="33041"/>
                  <a:pt x="47521" y="27893"/>
                </a:cubicBezTo>
                <a:cubicBezTo>
                  <a:pt x="48966" y="26447"/>
                  <a:pt x="51667" y="23932"/>
                  <a:pt x="53112" y="25377"/>
                </a:cubicBezTo>
                <a:cubicBezTo>
                  <a:pt x="54999" y="27264"/>
                  <a:pt x="51644" y="30758"/>
                  <a:pt x="49757" y="32645"/>
                </a:cubicBezTo>
                <a:cubicBezTo>
                  <a:pt x="43235" y="39167"/>
                  <a:pt x="36192" y="45208"/>
                  <a:pt x="30190" y="52212"/>
                </a:cubicBezTo>
                <a:cubicBezTo>
                  <a:pt x="28357" y="54351"/>
                  <a:pt x="23094" y="57639"/>
                  <a:pt x="25438" y="59201"/>
                </a:cubicBezTo>
                <a:cubicBezTo>
                  <a:pt x="26449" y="59875"/>
                  <a:pt x="27564" y="58003"/>
                  <a:pt x="28513" y="57244"/>
                </a:cubicBezTo>
                <a:cubicBezTo>
                  <a:pt x="34943" y="52098"/>
                  <a:pt x="39412" y="44777"/>
                  <a:pt x="45844" y="39633"/>
                </a:cubicBezTo>
                <a:cubicBezTo>
                  <a:pt x="47257" y="38503"/>
                  <a:pt x="48637" y="35886"/>
                  <a:pt x="50317" y="36558"/>
                </a:cubicBezTo>
                <a:cubicBezTo>
                  <a:pt x="54573" y="38260"/>
                  <a:pt x="46709" y="45043"/>
                  <a:pt x="44167" y="48858"/>
                </a:cubicBezTo>
              </a:path>
            </a:pathLst>
          </a:custGeom>
          <a:noFill/>
          <a:ln cap="flat" cmpd="sng" w="19050">
            <a:solidFill>
              <a:srgbClr val="6AA84F"/>
            </a:solidFill>
            <a:prstDash val="solid"/>
            <a:round/>
            <a:headEnd len="med" w="med" type="none"/>
            <a:tailEnd len="med" w="med" type="none"/>
          </a:ln>
        </p:spPr>
      </p:sp>
      <p:sp>
        <p:nvSpPr>
          <p:cNvPr id="402" name="Google Shape;402;p57"/>
          <p:cNvSpPr/>
          <p:nvPr/>
        </p:nvSpPr>
        <p:spPr>
          <a:xfrm>
            <a:off x="983794" y="2649851"/>
            <a:ext cx="490750" cy="497225"/>
          </a:xfrm>
          <a:custGeom>
            <a:rect b="b" l="l" r="r" t="t"/>
            <a:pathLst>
              <a:path extrusionOk="0" h="19889" w="19630">
                <a:moveTo>
                  <a:pt x="2299" y="1908"/>
                </a:moveTo>
                <a:cubicBezTo>
                  <a:pt x="3568" y="1273"/>
                  <a:pt x="5032" y="-557"/>
                  <a:pt x="6213" y="230"/>
                </a:cubicBezTo>
                <a:cubicBezTo>
                  <a:pt x="8342" y="1649"/>
                  <a:pt x="876" y="4371"/>
                  <a:pt x="2020" y="6660"/>
                </a:cubicBezTo>
                <a:cubicBezTo>
                  <a:pt x="3259" y="9138"/>
                  <a:pt x="7888" y="1905"/>
                  <a:pt x="9847" y="3864"/>
                </a:cubicBezTo>
                <a:cubicBezTo>
                  <a:pt x="13017" y="7034"/>
                  <a:pt x="-3108" y="11163"/>
                  <a:pt x="622" y="13648"/>
                </a:cubicBezTo>
                <a:cubicBezTo>
                  <a:pt x="4057" y="15936"/>
                  <a:pt x="7731" y="9405"/>
                  <a:pt x="11524" y="7778"/>
                </a:cubicBezTo>
                <a:cubicBezTo>
                  <a:pt x="12209" y="7484"/>
                  <a:pt x="13614" y="7047"/>
                  <a:pt x="13760" y="7778"/>
                </a:cubicBezTo>
                <a:cubicBezTo>
                  <a:pt x="14772" y="12832"/>
                  <a:pt x="839" y="15229"/>
                  <a:pt x="3697" y="19519"/>
                </a:cubicBezTo>
                <a:cubicBezTo>
                  <a:pt x="4336" y="20478"/>
                  <a:pt x="6063" y="19273"/>
                  <a:pt x="7051" y="18680"/>
                </a:cubicBezTo>
                <a:cubicBezTo>
                  <a:pt x="10919" y="16357"/>
                  <a:pt x="14482" y="7106"/>
                  <a:pt x="17674" y="10294"/>
                </a:cubicBezTo>
                <a:cubicBezTo>
                  <a:pt x="18362" y="10981"/>
                  <a:pt x="17143" y="12166"/>
                  <a:pt x="16835" y="13089"/>
                </a:cubicBezTo>
                <a:cubicBezTo>
                  <a:pt x="16535" y="13990"/>
                  <a:pt x="19630" y="12698"/>
                  <a:pt x="19630" y="13648"/>
                </a:cubicBezTo>
              </a:path>
            </a:pathLst>
          </a:custGeom>
          <a:noFill/>
          <a:ln cap="flat" cmpd="sng" w="19050">
            <a:solidFill>
              <a:srgbClr val="3C78D8"/>
            </a:solidFill>
            <a:prstDash val="solid"/>
            <a:round/>
            <a:headEnd len="med" w="med" type="none"/>
            <a:tailEnd len="med" w="med" type="none"/>
          </a:ln>
        </p:spPr>
      </p:sp>
      <p:pic>
        <p:nvPicPr>
          <p:cNvPr id="403" name="Google Shape;403;p57"/>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404" name="Google Shape;404;p57"/>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8"/>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ya encontre una solucion, la devuelvo y termino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Avanzo si puedo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Pruebo si la solución parcial es válida</a:t>
            </a:r>
            <a:endParaRPr>
              <a:solidFill>
                <a:srgbClr val="93C47D"/>
              </a:solidFill>
              <a:latin typeface="Source Code Pro"/>
              <a:ea typeface="Source Code Pro"/>
              <a:cs typeface="Source Code Pro"/>
              <a:sym typeface="Source Code Pro"/>
            </a:endParaRPr>
          </a:p>
          <a:p>
            <a:pPr indent="-317500" lvl="0" marL="1828800" rtl="0" algn="l">
              <a:spcBef>
                <a:spcPts val="0"/>
              </a:spcBef>
              <a:spcAft>
                <a:spcPts val="0"/>
              </a:spcAft>
              <a:buClr>
                <a:srgbClr val="93C47D"/>
              </a:buClr>
              <a:buSzPts val="1400"/>
              <a:buFont typeface="Source Code Pro"/>
              <a:buAutoNum type="alphaLcParenR"/>
            </a:pPr>
            <a:r>
              <a:rPr lang="es">
                <a:solidFill>
                  <a:srgbClr val="93C47D"/>
                </a:solidFill>
                <a:latin typeface="Source Code Pro"/>
                <a:ea typeface="Source Code Pro"/>
                <a:cs typeface="Source Code Pro"/>
                <a:sym typeface="Source Code Pro"/>
              </a:rPr>
              <a:t>Si no lo es, retrocedo y vuelvo a 2)</a:t>
            </a:r>
            <a:endParaRPr>
              <a:solidFill>
                <a:srgbClr val="93C47D"/>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lo es, llamo recursivamente y vuelvo a 1)</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solidFill>
                <a:schemeClr val="dk1"/>
              </a:solidFill>
            </a:endParaRPr>
          </a:p>
        </p:txBody>
      </p:sp>
      <p:sp>
        <p:nvSpPr>
          <p:cNvPr id="410" name="Google Shape;410;p58"/>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sp>
        <p:nvSpPr>
          <p:cNvPr id="411" name="Google Shape;411;p58"/>
          <p:cNvSpPr/>
          <p:nvPr/>
        </p:nvSpPr>
        <p:spPr>
          <a:xfrm>
            <a:off x="1048275" y="1972287"/>
            <a:ext cx="1342200" cy="1484450"/>
          </a:xfrm>
          <a:custGeom>
            <a:rect b="b" l="l" r="r" t="t"/>
            <a:pathLst>
              <a:path extrusionOk="0" h="59378" w="53688">
                <a:moveTo>
                  <a:pt x="0" y="12797"/>
                </a:moveTo>
                <a:cubicBezTo>
                  <a:pt x="2842" y="9955"/>
                  <a:pt x="5823" y="7253"/>
                  <a:pt x="8665" y="4411"/>
                </a:cubicBezTo>
                <a:cubicBezTo>
                  <a:pt x="9738" y="3338"/>
                  <a:pt x="11111" y="122"/>
                  <a:pt x="12020" y="1336"/>
                </a:cubicBezTo>
                <a:cubicBezTo>
                  <a:pt x="16716" y="7607"/>
                  <a:pt x="-2947" y="15782"/>
                  <a:pt x="1397" y="22302"/>
                </a:cubicBezTo>
                <a:cubicBezTo>
                  <a:pt x="1968" y="23159"/>
                  <a:pt x="3537" y="22453"/>
                  <a:pt x="4472" y="22022"/>
                </a:cubicBezTo>
                <a:cubicBezTo>
                  <a:pt x="10880" y="19065"/>
                  <a:pt x="14413" y="11952"/>
                  <a:pt x="18729" y="6368"/>
                </a:cubicBezTo>
                <a:cubicBezTo>
                  <a:pt x="20381" y="4230"/>
                  <a:pt x="22698" y="-1663"/>
                  <a:pt x="24320" y="498"/>
                </a:cubicBezTo>
                <a:cubicBezTo>
                  <a:pt x="25772" y="2433"/>
                  <a:pt x="23332" y="5270"/>
                  <a:pt x="22363" y="7486"/>
                </a:cubicBezTo>
                <a:cubicBezTo>
                  <a:pt x="20476" y="11801"/>
                  <a:pt x="18874" y="16387"/>
                  <a:pt x="15933" y="20065"/>
                </a:cubicBezTo>
                <a:cubicBezTo>
                  <a:pt x="14625" y="21700"/>
                  <a:pt x="13618" y="23559"/>
                  <a:pt x="12579" y="25377"/>
                </a:cubicBezTo>
                <a:cubicBezTo>
                  <a:pt x="12124" y="26174"/>
                  <a:pt x="10640" y="28303"/>
                  <a:pt x="11461" y="27893"/>
                </a:cubicBezTo>
                <a:cubicBezTo>
                  <a:pt x="18196" y="24526"/>
                  <a:pt x="20396" y="15544"/>
                  <a:pt x="26276" y="10841"/>
                </a:cubicBezTo>
                <a:cubicBezTo>
                  <a:pt x="27476" y="9881"/>
                  <a:pt x="29789" y="8523"/>
                  <a:pt x="30749" y="9723"/>
                </a:cubicBezTo>
                <a:cubicBezTo>
                  <a:pt x="31949" y="11223"/>
                  <a:pt x="29552" y="13418"/>
                  <a:pt x="28513" y="15034"/>
                </a:cubicBezTo>
                <a:cubicBezTo>
                  <a:pt x="25807" y="19244"/>
                  <a:pt x="23728" y="23826"/>
                  <a:pt x="21245" y="28172"/>
                </a:cubicBezTo>
                <a:cubicBezTo>
                  <a:pt x="20206" y="29990"/>
                  <a:pt x="17846" y="32300"/>
                  <a:pt x="19008" y="34042"/>
                </a:cubicBezTo>
                <a:cubicBezTo>
                  <a:pt x="20147" y="35749"/>
                  <a:pt x="22409" y="31673"/>
                  <a:pt x="23760" y="30129"/>
                </a:cubicBezTo>
                <a:cubicBezTo>
                  <a:pt x="27839" y="25468"/>
                  <a:pt x="31485" y="19999"/>
                  <a:pt x="36899" y="16991"/>
                </a:cubicBezTo>
                <a:cubicBezTo>
                  <a:pt x="38254" y="16238"/>
                  <a:pt x="39572" y="13544"/>
                  <a:pt x="40812" y="14475"/>
                </a:cubicBezTo>
                <a:cubicBezTo>
                  <a:pt x="42204" y="15520"/>
                  <a:pt x="40380" y="18058"/>
                  <a:pt x="39415" y="19506"/>
                </a:cubicBezTo>
                <a:cubicBezTo>
                  <a:pt x="35353" y="25600"/>
                  <a:pt x="30852" y="31399"/>
                  <a:pt x="26276" y="37117"/>
                </a:cubicBezTo>
                <a:cubicBezTo>
                  <a:pt x="24918" y="38814"/>
                  <a:pt x="21951" y="40764"/>
                  <a:pt x="22922" y="42708"/>
                </a:cubicBezTo>
                <a:cubicBezTo>
                  <a:pt x="24278" y="45422"/>
                  <a:pt x="27781" y="38963"/>
                  <a:pt x="29631" y="36558"/>
                </a:cubicBezTo>
                <a:cubicBezTo>
                  <a:pt x="33996" y="30883"/>
                  <a:pt x="37612" y="24445"/>
                  <a:pt x="43049" y="19786"/>
                </a:cubicBezTo>
                <a:cubicBezTo>
                  <a:pt x="44209" y="18792"/>
                  <a:pt x="45372" y="16205"/>
                  <a:pt x="46683" y="16991"/>
                </a:cubicBezTo>
                <a:cubicBezTo>
                  <a:pt x="48528" y="18097"/>
                  <a:pt x="47230" y="21576"/>
                  <a:pt x="46123" y="23420"/>
                </a:cubicBezTo>
                <a:cubicBezTo>
                  <a:pt x="42257" y="29859"/>
                  <a:pt x="37479" y="35753"/>
                  <a:pt x="32426" y="41310"/>
                </a:cubicBezTo>
                <a:cubicBezTo>
                  <a:pt x="29956" y="44027"/>
                  <a:pt x="25106" y="46694"/>
                  <a:pt x="25997" y="50256"/>
                </a:cubicBezTo>
                <a:cubicBezTo>
                  <a:pt x="26757" y="53293"/>
                  <a:pt x="31991" y="47383"/>
                  <a:pt x="33544" y="44665"/>
                </a:cubicBezTo>
                <a:cubicBezTo>
                  <a:pt x="37154" y="38346"/>
                  <a:pt x="42377" y="33041"/>
                  <a:pt x="47521" y="27893"/>
                </a:cubicBezTo>
                <a:cubicBezTo>
                  <a:pt x="48966" y="26447"/>
                  <a:pt x="51667" y="23932"/>
                  <a:pt x="53112" y="25377"/>
                </a:cubicBezTo>
                <a:cubicBezTo>
                  <a:pt x="54999" y="27264"/>
                  <a:pt x="51644" y="30758"/>
                  <a:pt x="49757" y="32645"/>
                </a:cubicBezTo>
                <a:cubicBezTo>
                  <a:pt x="43235" y="39167"/>
                  <a:pt x="36192" y="45208"/>
                  <a:pt x="30190" y="52212"/>
                </a:cubicBezTo>
                <a:cubicBezTo>
                  <a:pt x="28357" y="54351"/>
                  <a:pt x="23094" y="57639"/>
                  <a:pt x="25438" y="59201"/>
                </a:cubicBezTo>
                <a:cubicBezTo>
                  <a:pt x="26449" y="59875"/>
                  <a:pt x="27564" y="58003"/>
                  <a:pt x="28513" y="57244"/>
                </a:cubicBezTo>
                <a:cubicBezTo>
                  <a:pt x="34943" y="52098"/>
                  <a:pt x="39412" y="44777"/>
                  <a:pt x="45844" y="39633"/>
                </a:cubicBezTo>
                <a:cubicBezTo>
                  <a:pt x="47257" y="38503"/>
                  <a:pt x="48637" y="35886"/>
                  <a:pt x="50317" y="36558"/>
                </a:cubicBezTo>
                <a:cubicBezTo>
                  <a:pt x="54573" y="38260"/>
                  <a:pt x="46709" y="45043"/>
                  <a:pt x="44167" y="48858"/>
                </a:cubicBezTo>
              </a:path>
            </a:pathLst>
          </a:custGeom>
          <a:noFill/>
          <a:ln cap="flat" cmpd="sng" w="19050">
            <a:solidFill>
              <a:srgbClr val="6AA84F"/>
            </a:solidFill>
            <a:prstDash val="solid"/>
            <a:round/>
            <a:headEnd len="med" w="med" type="none"/>
            <a:tailEnd len="med" w="med" type="none"/>
          </a:ln>
        </p:spPr>
      </p:sp>
      <p:pic>
        <p:nvPicPr>
          <p:cNvPr id="412" name="Google Shape;412;p58"/>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413" name="Google Shape;413;p58"/>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9"/>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ya encontre una solucion, la devuelvo y termino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Avanzo si puedo</a:t>
            </a:r>
            <a:endParaRPr>
              <a:solidFill>
                <a:srgbClr val="93C47D"/>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Pruebo si la solución parcial es válida</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no lo es, retrocedo y vuelvo a 2)</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lo es, llamo recursivamente y vuelvo a 1)</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solidFill>
                <a:schemeClr val="dk1"/>
              </a:solidFill>
            </a:endParaRPr>
          </a:p>
        </p:txBody>
      </p:sp>
      <p:sp>
        <p:nvSpPr>
          <p:cNvPr id="419" name="Google Shape;419;p59"/>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sp>
        <p:nvSpPr>
          <p:cNvPr id="420" name="Google Shape;420;p59"/>
          <p:cNvSpPr/>
          <p:nvPr/>
        </p:nvSpPr>
        <p:spPr>
          <a:xfrm>
            <a:off x="1048275" y="1972287"/>
            <a:ext cx="1342200" cy="1484450"/>
          </a:xfrm>
          <a:custGeom>
            <a:rect b="b" l="l" r="r" t="t"/>
            <a:pathLst>
              <a:path extrusionOk="0" h="59378" w="53688">
                <a:moveTo>
                  <a:pt x="0" y="12797"/>
                </a:moveTo>
                <a:cubicBezTo>
                  <a:pt x="2842" y="9955"/>
                  <a:pt x="5823" y="7253"/>
                  <a:pt x="8665" y="4411"/>
                </a:cubicBezTo>
                <a:cubicBezTo>
                  <a:pt x="9738" y="3338"/>
                  <a:pt x="11111" y="122"/>
                  <a:pt x="12020" y="1336"/>
                </a:cubicBezTo>
                <a:cubicBezTo>
                  <a:pt x="16716" y="7607"/>
                  <a:pt x="-2947" y="15782"/>
                  <a:pt x="1397" y="22302"/>
                </a:cubicBezTo>
                <a:cubicBezTo>
                  <a:pt x="1968" y="23159"/>
                  <a:pt x="3537" y="22453"/>
                  <a:pt x="4472" y="22022"/>
                </a:cubicBezTo>
                <a:cubicBezTo>
                  <a:pt x="10880" y="19065"/>
                  <a:pt x="14413" y="11952"/>
                  <a:pt x="18729" y="6368"/>
                </a:cubicBezTo>
                <a:cubicBezTo>
                  <a:pt x="20381" y="4230"/>
                  <a:pt x="22698" y="-1663"/>
                  <a:pt x="24320" y="498"/>
                </a:cubicBezTo>
                <a:cubicBezTo>
                  <a:pt x="25772" y="2433"/>
                  <a:pt x="23332" y="5270"/>
                  <a:pt x="22363" y="7486"/>
                </a:cubicBezTo>
                <a:cubicBezTo>
                  <a:pt x="20476" y="11801"/>
                  <a:pt x="18874" y="16387"/>
                  <a:pt x="15933" y="20065"/>
                </a:cubicBezTo>
                <a:cubicBezTo>
                  <a:pt x="14625" y="21700"/>
                  <a:pt x="13618" y="23559"/>
                  <a:pt x="12579" y="25377"/>
                </a:cubicBezTo>
                <a:cubicBezTo>
                  <a:pt x="12124" y="26174"/>
                  <a:pt x="10640" y="28303"/>
                  <a:pt x="11461" y="27893"/>
                </a:cubicBezTo>
                <a:cubicBezTo>
                  <a:pt x="18196" y="24526"/>
                  <a:pt x="20396" y="15544"/>
                  <a:pt x="26276" y="10841"/>
                </a:cubicBezTo>
                <a:cubicBezTo>
                  <a:pt x="27476" y="9881"/>
                  <a:pt x="29789" y="8523"/>
                  <a:pt x="30749" y="9723"/>
                </a:cubicBezTo>
                <a:cubicBezTo>
                  <a:pt x="31949" y="11223"/>
                  <a:pt x="29552" y="13418"/>
                  <a:pt x="28513" y="15034"/>
                </a:cubicBezTo>
                <a:cubicBezTo>
                  <a:pt x="25807" y="19244"/>
                  <a:pt x="23728" y="23826"/>
                  <a:pt x="21245" y="28172"/>
                </a:cubicBezTo>
                <a:cubicBezTo>
                  <a:pt x="20206" y="29990"/>
                  <a:pt x="17846" y="32300"/>
                  <a:pt x="19008" y="34042"/>
                </a:cubicBezTo>
                <a:cubicBezTo>
                  <a:pt x="20147" y="35749"/>
                  <a:pt x="22409" y="31673"/>
                  <a:pt x="23760" y="30129"/>
                </a:cubicBezTo>
                <a:cubicBezTo>
                  <a:pt x="27839" y="25468"/>
                  <a:pt x="31485" y="19999"/>
                  <a:pt x="36899" y="16991"/>
                </a:cubicBezTo>
                <a:cubicBezTo>
                  <a:pt x="38254" y="16238"/>
                  <a:pt x="39572" y="13544"/>
                  <a:pt x="40812" y="14475"/>
                </a:cubicBezTo>
                <a:cubicBezTo>
                  <a:pt x="42204" y="15520"/>
                  <a:pt x="40380" y="18058"/>
                  <a:pt x="39415" y="19506"/>
                </a:cubicBezTo>
                <a:cubicBezTo>
                  <a:pt x="35353" y="25600"/>
                  <a:pt x="30852" y="31399"/>
                  <a:pt x="26276" y="37117"/>
                </a:cubicBezTo>
                <a:cubicBezTo>
                  <a:pt x="24918" y="38814"/>
                  <a:pt x="21951" y="40764"/>
                  <a:pt x="22922" y="42708"/>
                </a:cubicBezTo>
                <a:cubicBezTo>
                  <a:pt x="24278" y="45422"/>
                  <a:pt x="27781" y="38963"/>
                  <a:pt x="29631" y="36558"/>
                </a:cubicBezTo>
                <a:cubicBezTo>
                  <a:pt x="33996" y="30883"/>
                  <a:pt x="37612" y="24445"/>
                  <a:pt x="43049" y="19786"/>
                </a:cubicBezTo>
                <a:cubicBezTo>
                  <a:pt x="44209" y="18792"/>
                  <a:pt x="45372" y="16205"/>
                  <a:pt x="46683" y="16991"/>
                </a:cubicBezTo>
                <a:cubicBezTo>
                  <a:pt x="48528" y="18097"/>
                  <a:pt x="47230" y="21576"/>
                  <a:pt x="46123" y="23420"/>
                </a:cubicBezTo>
                <a:cubicBezTo>
                  <a:pt x="42257" y="29859"/>
                  <a:pt x="37479" y="35753"/>
                  <a:pt x="32426" y="41310"/>
                </a:cubicBezTo>
                <a:cubicBezTo>
                  <a:pt x="29956" y="44027"/>
                  <a:pt x="25106" y="46694"/>
                  <a:pt x="25997" y="50256"/>
                </a:cubicBezTo>
                <a:cubicBezTo>
                  <a:pt x="26757" y="53293"/>
                  <a:pt x="31991" y="47383"/>
                  <a:pt x="33544" y="44665"/>
                </a:cubicBezTo>
                <a:cubicBezTo>
                  <a:pt x="37154" y="38346"/>
                  <a:pt x="42377" y="33041"/>
                  <a:pt x="47521" y="27893"/>
                </a:cubicBezTo>
                <a:cubicBezTo>
                  <a:pt x="48966" y="26447"/>
                  <a:pt x="51667" y="23932"/>
                  <a:pt x="53112" y="25377"/>
                </a:cubicBezTo>
                <a:cubicBezTo>
                  <a:pt x="54999" y="27264"/>
                  <a:pt x="51644" y="30758"/>
                  <a:pt x="49757" y="32645"/>
                </a:cubicBezTo>
                <a:cubicBezTo>
                  <a:pt x="43235" y="39167"/>
                  <a:pt x="36192" y="45208"/>
                  <a:pt x="30190" y="52212"/>
                </a:cubicBezTo>
                <a:cubicBezTo>
                  <a:pt x="28357" y="54351"/>
                  <a:pt x="23094" y="57639"/>
                  <a:pt x="25438" y="59201"/>
                </a:cubicBezTo>
                <a:cubicBezTo>
                  <a:pt x="26449" y="59875"/>
                  <a:pt x="27564" y="58003"/>
                  <a:pt x="28513" y="57244"/>
                </a:cubicBezTo>
                <a:cubicBezTo>
                  <a:pt x="34943" y="52098"/>
                  <a:pt x="39412" y="44777"/>
                  <a:pt x="45844" y="39633"/>
                </a:cubicBezTo>
                <a:cubicBezTo>
                  <a:pt x="47257" y="38503"/>
                  <a:pt x="48637" y="35886"/>
                  <a:pt x="50317" y="36558"/>
                </a:cubicBezTo>
                <a:cubicBezTo>
                  <a:pt x="54573" y="38260"/>
                  <a:pt x="46709" y="45043"/>
                  <a:pt x="44167" y="48858"/>
                </a:cubicBezTo>
              </a:path>
            </a:pathLst>
          </a:custGeom>
          <a:noFill/>
          <a:ln cap="flat" cmpd="sng" w="19050">
            <a:solidFill>
              <a:srgbClr val="6AA84F"/>
            </a:solidFill>
            <a:prstDash val="solid"/>
            <a:round/>
            <a:headEnd len="med" w="med" type="none"/>
            <a:tailEnd len="med" w="med" type="none"/>
          </a:ln>
        </p:spPr>
      </p:sp>
      <p:sp>
        <p:nvSpPr>
          <p:cNvPr id="421" name="Google Shape;421;p59"/>
          <p:cNvSpPr/>
          <p:nvPr/>
        </p:nvSpPr>
        <p:spPr>
          <a:xfrm>
            <a:off x="983794" y="2649851"/>
            <a:ext cx="490750" cy="497225"/>
          </a:xfrm>
          <a:custGeom>
            <a:rect b="b" l="l" r="r" t="t"/>
            <a:pathLst>
              <a:path extrusionOk="0" h="19889" w="19630">
                <a:moveTo>
                  <a:pt x="2299" y="1908"/>
                </a:moveTo>
                <a:cubicBezTo>
                  <a:pt x="3568" y="1273"/>
                  <a:pt x="5032" y="-557"/>
                  <a:pt x="6213" y="230"/>
                </a:cubicBezTo>
                <a:cubicBezTo>
                  <a:pt x="8342" y="1649"/>
                  <a:pt x="876" y="4371"/>
                  <a:pt x="2020" y="6660"/>
                </a:cubicBezTo>
                <a:cubicBezTo>
                  <a:pt x="3259" y="9138"/>
                  <a:pt x="7888" y="1905"/>
                  <a:pt x="9847" y="3864"/>
                </a:cubicBezTo>
                <a:cubicBezTo>
                  <a:pt x="13017" y="7034"/>
                  <a:pt x="-3108" y="11163"/>
                  <a:pt x="622" y="13648"/>
                </a:cubicBezTo>
                <a:cubicBezTo>
                  <a:pt x="4057" y="15936"/>
                  <a:pt x="7731" y="9405"/>
                  <a:pt x="11524" y="7778"/>
                </a:cubicBezTo>
                <a:cubicBezTo>
                  <a:pt x="12209" y="7484"/>
                  <a:pt x="13614" y="7047"/>
                  <a:pt x="13760" y="7778"/>
                </a:cubicBezTo>
                <a:cubicBezTo>
                  <a:pt x="14772" y="12832"/>
                  <a:pt x="839" y="15229"/>
                  <a:pt x="3697" y="19519"/>
                </a:cubicBezTo>
                <a:cubicBezTo>
                  <a:pt x="4336" y="20478"/>
                  <a:pt x="6063" y="19273"/>
                  <a:pt x="7051" y="18680"/>
                </a:cubicBezTo>
                <a:cubicBezTo>
                  <a:pt x="10919" y="16357"/>
                  <a:pt x="14482" y="7106"/>
                  <a:pt x="17674" y="10294"/>
                </a:cubicBezTo>
                <a:cubicBezTo>
                  <a:pt x="18362" y="10981"/>
                  <a:pt x="17143" y="12166"/>
                  <a:pt x="16835" y="13089"/>
                </a:cubicBezTo>
                <a:cubicBezTo>
                  <a:pt x="16535" y="13990"/>
                  <a:pt x="19630" y="12698"/>
                  <a:pt x="19630" y="13648"/>
                </a:cubicBezTo>
              </a:path>
            </a:pathLst>
          </a:custGeom>
          <a:noFill/>
          <a:ln cap="flat" cmpd="sng" w="19050">
            <a:solidFill>
              <a:srgbClr val="6AA84F"/>
            </a:solidFill>
            <a:prstDash val="solid"/>
            <a:round/>
            <a:headEnd len="med" w="med" type="none"/>
            <a:tailEnd len="med" w="med" type="none"/>
          </a:ln>
        </p:spPr>
      </p:sp>
      <p:pic>
        <p:nvPicPr>
          <p:cNvPr id="422" name="Google Shape;422;p59"/>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423" name="Google Shape;423;p59"/>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0"/>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ya encontre una solucion, la devuelvo y termino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Avanzo si puedo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Pruebo si la solución parcial es válida</a:t>
            </a:r>
            <a:endParaRPr>
              <a:solidFill>
                <a:srgbClr val="93C47D"/>
              </a:solidFill>
              <a:latin typeface="Source Code Pro"/>
              <a:ea typeface="Source Code Pro"/>
              <a:cs typeface="Source Code Pro"/>
              <a:sym typeface="Source Code Pro"/>
            </a:endParaRPr>
          </a:p>
          <a:p>
            <a:pPr indent="-317500" lvl="0" marL="1828800" rtl="0" algn="l">
              <a:spcBef>
                <a:spcPts val="0"/>
              </a:spcBef>
              <a:spcAft>
                <a:spcPts val="0"/>
              </a:spcAft>
              <a:buClr>
                <a:srgbClr val="93C47D"/>
              </a:buClr>
              <a:buSzPts val="1400"/>
              <a:buFont typeface="Source Code Pro"/>
              <a:buAutoNum type="alphaLcParenR"/>
            </a:pPr>
            <a:r>
              <a:rPr lang="es">
                <a:solidFill>
                  <a:srgbClr val="93C47D"/>
                </a:solidFill>
                <a:latin typeface="Source Code Pro"/>
                <a:ea typeface="Source Code Pro"/>
                <a:cs typeface="Source Code Pro"/>
                <a:sym typeface="Source Code Pro"/>
              </a:rPr>
              <a:t>Si no lo es, retrocedo y vuelvo a 2)</a:t>
            </a:r>
            <a:endParaRPr>
              <a:solidFill>
                <a:srgbClr val="93C47D"/>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lo es, llamo recursivamente y vuelvo a 1)</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solidFill>
                <a:schemeClr val="dk1"/>
              </a:solidFill>
            </a:endParaRPr>
          </a:p>
        </p:txBody>
      </p:sp>
      <p:sp>
        <p:nvSpPr>
          <p:cNvPr id="429" name="Google Shape;429;p60"/>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sp>
        <p:nvSpPr>
          <p:cNvPr id="430" name="Google Shape;430;p60"/>
          <p:cNvSpPr/>
          <p:nvPr/>
        </p:nvSpPr>
        <p:spPr>
          <a:xfrm>
            <a:off x="1048275" y="1972287"/>
            <a:ext cx="1342200" cy="1484450"/>
          </a:xfrm>
          <a:custGeom>
            <a:rect b="b" l="l" r="r" t="t"/>
            <a:pathLst>
              <a:path extrusionOk="0" h="59378" w="53688">
                <a:moveTo>
                  <a:pt x="0" y="12797"/>
                </a:moveTo>
                <a:cubicBezTo>
                  <a:pt x="2842" y="9955"/>
                  <a:pt x="5823" y="7253"/>
                  <a:pt x="8665" y="4411"/>
                </a:cubicBezTo>
                <a:cubicBezTo>
                  <a:pt x="9738" y="3338"/>
                  <a:pt x="11111" y="122"/>
                  <a:pt x="12020" y="1336"/>
                </a:cubicBezTo>
                <a:cubicBezTo>
                  <a:pt x="16716" y="7607"/>
                  <a:pt x="-2947" y="15782"/>
                  <a:pt x="1397" y="22302"/>
                </a:cubicBezTo>
                <a:cubicBezTo>
                  <a:pt x="1968" y="23159"/>
                  <a:pt x="3537" y="22453"/>
                  <a:pt x="4472" y="22022"/>
                </a:cubicBezTo>
                <a:cubicBezTo>
                  <a:pt x="10880" y="19065"/>
                  <a:pt x="14413" y="11952"/>
                  <a:pt x="18729" y="6368"/>
                </a:cubicBezTo>
                <a:cubicBezTo>
                  <a:pt x="20381" y="4230"/>
                  <a:pt x="22698" y="-1663"/>
                  <a:pt x="24320" y="498"/>
                </a:cubicBezTo>
                <a:cubicBezTo>
                  <a:pt x="25772" y="2433"/>
                  <a:pt x="23332" y="5270"/>
                  <a:pt x="22363" y="7486"/>
                </a:cubicBezTo>
                <a:cubicBezTo>
                  <a:pt x="20476" y="11801"/>
                  <a:pt x="18874" y="16387"/>
                  <a:pt x="15933" y="20065"/>
                </a:cubicBezTo>
                <a:cubicBezTo>
                  <a:pt x="14625" y="21700"/>
                  <a:pt x="13618" y="23559"/>
                  <a:pt x="12579" y="25377"/>
                </a:cubicBezTo>
                <a:cubicBezTo>
                  <a:pt x="12124" y="26174"/>
                  <a:pt x="10640" y="28303"/>
                  <a:pt x="11461" y="27893"/>
                </a:cubicBezTo>
                <a:cubicBezTo>
                  <a:pt x="18196" y="24526"/>
                  <a:pt x="20396" y="15544"/>
                  <a:pt x="26276" y="10841"/>
                </a:cubicBezTo>
                <a:cubicBezTo>
                  <a:pt x="27476" y="9881"/>
                  <a:pt x="29789" y="8523"/>
                  <a:pt x="30749" y="9723"/>
                </a:cubicBezTo>
                <a:cubicBezTo>
                  <a:pt x="31949" y="11223"/>
                  <a:pt x="29552" y="13418"/>
                  <a:pt x="28513" y="15034"/>
                </a:cubicBezTo>
                <a:cubicBezTo>
                  <a:pt x="25807" y="19244"/>
                  <a:pt x="23728" y="23826"/>
                  <a:pt x="21245" y="28172"/>
                </a:cubicBezTo>
                <a:cubicBezTo>
                  <a:pt x="20206" y="29990"/>
                  <a:pt x="17846" y="32300"/>
                  <a:pt x="19008" y="34042"/>
                </a:cubicBezTo>
                <a:cubicBezTo>
                  <a:pt x="20147" y="35749"/>
                  <a:pt x="22409" y="31673"/>
                  <a:pt x="23760" y="30129"/>
                </a:cubicBezTo>
                <a:cubicBezTo>
                  <a:pt x="27839" y="25468"/>
                  <a:pt x="31485" y="19999"/>
                  <a:pt x="36899" y="16991"/>
                </a:cubicBezTo>
                <a:cubicBezTo>
                  <a:pt x="38254" y="16238"/>
                  <a:pt x="39572" y="13544"/>
                  <a:pt x="40812" y="14475"/>
                </a:cubicBezTo>
                <a:cubicBezTo>
                  <a:pt x="42204" y="15520"/>
                  <a:pt x="40380" y="18058"/>
                  <a:pt x="39415" y="19506"/>
                </a:cubicBezTo>
                <a:cubicBezTo>
                  <a:pt x="35353" y="25600"/>
                  <a:pt x="30852" y="31399"/>
                  <a:pt x="26276" y="37117"/>
                </a:cubicBezTo>
                <a:cubicBezTo>
                  <a:pt x="24918" y="38814"/>
                  <a:pt x="21951" y="40764"/>
                  <a:pt x="22922" y="42708"/>
                </a:cubicBezTo>
                <a:cubicBezTo>
                  <a:pt x="24278" y="45422"/>
                  <a:pt x="27781" y="38963"/>
                  <a:pt x="29631" y="36558"/>
                </a:cubicBezTo>
                <a:cubicBezTo>
                  <a:pt x="33996" y="30883"/>
                  <a:pt x="37612" y="24445"/>
                  <a:pt x="43049" y="19786"/>
                </a:cubicBezTo>
                <a:cubicBezTo>
                  <a:pt x="44209" y="18792"/>
                  <a:pt x="45372" y="16205"/>
                  <a:pt x="46683" y="16991"/>
                </a:cubicBezTo>
                <a:cubicBezTo>
                  <a:pt x="48528" y="18097"/>
                  <a:pt x="47230" y="21576"/>
                  <a:pt x="46123" y="23420"/>
                </a:cubicBezTo>
                <a:cubicBezTo>
                  <a:pt x="42257" y="29859"/>
                  <a:pt x="37479" y="35753"/>
                  <a:pt x="32426" y="41310"/>
                </a:cubicBezTo>
                <a:cubicBezTo>
                  <a:pt x="29956" y="44027"/>
                  <a:pt x="25106" y="46694"/>
                  <a:pt x="25997" y="50256"/>
                </a:cubicBezTo>
                <a:cubicBezTo>
                  <a:pt x="26757" y="53293"/>
                  <a:pt x="31991" y="47383"/>
                  <a:pt x="33544" y="44665"/>
                </a:cubicBezTo>
                <a:cubicBezTo>
                  <a:pt x="37154" y="38346"/>
                  <a:pt x="42377" y="33041"/>
                  <a:pt x="47521" y="27893"/>
                </a:cubicBezTo>
                <a:cubicBezTo>
                  <a:pt x="48966" y="26447"/>
                  <a:pt x="51667" y="23932"/>
                  <a:pt x="53112" y="25377"/>
                </a:cubicBezTo>
                <a:cubicBezTo>
                  <a:pt x="54999" y="27264"/>
                  <a:pt x="51644" y="30758"/>
                  <a:pt x="49757" y="32645"/>
                </a:cubicBezTo>
                <a:cubicBezTo>
                  <a:pt x="43235" y="39167"/>
                  <a:pt x="36192" y="45208"/>
                  <a:pt x="30190" y="52212"/>
                </a:cubicBezTo>
                <a:cubicBezTo>
                  <a:pt x="28357" y="54351"/>
                  <a:pt x="23094" y="57639"/>
                  <a:pt x="25438" y="59201"/>
                </a:cubicBezTo>
                <a:cubicBezTo>
                  <a:pt x="26449" y="59875"/>
                  <a:pt x="27564" y="58003"/>
                  <a:pt x="28513" y="57244"/>
                </a:cubicBezTo>
                <a:cubicBezTo>
                  <a:pt x="34943" y="52098"/>
                  <a:pt x="39412" y="44777"/>
                  <a:pt x="45844" y="39633"/>
                </a:cubicBezTo>
                <a:cubicBezTo>
                  <a:pt x="47257" y="38503"/>
                  <a:pt x="48637" y="35886"/>
                  <a:pt x="50317" y="36558"/>
                </a:cubicBezTo>
                <a:cubicBezTo>
                  <a:pt x="54573" y="38260"/>
                  <a:pt x="46709" y="45043"/>
                  <a:pt x="44167" y="48858"/>
                </a:cubicBezTo>
              </a:path>
            </a:pathLst>
          </a:custGeom>
          <a:noFill/>
          <a:ln cap="flat" cmpd="sng" w="19050">
            <a:solidFill>
              <a:srgbClr val="6AA84F"/>
            </a:solidFill>
            <a:prstDash val="solid"/>
            <a:round/>
            <a:headEnd len="med" w="med" type="none"/>
            <a:tailEnd len="med" w="med" type="none"/>
          </a:ln>
        </p:spPr>
      </p:sp>
      <p:pic>
        <p:nvPicPr>
          <p:cNvPr id="431" name="Google Shape;431;p60"/>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432" name="Google Shape;432;p60"/>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1"/>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ya encontre una solucion, la devuelvo y termino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Avanzo si puedo</a:t>
            </a:r>
            <a:endParaRPr>
              <a:solidFill>
                <a:srgbClr val="93C47D"/>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Pruebo si la solución parcial es válida</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no lo es, retrocedo y vuelvo a 2)</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lo es, llamo recursivamente y vuelvo a 1)</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solidFill>
                <a:schemeClr val="dk1"/>
              </a:solidFill>
            </a:endParaRPr>
          </a:p>
        </p:txBody>
      </p:sp>
      <p:sp>
        <p:nvSpPr>
          <p:cNvPr id="438" name="Google Shape;438;p61"/>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sp>
        <p:nvSpPr>
          <p:cNvPr id="439" name="Google Shape;439;p61"/>
          <p:cNvSpPr/>
          <p:nvPr/>
        </p:nvSpPr>
        <p:spPr>
          <a:xfrm>
            <a:off x="1048275" y="1972287"/>
            <a:ext cx="1342200" cy="1484450"/>
          </a:xfrm>
          <a:custGeom>
            <a:rect b="b" l="l" r="r" t="t"/>
            <a:pathLst>
              <a:path extrusionOk="0" h="59378" w="53688">
                <a:moveTo>
                  <a:pt x="0" y="12797"/>
                </a:moveTo>
                <a:cubicBezTo>
                  <a:pt x="2842" y="9955"/>
                  <a:pt x="5823" y="7253"/>
                  <a:pt x="8665" y="4411"/>
                </a:cubicBezTo>
                <a:cubicBezTo>
                  <a:pt x="9738" y="3338"/>
                  <a:pt x="11111" y="122"/>
                  <a:pt x="12020" y="1336"/>
                </a:cubicBezTo>
                <a:cubicBezTo>
                  <a:pt x="16716" y="7607"/>
                  <a:pt x="-2947" y="15782"/>
                  <a:pt x="1397" y="22302"/>
                </a:cubicBezTo>
                <a:cubicBezTo>
                  <a:pt x="1968" y="23159"/>
                  <a:pt x="3537" y="22453"/>
                  <a:pt x="4472" y="22022"/>
                </a:cubicBezTo>
                <a:cubicBezTo>
                  <a:pt x="10880" y="19065"/>
                  <a:pt x="14413" y="11952"/>
                  <a:pt x="18729" y="6368"/>
                </a:cubicBezTo>
                <a:cubicBezTo>
                  <a:pt x="20381" y="4230"/>
                  <a:pt x="22698" y="-1663"/>
                  <a:pt x="24320" y="498"/>
                </a:cubicBezTo>
                <a:cubicBezTo>
                  <a:pt x="25772" y="2433"/>
                  <a:pt x="23332" y="5270"/>
                  <a:pt x="22363" y="7486"/>
                </a:cubicBezTo>
                <a:cubicBezTo>
                  <a:pt x="20476" y="11801"/>
                  <a:pt x="18874" y="16387"/>
                  <a:pt x="15933" y="20065"/>
                </a:cubicBezTo>
                <a:cubicBezTo>
                  <a:pt x="14625" y="21700"/>
                  <a:pt x="13618" y="23559"/>
                  <a:pt x="12579" y="25377"/>
                </a:cubicBezTo>
                <a:cubicBezTo>
                  <a:pt x="12124" y="26174"/>
                  <a:pt x="10640" y="28303"/>
                  <a:pt x="11461" y="27893"/>
                </a:cubicBezTo>
                <a:cubicBezTo>
                  <a:pt x="18196" y="24526"/>
                  <a:pt x="20396" y="15544"/>
                  <a:pt x="26276" y="10841"/>
                </a:cubicBezTo>
                <a:cubicBezTo>
                  <a:pt x="27476" y="9881"/>
                  <a:pt x="29789" y="8523"/>
                  <a:pt x="30749" y="9723"/>
                </a:cubicBezTo>
                <a:cubicBezTo>
                  <a:pt x="31949" y="11223"/>
                  <a:pt x="29552" y="13418"/>
                  <a:pt x="28513" y="15034"/>
                </a:cubicBezTo>
                <a:cubicBezTo>
                  <a:pt x="25807" y="19244"/>
                  <a:pt x="23728" y="23826"/>
                  <a:pt x="21245" y="28172"/>
                </a:cubicBezTo>
                <a:cubicBezTo>
                  <a:pt x="20206" y="29990"/>
                  <a:pt x="17846" y="32300"/>
                  <a:pt x="19008" y="34042"/>
                </a:cubicBezTo>
                <a:cubicBezTo>
                  <a:pt x="20147" y="35749"/>
                  <a:pt x="22409" y="31673"/>
                  <a:pt x="23760" y="30129"/>
                </a:cubicBezTo>
                <a:cubicBezTo>
                  <a:pt x="27839" y="25468"/>
                  <a:pt x="31485" y="19999"/>
                  <a:pt x="36899" y="16991"/>
                </a:cubicBezTo>
                <a:cubicBezTo>
                  <a:pt x="38254" y="16238"/>
                  <a:pt x="39572" y="13544"/>
                  <a:pt x="40812" y="14475"/>
                </a:cubicBezTo>
                <a:cubicBezTo>
                  <a:pt x="42204" y="15520"/>
                  <a:pt x="40380" y="18058"/>
                  <a:pt x="39415" y="19506"/>
                </a:cubicBezTo>
                <a:cubicBezTo>
                  <a:pt x="35353" y="25600"/>
                  <a:pt x="30852" y="31399"/>
                  <a:pt x="26276" y="37117"/>
                </a:cubicBezTo>
                <a:cubicBezTo>
                  <a:pt x="24918" y="38814"/>
                  <a:pt x="21951" y="40764"/>
                  <a:pt x="22922" y="42708"/>
                </a:cubicBezTo>
                <a:cubicBezTo>
                  <a:pt x="24278" y="45422"/>
                  <a:pt x="27781" y="38963"/>
                  <a:pt x="29631" y="36558"/>
                </a:cubicBezTo>
                <a:cubicBezTo>
                  <a:pt x="33996" y="30883"/>
                  <a:pt x="37612" y="24445"/>
                  <a:pt x="43049" y="19786"/>
                </a:cubicBezTo>
                <a:cubicBezTo>
                  <a:pt x="44209" y="18792"/>
                  <a:pt x="45372" y="16205"/>
                  <a:pt x="46683" y="16991"/>
                </a:cubicBezTo>
                <a:cubicBezTo>
                  <a:pt x="48528" y="18097"/>
                  <a:pt x="47230" y="21576"/>
                  <a:pt x="46123" y="23420"/>
                </a:cubicBezTo>
                <a:cubicBezTo>
                  <a:pt x="42257" y="29859"/>
                  <a:pt x="37479" y="35753"/>
                  <a:pt x="32426" y="41310"/>
                </a:cubicBezTo>
                <a:cubicBezTo>
                  <a:pt x="29956" y="44027"/>
                  <a:pt x="25106" y="46694"/>
                  <a:pt x="25997" y="50256"/>
                </a:cubicBezTo>
                <a:cubicBezTo>
                  <a:pt x="26757" y="53293"/>
                  <a:pt x="31991" y="47383"/>
                  <a:pt x="33544" y="44665"/>
                </a:cubicBezTo>
                <a:cubicBezTo>
                  <a:pt x="37154" y="38346"/>
                  <a:pt x="42377" y="33041"/>
                  <a:pt x="47521" y="27893"/>
                </a:cubicBezTo>
                <a:cubicBezTo>
                  <a:pt x="48966" y="26447"/>
                  <a:pt x="51667" y="23932"/>
                  <a:pt x="53112" y="25377"/>
                </a:cubicBezTo>
                <a:cubicBezTo>
                  <a:pt x="54999" y="27264"/>
                  <a:pt x="51644" y="30758"/>
                  <a:pt x="49757" y="32645"/>
                </a:cubicBezTo>
                <a:cubicBezTo>
                  <a:pt x="43235" y="39167"/>
                  <a:pt x="36192" y="45208"/>
                  <a:pt x="30190" y="52212"/>
                </a:cubicBezTo>
                <a:cubicBezTo>
                  <a:pt x="28357" y="54351"/>
                  <a:pt x="23094" y="57639"/>
                  <a:pt x="25438" y="59201"/>
                </a:cubicBezTo>
                <a:cubicBezTo>
                  <a:pt x="26449" y="59875"/>
                  <a:pt x="27564" y="58003"/>
                  <a:pt x="28513" y="57244"/>
                </a:cubicBezTo>
                <a:cubicBezTo>
                  <a:pt x="34943" y="52098"/>
                  <a:pt x="39412" y="44777"/>
                  <a:pt x="45844" y="39633"/>
                </a:cubicBezTo>
                <a:cubicBezTo>
                  <a:pt x="47257" y="38503"/>
                  <a:pt x="48637" y="35886"/>
                  <a:pt x="50317" y="36558"/>
                </a:cubicBezTo>
                <a:cubicBezTo>
                  <a:pt x="54573" y="38260"/>
                  <a:pt x="46709" y="45043"/>
                  <a:pt x="44167" y="48858"/>
                </a:cubicBezTo>
              </a:path>
            </a:pathLst>
          </a:custGeom>
          <a:noFill/>
          <a:ln cap="flat" cmpd="sng" w="19050">
            <a:solidFill>
              <a:srgbClr val="6AA84F"/>
            </a:solidFill>
            <a:prstDash val="solid"/>
            <a:round/>
            <a:headEnd len="med" w="med" type="none"/>
            <a:tailEnd len="med" w="med" type="none"/>
          </a:ln>
        </p:spPr>
      </p:sp>
      <p:sp>
        <p:nvSpPr>
          <p:cNvPr id="440" name="Google Shape;440;p61"/>
          <p:cNvSpPr/>
          <p:nvPr/>
        </p:nvSpPr>
        <p:spPr>
          <a:xfrm>
            <a:off x="983794" y="2649851"/>
            <a:ext cx="490750" cy="497225"/>
          </a:xfrm>
          <a:custGeom>
            <a:rect b="b" l="l" r="r" t="t"/>
            <a:pathLst>
              <a:path extrusionOk="0" h="19889" w="19630">
                <a:moveTo>
                  <a:pt x="2299" y="1908"/>
                </a:moveTo>
                <a:cubicBezTo>
                  <a:pt x="3568" y="1273"/>
                  <a:pt x="5032" y="-557"/>
                  <a:pt x="6213" y="230"/>
                </a:cubicBezTo>
                <a:cubicBezTo>
                  <a:pt x="8342" y="1649"/>
                  <a:pt x="876" y="4371"/>
                  <a:pt x="2020" y="6660"/>
                </a:cubicBezTo>
                <a:cubicBezTo>
                  <a:pt x="3259" y="9138"/>
                  <a:pt x="7888" y="1905"/>
                  <a:pt x="9847" y="3864"/>
                </a:cubicBezTo>
                <a:cubicBezTo>
                  <a:pt x="13017" y="7034"/>
                  <a:pt x="-3108" y="11163"/>
                  <a:pt x="622" y="13648"/>
                </a:cubicBezTo>
                <a:cubicBezTo>
                  <a:pt x="4057" y="15936"/>
                  <a:pt x="7731" y="9405"/>
                  <a:pt x="11524" y="7778"/>
                </a:cubicBezTo>
                <a:cubicBezTo>
                  <a:pt x="12209" y="7484"/>
                  <a:pt x="13614" y="7047"/>
                  <a:pt x="13760" y="7778"/>
                </a:cubicBezTo>
                <a:cubicBezTo>
                  <a:pt x="14772" y="12832"/>
                  <a:pt x="839" y="15229"/>
                  <a:pt x="3697" y="19519"/>
                </a:cubicBezTo>
                <a:cubicBezTo>
                  <a:pt x="4336" y="20478"/>
                  <a:pt x="6063" y="19273"/>
                  <a:pt x="7051" y="18680"/>
                </a:cubicBezTo>
                <a:cubicBezTo>
                  <a:pt x="10919" y="16357"/>
                  <a:pt x="14482" y="7106"/>
                  <a:pt x="17674" y="10294"/>
                </a:cubicBezTo>
                <a:cubicBezTo>
                  <a:pt x="18362" y="10981"/>
                  <a:pt x="17143" y="12166"/>
                  <a:pt x="16835" y="13089"/>
                </a:cubicBezTo>
                <a:cubicBezTo>
                  <a:pt x="16535" y="13990"/>
                  <a:pt x="19630" y="12698"/>
                  <a:pt x="19630" y="13648"/>
                </a:cubicBezTo>
              </a:path>
            </a:pathLst>
          </a:custGeom>
          <a:noFill/>
          <a:ln cap="flat" cmpd="sng" w="19050">
            <a:solidFill>
              <a:srgbClr val="CC0000"/>
            </a:solidFill>
            <a:prstDash val="solid"/>
            <a:round/>
            <a:headEnd len="med" w="med" type="none"/>
            <a:tailEnd len="med" w="med" type="none"/>
          </a:ln>
        </p:spPr>
      </p:sp>
      <p:pic>
        <p:nvPicPr>
          <p:cNvPr id="441" name="Google Shape;441;p61"/>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442" name="Google Shape;442;p61"/>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2"/>
          <p:cNvSpPr txBox="1"/>
          <p:nvPr/>
        </p:nvSpPr>
        <p:spPr>
          <a:xfrm>
            <a:off x="1914850" y="1838700"/>
            <a:ext cx="7168800" cy="1991100"/>
          </a:xfrm>
          <a:prstGeom prst="rect">
            <a:avLst/>
          </a:prstGeom>
          <a:noFill/>
          <a:ln>
            <a:noFill/>
          </a:ln>
        </p:spPr>
        <p:txBody>
          <a:bodyPr anchorCtr="0" anchor="t" bIns="91425" lIns="91425" spcFirstLastPara="1" rIns="91425" wrap="square" tIns="91425">
            <a:noAutofit/>
          </a:bodyPr>
          <a:lstStyle/>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ya encontre una solucion, la devuelvo y termino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Avanzo si puedo</a:t>
            </a:r>
            <a:endParaRPr>
              <a:solidFill>
                <a:schemeClr val="dk1"/>
              </a:solidFill>
              <a:latin typeface="Source Code Pro"/>
              <a:ea typeface="Source Code Pro"/>
              <a:cs typeface="Source Code Pro"/>
              <a:sym typeface="Source Code Pro"/>
            </a:endParaRPr>
          </a:p>
          <a:p>
            <a:pPr indent="-317500" lvl="0" marL="1371600" rtl="0" algn="l">
              <a:spcBef>
                <a:spcPts val="0"/>
              </a:spcBef>
              <a:spcAft>
                <a:spcPts val="0"/>
              </a:spcAft>
              <a:buClr>
                <a:srgbClr val="93C47D"/>
              </a:buClr>
              <a:buSzPts val="1400"/>
              <a:buFont typeface="Source Code Pro"/>
              <a:buAutoNum type="arabicParenR"/>
            </a:pPr>
            <a:r>
              <a:rPr lang="es">
                <a:solidFill>
                  <a:srgbClr val="93C47D"/>
                </a:solidFill>
                <a:latin typeface="Source Code Pro"/>
                <a:ea typeface="Source Code Pro"/>
                <a:cs typeface="Source Code Pro"/>
                <a:sym typeface="Source Code Pro"/>
              </a:rPr>
              <a:t>Pruebo si la solución parcial es válida</a:t>
            </a:r>
            <a:endParaRPr>
              <a:solidFill>
                <a:srgbClr val="93C47D"/>
              </a:solidFill>
              <a:latin typeface="Source Code Pro"/>
              <a:ea typeface="Source Code Pro"/>
              <a:cs typeface="Source Code Pro"/>
              <a:sym typeface="Source Code Pro"/>
            </a:endParaRPr>
          </a:p>
          <a:p>
            <a:pPr indent="-317500" lvl="0" marL="1828800" rtl="0" algn="l">
              <a:spcBef>
                <a:spcPts val="0"/>
              </a:spcBef>
              <a:spcAft>
                <a:spcPts val="0"/>
              </a:spcAft>
              <a:buClr>
                <a:schemeClr val="dk1"/>
              </a:buClr>
              <a:buSzPts val="1400"/>
              <a:buFont typeface="Source Code Pro"/>
              <a:buAutoNum type="alphaLcParenR"/>
            </a:pPr>
            <a:r>
              <a:rPr lang="es">
                <a:solidFill>
                  <a:schemeClr val="dk1"/>
                </a:solidFill>
                <a:latin typeface="Source Code Pro"/>
                <a:ea typeface="Source Code Pro"/>
                <a:cs typeface="Source Code Pro"/>
                <a:sym typeface="Source Code Pro"/>
              </a:rPr>
              <a:t>Si no lo es, retrocedo y vuelvo a 2)</a:t>
            </a:r>
            <a:endParaRPr>
              <a:solidFill>
                <a:schemeClr val="dk1"/>
              </a:solidFill>
              <a:latin typeface="Source Code Pro"/>
              <a:ea typeface="Source Code Pro"/>
              <a:cs typeface="Source Code Pro"/>
              <a:sym typeface="Source Code Pro"/>
            </a:endParaRPr>
          </a:p>
          <a:p>
            <a:pPr indent="-317500" lvl="0" marL="1828800" rtl="0" algn="l">
              <a:spcBef>
                <a:spcPts val="0"/>
              </a:spcBef>
              <a:spcAft>
                <a:spcPts val="0"/>
              </a:spcAft>
              <a:buClr>
                <a:srgbClr val="93C47D"/>
              </a:buClr>
              <a:buSzPts val="1400"/>
              <a:buFont typeface="Source Code Pro"/>
              <a:buAutoNum type="alphaLcParenR"/>
            </a:pPr>
            <a:r>
              <a:rPr lang="es">
                <a:solidFill>
                  <a:srgbClr val="93C47D"/>
                </a:solidFill>
                <a:latin typeface="Source Code Pro"/>
                <a:ea typeface="Source Code Pro"/>
                <a:cs typeface="Source Code Pro"/>
                <a:sym typeface="Source Code Pro"/>
              </a:rPr>
              <a:t>Si lo es, llamo recursivamente y vuelvo a 1)</a:t>
            </a:r>
            <a:endParaRPr>
              <a:solidFill>
                <a:srgbClr val="93C47D"/>
              </a:solidFill>
              <a:latin typeface="Source Code Pro"/>
              <a:ea typeface="Source Code Pro"/>
              <a:cs typeface="Source Code Pro"/>
              <a:sym typeface="Source Code Pro"/>
            </a:endParaRPr>
          </a:p>
          <a:p>
            <a:pPr indent="-317500" lvl="0" marL="1371600" rtl="0" algn="l">
              <a:spcBef>
                <a:spcPts val="0"/>
              </a:spcBef>
              <a:spcAft>
                <a:spcPts val="0"/>
              </a:spcAft>
              <a:buClr>
                <a:schemeClr val="dk1"/>
              </a:buClr>
              <a:buSzPts val="1400"/>
              <a:buFont typeface="Source Code Pro"/>
              <a:buAutoNum type="arabicParenR"/>
            </a:pPr>
            <a:r>
              <a:rPr lang="es">
                <a:solidFill>
                  <a:schemeClr val="dk1"/>
                </a:solidFill>
                <a:latin typeface="Source Code Pro"/>
                <a:ea typeface="Source Code Pro"/>
                <a:cs typeface="Source Code Pro"/>
                <a:sym typeface="Source Code Pro"/>
              </a:rPr>
              <a:t>Si llegue hasta aca, ya probe con todo y no encontre una solucion</a:t>
            </a:r>
            <a:endParaRPr>
              <a:solidFill>
                <a:schemeClr val="dk1"/>
              </a:solidFill>
            </a:endParaRPr>
          </a:p>
        </p:txBody>
      </p:sp>
      <p:sp>
        <p:nvSpPr>
          <p:cNvPr id="448" name="Google Shape;448;p62"/>
          <p:cNvSpPr/>
          <p:nvPr/>
        </p:nvSpPr>
        <p:spPr>
          <a:xfrm>
            <a:off x="987775" y="3238033"/>
            <a:ext cx="489200" cy="1312800"/>
          </a:xfrm>
          <a:custGeom>
            <a:rect b="b" l="l" r="r" t="t"/>
            <a:pathLst>
              <a:path extrusionOk="0" h="52512" w="19568">
                <a:moveTo>
                  <a:pt x="3951" y="2841"/>
                </a:moveTo>
                <a:cubicBezTo>
                  <a:pt x="5921" y="1857"/>
                  <a:pt x="8937" y="-1248"/>
                  <a:pt x="10160" y="583"/>
                </a:cubicBezTo>
                <a:cubicBezTo>
                  <a:pt x="12421" y="3969"/>
                  <a:pt x="436" y="6256"/>
                  <a:pt x="2258" y="9897"/>
                </a:cubicBezTo>
                <a:cubicBezTo>
                  <a:pt x="4199" y="13775"/>
                  <a:pt x="13346" y="3049"/>
                  <a:pt x="14958" y="7075"/>
                </a:cubicBezTo>
                <a:cubicBezTo>
                  <a:pt x="17284" y="12885"/>
                  <a:pt x="1031" y="14766"/>
                  <a:pt x="2258" y="20903"/>
                </a:cubicBezTo>
                <a:cubicBezTo>
                  <a:pt x="2425" y="21738"/>
                  <a:pt x="4036" y="21002"/>
                  <a:pt x="4798" y="20621"/>
                </a:cubicBezTo>
                <a:cubicBezTo>
                  <a:pt x="9003" y="18518"/>
                  <a:pt x="18062" y="11121"/>
                  <a:pt x="18062" y="15823"/>
                </a:cubicBezTo>
                <a:cubicBezTo>
                  <a:pt x="18062" y="21715"/>
                  <a:pt x="8833" y="23149"/>
                  <a:pt x="4233" y="26830"/>
                </a:cubicBezTo>
                <a:cubicBezTo>
                  <a:pt x="2879" y="27914"/>
                  <a:pt x="-380" y="29555"/>
                  <a:pt x="847" y="30781"/>
                </a:cubicBezTo>
                <a:cubicBezTo>
                  <a:pt x="5668" y="35598"/>
                  <a:pt x="14376" y="16926"/>
                  <a:pt x="19191" y="21750"/>
                </a:cubicBezTo>
                <a:cubicBezTo>
                  <a:pt x="20561" y="23123"/>
                  <a:pt x="16995" y="25004"/>
                  <a:pt x="15522" y="26266"/>
                </a:cubicBezTo>
                <a:cubicBezTo>
                  <a:pt x="12093" y="29205"/>
                  <a:pt x="8273" y="31662"/>
                  <a:pt x="4516" y="34168"/>
                </a:cubicBezTo>
                <a:cubicBezTo>
                  <a:pt x="2951" y="35212"/>
                  <a:pt x="0" y="35673"/>
                  <a:pt x="0" y="37555"/>
                </a:cubicBezTo>
                <a:cubicBezTo>
                  <a:pt x="0" y="40749"/>
                  <a:pt x="8304" y="32266"/>
                  <a:pt x="9313" y="35297"/>
                </a:cubicBezTo>
                <a:cubicBezTo>
                  <a:pt x="10387" y="38521"/>
                  <a:pt x="4060" y="39878"/>
                  <a:pt x="2540" y="42917"/>
                </a:cubicBezTo>
                <a:cubicBezTo>
                  <a:pt x="1861" y="44274"/>
                  <a:pt x="6577" y="42042"/>
                  <a:pt x="7056" y="43481"/>
                </a:cubicBezTo>
                <a:cubicBezTo>
                  <a:pt x="7775" y="45642"/>
                  <a:pt x="1212" y="47233"/>
                  <a:pt x="2822" y="48843"/>
                </a:cubicBezTo>
                <a:cubicBezTo>
                  <a:pt x="3453" y="49474"/>
                  <a:pt x="5993" y="49059"/>
                  <a:pt x="5362" y="49690"/>
                </a:cubicBezTo>
                <a:cubicBezTo>
                  <a:pt x="4586" y="50466"/>
                  <a:pt x="2893" y="51736"/>
                  <a:pt x="3669" y="52512"/>
                </a:cubicBezTo>
              </a:path>
            </a:pathLst>
          </a:custGeom>
          <a:noFill/>
          <a:ln cap="flat" cmpd="sng" w="19050">
            <a:solidFill>
              <a:srgbClr val="3C78D8"/>
            </a:solidFill>
            <a:prstDash val="solid"/>
            <a:round/>
            <a:headEnd len="med" w="med" type="none"/>
            <a:tailEnd len="med" w="med" type="none"/>
          </a:ln>
        </p:spPr>
      </p:sp>
      <p:sp>
        <p:nvSpPr>
          <p:cNvPr id="449" name="Google Shape;449;p62"/>
          <p:cNvSpPr/>
          <p:nvPr/>
        </p:nvSpPr>
        <p:spPr>
          <a:xfrm>
            <a:off x="1048275" y="1972287"/>
            <a:ext cx="1342200" cy="1484450"/>
          </a:xfrm>
          <a:custGeom>
            <a:rect b="b" l="l" r="r" t="t"/>
            <a:pathLst>
              <a:path extrusionOk="0" h="59378" w="53688">
                <a:moveTo>
                  <a:pt x="0" y="12797"/>
                </a:moveTo>
                <a:cubicBezTo>
                  <a:pt x="2842" y="9955"/>
                  <a:pt x="5823" y="7253"/>
                  <a:pt x="8665" y="4411"/>
                </a:cubicBezTo>
                <a:cubicBezTo>
                  <a:pt x="9738" y="3338"/>
                  <a:pt x="11111" y="122"/>
                  <a:pt x="12020" y="1336"/>
                </a:cubicBezTo>
                <a:cubicBezTo>
                  <a:pt x="16716" y="7607"/>
                  <a:pt x="-2947" y="15782"/>
                  <a:pt x="1397" y="22302"/>
                </a:cubicBezTo>
                <a:cubicBezTo>
                  <a:pt x="1968" y="23159"/>
                  <a:pt x="3537" y="22453"/>
                  <a:pt x="4472" y="22022"/>
                </a:cubicBezTo>
                <a:cubicBezTo>
                  <a:pt x="10880" y="19065"/>
                  <a:pt x="14413" y="11952"/>
                  <a:pt x="18729" y="6368"/>
                </a:cubicBezTo>
                <a:cubicBezTo>
                  <a:pt x="20381" y="4230"/>
                  <a:pt x="22698" y="-1663"/>
                  <a:pt x="24320" y="498"/>
                </a:cubicBezTo>
                <a:cubicBezTo>
                  <a:pt x="25772" y="2433"/>
                  <a:pt x="23332" y="5270"/>
                  <a:pt x="22363" y="7486"/>
                </a:cubicBezTo>
                <a:cubicBezTo>
                  <a:pt x="20476" y="11801"/>
                  <a:pt x="18874" y="16387"/>
                  <a:pt x="15933" y="20065"/>
                </a:cubicBezTo>
                <a:cubicBezTo>
                  <a:pt x="14625" y="21700"/>
                  <a:pt x="13618" y="23559"/>
                  <a:pt x="12579" y="25377"/>
                </a:cubicBezTo>
                <a:cubicBezTo>
                  <a:pt x="12124" y="26174"/>
                  <a:pt x="10640" y="28303"/>
                  <a:pt x="11461" y="27893"/>
                </a:cubicBezTo>
                <a:cubicBezTo>
                  <a:pt x="18196" y="24526"/>
                  <a:pt x="20396" y="15544"/>
                  <a:pt x="26276" y="10841"/>
                </a:cubicBezTo>
                <a:cubicBezTo>
                  <a:pt x="27476" y="9881"/>
                  <a:pt x="29789" y="8523"/>
                  <a:pt x="30749" y="9723"/>
                </a:cubicBezTo>
                <a:cubicBezTo>
                  <a:pt x="31949" y="11223"/>
                  <a:pt x="29552" y="13418"/>
                  <a:pt x="28513" y="15034"/>
                </a:cubicBezTo>
                <a:cubicBezTo>
                  <a:pt x="25807" y="19244"/>
                  <a:pt x="23728" y="23826"/>
                  <a:pt x="21245" y="28172"/>
                </a:cubicBezTo>
                <a:cubicBezTo>
                  <a:pt x="20206" y="29990"/>
                  <a:pt x="17846" y="32300"/>
                  <a:pt x="19008" y="34042"/>
                </a:cubicBezTo>
                <a:cubicBezTo>
                  <a:pt x="20147" y="35749"/>
                  <a:pt x="22409" y="31673"/>
                  <a:pt x="23760" y="30129"/>
                </a:cubicBezTo>
                <a:cubicBezTo>
                  <a:pt x="27839" y="25468"/>
                  <a:pt x="31485" y="19999"/>
                  <a:pt x="36899" y="16991"/>
                </a:cubicBezTo>
                <a:cubicBezTo>
                  <a:pt x="38254" y="16238"/>
                  <a:pt x="39572" y="13544"/>
                  <a:pt x="40812" y="14475"/>
                </a:cubicBezTo>
                <a:cubicBezTo>
                  <a:pt x="42204" y="15520"/>
                  <a:pt x="40380" y="18058"/>
                  <a:pt x="39415" y="19506"/>
                </a:cubicBezTo>
                <a:cubicBezTo>
                  <a:pt x="35353" y="25600"/>
                  <a:pt x="30852" y="31399"/>
                  <a:pt x="26276" y="37117"/>
                </a:cubicBezTo>
                <a:cubicBezTo>
                  <a:pt x="24918" y="38814"/>
                  <a:pt x="21951" y="40764"/>
                  <a:pt x="22922" y="42708"/>
                </a:cubicBezTo>
                <a:cubicBezTo>
                  <a:pt x="24278" y="45422"/>
                  <a:pt x="27781" y="38963"/>
                  <a:pt x="29631" y="36558"/>
                </a:cubicBezTo>
                <a:cubicBezTo>
                  <a:pt x="33996" y="30883"/>
                  <a:pt x="37612" y="24445"/>
                  <a:pt x="43049" y="19786"/>
                </a:cubicBezTo>
                <a:cubicBezTo>
                  <a:pt x="44209" y="18792"/>
                  <a:pt x="45372" y="16205"/>
                  <a:pt x="46683" y="16991"/>
                </a:cubicBezTo>
                <a:cubicBezTo>
                  <a:pt x="48528" y="18097"/>
                  <a:pt x="47230" y="21576"/>
                  <a:pt x="46123" y="23420"/>
                </a:cubicBezTo>
                <a:cubicBezTo>
                  <a:pt x="42257" y="29859"/>
                  <a:pt x="37479" y="35753"/>
                  <a:pt x="32426" y="41310"/>
                </a:cubicBezTo>
                <a:cubicBezTo>
                  <a:pt x="29956" y="44027"/>
                  <a:pt x="25106" y="46694"/>
                  <a:pt x="25997" y="50256"/>
                </a:cubicBezTo>
                <a:cubicBezTo>
                  <a:pt x="26757" y="53293"/>
                  <a:pt x="31991" y="47383"/>
                  <a:pt x="33544" y="44665"/>
                </a:cubicBezTo>
                <a:cubicBezTo>
                  <a:pt x="37154" y="38346"/>
                  <a:pt x="42377" y="33041"/>
                  <a:pt x="47521" y="27893"/>
                </a:cubicBezTo>
                <a:cubicBezTo>
                  <a:pt x="48966" y="26447"/>
                  <a:pt x="51667" y="23932"/>
                  <a:pt x="53112" y="25377"/>
                </a:cubicBezTo>
                <a:cubicBezTo>
                  <a:pt x="54999" y="27264"/>
                  <a:pt x="51644" y="30758"/>
                  <a:pt x="49757" y="32645"/>
                </a:cubicBezTo>
                <a:cubicBezTo>
                  <a:pt x="43235" y="39167"/>
                  <a:pt x="36192" y="45208"/>
                  <a:pt x="30190" y="52212"/>
                </a:cubicBezTo>
                <a:cubicBezTo>
                  <a:pt x="28357" y="54351"/>
                  <a:pt x="23094" y="57639"/>
                  <a:pt x="25438" y="59201"/>
                </a:cubicBezTo>
                <a:cubicBezTo>
                  <a:pt x="26449" y="59875"/>
                  <a:pt x="27564" y="58003"/>
                  <a:pt x="28513" y="57244"/>
                </a:cubicBezTo>
                <a:cubicBezTo>
                  <a:pt x="34943" y="52098"/>
                  <a:pt x="39412" y="44777"/>
                  <a:pt x="45844" y="39633"/>
                </a:cubicBezTo>
                <a:cubicBezTo>
                  <a:pt x="47257" y="38503"/>
                  <a:pt x="48637" y="35886"/>
                  <a:pt x="50317" y="36558"/>
                </a:cubicBezTo>
                <a:cubicBezTo>
                  <a:pt x="54573" y="38260"/>
                  <a:pt x="46709" y="45043"/>
                  <a:pt x="44167" y="48858"/>
                </a:cubicBezTo>
              </a:path>
            </a:pathLst>
          </a:custGeom>
          <a:noFill/>
          <a:ln cap="flat" cmpd="sng" w="19050">
            <a:solidFill>
              <a:srgbClr val="6AA84F"/>
            </a:solidFill>
            <a:prstDash val="solid"/>
            <a:round/>
            <a:headEnd len="med" w="med" type="none"/>
            <a:tailEnd len="med" w="med" type="none"/>
          </a:ln>
        </p:spPr>
      </p:sp>
      <p:sp>
        <p:nvSpPr>
          <p:cNvPr id="450" name="Google Shape;450;p62"/>
          <p:cNvSpPr/>
          <p:nvPr/>
        </p:nvSpPr>
        <p:spPr>
          <a:xfrm>
            <a:off x="983794" y="2649851"/>
            <a:ext cx="490750" cy="497225"/>
          </a:xfrm>
          <a:custGeom>
            <a:rect b="b" l="l" r="r" t="t"/>
            <a:pathLst>
              <a:path extrusionOk="0" h="19889" w="19630">
                <a:moveTo>
                  <a:pt x="2299" y="1908"/>
                </a:moveTo>
                <a:cubicBezTo>
                  <a:pt x="3568" y="1273"/>
                  <a:pt x="5032" y="-557"/>
                  <a:pt x="6213" y="230"/>
                </a:cubicBezTo>
                <a:cubicBezTo>
                  <a:pt x="8342" y="1649"/>
                  <a:pt x="876" y="4371"/>
                  <a:pt x="2020" y="6660"/>
                </a:cubicBezTo>
                <a:cubicBezTo>
                  <a:pt x="3259" y="9138"/>
                  <a:pt x="7888" y="1905"/>
                  <a:pt x="9847" y="3864"/>
                </a:cubicBezTo>
                <a:cubicBezTo>
                  <a:pt x="13017" y="7034"/>
                  <a:pt x="-3108" y="11163"/>
                  <a:pt x="622" y="13648"/>
                </a:cubicBezTo>
                <a:cubicBezTo>
                  <a:pt x="4057" y="15936"/>
                  <a:pt x="7731" y="9405"/>
                  <a:pt x="11524" y="7778"/>
                </a:cubicBezTo>
                <a:cubicBezTo>
                  <a:pt x="12209" y="7484"/>
                  <a:pt x="13614" y="7047"/>
                  <a:pt x="13760" y="7778"/>
                </a:cubicBezTo>
                <a:cubicBezTo>
                  <a:pt x="14772" y="12832"/>
                  <a:pt x="839" y="15229"/>
                  <a:pt x="3697" y="19519"/>
                </a:cubicBezTo>
                <a:cubicBezTo>
                  <a:pt x="4336" y="20478"/>
                  <a:pt x="6063" y="19273"/>
                  <a:pt x="7051" y="18680"/>
                </a:cubicBezTo>
                <a:cubicBezTo>
                  <a:pt x="10919" y="16357"/>
                  <a:pt x="14482" y="7106"/>
                  <a:pt x="17674" y="10294"/>
                </a:cubicBezTo>
                <a:cubicBezTo>
                  <a:pt x="18362" y="10981"/>
                  <a:pt x="17143" y="12166"/>
                  <a:pt x="16835" y="13089"/>
                </a:cubicBezTo>
                <a:cubicBezTo>
                  <a:pt x="16535" y="13990"/>
                  <a:pt x="19630" y="12698"/>
                  <a:pt x="19630" y="13648"/>
                </a:cubicBezTo>
              </a:path>
            </a:pathLst>
          </a:custGeom>
          <a:noFill/>
          <a:ln cap="flat" cmpd="sng" w="19050">
            <a:solidFill>
              <a:srgbClr val="CC0000"/>
            </a:solidFill>
            <a:prstDash val="solid"/>
            <a:round/>
            <a:headEnd len="med" w="med" type="none"/>
            <a:tailEnd len="med" w="med" type="none"/>
          </a:ln>
        </p:spPr>
      </p:sp>
      <p:pic>
        <p:nvPicPr>
          <p:cNvPr id="451" name="Google Shape;451;p62"/>
          <p:cNvPicPr preferRelativeResize="0"/>
          <p:nvPr/>
        </p:nvPicPr>
        <p:blipFill>
          <a:blip r:embed="rId3">
            <a:alphaModFix/>
          </a:blip>
          <a:stretch>
            <a:fillRect/>
          </a:stretch>
        </p:blipFill>
        <p:spPr>
          <a:xfrm>
            <a:off x="311700" y="1464425"/>
            <a:ext cx="2324033" cy="3374276"/>
          </a:xfrm>
          <a:prstGeom prst="rect">
            <a:avLst/>
          </a:prstGeom>
          <a:noFill/>
          <a:ln>
            <a:noFill/>
          </a:ln>
        </p:spPr>
      </p:pic>
      <p:sp>
        <p:nvSpPr>
          <p:cNvPr id="452" name="Google Shape;452;p62"/>
          <p:cNvSpPr txBox="1"/>
          <p:nvPr>
            <p:ph type="title"/>
          </p:nvPr>
        </p:nvSpPr>
        <p:spPr>
          <a:xfrm>
            <a:off x="235500" y="216425"/>
            <a:ext cx="85206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a:t>
            </a:r>
            <a:endParaRPr sz="18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3"/>
          <p:cNvSpPr txBox="1"/>
          <p:nvPr>
            <p:ph type="title"/>
          </p:nvPr>
        </p:nvSpPr>
        <p:spPr>
          <a:xfrm>
            <a:off x="152400" y="831275"/>
            <a:ext cx="8913600" cy="383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330200" lvl="0" marL="457200" rtl="0" algn="l">
              <a:spcBef>
                <a:spcPts val="0"/>
              </a:spcBef>
              <a:spcAft>
                <a:spcPts val="0"/>
              </a:spcAft>
              <a:buSzPts val="1600"/>
              <a:buFont typeface="Source Code Pro"/>
              <a:buAutoNum type="arabicParenR"/>
            </a:pPr>
            <a:r>
              <a:rPr lang="es" sz="1600">
                <a:latin typeface="Source Code Pro"/>
                <a:ea typeface="Source Code Pro"/>
                <a:cs typeface="Source Code Pro"/>
                <a:sym typeface="Source Code Pro"/>
              </a:rPr>
              <a:t>Si todos los países están coloreados, devuelvo True</a:t>
            </a:r>
            <a:br>
              <a:rPr lang="es" sz="1600">
                <a:latin typeface="Source Code Pro"/>
                <a:ea typeface="Source Code Pro"/>
                <a:cs typeface="Source Code Pro"/>
                <a:sym typeface="Source Code Pro"/>
              </a:rPr>
            </a:br>
            <a:endParaRPr sz="1600">
              <a:latin typeface="Source Code Pro"/>
              <a:ea typeface="Source Code Pro"/>
              <a:cs typeface="Source Code Pro"/>
              <a:sym typeface="Source Code Pro"/>
            </a:endParaRPr>
          </a:p>
          <a:p>
            <a:pPr indent="-330200" lvl="0" marL="457200" rtl="0" algn="l">
              <a:spcBef>
                <a:spcPts val="0"/>
              </a:spcBef>
              <a:spcAft>
                <a:spcPts val="0"/>
              </a:spcAft>
              <a:buSzPts val="1600"/>
              <a:buFont typeface="Source Code Pro"/>
              <a:buAutoNum type="arabicParenR"/>
            </a:pPr>
            <a:r>
              <a:rPr lang="es" sz="1600">
                <a:latin typeface="Source Code Pro"/>
                <a:ea typeface="Source Code Pro"/>
                <a:cs typeface="Source Code Pro"/>
                <a:sym typeface="Source Code Pro"/>
              </a:rPr>
              <a:t>Pruebo colorear con un color el siguiente país:</a:t>
            </a:r>
            <a:endParaRPr sz="1600">
              <a:latin typeface="Source Code Pro"/>
              <a:ea typeface="Source Code Pro"/>
              <a:cs typeface="Source Code Pro"/>
              <a:sym typeface="Source Code Pro"/>
            </a:endParaRPr>
          </a:p>
          <a:p>
            <a:pPr indent="-330200" lvl="0" marL="1371600" rtl="0" algn="l">
              <a:spcBef>
                <a:spcPts val="0"/>
              </a:spcBef>
              <a:spcAft>
                <a:spcPts val="0"/>
              </a:spcAft>
              <a:buSzPts val="1600"/>
              <a:buFont typeface="Source Code Pro"/>
              <a:buAutoNum type="arabicParenR"/>
            </a:pPr>
            <a:r>
              <a:rPr lang="es" sz="1600">
                <a:latin typeface="Source Code Pro"/>
                <a:ea typeface="Source Code Pro"/>
                <a:cs typeface="Source Code Pro"/>
                <a:sym typeface="Source Code Pro"/>
              </a:rPr>
              <a:t>Verifico si la solución parcial es válida</a:t>
            </a:r>
            <a:endParaRPr sz="1600">
              <a:latin typeface="Source Code Pro"/>
              <a:ea typeface="Source Code Pro"/>
              <a:cs typeface="Source Code Pro"/>
              <a:sym typeface="Source Code Pro"/>
            </a:endParaRPr>
          </a:p>
          <a:p>
            <a:pPr indent="-330200" lvl="0" marL="1828800" rtl="0" algn="l">
              <a:spcBef>
                <a:spcPts val="0"/>
              </a:spcBef>
              <a:spcAft>
                <a:spcPts val="0"/>
              </a:spcAft>
              <a:buSzPts val="1600"/>
              <a:buFont typeface="Source Code Pro"/>
              <a:buAutoNum type="alphaLcParenR"/>
            </a:pPr>
            <a:r>
              <a:rPr lang="es" sz="1600">
                <a:latin typeface="Source Code Pro"/>
                <a:ea typeface="Source Code Pro"/>
                <a:cs typeface="Source Code Pro"/>
                <a:sym typeface="Source Code Pro"/>
              </a:rPr>
              <a:t>Si no lo es, retrocedo </a:t>
            </a:r>
            <a:r>
              <a:rPr lang="es" sz="1400">
                <a:latin typeface="Source Code Pro"/>
                <a:ea typeface="Source Code Pro"/>
                <a:cs typeface="Source Code Pro"/>
                <a:sym typeface="Source Code Pro"/>
              </a:rPr>
              <a:t>y vuelvo a 2) a probar con otro color</a:t>
            </a:r>
            <a:endParaRPr sz="1600">
              <a:latin typeface="Source Code Pro"/>
              <a:ea typeface="Source Code Pro"/>
              <a:cs typeface="Source Code Pro"/>
              <a:sym typeface="Source Code Pro"/>
            </a:endParaRPr>
          </a:p>
          <a:p>
            <a:pPr indent="-330200" lvl="0" marL="1828800" rtl="0" algn="l">
              <a:spcBef>
                <a:spcPts val="0"/>
              </a:spcBef>
              <a:spcAft>
                <a:spcPts val="0"/>
              </a:spcAft>
              <a:buSzPts val="1600"/>
              <a:buFont typeface="Source Code Pro"/>
              <a:buAutoNum type="alphaLcParenR"/>
            </a:pPr>
            <a:r>
              <a:rPr lang="es" sz="1600">
                <a:latin typeface="Source Code Pro"/>
                <a:ea typeface="Source Code Pro"/>
                <a:cs typeface="Source Code Pro"/>
                <a:sym typeface="Source Code Pro"/>
              </a:rPr>
              <a:t>Si lo es, llamo recursivamente y vuelvo a 1) → Si no encontramos solución, volvemos a 2) a probar con otro color</a:t>
            </a:r>
            <a:br>
              <a:rPr lang="es" sz="1600">
                <a:latin typeface="Source Code Pro"/>
                <a:ea typeface="Source Code Pro"/>
                <a:cs typeface="Source Code Pro"/>
                <a:sym typeface="Source Code Pro"/>
              </a:rPr>
            </a:br>
            <a:endParaRPr sz="1600">
              <a:latin typeface="Source Code Pro"/>
              <a:ea typeface="Source Code Pro"/>
              <a:cs typeface="Source Code Pro"/>
              <a:sym typeface="Source Code Pro"/>
            </a:endParaRPr>
          </a:p>
          <a:p>
            <a:pPr indent="-330200" lvl="0" marL="457200" rtl="0" algn="l">
              <a:spcBef>
                <a:spcPts val="0"/>
              </a:spcBef>
              <a:spcAft>
                <a:spcPts val="0"/>
              </a:spcAft>
              <a:buSzPts val="1600"/>
              <a:buFont typeface="Source Code Pro"/>
              <a:buAutoNum type="arabicParenR"/>
            </a:pPr>
            <a:r>
              <a:rPr lang="es" sz="1600">
                <a:latin typeface="Source Code Pro"/>
                <a:ea typeface="Source Code Pro"/>
                <a:cs typeface="Source Code Pro"/>
                <a:sym typeface="Source Code Pro"/>
              </a:rPr>
              <a:t>Si llego hasta aca, ya probe con todo y no encontre una solucion</a:t>
            </a:r>
            <a:endParaRPr sz="1800"/>
          </a:p>
          <a:p>
            <a:pPr indent="0" lvl="0" marL="0" rtl="0" algn="l">
              <a:spcBef>
                <a:spcPts val="0"/>
              </a:spcBef>
              <a:spcAft>
                <a:spcPts val="0"/>
              </a:spcAft>
              <a:buNone/>
            </a:pPr>
            <a:r>
              <a:t/>
            </a:r>
            <a:endParaRPr sz="1800"/>
          </a:p>
        </p:txBody>
      </p:sp>
      <p:sp>
        <p:nvSpPr>
          <p:cNvPr id="458" name="Google Shape;458;p63"/>
          <p:cNvSpPr txBox="1"/>
          <p:nvPr/>
        </p:nvSpPr>
        <p:spPr>
          <a:xfrm>
            <a:off x="152400" y="1524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800">
                <a:solidFill>
                  <a:schemeClr val="dk1"/>
                </a:solidFill>
              </a:rPr>
              <a:t>El prosacódigo:</a:t>
            </a:r>
            <a:endParaRPr sz="2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0" st="0"/>
                                            </p:txEl>
                                          </p:spTgt>
                                        </p:tgtEl>
                                        <p:attrNameLst>
                                          <p:attrName>style.visibility</p:attrName>
                                        </p:attrNameLst>
                                      </p:cBhvr>
                                      <p:to>
                                        <p:strVal val="visible"/>
                                      </p:to>
                                    </p:set>
                                    <p:animEffect filter="fade" transition="in">
                                      <p:cBhvr>
                                        <p:cTn dur="1000"/>
                                        <p:tgtEl>
                                          <p:spTgt spid="4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1" st="1"/>
                                            </p:txEl>
                                          </p:spTgt>
                                        </p:tgtEl>
                                        <p:attrNameLst>
                                          <p:attrName>style.visibility</p:attrName>
                                        </p:attrNameLst>
                                      </p:cBhvr>
                                      <p:to>
                                        <p:strVal val="visible"/>
                                      </p:to>
                                    </p:set>
                                    <p:animEffect filter="fade" transition="in">
                                      <p:cBhvr>
                                        <p:cTn dur="1000"/>
                                        <p:tgtEl>
                                          <p:spTgt spid="4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2" st="2"/>
                                            </p:txEl>
                                          </p:spTgt>
                                        </p:tgtEl>
                                        <p:attrNameLst>
                                          <p:attrName>style.visibility</p:attrName>
                                        </p:attrNameLst>
                                      </p:cBhvr>
                                      <p:to>
                                        <p:strVal val="visible"/>
                                      </p:to>
                                    </p:set>
                                    <p:animEffect filter="fade" transition="in">
                                      <p:cBhvr>
                                        <p:cTn dur="1000"/>
                                        <p:tgtEl>
                                          <p:spTgt spid="4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3" st="3"/>
                                            </p:txEl>
                                          </p:spTgt>
                                        </p:tgtEl>
                                        <p:attrNameLst>
                                          <p:attrName>style.visibility</p:attrName>
                                        </p:attrNameLst>
                                      </p:cBhvr>
                                      <p:to>
                                        <p:strVal val="visible"/>
                                      </p:to>
                                    </p:set>
                                    <p:animEffect filter="fade" transition="in">
                                      <p:cBhvr>
                                        <p:cTn dur="1000"/>
                                        <p:tgtEl>
                                          <p:spTgt spid="4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4" st="4"/>
                                            </p:txEl>
                                          </p:spTgt>
                                        </p:tgtEl>
                                        <p:attrNameLst>
                                          <p:attrName>style.visibility</p:attrName>
                                        </p:attrNameLst>
                                      </p:cBhvr>
                                      <p:to>
                                        <p:strVal val="visible"/>
                                      </p:to>
                                    </p:set>
                                    <p:animEffect filter="fade" transition="in">
                                      <p:cBhvr>
                                        <p:cTn dur="1000"/>
                                        <p:tgtEl>
                                          <p:spTgt spid="4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5" st="5"/>
                                            </p:txEl>
                                          </p:spTgt>
                                        </p:tgtEl>
                                        <p:attrNameLst>
                                          <p:attrName>style.visibility</p:attrName>
                                        </p:attrNameLst>
                                      </p:cBhvr>
                                      <p:to>
                                        <p:strVal val="visible"/>
                                      </p:to>
                                    </p:set>
                                    <p:animEffect filter="fade" transition="in">
                                      <p:cBhvr>
                                        <p:cTn dur="1000"/>
                                        <p:tgtEl>
                                          <p:spTgt spid="4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6" st="6"/>
                                            </p:txEl>
                                          </p:spTgt>
                                        </p:tgtEl>
                                        <p:attrNameLst>
                                          <p:attrName>style.visibility</p:attrName>
                                        </p:attrNameLst>
                                      </p:cBhvr>
                                      <p:to>
                                        <p:strVal val="visible"/>
                                      </p:to>
                                    </p:set>
                                    <p:animEffect filter="fade" transition="in">
                                      <p:cBhvr>
                                        <p:cTn dur="1000"/>
                                        <p:tgtEl>
                                          <p:spTgt spid="45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7" st="7"/>
                                            </p:txEl>
                                          </p:spTgt>
                                        </p:tgtEl>
                                        <p:attrNameLst>
                                          <p:attrName>style.visibility</p:attrName>
                                        </p:attrNameLst>
                                      </p:cBhvr>
                                      <p:to>
                                        <p:strVal val="visible"/>
                                      </p:to>
                                    </p:set>
                                    <p:animEffect filter="fade" transition="in">
                                      <p:cBhvr>
                                        <p:cTn dur="1000"/>
                                        <p:tgtEl>
                                          <p:spTgt spid="45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8" st="8"/>
                                            </p:txEl>
                                          </p:spTgt>
                                        </p:tgtEl>
                                        <p:attrNameLst>
                                          <p:attrName>style.visibility</p:attrName>
                                        </p:attrNameLst>
                                      </p:cBhvr>
                                      <p:to>
                                        <p:strVal val="visible"/>
                                      </p:to>
                                    </p:set>
                                    <p:animEffect filter="fade" transition="in">
                                      <p:cBhvr>
                                        <p:cTn dur="1000"/>
                                        <p:tgtEl>
                                          <p:spTgt spid="457">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Codeemos un poco…</a:t>
            </a:r>
            <a:endParaRPr/>
          </a:p>
        </p:txBody>
      </p:sp>
      <p:pic>
        <p:nvPicPr>
          <p:cNvPr id="464" name="Google Shape;464;p64"/>
          <p:cNvPicPr preferRelativeResize="0"/>
          <p:nvPr/>
        </p:nvPicPr>
        <p:blipFill>
          <a:blip r:embed="rId3">
            <a:alphaModFix/>
          </a:blip>
          <a:stretch>
            <a:fillRect/>
          </a:stretch>
        </p:blipFill>
        <p:spPr>
          <a:xfrm>
            <a:off x="2053138" y="1210625"/>
            <a:ext cx="5037724" cy="37804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Revisemos si ya terminó Reinas por FB...</a:t>
            </a:r>
            <a:endParaRPr/>
          </a:p>
        </p:txBody>
      </p:sp>
      <p:sp>
        <p:nvSpPr>
          <p:cNvPr id="470" name="Google Shape;470;p6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800"/>
              <a:t>Si no terminó… en 2022-1C demoró un poco más de 22 minutos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