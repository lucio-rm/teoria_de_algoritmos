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y="5143500" cx="9144000"/>
  <p:notesSz cx="6858000" cy="9144000"/>
  <p:embeddedFontLst>
    <p:embeddedFont>
      <p:font typeface="Proxima Nova"/>
      <p:regular r:id="rId62"/>
      <p:bold r:id="rId63"/>
      <p:italic r:id="rId64"/>
      <p:boldItalic r:id="rId65"/>
    </p:embeddedFont>
    <p:embeddedFont>
      <p:font typeface="Source Code Pro"/>
      <p:regular r:id="rId66"/>
      <p:bold r:id="rId67"/>
      <p:italic r:id="rId68"/>
      <p:boldItalic r:id="rId69"/>
    </p:embeddedFont>
    <p:embeddedFont>
      <p:font typeface="Old Standard TT"/>
      <p:regular r:id="rId70"/>
      <p:bold r:id="rId71"/>
      <p:italic r:id="rId72"/>
    </p:embeddedFont>
    <p:embeddedFont>
      <p:font typeface="Ubuntu Mono"/>
      <p:regular r:id="rId73"/>
      <p:bold r:id="rId74"/>
      <p:italic r:id="rId75"/>
      <p:boldItalic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UbuntuMono-regular.fntdata"/><Relationship Id="rId72" Type="http://schemas.openxmlformats.org/officeDocument/2006/relationships/font" Target="fonts/OldStandardTT-italic.fntdata"/><Relationship Id="rId31" Type="http://schemas.openxmlformats.org/officeDocument/2006/relationships/slide" Target="slides/slide25.xml"/><Relationship Id="rId75" Type="http://schemas.openxmlformats.org/officeDocument/2006/relationships/font" Target="fonts/UbuntuMono-italic.fntdata"/><Relationship Id="rId30" Type="http://schemas.openxmlformats.org/officeDocument/2006/relationships/slide" Target="slides/slide24.xml"/><Relationship Id="rId74" Type="http://schemas.openxmlformats.org/officeDocument/2006/relationships/font" Target="fonts/UbuntuMono-bold.fntdata"/><Relationship Id="rId33" Type="http://schemas.openxmlformats.org/officeDocument/2006/relationships/slide" Target="slides/slide27.xml"/><Relationship Id="rId32" Type="http://schemas.openxmlformats.org/officeDocument/2006/relationships/slide" Target="slides/slide26.xml"/><Relationship Id="rId76" Type="http://schemas.openxmlformats.org/officeDocument/2006/relationships/font" Target="fonts/UbuntuMono-boldItalic.fntdata"/><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OldStandardTT-bold.fntdata"/><Relationship Id="rId70" Type="http://schemas.openxmlformats.org/officeDocument/2006/relationships/font" Target="fonts/OldStandardTT-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ProximaNova-regular.fntdata"/><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ProximaNova-italic.fntdata"/><Relationship Id="rId63" Type="http://schemas.openxmlformats.org/officeDocument/2006/relationships/font" Target="fonts/ProximaNova-bold.fntdata"/><Relationship Id="rId22" Type="http://schemas.openxmlformats.org/officeDocument/2006/relationships/slide" Target="slides/slide16.xml"/><Relationship Id="rId66" Type="http://schemas.openxmlformats.org/officeDocument/2006/relationships/font" Target="fonts/SourceCodePro-regular.fntdata"/><Relationship Id="rId21" Type="http://schemas.openxmlformats.org/officeDocument/2006/relationships/slide" Target="slides/slide15.xml"/><Relationship Id="rId65" Type="http://schemas.openxmlformats.org/officeDocument/2006/relationships/font" Target="fonts/ProximaNova-boldItalic.fntdata"/><Relationship Id="rId24" Type="http://schemas.openxmlformats.org/officeDocument/2006/relationships/slide" Target="slides/slide18.xml"/><Relationship Id="rId68" Type="http://schemas.openxmlformats.org/officeDocument/2006/relationships/font" Target="fonts/SourceCodePro-italic.fntdata"/><Relationship Id="rId23" Type="http://schemas.openxmlformats.org/officeDocument/2006/relationships/slide" Target="slides/slide17.xml"/><Relationship Id="rId67" Type="http://schemas.openxmlformats.org/officeDocument/2006/relationships/font" Target="fonts/SourceCodePro-bold.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SourceCodePro-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9b03970d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9b03970d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394bc8e40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394bc8e40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dceb505b08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dceb505b08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394bc8e40a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394bc8e40a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d2c643bee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d2c643bee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394bc8e40a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394bc8e40a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 devolvemos True o False es porque nos basta con encontrar una solución que dé True.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46e27831fb_4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46e27831fb_4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 devolvemos True o False es porque nos basta con encontrar una solución que dé True.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394bc8e40a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394bc8e40a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394bc8e40a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394bc8e40a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f50cf28b2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f50cf28b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394bc8e40a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394bc8e40a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46e27831fb_4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46e27831fb_4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46e27831fb_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46e27831fb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46e27831fb_4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46e27831fb_4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46e27831fb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46e27831fb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394bc8e40a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394bc8e40a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46e1e1857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46e1e1857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46e1e1857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46e1e1857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46e1e1857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46e1e1857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46e1e18571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46e1e18571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46e1e18571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46e1e1857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46e1e1857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46e1e1857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394bc8e40a_1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394bc8e40a_1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394bc8e40a_1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2394bc8e40a_1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394bc8e40a_1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394bc8e40a_1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394bc8e40a_1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394bc8e40a_1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394bc8e40a_1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2394bc8e40a_1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46e1e18571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46e1e18571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46e1e18571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46e1e18571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394bc8e40a_1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2394bc8e40a_1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394bc8e40a_1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2394bc8e40a_1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394bc8e40a_1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2394bc8e40a_1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dceb505b08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dceb505b08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dceb505b08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dceb505b08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d2c33a65d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d2c33a65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dceb505b08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1dceb505b08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dceb505b08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1dceb505b08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d378b4df7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d378b4df7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394bc8e40a_1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2394bc8e40a_1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2394bc8e40a_1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2394bc8e40a_1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394bc8e40a_1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2394bc8e40a_1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394bc8e40a_1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394bc8e40a_1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2394bc8e40a_1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2394bc8e40a_1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2d2c33a65d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2d2c33a65d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1f50cf28b2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1f50cf28b2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1f50cf28b2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1f50cf28b2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394bc8e40a_1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2394bc8e40a_1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2394bc8e40a_1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2394bc8e40a_1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2394bc8e40a_1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2394bc8e40a_1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394bc8e40a_1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2394bc8e40a_1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394bc8e40a_1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2394bc8e40a_1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2394bc8e40a_1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2394bc8e40a_1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2394bc8e40a_1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2394bc8e40a_1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3967a68f4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23967a68f4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23967a68f49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23967a68f49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rgbClr val="FFFFFF"/>
              </a:buClr>
              <a:buSzPts val="4200"/>
              <a:buFont typeface="Proxima Nova"/>
              <a:buNone/>
              <a:defRPr sz="4200">
                <a:solidFill>
                  <a:srgbClr val="FFFFFF"/>
                </a:solidFill>
                <a:latin typeface="Proxima Nova"/>
                <a:ea typeface="Proxima Nova"/>
                <a:cs typeface="Proxima Nova"/>
                <a:sym typeface="Proxima Nova"/>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Font typeface="Proxima Nova"/>
              <a:buNone/>
              <a:defRPr sz="2400">
                <a:solidFill>
                  <a:schemeClr val="accent2"/>
                </a:solidFill>
                <a:latin typeface="Proxima Nova"/>
                <a:ea typeface="Proxima Nova"/>
                <a:cs typeface="Proxima Nova"/>
                <a:sym typeface="Proxima Nova"/>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Font typeface="Proxima Nova"/>
              <a:buChar char="●"/>
              <a:defRPr>
                <a:latin typeface="Proxima Nova"/>
                <a:ea typeface="Proxima Nova"/>
                <a:cs typeface="Proxima Nova"/>
                <a:sym typeface="Proxima Nova"/>
              </a:defRPr>
            </a:lvl1pPr>
            <a:lvl2pPr indent="-317500" lvl="1" marL="914400">
              <a:spcBef>
                <a:spcPts val="1600"/>
              </a:spcBef>
              <a:spcAft>
                <a:spcPts val="0"/>
              </a:spcAft>
              <a:buSzPts val="1400"/>
              <a:buFont typeface="Proxima Nova"/>
              <a:buChar char="○"/>
              <a:defRPr>
                <a:latin typeface="Proxima Nova"/>
                <a:ea typeface="Proxima Nova"/>
                <a:cs typeface="Proxima Nova"/>
                <a:sym typeface="Proxima Nova"/>
              </a:defRPr>
            </a:lvl2pPr>
            <a:lvl3pPr indent="-317500" lvl="2" marL="1371600">
              <a:spcBef>
                <a:spcPts val="1600"/>
              </a:spcBef>
              <a:spcAft>
                <a:spcPts val="0"/>
              </a:spcAft>
              <a:buSzPts val="1400"/>
              <a:buFont typeface="Proxima Nova"/>
              <a:buChar char="■"/>
              <a:defRPr>
                <a:latin typeface="Proxima Nova"/>
                <a:ea typeface="Proxima Nova"/>
                <a:cs typeface="Proxima Nova"/>
                <a:sym typeface="Proxima Nova"/>
              </a:defRPr>
            </a:lvl3pPr>
            <a:lvl4pPr indent="-317500" lvl="3" marL="1828800">
              <a:spcBef>
                <a:spcPts val="1600"/>
              </a:spcBef>
              <a:spcAft>
                <a:spcPts val="0"/>
              </a:spcAft>
              <a:buSzPts val="1400"/>
              <a:buFont typeface="Proxima Nova"/>
              <a:buChar char="●"/>
              <a:defRPr>
                <a:latin typeface="Proxima Nova"/>
                <a:ea typeface="Proxima Nova"/>
                <a:cs typeface="Proxima Nova"/>
                <a:sym typeface="Proxima Nova"/>
              </a:defRPr>
            </a:lvl4pPr>
            <a:lvl5pPr indent="-317500" lvl="4" marL="2286000">
              <a:spcBef>
                <a:spcPts val="1600"/>
              </a:spcBef>
              <a:spcAft>
                <a:spcPts val="0"/>
              </a:spcAft>
              <a:buSzPts val="1400"/>
              <a:buFont typeface="Proxima Nova"/>
              <a:buChar char="○"/>
              <a:defRPr>
                <a:latin typeface="Proxima Nova"/>
                <a:ea typeface="Proxima Nova"/>
                <a:cs typeface="Proxima Nova"/>
                <a:sym typeface="Proxima Nova"/>
              </a:defRPr>
            </a:lvl5pPr>
            <a:lvl6pPr indent="-317500" lvl="5" marL="2743200">
              <a:spcBef>
                <a:spcPts val="1600"/>
              </a:spcBef>
              <a:spcAft>
                <a:spcPts val="0"/>
              </a:spcAft>
              <a:buSzPts val="1400"/>
              <a:buFont typeface="Proxima Nova"/>
              <a:buChar char="■"/>
              <a:defRPr>
                <a:latin typeface="Proxima Nova"/>
                <a:ea typeface="Proxima Nova"/>
                <a:cs typeface="Proxima Nova"/>
                <a:sym typeface="Proxima Nova"/>
              </a:defRPr>
            </a:lvl6pPr>
            <a:lvl7pPr indent="-317500" lvl="6" marL="3200400">
              <a:spcBef>
                <a:spcPts val="1600"/>
              </a:spcBef>
              <a:spcAft>
                <a:spcPts val="0"/>
              </a:spcAft>
              <a:buSzPts val="1400"/>
              <a:buFont typeface="Proxima Nova"/>
              <a:buChar char="●"/>
              <a:defRPr>
                <a:latin typeface="Proxima Nova"/>
                <a:ea typeface="Proxima Nova"/>
                <a:cs typeface="Proxima Nova"/>
                <a:sym typeface="Proxima Nova"/>
              </a:defRPr>
            </a:lvl7pPr>
            <a:lvl8pPr indent="-317500" lvl="7" marL="3657600">
              <a:spcBef>
                <a:spcPts val="1600"/>
              </a:spcBef>
              <a:spcAft>
                <a:spcPts val="0"/>
              </a:spcAft>
              <a:buSzPts val="1400"/>
              <a:buFont typeface="Proxima Nova"/>
              <a:buChar char="○"/>
              <a:defRPr>
                <a:latin typeface="Proxima Nova"/>
                <a:ea typeface="Proxima Nova"/>
                <a:cs typeface="Proxima Nova"/>
                <a:sym typeface="Proxima Nova"/>
              </a:defRPr>
            </a:lvl8pPr>
            <a:lvl9pPr indent="-317500" lvl="8" marL="4114800">
              <a:spcBef>
                <a:spcPts val="1600"/>
              </a:spcBef>
              <a:spcAft>
                <a:spcPts val="1600"/>
              </a:spcAft>
              <a:buSzPts val="1400"/>
              <a:buFont typeface="Proxima Nova"/>
              <a:buChar char="■"/>
              <a:defRPr>
                <a:latin typeface="Proxima Nova"/>
                <a:ea typeface="Proxima Nova"/>
                <a:cs typeface="Proxima Nova"/>
                <a:sym typeface="Proxima Nova"/>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Font typeface="Proxima Nova"/>
              <a:buNone/>
              <a:defRPr sz="5400">
                <a:solidFill>
                  <a:schemeClr val="accent1"/>
                </a:solidFill>
                <a:latin typeface="Proxima Nova"/>
                <a:ea typeface="Proxima Nova"/>
                <a:cs typeface="Proxima Nova"/>
                <a:sym typeface="Proxima Nova"/>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1" name="Google Shape;61;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2" name="Google Shape;6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3" name="Shape 63"/>
        <p:cNvGrpSpPr/>
        <p:nvPr/>
      </p:nvGrpSpPr>
      <p:grpSpPr>
        <a:xfrm>
          <a:off x="0" y="0"/>
          <a:ext cx="0" cy="0"/>
          <a:chOff x="0" y="0"/>
          <a:chExt cx="0" cy="0"/>
        </a:xfrm>
      </p:grpSpPr>
      <p:sp>
        <p:nvSpPr>
          <p:cNvPr id="64" name="Google Shape;64;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5" name="Google Shape;6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6" name="Shape 66"/>
        <p:cNvGrpSpPr/>
        <p:nvPr/>
      </p:nvGrpSpPr>
      <p:grpSpPr>
        <a:xfrm>
          <a:off x="0" y="0"/>
          <a:ext cx="0" cy="0"/>
          <a:chOff x="0" y="0"/>
          <a:chExt cx="0" cy="0"/>
        </a:xfrm>
      </p:grpSpPr>
      <p:sp>
        <p:nvSpPr>
          <p:cNvPr id="67" name="Google Shape;67;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3" name="Google Shape;73;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0" name="Google Shape;80;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81" name="Google Shape;81;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 name="Shape 82"/>
        <p:cNvGrpSpPr/>
        <p:nvPr/>
      </p:nvGrpSpPr>
      <p:grpSpPr>
        <a:xfrm>
          <a:off x="0" y="0"/>
          <a:ext cx="0" cy="0"/>
          <a:chOff x="0" y="0"/>
          <a:chExt cx="0" cy="0"/>
        </a:xfrm>
      </p:grpSpPr>
      <p:sp>
        <p:nvSpPr>
          <p:cNvPr id="83" name="Google Shape;83;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4" name="Google Shape;84;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5" name="Shape 85"/>
        <p:cNvGrpSpPr/>
        <p:nvPr/>
      </p:nvGrpSpPr>
      <p:grpSpPr>
        <a:xfrm>
          <a:off x="0" y="0"/>
          <a:ext cx="0" cy="0"/>
          <a:chOff x="0" y="0"/>
          <a:chExt cx="0" cy="0"/>
        </a:xfrm>
      </p:grpSpPr>
      <p:sp>
        <p:nvSpPr>
          <p:cNvPr id="86" name="Google Shape;86;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8" name="Google Shape;88;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9" name="Google Shape;89;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90" name="Google Shape;90;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1" name="Shape 91"/>
        <p:cNvGrpSpPr/>
        <p:nvPr/>
      </p:nvGrpSpPr>
      <p:grpSpPr>
        <a:xfrm>
          <a:off x="0" y="0"/>
          <a:ext cx="0" cy="0"/>
          <a:chOff x="0" y="0"/>
          <a:chExt cx="0" cy="0"/>
        </a:xfrm>
      </p:grpSpPr>
      <p:sp>
        <p:nvSpPr>
          <p:cNvPr id="92" name="Google Shape;92;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93" name="Google Shape;93;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4" name="Shape 94"/>
        <p:cNvGrpSpPr/>
        <p:nvPr/>
      </p:nvGrpSpPr>
      <p:grpSpPr>
        <a:xfrm>
          <a:off x="0" y="0"/>
          <a:ext cx="0" cy="0"/>
          <a:chOff x="0" y="0"/>
          <a:chExt cx="0" cy="0"/>
        </a:xfrm>
      </p:grpSpPr>
      <p:sp>
        <p:nvSpPr>
          <p:cNvPr id="95" name="Google Shape;95;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6" name="Google Shape;96;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97" name="Google Shape;97;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rgbClr val="EFEFE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5" name="Shape 55"/>
        <p:cNvGrpSpPr/>
        <p:nvPr/>
      </p:nvGrpSpPr>
      <p:grpSpPr>
        <a:xfrm>
          <a:off x="0" y="0"/>
          <a:ext cx="0" cy="0"/>
          <a:chOff x="0" y="0"/>
          <a:chExt cx="0" cy="0"/>
        </a:xfrm>
      </p:grpSpPr>
      <p:sp>
        <p:nvSpPr>
          <p:cNvPr id="56" name="Google Shape;5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7" name="Google Shape;5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58" name="Google Shape;5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7.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14.gi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4.gi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3" name="Shape 103"/>
        <p:cNvGrpSpPr/>
        <p:nvPr/>
      </p:nvGrpSpPr>
      <p:grpSpPr>
        <a:xfrm>
          <a:off x="0" y="0"/>
          <a:ext cx="0" cy="0"/>
          <a:chOff x="0" y="0"/>
          <a:chExt cx="0" cy="0"/>
        </a:xfrm>
      </p:grpSpPr>
      <p:sp>
        <p:nvSpPr>
          <p:cNvPr id="104" name="Google Shape;104;p25"/>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Backtracking II</a:t>
            </a:r>
            <a:endParaRPr/>
          </a:p>
        </p:txBody>
      </p:sp>
      <p:sp>
        <p:nvSpPr>
          <p:cNvPr id="105" name="Google Shape;105;p25"/>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Teoría de Algoritmos</a:t>
            </a:r>
            <a:endParaRPr/>
          </a:p>
        </p:txBody>
      </p:sp>
      <p:pic>
        <p:nvPicPr>
          <p:cNvPr id="106" name="Google Shape;106;p25"/>
          <p:cNvPicPr preferRelativeResize="0"/>
          <p:nvPr/>
        </p:nvPicPr>
        <p:blipFill rotWithShape="1">
          <a:blip r:embed="rId3">
            <a:alphaModFix/>
          </a:blip>
          <a:srcRect b="80" l="0" r="0" t="70"/>
          <a:stretch/>
        </p:blipFill>
        <p:spPr>
          <a:xfrm>
            <a:off x="7060492" y="4349400"/>
            <a:ext cx="2079858" cy="787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Backtracking</a:t>
            </a:r>
            <a:endParaRPr/>
          </a:p>
        </p:txBody>
      </p:sp>
      <p:sp>
        <p:nvSpPr>
          <p:cNvPr id="112" name="Google Shape;112;p26"/>
          <p:cNvSpPr txBox="1"/>
          <p:nvPr>
            <p:ph idx="1" type="body"/>
          </p:nvPr>
        </p:nvSpPr>
        <p:spPr>
          <a:xfrm>
            <a:off x="311700" y="1171600"/>
            <a:ext cx="36879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Por cada variante (decisión tomada), se crea una ramificación en el árbol de decisiones.</a:t>
            </a:r>
            <a:endParaRPr/>
          </a:p>
          <a:p>
            <a:pPr indent="0" lvl="0" marL="0" rtl="0" algn="l">
              <a:spcBef>
                <a:spcPts val="1600"/>
              </a:spcBef>
              <a:spcAft>
                <a:spcPts val="0"/>
              </a:spcAft>
              <a:buClr>
                <a:schemeClr val="dk1"/>
              </a:buClr>
              <a:buSzPts val="1100"/>
              <a:buFont typeface="Arial"/>
              <a:buNone/>
            </a:pPr>
            <a:r>
              <a:rPr lang="es"/>
              <a:t>Backtracking != Fuerza bruta</a:t>
            </a:r>
            <a:endParaRPr/>
          </a:p>
          <a:p>
            <a:pPr indent="0" lvl="0" marL="0" rtl="0" algn="l">
              <a:spcBef>
                <a:spcPts val="1600"/>
              </a:spcBef>
              <a:spcAft>
                <a:spcPts val="0"/>
              </a:spcAft>
              <a:buClr>
                <a:schemeClr val="dk1"/>
              </a:buClr>
              <a:buSzPts val="1100"/>
              <a:buFont typeface="Arial"/>
              <a:buNone/>
            </a:pPr>
            <a:r>
              <a:rPr lang="es"/>
              <a:t>La Fuerza bruta prueba todas las decisiones mientras que Backtracking no continua sobre un caso que sabe que no tiene solución (poda).</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113" name="Google Shape;113;p26"/>
          <p:cNvPicPr preferRelativeResize="0"/>
          <p:nvPr/>
        </p:nvPicPr>
        <p:blipFill rotWithShape="1">
          <a:blip r:embed="rId3">
            <a:alphaModFix/>
          </a:blip>
          <a:srcRect b="0" l="0" r="0" t="16826"/>
          <a:stretch/>
        </p:blipFill>
        <p:spPr>
          <a:xfrm>
            <a:off x="3999600" y="1171600"/>
            <a:ext cx="5144400" cy="300594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Recordamos rápidamente "receta" de Algoritmo backtracking</a:t>
            </a:r>
            <a:endParaRPr/>
          </a:p>
        </p:txBody>
      </p:sp>
      <p:sp>
        <p:nvSpPr>
          <p:cNvPr id="119" name="Google Shape;119;p27"/>
          <p:cNvSpPr txBox="1"/>
          <p:nvPr/>
        </p:nvSpPr>
        <p:spPr>
          <a:xfrm>
            <a:off x="0" y="1659700"/>
            <a:ext cx="8832300" cy="2339700"/>
          </a:xfrm>
          <a:prstGeom prst="rect">
            <a:avLst/>
          </a:prstGeom>
          <a:noFill/>
          <a:ln>
            <a:noFill/>
          </a:ln>
        </p:spPr>
        <p:txBody>
          <a:bodyPr anchorCtr="0" anchor="t" bIns="91425" lIns="91425" spcFirstLastPara="1" rIns="91425" wrap="square" tIns="91425">
            <a:spAutoFit/>
          </a:bodyPr>
          <a:lstStyle/>
          <a:p>
            <a:pPr indent="-342900" lvl="0" marL="1371600" rtl="0" algn="l">
              <a:spcBef>
                <a:spcPts val="0"/>
              </a:spcBef>
              <a:spcAft>
                <a:spcPts val="0"/>
              </a:spcAft>
              <a:buClr>
                <a:schemeClr val="dk1"/>
              </a:buClr>
              <a:buSzPts val="1800"/>
              <a:buFont typeface="Source Code Pro"/>
              <a:buAutoNum type="arabicParenR"/>
            </a:pPr>
            <a:r>
              <a:rPr lang="es" sz="1800">
                <a:solidFill>
                  <a:schemeClr val="dk1"/>
                </a:solidFill>
                <a:latin typeface="Source Code Pro"/>
                <a:ea typeface="Source Code Pro"/>
                <a:cs typeface="Source Code Pro"/>
                <a:sym typeface="Source Code Pro"/>
              </a:rPr>
              <a:t>Si ya encontre una solucion, la devuelvo y termino.</a:t>
            </a:r>
            <a:endParaRPr sz="1800">
              <a:solidFill>
                <a:schemeClr val="dk1"/>
              </a:solidFill>
              <a:latin typeface="Source Code Pro"/>
              <a:ea typeface="Source Code Pro"/>
              <a:cs typeface="Source Code Pro"/>
              <a:sym typeface="Source Code Pro"/>
            </a:endParaRPr>
          </a:p>
          <a:p>
            <a:pPr indent="-342900" lvl="0" marL="1371600" rtl="0" algn="l">
              <a:spcBef>
                <a:spcPts val="0"/>
              </a:spcBef>
              <a:spcAft>
                <a:spcPts val="0"/>
              </a:spcAft>
              <a:buClr>
                <a:schemeClr val="dk1"/>
              </a:buClr>
              <a:buSzPts val="1800"/>
              <a:buFont typeface="Source Code Pro"/>
              <a:buAutoNum type="arabicParenR"/>
            </a:pPr>
            <a:r>
              <a:rPr lang="es" sz="1800">
                <a:solidFill>
                  <a:schemeClr val="dk1"/>
                </a:solidFill>
                <a:latin typeface="Source Code Pro"/>
                <a:ea typeface="Source Code Pro"/>
                <a:cs typeface="Source Code Pro"/>
                <a:sym typeface="Source Code Pro"/>
              </a:rPr>
              <a:t>Avanzo si puedo</a:t>
            </a:r>
            <a:endParaRPr sz="1800">
              <a:solidFill>
                <a:schemeClr val="dk1"/>
              </a:solidFill>
              <a:latin typeface="Source Code Pro"/>
              <a:ea typeface="Source Code Pro"/>
              <a:cs typeface="Source Code Pro"/>
              <a:sym typeface="Source Code Pro"/>
            </a:endParaRPr>
          </a:p>
          <a:p>
            <a:pPr indent="-342900" lvl="0" marL="1371600" rtl="0" algn="l">
              <a:spcBef>
                <a:spcPts val="0"/>
              </a:spcBef>
              <a:spcAft>
                <a:spcPts val="0"/>
              </a:spcAft>
              <a:buClr>
                <a:schemeClr val="dk1"/>
              </a:buClr>
              <a:buSzPts val="1800"/>
              <a:buFont typeface="Source Code Pro"/>
              <a:buAutoNum type="arabicParenR"/>
            </a:pPr>
            <a:r>
              <a:rPr lang="es" sz="1800">
                <a:solidFill>
                  <a:schemeClr val="dk1"/>
                </a:solidFill>
                <a:latin typeface="Source Code Pro"/>
                <a:ea typeface="Source Code Pro"/>
                <a:cs typeface="Source Code Pro"/>
                <a:sym typeface="Source Code Pro"/>
              </a:rPr>
              <a:t>Pruebo si la solución parcial es válida</a:t>
            </a:r>
            <a:endParaRPr sz="1800">
              <a:solidFill>
                <a:schemeClr val="dk1"/>
              </a:solidFill>
              <a:latin typeface="Source Code Pro"/>
              <a:ea typeface="Source Code Pro"/>
              <a:cs typeface="Source Code Pro"/>
              <a:sym typeface="Source Code Pro"/>
            </a:endParaRPr>
          </a:p>
          <a:p>
            <a:pPr indent="-330200" lvl="0" marL="1828800" rtl="0" algn="l">
              <a:spcBef>
                <a:spcPts val="0"/>
              </a:spcBef>
              <a:spcAft>
                <a:spcPts val="0"/>
              </a:spcAft>
              <a:buClr>
                <a:schemeClr val="dk1"/>
              </a:buClr>
              <a:buSzPts val="1600"/>
              <a:buFont typeface="Source Code Pro"/>
              <a:buAutoNum type="alphaLcParenR"/>
            </a:pPr>
            <a:r>
              <a:rPr lang="es" sz="1800">
                <a:solidFill>
                  <a:schemeClr val="dk1"/>
                </a:solidFill>
                <a:latin typeface="Source Code Pro"/>
                <a:ea typeface="Source Code Pro"/>
                <a:cs typeface="Source Code Pro"/>
                <a:sym typeface="Source Code Pro"/>
              </a:rPr>
              <a:t>Si no lo es, retrocedo </a:t>
            </a:r>
            <a:r>
              <a:rPr lang="es" sz="1600">
                <a:solidFill>
                  <a:schemeClr val="dk1"/>
                </a:solidFill>
                <a:latin typeface="Source Code Pro"/>
                <a:ea typeface="Source Code Pro"/>
                <a:cs typeface="Source Code Pro"/>
                <a:sym typeface="Source Code Pro"/>
              </a:rPr>
              <a:t>y vuelvo a 2)</a:t>
            </a:r>
            <a:endParaRPr sz="1800">
              <a:solidFill>
                <a:schemeClr val="dk1"/>
              </a:solidFill>
              <a:latin typeface="Source Code Pro"/>
              <a:ea typeface="Source Code Pro"/>
              <a:cs typeface="Source Code Pro"/>
              <a:sym typeface="Source Code Pro"/>
            </a:endParaRPr>
          </a:p>
          <a:p>
            <a:pPr indent="-342900" lvl="0" marL="1828800" rtl="0" algn="l">
              <a:spcBef>
                <a:spcPts val="0"/>
              </a:spcBef>
              <a:spcAft>
                <a:spcPts val="0"/>
              </a:spcAft>
              <a:buClr>
                <a:schemeClr val="dk1"/>
              </a:buClr>
              <a:buSzPts val="1800"/>
              <a:buFont typeface="Source Code Pro"/>
              <a:buAutoNum type="alphaLcParenR"/>
            </a:pPr>
            <a:r>
              <a:rPr lang="es" sz="1800">
                <a:solidFill>
                  <a:schemeClr val="dk1"/>
                </a:solidFill>
                <a:latin typeface="Source Code Pro"/>
                <a:ea typeface="Source Code Pro"/>
                <a:cs typeface="Source Code Pro"/>
                <a:sym typeface="Source Code Pro"/>
              </a:rPr>
              <a:t>Si lo es, llamo recursivamente y vuelvo a 1)</a:t>
            </a:r>
            <a:endParaRPr sz="1800">
              <a:solidFill>
                <a:schemeClr val="dk1"/>
              </a:solidFill>
              <a:latin typeface="Source Code Pro"/>
              <a:ea typeface="Source Code Pro"/>
              <a:cs typeface="Source Code Pro"/>
              <a:sym typeface="Source Code Pro"/>
            </a:endParaRPr>
          </a:p>
          <a:p>
            <a:pPr indent="-342900" lvl="0" marL="1371600" rtl="0" algn="l">
              <a:spcBef>
                <a:spcPts val="0"/>
              </a:spcBef>
              <a:spcAft>
                <a:spcPts val="0"/>
              </a:spcAft>
              <a:buClr>
                <a:schemeClr val="dk1"/>
              </a:buClr>
              <a:buSzPts val="1800"/>
              <a:buFont typeface="Source Code Pro"/>
              <a:buAutoNum type="arabicParenR"/>
            </a:pPr>
            <a:r>
              <a:rPr lang="es" sz="1800">
                <a:solidFill>
                  <a:schemeClr val="dk1"/>
                </a:solidFill>
                <a:latin typeface="Source Code Pro"/>
                <a:ea typeface="Source Code Pro"/>
                <a:cs typeface="Source Code Pro"/>
                <a:sym typeface="Source Code Pro"/>
              </a:rPr>
              <a:t>Si llegue hasta aca, ya probe con todo y no encontre una solucion</a:t>
            </a:r>
            <a:endParaRPr sz="1800">
              <a:solidFill>
                <a:schemeClr val="dk1"/>
              </a:solidFill>
              <a:latin typeface="Source Code Pro"/>
              <a:ea typeface="Source Code Pro"/>
              <a:cs typeface="Source Code Pro"/>
              <a:sym typeface="Source Code Pro"/>
            </a:endParaRPr>
          </a:p>
          <a:p>
            <a:pPr indent="457200" lvl="0" marL="0" rtl="0" algn="l">
              <a:spcBef>
                <a:spcPts val="0"/>
              </a:spcBef>
              <a:spcAft>
                <a:spcPts val="0"/>
              </a:spcAft>
              <a:buNone/>
            </a:pPr>
            <a:r>
              <a:rPr lang="es">
                <a:solidFill>
                  <a:schemeClr val="dk1"/>
                </a:solidFill>
                <a:latin typeface="Source Code Pro"/>
                <a:ea typeface="Source Code Pro"/>
                <a:cs typeface="Source Code Pro"/>
                <a:sym typeface="Source Code Pro"/>
              </a:rPr>
              <a:t>(no válido para todos los casos, pero el esquema suele ser similar)</a:t>
            </a:r>
            <a:endParaRPr>
              <a:solidFill>
                <a:schemeClr val="dk1"/>
              </a:solidFill>
              <a:latin typeface="Source Code Pro"/>
              <a:ea typeface="Source Code Pro"/>
              <a:cs typeface="Source Code Pro"/>
              <a:sym typeface="Source Code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animEffect filter="fade" transition="in">
                                      <p:cBhvr>
                                        <p:cTn dur="1000"/>
                                        <p:tgtEl>
                                          <p:spTgt spid="1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animEffect filter="fade" transition="in">
                                      <p:cBhvr>
                                        <p:cTn dur="1000"/>
                                        <p:tgtEl>
                                          <p:spTgt spid="1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animEffect filter="fade" transition="in">
                                      <p:cBhvr>
                                        <p:cTn dur="1000"/>
                                        <p:tgtEl>
                                          <p:spTgt spid="1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animEffect filter="fade" transition="in">
                                      <p:cBhvr>
                                        <p:cTn dur="1000"/>
                                        <p:tgtEl>
                                          <p:spTgt spid="1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4" st="4"/>
                                            </p:txEl>
                                          </p:spTgt>
                                        </p:tgtEl>
                                        <p:attrNameLst>
                                          <p:attrName>style.visibility</p:attrName>
                                        </p:attrNameLst>
                                      </p:cBhvr>
                                      <p:to>
                                        <p:strVal val="visible"/>
                                      </p:to>
                                    </p:set>
                                    <p:animEffect filter="fade" transition="in">
                                      <p:cBhvr>
                                        <p:cTn dur="1000"/>
                                        <p:tgtEl>
                                          <p:spTgt spid="1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5" st="5"/>
                                            </p:txEl>
                                          </p:spTgt>
                                        </p:tgtEl>
                                        <p:attrNameLst>
                                          <p:attrName>style.visibility</p:attrName>
                                        </p:attrNameLst>
                                      </p:cBhvr>
                                      <p:to>
                                        <p:strVal val="visible"/>
                                      </p:to>
                                    </p:set>
                                    <p:animEffect filter="fade" transition="in">
                                      <p:cBhvr>
                                        <p:cTn dur="1000"/>
                                        <p:tgtEl>
                                          <p:spTgt spid="11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6" st="6"/>
                                            </p:txEl>
                                          </p:spTgt>
                                        </p:tgtEl>
                                        <p:attrNameLst>
                                          <p:attrName>style.visibility</p:attrName>
                                        </p:attrNameLst>
                                      </p:cBhvr>
                                      <p:to>
                                        <p:strVal val="visible"/>
                                      </p:to>
                                    </p:set>
                                    <p:animEffect filter="fade" transition="in">
                                      <p:cBhvr>
                                        <p:cTn dur="1000"/>
                                        <p:tgtEl>
                                          <p:spTgt spid="119">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a:t>
            </a:r>
            <a:r>
              <a:rPr lang="es"/>
              <a:t>udoku</a:t>
            </a:r>
            <a:endParaRPr/>
          </a:p>
        </p:txBody>
      </p:sp>
      <p:sp>
        <p:nvSpPr>
          <p:cNvPr id="125" name="Google Shape;125;p28"/>
          <p:cNvSpPr txBox="1"/>
          <p:nvPr>
            <p:ph idx="1" type="body"/>
          </p:nvPr>
        </p:nvSpPr>
        <p:spPr>
          <a:xfrm>
            <a:off x="311700" y="1171600"/>
            <a:ext cx="4260300" cy="382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La resolución del Sudoku implica colocar los números del 1 al 9, dadas las siguientes condiciones:</a:t>
            </a:r>
            <a:endParaRPr/>
          </a:p>
          <a:p>
            <a:pPr indent="-342900" lvl="0" marL="457200" rtl="0" algn="l">
              <a:spcBef>
                <a:spcPts val="1600"/>
              </a:spcBef>
              <a:spcAft>
                <a:spcPts val="0"/>
              </a:spcAft>
              <a:buSzPts val="1800"/>
              <a:buChar char="●"/>
            </a:pPr>
            <a:r>
              <a:rPr lang="es"/>
              <a:t>Se debe llenar una grilla de 9x9 posiciones</a:t>
            </a:r>
            <a:endParaRPr/>
          </a:p>
          <a:p>
            <a:pPr indent="-342900" lvl="0" marL="457200" rtl="0" algn="l">
              <a:spcBef>
                <a:spcPts val="0"/>
              </a:spcBef>
              <a:spcAft>
                <a:spcPts val="0"/>
              </a:spcAft>
              <a:buSzPts val="1800"/>
              <a:buChar char="●"/>
            </a:pPr>
            <a:r>
              <a:rPr lang="es"/>
              <a:t>Las celdas están dispuestas en 9 subgrupos de 3x3</a:t>
            </a:r>
            <a:endParaRPr/>
          </a:p>
          <a:p>
            <a:pPr indent="-342900" lvl="0" marL="457200" rtl="0" algn="l">
              <a:spcBef>
                <a:spcPts val="0"/>
              </a:spcBef>
              <a:spcAft>
                <a:spcPts val="0"/>
              </a:spcAft>
              <a:buSzPts val="1800"/>
              <a:buChar char="●"/>
            </a:pPr>
            <a:r>
              <a:rPr lang="es"/>
              <a:t>Cada columna y cada fila no puede repetir número</a:t>
            </a:r>
            <a:endParaRPr/>
          </a:p>
          <a:p>
            <a:pPr indent="-342900" lvl="0" marL="457200" rtl="0" algn="l">
              <a:spcBef>
                <a:spcPts val="0"/>
              </a:spcBef>
              <a:spcAft>
                <a:spcPts val="0"/>
              </a:spcAft>
              <a:buSzPts val="1800"/>
              <a:buChar char="●"/>
            </a:pPr>
            <a:r>
              <a:rPr lang="es"/>
              <a:t>Cada subgrupo de 3x3 no puede repetir número</a:t>
            </a:r>
            <a:endParaRPr/>
          </a:p>
        </p:txBody>
      </p:sp>
      <p:pic>
        <p:nvPicPr>
          <p:cNvPr id="126" name="Google Shape;126;p28"/>
          <p:cNvPicPr preferRelativeResize="0"/>
          <p:nvPr/>
        </p:nvPicPr>
        <p:blipFill>
          <a:blip r:embed="rId3">
            <a:alphaModFix/>
          </a:blip>
          <a:stretch>
            <a:fillRect/>
          </a:stretch>
        </p:blipFill>
        <p:spPr>
          <a:xfrm>
            <a:off x="5072350" y="915425"/>
            <a:ext cx="3922250" cy="3922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Diferencias</a:t>
            </a:r>
            <a:endParaRPr/>
          </a:p>
        </p:txBody>
      </p:sp>
      <p:sp>
        <p:nvSpPr>
          <p:cNvPr id="132" name="Google Shape;132;p29"/>
          <p:cNvSpPr txBox="1"/>
          <p:nvPr/>
        </p:nvSpPr>
        <p:spPr>
          <a:xfrm>
            <a:off x="0" y="1659700"/>
            <a:ext cx="8832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Source Code Pro"/>
              <a:ea typeface="Source Code Pro"/>
              <a:cs typeface="Source Code Pro"/>
              <a:sym typeface="Source Code Pro"/>
            </a:endParaRPr>
          </a:p>
        </p:txBody>
      </p:sp>
      <p:pic>
        <p:nvPicPr>
          <p:cNvPr id="133" name="Google Shape;133;p29"/>
          <p:cNvPicPr preferRelativeResize="0"/>
          <p:nvPr/>
        </p:nvPicPr>
        <p:blipFill>
          <a:blip r:embed="rId3">
            <a:alphaModFix/>
          </a:blip>
          <a:stretch>
            <a:fillRect/>
          </a:stretch>
        </p:blipFill>
        <p:spPr>
          <a:xfrm>
            <a:off x="1220475" y="1058225"/>
            <a:ext cx="6204552" cy="37033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xEl>
                                              <p:pRg end="0" st="0"/>
                                            </p:txEl>
                                          </p:spTgt>
                                        </p:tgtEl>
                                        <p:attrNameLst>
                                          <p:attrName>style.visibility</p:attrName>
                                        </p:attrNameLst>
                                      </p:cBhvr>
                                      <p:to>
                                        <p:strVal val="visible"/>
                                      </p:to>
                                    </p:set>
                                    <p:animEffect filter="fade" transition="in">
                                      <p:cBhvr>
                                        <p:cTn dur="1000"/>
                                        <p:tgtEl>
                                          <p:spTgt spid="13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30"/>
          <p:cNvSpPr txBox="1"/>
          <p:nvPr>
            <p:ph type="title"/>
          </p:nvPr>
        </p:nvSpPr>
        <p:spPr>
          <a:xfrm>
            <a:off x="311700" y="64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Sudoku</a:t>
            </a:r>
            <a:endParaRPr/>
          </a:p>
        </p:txBody>
      </p:sp>
      <p:sp>
        <p:nvSpPr>
          <p:cNvPr id="139" name="Google Shape;139;p30"/>
          <p:cNvSpPr/>
          <p:nvPr/>
        </p:nvSpPr>
        <p:spPr>
          <a:xfrm>
            <a:off x="507700" y="1381000"/>
            <a:ext cx="4992300" cy="8448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0"/>
          <p:cNvSpPr txBox="1"/>
          <p:nvPr>
            <p:ph idx="1" type="body"/>
          </p:nvPr>
        </p:nvSpPr>
        <p:spPr>
          <a:xfrm>
            <a:off x="311700" y="866800"/>
            <a:ext cx="8520600" cy="4210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700">
                <a:latin typeface="Consolas"/>
                <a:ea typeface="Consolas"/>
                <a:cs typeface="Consolas"/>
                <a:sym typeface="Consolas"/>
              </a:rPr>
              <a:t>def sudoku(cant_elem, M):</a:t>
            </a:r>
            <a:endParaRPr sz="1700">
              <a:latin typeface="Consolas"/>
              <a:ea typeface="Consolas"/>
              <a:cs typeface="Consolas"/>
              <a:sym typeface="Consolas"/>
            </a:endParaRPr>
          </a:p>
          <a:p>
            <a:pPr indent="0" lvl="0" marL="0" rtl="0" algn="l">
              <a:lnSpc>
                <a:spcPct val="100000"/>
              </a:lnSpc>
              <a:spcBef>
                <a:spcPts val="1600"/>
              </a:spcBef>
              <a:spcAft>
                <a:spcPts val="0"/>
              </a:spcAft>
              <a:buClr>
                <a:schemeClr val="dk1"/>
              </a:buClr>
              <a:buSzPts val="1100"/>
              <a:buFont typeface="Arial"/>
              <a:buNone/>
            </a:pPr>
            <a:r>
              <a:rPr lang="es" sz="1700">
                <a:latin typeface="Consolas"/>
                <a:ea typeface="Consolas"/>
                <a:cs typeface="Consolas"/>
                <a:sym typeface="Consolas"/>
              </a:rPr>
              <a:t>  cant_elem = sig_pos_a_usar(cant_elem, M)</a:t>
            </a:r>
            <a:endParaRPr sz="1700">
              <a:latin typeface="Consolas"/>
              <a:ea typeface="Consolas"/>
              <a:cs typeface="Consolas"/>
              <a:sym typeface="Consolas"/>
            </a:endParaRPr>
          </a:p>
          <a:p>
            <a:pPr indent="0" lvl="0" marL="0" rtl="0" algn="l">
              <a:lnSpc>
                <a:spcPct val="100000"/>
              </a:lnSpc>
              <a:spcBef>
                <a:spcPts val="1600"/>
              </a:spcBef>
              <a:spcAft>
                <a:spcPts val="0"/>
              </a:spcAft>
              <a:buClr>
                <a:schemeClr val="dk1"/>
              </a:buClr>
              <a:buSzPts val="1100"/>
              <a:buFont typeface="Arial"/>
              <a:buNone/>
            </a:pPr>
            <a:r>
              <a:rPr lang="es" sz="1700">
                <a:latin typeface="Consolas"/>
                <a:ea typeface="Consolas"/>
                <a:cs typeface="Consolas"/>
                <a:sym typeface="Consolas"/>
              </a:rPr>
              <a:t>  if cant_elem &gt;= 9*9: return True</a:t>
            </a:r>
            <a:endParaRPr sz="1700">
              <a:latin typeface="Consolas"/>
              <a:ea typeface="Consolas"/>
              <a:cs typeface="Consolas"/>
              <a:sym typeface="Consolas"/>
            </a:endParaRPr>
          </a:p>
          <a:p>
            <a:pPr indent="0" lvl="0" marL="0" rtl="0" algn="l">
              <a:lnSpc>
                <a:spcPct val="100000"/>
              </a:lnSpc>
              <a:spcBef>
                <a:spcPts val="1600"/>
              </a:spcBef>
              <a:spcAft>
                <a:spcPts val="0"/>
              </a:spcAft>
              <a:buClr>
                <a:schemeClr val="dk1"/>
              </a:buClr>
              <a:buSzPts val="1100"/>
              <a:buFont typeface="Arial"/>
              <a:buNone/>
            </a:pPr>
            <a:r>
              <a:rPr lang="es" sz="1700">
                <a:latin typeface="Consolas"/>
                <a:ea typeface="Consolas"/>
                <a:cs typeface="Consolas"/>
                <a:sym typeface="Consolas"/>
              </a:rPr>
              <a:t>  for num in range (1, 10):</a:t>
            </a:r>
            <a:endParaRPr sz="1700">
              <a:latin typeface="Consolas"/>
              <a:ea typeface="Consolas"/>
              <a:cs typeface="Consolas"/>
              <a:sym typeface="Consolas"/>
            </a:endParaRPr>
          </a:p>
          <a:p>
            <a:pPr indent="0" lvl="0" marL="0" rtl="0" algn="l">
              <a:lnSpc>
                <a:spcPct val="100000"/>
              </a:lnSpc>
              <a:spcBef>
                <a:spcPts val="1600"/>
              </a:spcBef>
              <a:spcAft>
                <a:spcPts val="0"/>
              </a:spcAft>
              <a:buClr>
                <a:schemeClr val="dk1"/>
              </a:buClr>
              <a:buSzPts val="1100"/>
              <a:buFont typeface="Arial"/>
              <a:buNone/>
            </a:pPr>
            <a:r>
              <a:rPr lang="es" sz="1700">
                <a:latin typeface="Consolas"/>
                <a:ea typeface="Consolas"/>
                <a:cs typeface="Consolas"/>
                <a:sym typeface="Consolas"/>
              </a:rPr>
              <a:t>    if puedo_poner(num, cant_elem, M):</a:t>
            </a:r>
            <a:endParaRPr sz="1700">
              <a:latin typeface="Consolas"/>
              <a:ea typeface="Consolas"/>
              <a:cs typeface="Consolas"/>
              <a:sym typeface="Consolas"/>
            </a:endParaRPr>
          </a:p>
          <a:p>
            <a:pPr indent="0" lvl="0" marL="0" rtl="0" algn="l">
              <a:lnSpc>
                <a:spcPct val="100000"/>
              </a:lnSpc>
              <a:spcBef>
                <a:spcPts val="1600"/>
              </a:spcBef>
              <a:spcAft>
                <a:spcPts val="0"/>
              </a:spcAft>
              <a:buClr>
                <a:schemeClr val="dk1"/>
              </a:buClr>
              <a:buSzPts val="1100"/>
              <a:buFont typeface="Arial"/>
              <a:buNone/>
            </a:pPr>
            <a:r>
              <a:rPr lang="es" sz="1700">
                <a:latin typeface="Consolas"/>
                <a:ea typeface="Consolas"/>
                <a:cs typeface="Consolas"/>
                <a:sym typeface="Consolas"/>
              </a:rPr>
              <a:t>      M[fila(cant_elem)][columna(cant_elem)] = num</a:t>
            </a:r>
            <a:endParaRPr sz="1700">
              <a:latin typeface="Consolas"/>
              <a:ea typeface="Consolas"/>
              <a:cs typeface="Consolas"/>
              <a:sym typeface="Consolas"/>
            </a:endParaRPr>
          </a:p>
          <a:p>
            <a:pPr indent="0" lvl="0" marL="0" rtl="0" algn="l">
              <a:lnSpc>
                <a:spcPct val="100000"/>
              </a:lnSpc>
              <a:spcBef>
                <a:spcPts val="1600"/>
              </a:spcBef>
              <a:spcAft>
                <a:spcPts val="0"/>
              </a:spcAft>
              <a:buClr>
                <a:schemeClr val="dk1"/>
              </a:buClr>
              <a:buSzPts val="1100"/>
              <a:buFont typeface="Arial"/>
              <a:buNone/>
            </a:pPr>
            <a:r>
              <a:rPr lang="es" sz="1700">
                <a:latin typeface="Consolas"/>
                <a:ea typeface="Consolas"/>
                <a:cs typeface="Consolas"/>
                <a:sym typeface="Consolas"/>
              </a:rPr>
              <a:t>      if sudoku(cant_elem, M): return True</a:t>
            </a:r>
            <a:endParaRPr sz="1700">
              <a:latin typeface="Consolas"/>
              <a:ea typeface="Consolas"/>
              <a:cs typeface="Consolas"/>
              <a:sym typeface="Consolas"/>
            </a:endParaRPr>
          </a:p>
          <a:p>
            <a:pPr indent="0" lvl="0" marL="0" rtl="0" algn="l">
              <a:lnSpc>
                <a:spcPct val="100000"/>
              </a:lnSpc>
              <a:spcBef>
                <a:spcPts val="1600"/>
              </a:spcBef>
              <a:spcAft>
                <a:spcPts val="0"/>
              </a:spcAft>
              <a:buClr>
                <a:schemeClr val="dk1"/>
              </a:buClr>
              <a:buSzPts val="1100"/>
              <a:buFont typeface="Arial"/>
              <a:buNone/>
            </a:pPr>
            <a:r>
              <a:rPr lang="es" sz="1700">
                <a:latin typeface="Consolas"/>
                <a:ea typeface="Consolas"/>
                <a:cs typeface="Consolas"/>
                <a:sym typeface="Consolas"/>
              </a:rPr>
              <a:t>  M[fila(cant_elem)][columna(cant_elem)] = 0</a:t>
            </a:r>
            <a:endParaRPr sz="1700">
              <a:latin typeface="Consolas"/>
              <a:ea typeface="Consolas"/>
              <a:cs typeface="Consolas"/>
              <a:sym typeface="Consolas"/>
            </a:endParaRPr>
          </a:p>
          <a:p>
            <a:pPr indent="0" lvl="0" marL="0" rtl="0" algn="l">
              <a:lnSpc>
                <a:spcPct val="100000"/>
              </a:lnSpc>
              <a:spcBef>
                <a:spcPts val="1600"/>
              </a:spcBef>
              <a:spcAft>
                <a:spcPts val="1600"/>
              </a:spcAft>
              <a:buNone/>
            </a:pPr>
            <a:r>
              <a:rPr lang="es" sz="1700">
                <a:latin typeface="Consolas"/>
                <a:ea typeface="Consolas"/>
                <a:cs typeface="Consolas"/>
                <a:sym typeface="Consolas"/>
              </a:rPr>
              <a:t>  return False</a:t>
            </a:r>
            <a:endParaRPr sz="1700">
              <a:latin typeface="Consolas"/>
              <a:ea typeface="Consolas"/>
              <a:cs typeface="Consolas"/>
              <a:sym typeface="Consolas"/>
            </a:endParaRPr>
          </a:p>
        </p:txBody>
      </p:sp>
      <p:sp>
        <p:nvSpPr>
          <p:cNvPr id="141" name="Google Shape;141;p30"/>
          <p:cNvSpPr/>
          <p:nvPr/>
        </p:nvSpPr>
        <p:spPr>
          <a:xfrm>
            <a:off x="444675" y="2389525"/>
            <a:ext cx="5988300" cy="21810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0"/>
          <p:cNvSpPr txBox="1"/>
          <p:nvPr/>
        </p:nvSpPr>
        <p:spPr>
          <a:xfrm>
            <a:off x="5890725" y="1494450"/>
            <a:ext cx="2941500" cy="554100"/>
          </a:xfrm>
          <a:prstGeom prst="rect">
            <a:avLst/>
          </a:prstGeom>
          <a:noFill/>
          <a:ln>
            <a:noFill/>
          </a:ln>
        </p:spPr>
        <p:txBody>
          <a:bodyPr anchorCtr="0" anchor="t" bIns="91425" lIns="91425" spcFirstLastPara="1" rIns="91425" wrap="square" tIns="91425">
            <a:spAutoFit/>
          </a:bodyPr>
          <a:lstStyle/>
          <a:p>
            <a:pPr indent="-76200" lvl="0" marL="180000" rtl="0" algn="l">
              <a:spcBef>
                <a:spcPts val="0"/>
              </a:spcBef>
              <a:spcAft>
                <a:spcPts val="0"/>
              </a:spcAft>
              <a:buClr>
                <a:schemeClr val="dk1"/>
              </a:buClr>
              <a:buSzPts val="1200"/>
              <a:buFont typeface="Source Code Pro"/>
              <a:buAutoNum type="arabicParenR"/>
            </a:pPr>
            <a:r>
              <a:rPr lang="es" sz="1200">
                <a:solidFill>
                  <a:schemeClr val="dk1"/>
                </a:solidFill>
                <a:latin typeface="Source Code Pro"/>
                <a:ea typeface="Source Code Pro"/>
                <a:cs typeface="Source Code Pro"/>
                <a:sym typeface="Source Code Pro"/>
              </a:rPr>
              <a:t>Si ya encontre una solucion, la devuelvo y termino.</a:t>
            </a:r>
            <a:endParaRPr sz="800">
              <a:latin typeface="Old Standard TT"/>
              <a:ea typeface="Old Standard TT"/>
              <a:cs typeface="Old Standard TT"/>
              <a:sym typeface="Old Standard TT"/>
            </a:endParaRPr>
          </a:p>
        </p:txBody>
      </p:sp>
      <p:sp>
        <p:nvSpPr>
          <p:cNvPr id="143" name="Google Shape;143;p30"/>
          <p:cNvSpPr txBox="1"/>
          <p:nvPr/>
        </p:nvSpPr>
        <p:spPr>
          <a:xfrm>
            <a:off x="6890700" y="2159338"/>
            <a:ext cx="2253300" cy="2401200"/>
          </a:xfrm>
          <a:prstGeom prst="rect">
            <a:avLst/>
          </a:prstGeom>
          <a:noFill/>
          <a:ln>
            <a:noFill/>
          </a:ln>
        </p:spPr>
        <p:txBody>
          <a:bodyPr anchorCtr="0" anchor="t" bIns="91425" lIns="91425" spcFirstLastPara="1" rIns="91425" wrap="square" tIns="91425">
            <a:spAutoFit/>
          </a:bodyPr>
          <a:lstStyle/>
          <a:p>
            <a:pPr indent="-311150" lvl="0" marL="0" rtl="0" algn="l">
              <a:spcBef>
                <a:spcPts val="0"/>
              </a:spcBef>
              <a:spcAft>
                <a:spcPts val="0"/>
              </a:spcAft>
              <a:buClr>
                <a:srgbClr val="EFEFEF"/>
              </a:buClr>
              <a:buSzPts val="1300"/>
              <a:buFont typeface="Source Code Pro"/>
              <a:buAutoNum type="arabicParenR"/>
            </a:pPr>
            <a:r>
              <a:t/>
            </a:r>
            <a:endParaRPr sz="1300">
              <a:solidFill>
                <a:schemeClr val="dk1"/>
              </a:solidFill>
              <a:latin typeface="Source Code Pro"/>
              <a:ea typeface="Source Code Pro"/>
              <a:cs typeface="Source Code Pro"/>
              <a:sym typeface="Source Code Pro"/>
            </a:endParaRPr>
          </a:p>
          <a:p>
            <a:pPr indent="-311150" lvl="0" marL="0" rtl="0" algn="l">
              <a:spcBef>
                <a:spcPts val="0"/>
              </a:spcBef>
              <a:spcAft>
                <a:spcPts val="0"/>
              </a:spcAft>
              <a:buClr>
                <a:schemeClr val="dk1"/>
              </a:buClr>
              <a:buSzPts val="1300"/>
              <a:buFont typeface="Source Code Pro"/>
              <a:buAutoNum type="arabicParenR"/>
            </a:pPr>
            <a:r>
              <a:rPr lang="es" sz="1300">
                <a:solidFill>
                  <a:schemeClr val="dk1"/>
                </a:solidFill>
                <a:latin typeface="Source Code Pro"/>
                <a:ea typeface="Source Code Pro"/>
                <a:cs typeface="Source Code Pro"/>
                <a:sym typeface="Source Code Pro"/>
              </a:rPr>
              <a:t>Avanzo si puedo</a:t>
            </a:r>
            <a:endParaRPr sz="1300">
              <a:solidFill>
                <a:schemeClr val="dk1"/>
              </a:solidFill>
              <a:latin typeface="Source Code Pro"/>
              <a:ea typeface="Source Code Pro"/>
              <a:cs typeface="Source Code Pro"/>
              <a:sym typeface="Source Code Pro"/>
            </a:endParaRPr>
          </a:p>
          <a:p>
            <a:pPr indent="-311150" lvl="0" marL="0" rtl="0" algn="l">
              <a:spcBef>
                <a:spcPts val="0"/>
              </a:spcBef>
              <a:spcAft>
                <a:spcPts val="0"/>
              </a:spcAft>
              <a:buClr>
                <a:schemeClr val="dk1"/>
              </a:buClr>
              <a:buSzPts val="1300"/>
              <a:buFont typeface="Source Code Pro"/>
              <a:buAutoNum type="arabicParenR"/>
            </a:pPr>
            <a:r>
              <a:rPr lang="es" sz="1300">
                <a:solidFill>
                  <a:schemeClr val="dk1"/>
                </a:solidFill>
                <a:latin typeface="Source Code Pro"/>
                <a:ea typeface="Source Code Pro"/>
                <a:cs typeface="Source Code Pro"/>
                <a:sym typeface="Source Code Pro"/>
              </a:rPr>
              <a:t>Pruebo si la solución parcial es válida</a:t>
            </a:r>
            <a:endParaRPr sz="1300">
              <a:solidFill>
                <a:schemeClr val="dk1"/>
              </a:solidFill>
              <a:latin typeface="Source Code Pro"/>
              <a:ea typeface="Source Code Pro"/>
              <a:cs typeface="Source Code Pro"/>
              <a:sym typeface="Source Code Pro"/>
            </a:endParaRPr>
          </a:p>
          <a:p>
            <a:pPr indent="-330200" lvl="0" marL="0" rtl="0" algn="l">
              <a:spcBef>
                <a:spcPts val="0"/>
              </a:spcBef>
              <a:spcAft>
                <a:spcPts val="0"/>
              </a:spcAft>
              <a:buClr>
                <a:schemeClr val="dk1"/>
              </a:buClr>
              <a:buSzPts val="1600"/>
              <a:buFont typeface="Source Code Pro"/>
              <a:buAutoNum type="alphaLcParenR"/>
            </a:pPr>
            <a:r>
              <a:rPr lang="es" sz="1300">
                <a:solidFill>
                  <a:schemeClr val="dk1"/>
                </a:solidFill>
                <a:latin typeface="Source Code Pro"/>
                <a:ea typeface="Source Code Pro"/>
                <a:cs typeface="Source Code Pro"/>
                <a:sym typeface="Source Code Pro"/>
              </a:rPr>
              <a:t>Si no lo es, retrocedo </a:t>
            </a:r>
            <a:r>
              <a:rPr lang="es" sz="1100">
                <a:solidFill>
                  <a:schemeClr val="dk1"/>
                </a:solidFill>
                <a:latin typeface="Source Code Pro"/>
                <a:ea typeface="Source Code Pro"/>
                <a:cs typeface="Source Code Pro"/>
                <a:sym typeface="Source Code Pro"/>
              </a:rPr>
              <a:t>y vuelvo a 2)</a:t>
            </a:r>
            <a:endParaRPr sz="1300">
              <a:solidFill>
                <a:schemeClr val="dk1"/>
              </a:solidFill>
              <a:latin typeface="Source Code Pro"/>
              <a:ea typeface="Source Code Pro"/>
              <a:cs typeface="Source Code Pro"/>
              <a:sym typeface="Source Code Pro"/>
            </a:endParaRPr>
          </a:p>
          <a:p>
            <a:pPr indent="-311150" lvl="0" marL="0" rtl="0" algn="l">
              <a:spcBef>
                <a:spcPts val="0"/>
              </a:spcBef>
              <a:spcAft>
                <a:spcPts val="0"/>
              </a:spcAft>
              <a:buClr>
                <a:schemeClr val="dk1"/>
              </a:buClr>
              <a:buSzPts val="1300"/>
              <a:buFont typeface="Source Code Pro"/>
              <a:buAutoNum type="alphaLcParenR"/>
            </a:pPr>
            <a:r>
              <a:rPr lang="es" sz="1300">
                <a:solidFill>
                  <a:schemeClr val="dk1"/>
                </a:solidFill>
                <a:latin typeface="Source Code Pro"/>
                <a:ea typeface="Source Code Pro"/>
                <a:cs typeface="Source Code Pro"/>
                <a:sym typeface="Source Code Pro"/>
              </a:rPr>
              <a:t>Si lo es, llamo recursivamente y vuelvo a 1)</a:t>
            </a:r>
            <a:endParaRPr sz="900">
              <a:latin typeface="Old Standard TT"/>
              <a:ea typeface="Old Standard TT"/>
              <a:cs typeface="Old Standard TT"/>
              <a:sym typeface="Old Standard TT"/>
            </a:endParaRPr>
          </a:p>
        </p:txBody>
      </p:sp>
      <p:sp>
        <p:nvSpPr>
          <p:cNvPr id="144" name="Google Shape;144;p30"/>
          <p:cNvSpPr/>
          <p:nvPr/>
        </p:nvSpPr>
        <p:spPr>
          <a:xfrm>
            <a:off x="495100" y="4671325"/>
            <a:ext cx="1727100" cy="2901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0"/>
          <p:cNvSpPr txBox="1"/>
          <p:nvPr/>
        </p:nvSpPr>
        <p:spPr>
          <a:xfrm>
            <a:off x="2335650" y="4671325"/>
            <a:ext cx="6757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Source Code Pro"/>
                <a:ea typeface="Source Code Pro"/>
                <a:cs typeface="Source Code Pro"/>
                <a:sym typeface="Source Code Pro"/>
              </a:rPr>
              <a:t>4) </a:t>
            </a:r>
            <a:r>
              <a:rPr lang="es" sz="1200">
                <a:solidFill>
                  <a:schemeClr val="dk1"/>
                </a:solidFill>
                <a:latin typeface="Source Code Pro"/>
                <a:ea typeface="Source Code Pro"/>
                <a:cs typeface="Source Code Pro"/>
                <a:sym typeface="Source Code Pro"/>
              </a:rPr>
              <a:t>Si llegue hasta aca, ya probe con todo y no encontre una solucion</a:t>
            </a:r>
            <a:endParaRPr sz="1200">
              <a:solidFill>
                <a:schemeClr val="dk1"/>
              </a:solidFill>
              <a:latin typeface="Source Code Pro"/>
              <a:ea typeface="Source Code Pro"/>
              <a:cs typeface="Source Code Pro"/>
              <a:sym typeface="Source Code Pro"/>
            </a:endParaRPr>
          </a:p>
          <a:p>
            <a:pPr indent="-228600" lvl="0" marL="360001" rtl="0" algn="l">
              <a:spcBef>
                <a:spcPts val="0"/>
              </a:spcBef>
              <a:spcAft>
                <a:spcPts val="0"/>
              </a:spcAft>
              <a:buNone/>
            </a:pPr>
            <a:r>
              <a:t/>
            </a:r>
            <a:endParaRPr sz="800">
              <a:latin typeface="Old Standard TT"/>
              <a:ea typeface="Old Standard TT"/>
              <a:cs typeface="Old Standard TT"/>
              <a:sym typeface="Old Standard T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1"/>
          <p:cNvSpPr txBox="1"/>
          <p:nvPr>
            <p:ph type="title"/>
          </p:nvPr>
        </p:nvSpPr>
        <p:spPr>
          <a:xfrm>
            <a:off x="311700" y="64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Sudoku</a:t>
            </a:r>
            <a:endParaRPr/>
          </a:p>
        </p:txBody>
      </p:sp>
      <p:sp>
        <p:nvSpPr>
          <p:cNvPr id="151" name="Google Shape;151;p31"/>
          <p:cNvSpPr/>
          <p:nvPr/>
        </p:nvSpPr>
        <p:spPr>
          <a:xfrm>
            <a:off x="123300" y="1247225"/>
            <a:ext cx="4351200" cy="9045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0" lIns="91425" spcFirstLastPara="1" rIns="91425" wrap="square" tIns="126000">
            <a:noAutofit/>
          </a:bodyPr>
          <a:lstStyle/>
          <a:p>
            <a:pPr indent="0" lvl="0" marL="0" rtl="0" algn="l">
              <a:lnSpc>
                <a:spcPct val="80000"/>
              </a:lnSpc>
              <a:spcBef>
                <a:spcPts val="0"/>
              </a:spcBef>
              <a:spcAft>
                <a:spcPts val="0"/>
              </a:spcAft>
              <a:buClr>
                <a:schemeClr val="dk1"/>
              </a:buClr>
              <a:buSzPts val="1100"/>
              <a:buFont typeface="Arial"/>
              <a:buNone/>
            </a:pPr>
            <a:r>
              <a:rPr lang="es">
                <a:solidFill>
                  <a:schemeClr val="dk1"/>
                </a:solidFill>
                <a:latin typeface="Consolas"/>
                <a:ea typeface="Consolas"/>
                <a:cs typeface="Consolas"/>
                <a:sym typeface="Consolas"/>
              </a:rPr>
              <a:t>cant_elem = sig_pos_a_usar(cant_elem, M)</a:t>
            </a:r>
            <a:endParaRPr>
              <a:solidFill>
                <a:schemeClr val="dk1"/>
              </a:solidFill>
              <a:latin typeface="Consolas"/>
              <a:ea typeface="Consolas"/>
              <a:cs typeface="Consolas"/>
              <a:sym typeface="Consolas"/>
            </a:endParaRPr>
          </a:p>
          <a:p>
            <a:pPr indent="0" lvl="0" marL="0" rtl="0" algn="l">
              <a:lnSpc>
                <a:spcPct val="80000"/>
              </a:lnSpc>
              <a:spcBef>
                <a:spcPts val="1600"/>
              </a:spcBef>
              <a:spcAft>
                <a:spcPts val="1600"/>
              </a:spcAft>
              <a:buClr>
                <a:schemeClr val="dk1"/>
              </a:buClr>
              <a:buSzPts val="1100"/>
              <a:buFont typeface="Arial"/>
              <a:buNone/>
            </a:pPr>
            <a:r>
              <a:rPr lang="es">
                <a:solidFill>
                  <a:schemeClr val="dk1"/>
                </a:solidFill>
                <a:latin typeface="Consolas"/>
                <a:ea typeface="Consolas"/>
                <a:cs typeface="Consolas"/>
                <a:sym typeface="Consolas"/>
              </a:rPr>
              <a:t>if cant_elem &gt;= 9*9: </a:t>
            </a:r>
            <a:r>
              <a:rPr lang="es">
                <a:solidFill>
                  <a:schemeClr val="dk1"/>
                </a:solidFill>
                <a:highlight>
                  <a:srgbClr val="C27BA0"/>
                </a:highlight>
                <a:latin typeface="Consolas"/>
                <a:ea typeface="Consolas"/>
                <a:cs typeface="Consolas"/>
                <a:sym typeface="Consolas"/>
              </a:rPr>
              <a:t>return True</a:t>
            </a:r>
            <a:endParaRPr sz="1100">
              <a:highlight>
                <a:srgbClr val="C27BA0"/>
              </a:highlight>
            </a:endParaRPr>
          </a:p>
        </p:txBody>
      </p:sp>
      <p:sp>
        <p:nvSpPr>
          <p:cNvPr id="152" name="Google Shape;152;p31"/>
          <p:cNvSpPr txBox="1"/>
          <p:nvPr>
            <p:ph idx="1" type="body"/>
          </p:nvPr>
        </p:nvSpPr>
        <p:spPr>
          <a:xfrm>
            <a:off x="0" y="771425"/>
            <a:ext cx="3278100" cy="613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400">
                <a:latin typeface="Consolas"/>
                <a:ea typeface="Consolas"/>
                <a:cs typeface="Consolas"/>
                <a:sym typeface="Consolas"/>
              </a:rPr>
              <a:t>def sudoku(cant_elem, M):</a:t>
            </a:r>
            <a:endParaRPr sz="1400">
              <a:latin typeface="Consolas"/>
              <a:ea typeface="Consolas"/>
              <a:cs typeface="Consolas"/>
              <a:sym typeface="Consolas"/>
            </a:endParaRPr>
          </a:p>
          <a:p>
            <a:pPr indent="0" lvl="0" marL="0" rtl="0" algn="l">
              <a:lnSpc>
                <a:spcPct val="100000"/>
              </a:lnSpc>
              <a:spcBef>
                <a:spcPts val="1600"/>
              </a:spcBef>
              <a:spcAft>
                <a:spcPts val="1600"/>
              </a:spcAft>
              <a:buClr>
                <a:schemeClr val="dk1"/>
              </a:buClr>
              <a:buSzPts val="1100"/>
              <a:buFont typeface="Arial"/>
              <a:buNone/>
            </a:pPr>
            <a:r>
              <a:rPr lang="es" sz="1700">
                <a:latin typeface="Consolas"/>
                <a:ea typeface="Consolas"/>
                <a:cs typeface="Consolas"/>
                <a:sym typeface="Consolas"/>
              </a:rPr>
              <a:t>  </a:t>
            </a:r>
            <a:endParaRPr sz="1700">
              <a:latin typeface="Consolas"/>
              <a:ea typeface="Consolas"/>
              <a:cs typeface="Consolas"/>
              <a:sym typeface="Consolas"/>
            </a:endParaRPr>
          </a:p>
        </p:txBody>
      </p:sp>
      <p:sp>
        <p:nvSpPr>
          <p:cNvPr id="153" name="Google Shape;153;p31"/>
          <p:cNvSpPr/>
          <p:nvPr/>
        </p:nvSpPr>
        <p:spPr>
          <a:xfrm>
            <a:off x="123300" y="2285025"/>
            <a:ext cx="5421000" cy="20886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0" lIns="91425" spcFirstLastPara="1" rIns="54000" wrap="square" tIns="126000">
            <a:noAutofit/>
          </a:bodyPr>
          <a:lstStyle/>
          <a:p>
            <a:pPr indent="0" lvl="0" marL="0" rtl="0" algn="l">
              <a:lnSpc>
                <a:spcPct val="80000"/>
              </a:lnSpc>
              <a:spcBef>
                <a:spcPts val="0"/>
              </a:spcBef>
              <a:spcAft>
                <a:spcPts val="0"/>
              </a:spcAft>
              <a:buClr>
                <a:schemeClr val="dk1"/>
              </a:buClr>
              <a:buSzPts val="1100"/>
              <a:buFont typeface="Arial"/>
              <a:buNone/>
            </a:pPr>
            <a:r>
              <a:rPr lang="es">
                <a:solidFill>
                  <a:schemeClr val="dk1"/>
                </a:solidFill>
                <a:latin typeface="Consolas"/>
                <a:ea typeface="Consolas"/>
                <a:cs typeface="Consolas"/>
                <a:sym typeface="Consolas"/>
              </a:rPr>
              <a:t>for num in range (1, 10):</a:t>
            </a:r>
            <a:endParaRPr>
              <a:solidFill>
                <a:schemeClr val="dk1"/>
              </a:solidFill>
              <a:latin typeface="Consolas"/>
              <a:ea typeface="Consolas"/>
              <a:cs typeface="Consolas"/>
              <a:sym typeface="Consolas"/>
            </a:endParaRPr>
          </a:p>
          <a:p>
            <a:pPr indent="0" lvl="0" marL="0" rtl="0" algn="l">
              <a:lnSpc>
                <a:spcPct val="80000"/>
              </a:lnSpc>
              <a:spcBef>
                <a:spcPts val="1600"/>
              </a:spcBef>
              <a:spcAft>
                <a:spcPts val="0"/>
              </a:spcAft>
              <a:buClr>
                <a:schemeClr val="dk1"/>
              </a:buClr>
              <a:buSzPts val="1100"/>
              <a:buFont typeface="Arial"/>
              <a:buNone/>
            </a:pPr>
            <a:r>
              <a:rPr lang="es">
                <a:solidFill>
                  <a:schemeClr val="dk1"/>
                </a:solidFill>
                <a:latin typeface="Consolas"/>
                <a:ea typeface="Consolas"/>
                <a:cs typeface="Consolas"/>
                <a:sym typeface="Consolas"/>
              </a:rPr>
              <a:t>    if puedo_poner(num, cant_elem, M):</a:t>
            </a:r>
            <a:endParaRPr>
              <a:solidFill>
                <a:schemeClr val="dk1"/>
              </a:solidFill>
              <a:latin typeface="Consolas"/>
              <a:ea typeface="Consolas"/>
              <a:cs typeface="Consolas"/>
              <a:sym typeface="Consolas"/>
            </a:endParaRPr>
          </a:p>
          <a:p>
            <a:pPr indent="0" lvl="0" marL="0" rtl="0" algn="l">
              <a:lnSpc>
                <a:spcPct val="80000"/>
              </a:lnSpc>
              <a:spcBef>
                <a:spcPts val="1600"/>
              </a:spcBef>
              <a:spcAft>
                <a:spcPts val="0"/>
              </a:spcAft>
              <a:buClr>
                <a:schemeClr val="dk1"/>
              </a:buClr>
              <a:buSzPts val="1100"/>
              <a:buFont typeface="Arial"/>
              <a:buNone/>
            </a:pPr>
            <a:r>
              <a:rPr lang="es">
                <a:solidFill>
                  <a:schemeClr val="dk1"/>
                </a:solidFill>
                <a:latin typeface="Consolas"/>
                <a:ea typeface="Consolas"/>
                <a:cs typeface="Consolas"/>
                <a:sym typeface="Consolas"/>
              </a:rPr>
              <a:t>      M[fila(cant_elem)][columna(cant_elem)] = num</a:t>
            </a:r>
            <a:endParaRPr>
              <a:solidFill>
                <a:schemeClr val="dk1"/>
              </a:solidFill>
              <a:latin typeface="Consolas"/>
              <a:ea typeface="Consolas"/>
              <a:cs typeface="Consolas"/>
              <a:sym typeface="Consolas"/>
            </a:endParaRPr>
          </a:p>
          <a:p>
            <a:pPr indent="0" lvl="0" marL="0" rtl="0" algn="l">
              <a:lnSpc>
                <a:spcPct val="80000"/>
              </a:lnSpc>
              <a:spcBef>
                <a:spcPts val="1600"/>
              </a:spcBef>
              <a:spcAft>
                <a:spcPts val="0"/>
              </a:spcAft>
              <a:buClr>
                <a:schemeClr val="dk1"/>
              </a:buClr>
              <a:buSzPts val="1100"/>
              <a:buFont typeface="Arial"/>
              <a:buNone/>
            </a:pPr>
            <a:r>
              <a:rPr lang="es">
                <a:solidFill>
                  <a:schemeClr val="dk1"/>
                </a:solidFill>
                <a:latin typeface="Consolas"/>
                <a:ea typeface="Consolas"/>
                <a:cs typeface="Consolas"/>
                <a:sym typeface="Consolas"/>
              </a:rPr>
              <a:t>      if sudoku(cant_elem, M): </a:t>
            </a:r>
            <a:r>
              <a:rPr lang="es">
                <a:solidFill>
                  <a:schemeClr val="dk1"/>
                </a:solidFill>
                <a:highlight>
                  <a:srgbClr val="C27BA0"/>
                </a:highlight>
                <a:latin typeface="Consolas"/>
                <a:ea typeface="Consolas"/>
                <a:cs typeface="Consolas"/>
                <a:sym typeface="Consolas"/>
              </a:rPr>
              <a:t>return True</a:t>
            </a:r>
            <a:endParaRPr>
              <a:solidFill>
                <a:schemeClr val="dk1"/>
              </a:solidFill>
              <a:highlight>
                <a:srgbClr val="C27BA0"/>
              </a:highlight>
              <a:latin typeface="Consolas"/>
              <a:ea typeface="Consolas"/>
              <a:cs typeface="Consolas"/>
              <a:sym typeface="Consolas"/>
            </a:endParaRPr>
          </a:p>
          <a:p>
            <a:pPr indent="0" lvl="0" marL="0" rtl="0" algn="l">
              <a:lnSpc>
                <a:spcPct val="80000"/>
              </a:lnSpc>
              <a:spcBef>
                <a:spcPts val="1600"/>
              </a:spcBef>
              <a:spcAft>
                <a:spcPts val="1600"/>
              </a:spcAft>
              <a:buNone/>
            </a:pPr>
            <a:r>
              <a:rPr lang="es">
                <a:solidFill>
                  <a:schemeClr val="dk1"/>
                </a:solidFill>
                <a:latin typeface="Consolas"/>
                <a:ea typeface="Consolas"/>
                <a:cs typeface="Consolas"/>
                <a:sym typeface="Consolas"/>
              </a:rPr>
              <a:t>  M[fila(cant_elem)][columna(cant_elem)] = 0</a:t>
            </a:r>
            <a:endParaRPr sz="1100"/>
          </a:p>
        </p:txBody>
      </p:sp>
      <p:sp>
        <p:nvSpPr>
          <p:cNvPr id="154" name="Google Shape;154;p31"/>
          <p:cNvSpPr/>
          <p:nvPr/>
        </p:nvSpPr>
        <p:spPr>
          <a:xfrm>
            <a:off x="123300" y="4506925"/>
            <a:ext cx="2010900" cy="4524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0" lIns="91425" spcFirstLastPara="1" rIns="91425" wrap="square" tIns="198000">
            <a:noAutofit/>
          </a:bodyPr>
          <a:lstStyle/>
          <a:p>
            <a:pPr indent="0" lvl="0" marL="0" rtl="0" algn="l">
              <a:spcBef>
                <a:spcPts val="0"/>
              </a:spcBef>
              <a:spcAft>
                <a:spcPts val="1600"/>
              </a:spcAft>
              <a:buClr>
                <a:schemeClr val="dk1"/>
              </a:buClr>
              <a:buSzPts val="1100"/>
              <a:buFont typeface="Arial"/>
              <a:buNone/>
            </a:pPr>
            <a:r>
              <a:rPr lang="es">
                <a:solidFill>
                  <a:schemeClr val="dk1"/>
                </a:solidFill>
                <a:highlight>
                  <a:srgbClr val="C27BA0"/>
                </a:highlight>
                <a:latin typeface="Consolas"/>
                <a:ea typeface="Consolas"/>
                <a:cs typeface="Consolas"/>
                <a:sym typeface="Consolas"/>
              </a:rPr>
              <a:t> return False</a:t>
            </a:r>
            <a:endParaRPr>
              <a:solidFill>
                <a:schemeClr val="dk1"/>
              </a:solidFill>
              <a:highlight>
                <a:srgbClr val="C27BA0"/>
              </a:highlight>
              <a:latin typeface="Consolas"/>
              <a:ea typeface="Consolas"/>
              <a:cs typeface="Consolas"/>
              <a:sym typeface="Consolas"/>
            </a:endParaRPr>
          </a:p>
        </p:txBody>
      </p:sp>
      <p:sp>
        <p:nvSpPr>
          <p:cNvPr id="155" name="Google Shape;155;p31"/>
          <p:cNvSpPr/>
          <p:nvPr/>
        </p:nvSpPr>
        <p:spPr>
          <a:xfrm>
            <a:off x="4396175" y="380637"/>
            <a:ext cx="4351104" cy="2637684"/>
          </a:xfrm>
          <a:prstGeom prst="cloud">
            <a:avLst/>
          </a:prstGeom>
          <a:solidFill>
            <a:srgbClr val="C27BA0"/>
          </a:solidFill>
          <a:ln cap="flat" cmpd="sng" w="9525">
            <a:solidFill>
              <a:schemeClr val="dk1"/>
            </a:solidFill>
            <a:prstDash val="solid"/>
            <a:round/>
            <a:headEnd len="sm" w="sm" type="none"/>
            <a:tailEnd len="sm" w="sm" type="none"/>
          </a:ln>
        </p:spPr>
        <p:txBody>
          <a:bodyPr anchorCtr="0" anchor="ctr" bIns="0" lIns="91425" spcFirstLastPara="1" rIns="91425" wrap="square" tIns="270000">
            <a:noAutofit/>
          </a:bodyPr>
          <a:lstStyle/>
          <a:p>
            <a:pPr indent="0" lvl="0" marL="0" rtl="0" algn="ctr">
              <a:spcBef>
                <a:spcPts val="0"/>
              </a:spcBef>
              <a:spcAft>
                <a:spcPts val="0"/>
              </a:spcAft>
              <a:buClr>
                <a:schemeClr val="dk1"/>
              </a:buClr>
              <a:buSzPts val="1100"/>
              <a:buFont typeface="Arial"/>
              <a:buNone/>
            </a:pPr>
            <a:r>
              <a:rPr lang="es" sz="1800">
                <a:solidFill>
                  <a:schemeClr val="dk1"/>
                </a:solidFill>
                <a:latin typeface="Proxima Nova"/>
                <a:ea typeface="Proxima Nova"/>
                <a:cs typeface="Proxima Nova"/>
                <a:sym typeface="Proxima Nova"/>
              </a:rPr>
              <a:t>D</a:t>
            </a:r>
            <a:r>
              <a:rPr lang="es" sz="1800">
                <a:solidFill>
                  <a:schemeClr val="dk1"/>
                </a:solidFill>
                <a:latin typeface="Proxima Nova"/>
                <a:ea typeface="Proxima Nova"/>
                <a:cs typeface="Proxima Nova"/>
                <a:sym typeface="Proxima Nova"/>
              </a:rPr>
              <a:t>evolvemos True o False porque basta con encontrar una solución que dé True. Piensenlo 2 veces si es un problema de optimización 😆</a:t>
            </a:r>
            <a:endParaRPr sz="1100">
              <a:solidFill>
                <a:schemeClr val="dk1"/>
              </a:solidFill>
            </a:endParaRPr>
          </a:p>
          <a:p>
            <a:pPr indent="0" lvl="0" marL="0" rtl="0" algn="ctr">
              <a:spcBef>
                <a:spcPts val="0"/>
              </a:spcBef>
              <a:spcAft>
                <a:spcPts val="0"/>
              </a:spcAft>
              <a:buNone/>
            </a:pPr>
            <a:r>
              <a:t/>
            </a:r>
            <a:endParaRPr>
              <a:latin typeface="Old Standard TT"/>
              <a:ea typeface="Old Standard TT"/>
              <a:cs typeface="Old Standard TT"/>
              <a:sym typeface="Old Standard T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Solución</a:t>
            </a:r>
            <a:endParaRPr/>
          </a:p>
        </p:txBody>
      </p:sp>
      <p:pic>
        <p:nvPicPr>
          <p:cNvPr id="161" name="Google Shape;161;p32"/>
          <p:cNvPicPr preferRelativeResize="0"/>
          <p:nvPr/>
        </p:nvPicPr>
        <p:blipFill>
          <a:blip r:embed="rId3">
            <a:alphaModFix/>
          </a:blip>
          <a:stretch>
            <a:fillRect/>
          </a:stretch>
        </p:blipFill>
        <p:spPr>
          <a:xfrm>
            <a:off x="152400" y="1210625"/>
            <a:ext cx="5505372" cy="3780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Solución</a:t>
            </a:r>
            <a:endParaRPr/>
          </a:p>
        </p:txBody>
      </p:sp>
      <p:pic>
        <p:nvPicPr>
          <p:cNvPr id="167" name="Google Shape;167;p33"/>
          <p:cNvPicPr preferRelativeResize="0"/>
          <p:nvPr/>
        </p:nvPicPr>
        <p:blipFill>
          <a:blip r:embed="rId3">
            <a:alphaModFix/>
          </a:blip>
          <a:stretch>
            <a:fillRect/>
          </a:stretch>
        </p:blipFill>
        <p:spPr>
          <a:xfrm>
            <a:off x="152400" y="1210625"/>
            <a:ext cx="5441729" cy="3780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Demo</a:t>
            </a:r>
            <a:endParaRPr/>
          </a:p>
        </p:txBody>
      </p:sp>
      <p:sp>
        <p:nvSpPr>
          <p:cNvPr id="173" name="Google Shape;173;p3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 </a:t>
            </a:r>
            <a:r>
              <a:rPr lang="es"/>
              <a:t>quisiéramos</a:t>
            </a:r>
            <a:r>
              <a:rPr lang="es"/>
              <a:t> </a:t>
            </a:r>
            <a:r>
              <a:rPr lang="es"/>
              <a:t>modelarlo</a:t>
            </a:r>
            <a:r>
              <a:rPr lang="es"/>
              <a:t> con un grafo…</a:t>
            </a:r>
            <a:endParaRPr/>
          </a:p>
        </p:txBody>
      </p:sp>
      <p:sp>
        <p:nvSpPr>
          <p:cNvPr id="179" name="Google Shape;179;p35"/>
          <p:cNvSpPr txBox="1"/>
          <p:nvPr>
            <p:ph idx="1" type="body"/>
          </p:nvPr>
        </p:nvSpPr>
        <p:spPr>
          <a:xfrm>
            <a:off x="311700" y="1171600"/>
            <a:ext cx="5145000" cy="314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000"/>
              <a:t>Antes de lanzarnos a pensar en qué representarían la aristas y los vértices pensemos… </a:t>
            </a:r>
            <a:endParaRPr sz="2000"/>
          </a:p>
          <a:p>
            <a:pPr indent="0" lvl="0" marL="0" rtl="0" algn="l">
              <a:spcBef>
                <a:spcPts val="1600"/>
              </a:spcBef>
              <a:spcAft>
                <a:spcPts val="0"/>
              </a:spcAft>
              <a:buNone/>
            </a:pPr>
            <a:r>
              <a:rPr lang="es" sz="2000"/>
              <a:t> Si tuviésemos nuestro grafo ¿nos serviría de algo?</a:t>
            </a:r>
            <a:endParaRPr sz="2000"/>
          </a:p>
          <a:p>
            <a:pPr indent="0" lvl="0" marL="0" rtl="0" algn="l">
              <a:spcBef>
                <a:spcPts val="1600"/>
              </a:spcBef>
              <a:spcAft>
                <a:spcPts val="1600"/>
              </a:spcAft>
              <a:buNone/>
            </a:pPr>
            <a:r>
              <a:rPr lang="es" sz="2000"/>
              <a:t>¿Qué </a:t>
            </a:r>
            <a:r>
              <a:rPr lang="es" sz="2000"/>
              <a:t>podríamos</a:t>
            </a:r>
            <a:r>
              <a:rPr lang="es" sz="2000"/>
              <a:t> buscar  obtener de nuestro grafo que sea semejante a lo que queríamos obtener de las casillas de nuestro tablero?</a:t>
            </a:r>
            <a:endParaRPr sz="2000"/>
          </a:p>
        </p:txBody>
      </p:sp>
      <p:pic>
        <p:nvPicPr>
          <p:cNvPr id="180" name="Google Shape;180;p35"/>
          <p:cNvPicPr preferRelativeResize="0"/>
          <p:nvPr/>
        </p:nvPicPr>
        <p:blipFill>
          <a:blip r:embed="rId3">
            <a:alphaModFix/>
          </a:blip>
          <a:stretch>
            <a:fillRect/>
          </a:stretch>
        </p:blipFill>
        <p:spPr>
          <a:xfrm>
            <a:off x="5589650" y="1392850"/>
            <a:ext cx="3095775" cy="2705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Hasta ahora, en los problemas de grafos vistos…</a:t>
            </a:r>
            <a:endParaRPr/>
          </a:p>
        </p:txBody>
      </p:sp>
      <p:pic>
        <p:nvPicPr>
          <p:cNvPr id="186" name="Google Shape;186;p36"/>
          <p:cNvPicPr preferRelativeResize="0"/>
          <p:nvPr/>
        </p:nvPicPr>
        <p:blipFill>
          <a:blip r:embed="rId3">
            <a:alphaModFix/>
          </a:blip>
          <a:stretch>
            <a:fillRect/>
          </a:stretch>
        </p:blipFill>
        <p:spPr>
          <a:xfrm>
            <a:off x="424050" y="1244100"/>
            <a:ext cx="3817551" cy="1947900"/>
          </a:xfrm>
          <a:prstGeom prst="rect">
            <a:avLst/>
          </a:prstGeom>
          <a:noFill/>
          <a:ln cap="flat" cmpd="sng" w="28575">
            <a:solidFill>
              <a:srgbClr val="C27BA0"/>
            </a:solidFill>
            <a:prstDash val="solid"/>
            <a:round/>
            <a:headEnd len="sm" w="sm" type="none"/>
            <a:tailEnd len="sm" w="sm" type="none"/>
          </a:ln>
        </p:spPr>
      </p:pic>
      <p:sp>
        <p:nvSpPr>
          <p:cNvPr id="187" name="Google Shape;187;p36"/>
          <p:cNvSpPr/>
          <p:nvPr/>
        </p:nvSpPr>
        <p:spPr>
          <a:xfrm>
            <a:off x="424050" y="3501700"/>
            <a:ext cx="3817500" cy="1181400"/>
          </a:xfrm>
          <a:prstGeom prst="roundRect">
            <a:avLst>
              <a:gd fmla="val 16667" name="adj"/>
            </a:avLst>
          </a:prstGeom>
          <a:noFill/>
          <a:ln cap="flat" cmpd="sng" w="952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lang="es" sz="1800">
                <a:solidFill>
                  <a:schemeClr val="dk1"/>
                </a:solidFill>
                <a:latin typeface="Proxima Nova"/>
                <a:ea typeface="Proxima Nova"/>
                <a:cs typeface="Proxima Nova"/>
                <a:sym typeface="Proxima Nova"/>
              </a:rPr>
              <a:t>Independent set: Buscamos un </a:t>
            </a:r>
            <a:r>
              <a:rPr b="1" lang="es" sz="1800">
                <a:solidFill>
                  <a:schemeClr val="dk1"/>
                </a:solidFill>
                <a:latin typeface="Proxima Nova"/>
                <a:ea typeface="Proxima Nova"/>
                <a:cs typeface="Proxima Nova"/>
                <a:sym typeface="Proxima Nova"/>
              </a:rPr>
              <a:t>subconjunto de los vértices siguiendo una restricción </a:t>
            </a:r>
            <a:r>
              <a:rPr lang="es" sz="1800">
                <a:solidFill>
                  <a:schemeClr val="dk1"/>
                </a:solidFill>
                <a:latin typeface="Proxima Nova"/>
                <a:ea typeface="Proxima Nova"/>
                <a:cs typeface="Proxima Nova"/>
                <a:sym typeface="Proxima Nova"/>
              </a:rPr>
              <a:t>(que no sean adyacentes)</a:t>
            </a:r>
            <a:endParaRPr sz="1700">
              <a:latin typeface="Old Standard TT"/>
              <a:ea typeface="Old Standard TT"/>
              <a:cs typeface="Old Standard TT"/>
              <a:sym typeface="Old Standard TT"/>
            </a:endParaRPr>
          </a:p>
        </p:txBody>
      </p:sp>
      <p:sp>
        <p:nvSpPr>
          <p:cNvPr id="188" name="Google Shape;188;p36"/>
          <p:cNvSpPr txBox="1"/>
          <p:nvPr/>
        </p:nvSpPr>
        <p:spPr>
          <a:xfrm>
            <a:off x="4775050" y="1778500"/>
            <a:ext cx="3941400" cy="2206200"/>
          </a:xfrm>
          <a:prstGeom prst="rect">
            <a:avLst/>
          </a:prstGeom>
          <a:solidFill>
            <a:srgbClr val="EAD1DC"/>
          </a:solid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 sz="2000">
                <a:solidFill>
                  <a:schemeClr val="dk1"/>
                </a:solidFill>
                <a:latin typeface="Proxima Nova"/>
                <a:ea typeface="Proxima Nova"/>
                <a:cs typeface="Proxima Nova"/>
                <a:sym typeface="Proxima Nova"/>
              </a:rPr>
              <a:t>Queremos asignar un número a todas las casillas </a:t>
            </a:r>
            <a:r>
              <a:rPr lang="es" sz="2000">
                <a:solidFill>
                  <a:schemeClr val="dk1"/>
                </a:solidFill>
                <a:latin typeface="Proxima Nova"/>
                <a:ea typeface="Proxima Nova"/>
                <a:cs typeface="Proxima Nova"/>
                <a:sym typeface="Proxima Nova"/>
              </a:rPr>
              <a:t>vacías</a:t>
            </a:r>
            <a:r>
              <a:rPr lang="es" sz="2000">
                <a:solidFill>
                  <a:schemeClr val="dk1"/>
                </a:solidFill>
                <a:latin typeface="Proxima Nova"/>
                <a:ea typeface="Proxima Nova"/>
                <a:cs typeface="Proxima Nova"/>
                <a:sym typeface="Proxima Nova"/>
              </a:rPr>
              <a:t> de forma que que no haya un número repetido en la misma fila, ni en la misma columna, ni en el mismo grupo. </a:t>
            </a:r>
            <a:endParaRPr sz="2000">
              <a:solidFill>
                <a:schemeClr val="dk1"/>
              </a:solidFill>
              <a:latin typeface="Old Standard TT"/>
              <a:ea typeface="Old Standard TT"/>
              <a:cs typeface="Old Standard TT"/>
              <a:sym typeface="Old Standard TT"/>
            </a:endParaRPr>
          </a:p>
          <a:p>
            <a:pPr indent="0" lvl="0" marL="0" rtl="0" algn="l">
              <a:spcBef>
                <a:spcPts val="0"/>
              </a:spcBef>
              <a:spcAft>
                <a:spcPts val="0"/>
              </a:spcAft>
              <a:buClr>
                <a:schemeClr val="dk1"/>
              </a:buClr>
              <a:buSzPts val="1100"/>
              <a:buFont typeface="Arial"/>
              <a:buNone/>
            </a:pPr>
            <a:r>
              <a:t/>
            </a:r>
            <a:endParaRPr sz="18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Hasta ahora, en los problemas de grafos vistos…</a:t>
            </a:r>
            <a:endParaRPr/>
          </a:p>
        </p:txBody>
      </p:sp>
      <p:pic>
        <p:nvPicPr>
          <p:cNvPr id="194" name="Google Shape;194;p37"/>
          <p:cNvPicPr preferRelativeResize="0"/>
          <p:nvPr/>
        </p:nvPicPr>
        <p:blipFill>
          <a:blip r:embed="rId3">
            <a:alphaModFix/>
          </a:blip>
          <a:stretch>
            <a:fillRect/>
          </a:stretch>
        </p:blipFill>
        <p:spPr>
          <a:xfrm>
            <a:off x="657338" y="1355650"/>
            <a:ext cx="3727724" cy="1947900"/>
          </a:xfrm>
          <a:prstGeom prst="rect">
            <a:avLst/>
          </a:prstGeom>
          <a:noFill/>
          <a:ln cap="flat" cmpd="sng" w="28575">
            <a:solidFill>
              <a:srgbClr val="D5A6BD"/>
            </a:solidFill>
            <a:prstDash val="solid"/>
            <a:round/>
            <a:headEnd len="sm" w="sm" type="none"/>
            <a:tailEnd len="sm" w="sm" type="none"/>
          </a:ln>
        </p:spPr>
      </p:pic>
      <p:sp>
        <p:nvSpPr>
          <p:cNvPr id="195" name="Google Shape;195;p37"/>
          <p:cNvSpPr/>
          <p:nvPr/>
        </p:nvSpPr>
        <p:spPr>
          <a:xfrm>
            <a:off x="424650" y="3600975"/>
            <a:ext cx="4193100" cy="1181400"/>
          </a:xfrm>
          <a:prstGeom prst="roundRect">
            <a:avLst>
              <a:gd fmla="val 16667" name="adj"/>
            </a:avLst>
          </a:prstGeom>
          <a:noFill/>
          <a:ln cap="flat" cmpd="sng" w="9525">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 sz="1800">
                <a:solidFill>
                  <a:schemeClr val="dk1"/>
                </a:solidFill>
                <a:latin typeface="Proxima Nova"/>
                <a:ea typeface="Proxima Nova"/>
                <a:cs typeface="Proxima Nova"/>
                <a:sym typeface="Proxima Nova"/>
              </a:rPr>
              <a:t>Camino Hamiltoniano: buscamos un </a:t>
            </a:r>
            <a:r>
              <a:rPr b="1" lang="es" sz="1800">
                <a:solidFill>
                  <a:schemeClr val="dk1"/>
                </a:solidFill>
                <a:latin typeface="Proxima Nova"/>
                <a:ea typeface="Proxima Nova"/>
                <a:cs typeface="Proxima Nova"/>
                <a:sym typeface="Proxima Nova"/>
              </a:rPr>
              <a:t>orden para recorrer todos los vértices siguiendo una restricción</a:t>
            </a:r>
            <a:r>
              <a:rPr lang="es" sz="1800">
                <a:solidFill>
                  <a:schemeClr val="dk1"/>
                </a:solidFill>
                <a:latin typeface="Proxima Nova"/>
                <a:ea typeface="Proxima Nova"/>
                <a:cs typeface="Proxima Nova"/>
                <a:sym typeface="Proxima Nova"/>
              </a:rPr>
              <a:t> (que se vean todos los vértices una vez)</a:t>
            </a:r>
            <a:endParaRPr sz="1700">
              <a:latin typeface="Old Standard TT"/>
              <a:ea typeface="Old Standard TT"/>
              <a:cs typeface="Old Standard TT"/>
              <a:sym typeface="Old Standard TT"/>
            </a:endParaRPr>
          </a:p>
        </p:txBody>
      </p:sp>
      <p:sp>
        <p:nvSpPr>
          <p:cNvPr id="196" name="Google Shape;196;p37"/>
          <p:cNvSpPr txBox="1"/>
          <p:nvPr/>
        </p:nvSpPr>
        <p:spPr>
          <a:xfrm>
            <a:off x="4775050" y="1778500"/>
            <a:ext cx="3941400" cy="2206200"/>
          </a:xfrm>
          <a:prstGeom prst="rect">
            <a:avLst/>
          </a:prstGeom>
          <a:solidFill>
            <a:srgbClr val="EAD1DC"/>
          </a:solid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2000">
                <a:solidFill>
                  <a:schemeClr val="dk1"/>
                </a:solidFill>
                <a:latin typeface="Proxima Nova"/>
                <a:ea typeface="Proxima Nova"/>
                <a:cs typeface="Proxima Nova"/>
                <a:sym typeface="Proxima Nova"/>
              </a:rPr>
              <a:t>Queremos asignar un número a todas las casillas vacías de forma que que no haya un número repetido en la misma fila, ni en la misma columna, ni en el mismo grupo. </a:t>
            </a:r>
            <a:endParaRPr sz="20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Hasta ahora, en los problemas de grafos vistos…</a:t>
            </a:r>
            <a:endParaRPr/>
          </a:p>
        </p:txBody>
      </p:sp>
      <p:pic>
        <p:nvPicPr>
          <p:cNvPr id="202" name="Google Shape;202;p38"/>
          <p:cNvPicPr preferRelativeResize="0"/>
          <p:nvPr/>
        </p:nvPicPr>
        <p:blipFill>
          <a:blip r:embed="rId3">
            <a:alphaModFix/>
          </a:blip>
          <a:stretch>
            <a:fillRect/>
          </a:stretch>
        </p:blipFill>
        <p:spPr>
          <a:xfrm>
            <a:off x="534763" y="1160925"/>
            <a:ext cx="3658513" cy="2006300"/>
          </a:xfrm>
          <a:prstGeom prst="rect">
            <a:avLst/>
          </a:prstGeom>
          <a:noFill/>
          <a:ln cap="flat" cmpd="sng" w="28575">
            <a:solidFill>
              <a:srgbClr val="D5A6BD"/>
            </a:solidFill>
            <a:prstDash val="solid"/>
            <a:round/>
            <a:headEnd len="sm" w="sm" type="none"/>
            <a:tailEnd len="sm" w="sm" type="none"/>
          </a:ln>
        </p:spPr>
      </p:pic>
      <p:sp>
        <p:nvSpPr>
          <p:cNvPr id="203" name="Google Shape;203;p38"/>
          <p:cNvSpPr/>
          <p:nvPr/>
        </p:nvSpPr>
        <p:spPr>
          <a:xfrm>
            <a:off x="398875" y="3368125"/>
            <a:ext cx="3930300" cy="1557300"/>
          </a:xfrm>
          <a:prstGeom prst="roundRect">
            <a:avLst>
              <a:gd fmla="val 16667" name="adj"/>
            </a:avLst>
          </a:prstGeom>
          <a:noFill/>
          <a:ln cap="flat" cmpd="sng" w="9525">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lang="es" sz="1800">
                <a:solidFill>
                  <a:schemeClr val="dk1"/>
                </a:solidFill>
                <a:latin typeface="Proxima Nova"/>
                <a:ea typeface="Proxima Nova"/>
                <a:cs typeface="Proxima Nova"/>
                <a:sym typeface="Proxima Nova"/>
              </a:rPr>
              <a:t>K-Coloreo: Buscamos </a:t>
            </a:r>
            <a:r>
              <a:rPr b="1" lang="es" sz="1800">
                <a:solidFill>
                  <a:schemeClr val="dk1"/>
                </a:solidFill>
                <a:latin typeface="Proxima Nova"/>
                <a:ea typeface="Proxima Nova"/>
                <a:cs typeface="Proxima Nova"/>
                <a:sym typeface="Proxima Nova"/>
              </a:rPr>
              <a:t>asignar un color a todos los vértices</a:t>
            </a:r>
            <a:r>
              <a:rPr lang="es" sz="1800">
                <a:solidFill>
                  <a:schemeClr val="dk1"/>
                </a:solidFill>
                <a:latin typeface="Proxima Nova"/>
                <a:ea typeface="Proxima Nova"/>
                <a:cs typeface="Proxima Nova"/>
                <a:sym typeface="Proxima Nova"/>
              </a:rPr>
              <a:t> siguiendo una restricción (los vértices adyacentes no pueden tener el mismo color)</a:t>
            </a:r>
            <a:endParaRPr b="1" sz="1700">
              <a:latin typeface="Old Standard TT"/>
              <a:ea typeface="Old Standard TT"/>
              <a:cs typeface="Old Standard TT"/>
              <a:sym typeface="Old Standard TT"/>
            </a:endParaRPr>
          </a:p>
        </p:txBody>
      </p:sp>
      <p:sp>
        <p:nvSpPr>
          <p:cNvPr id="204" name="Google Shape;204;p38"/>
          <p:cNvSpPr txBox="1"/>
          <p:nvPr/>
        </p:nvSpPr>
        <p:spPr>
          <a:xfrm>
            <a:off x="4638725" y="1160925"/>
            <a:ext cx="3941400" cy="2206200"/>
          </a:xfrm>
          <a:prstGeom prst="rect">
            <a:avLst/>
          </a:prstGeom>
          <a:solidFill>
            <a:srgbClr val="EAD1DC"/>
          </a:solid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2000">
                <a:solidFill>
                  <a:schemeClr val="dk1"/>
                </a:solidFill>
                <a:latin typeface="Proxima Nova"/>
                <a:ea typeface="Proxima Nova"/>
                <a:cs typeface="Proxima Nova"/>
                <a:sym typeface="Proxima Nova"/>
              </a:rPr>
              <a:t>Queremos asignar un número a todas las casillas vacías de forma que que no haya un número repetido en la misma fila, ni en la misma columna, ni en el mismo grupo. </a:t>
            </a:r>
            <a:endParaRPr sz="20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p:txBody>
      </p:sp>
      <p:sp>
        <p:nvSpPr>
          <p:cNvPr id="205" name="Google Shape;205;p38"/>
          <p:cNvSpPr txBox="1"/>
          <p:nvPr/>
        </p:nvSpPr>
        <p:spPr>
          <a:xfrm>
            <a:off x="4644275" y="3721975"/>
            <a:ext cx="3930300" cy="849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1800">
                <a:solidFill>
                  <a:schemeClr val="dk1"/>
                </a:solidFill>
                <a:latin typeface="Proxima Nova"/>
                <a:ea typeface="Proxima Nova"/>
                <a:cs typeface="Proxima Nova"/>
                <a:sym typeface="Proxima Nova"/>
              </a:rPr>
              <a:t>¿Podemos ver los números como si fuesen colores? Ya tendríamos algunos vértices con colores fijos</a:t>
            </a:r>
            <a:endParaRPr sz="1800">
              <a:solidFill>
                <a:schemeClr val="dk1"/>
              </a:solidFill>
              <a:latin typeface="Old Standard TT"/>
              <a:ea typeface="Old Standard TT"/>
              <a:cs typeface="Old Standard TT"/>
              <a:sym typeface="Old Standard T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Respecto al grafo…</a:t>
            </a:r>
            <a:endParaRPr/>
          </a:p>
        </p:txBody>
      </p:sp>
      <p:sp>
        <p:nvSpPr>
          <p:cNvPr id="211" name="Google Shape;211;p39"/>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2000"/>
              <a:t>Sabiendo qué criterio sigue k-coloreo para restringir la asignación de un mismo color entre vértices…</a:t>
            </a:r>
            <a:endParaRPr sz="2000"/>
          </a:p>
          <a:p>
            <a:pPr indent="0" lvl="0" marL="0" rtl="0" algn="l">
              <a:spcBef>
                <a:spcPts val="1600"/>
              </a:spcBef>
              <a:spcAft>
                <a:spcPts val="0"/>
              </a:spcAft>
              <a:buClr>
                <a:schemeClr val="dk1"/>
              </a:buClr>
              <a:buSzPts val="1100"/>
              <a:buFont typeface="Arial"/>
              <a:buNone/>
            </a:pPr>
            <a:r>
              <a:rPr lang="es" sz="2000"/>
              <a:t>¿Cuáles serían los vértices?</a:t>
            </a:r>
            <a:endParaRPr sz="2000"/>
          </a:p>
          <a:p>
            <a:pPr indent="0" lvl="0" marL="0" rtl="0" algn="l">
              <a:spcBef>
                <a:spcPts val="1600"/>
              </a:spcBef>
              <a:spcAft>
                <a:spcPts val="0"/>
              </a:spcAft>
              <a:buClr>
                <a:schemeClr val="dk1"/>
              </a:buClr>
              <a:buSzPts val="1100"/>
              <a:buFont typeface="Arial"/>
              <a:buNone/>
            </a:pPr>
            <a:r>
              <a:rPr lang="es" sz="2000"/>
              <a:t>¿Cuáles serían las aristas?</a:t>
            </a:r>
            <a:endParaRPr sz="2000"/>
          </a:p>
          <a:p>
            <a:pPr indent="0" lvl="0" marL="0" rtl="0" algn="l">
              <a:spcBef>
                <a:spcPts val="1600"/>
              </a:spcBef>
              <a:spcAft>
                <a:spcPts val="1600"/>
              </a:spcAft>
              <a:buNone/>
            </a:pPr>
            <a:r>
              <a:t/>
            </a:r>
            <a:endParaRPr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Dibujo</a:t>
            </a:r>
            <a:endParaRPr/>
          </a:p>
        </p:txBody>
      </p:sp>
      <p:pic>
        <p:nvPicPr>
          <p:cNvPr id="217" name="Google Shape;217;p40"/>
          <p:cNvPicPr preferRelativeResize="0"/>
          <p:nvPr/>
        </p:nvPicPr>
        <p:blipFill>
          <a:blip r:embed="rId3">
            <a:alphaModFix/>
          </a:blip>
          <a:stretch>
            <a:fillRect/>
          </a:stretch>
        </p:blipFill>
        <p:spPr>
          <a:xfrm>
            <a:off x="177625" y="1058225"/>
            <a:ext cx="7377173" cy="3982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1"/>
          <p:cNvSpPr txBox="1"/>
          <p:nvPr>
            <p:ph type="title"/>
          </p:nvPr>
        </p:nvSpPr>
        <p:spPr>
          <a:xfrm>
            <a:off x="781050" y="431200"/>
            <a:ext cx="75843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Recapitulando: Trechos para llegar a nuestro algoritmo</a:t>
            </a:r>
            <a:endParaRPr/>
          </a:p>
        </p:txBody>
      </p:sp>
      <p:sp>
        <p:nvSpPr>
          <p:cNvPr id="223" name="Google Shape;223;p41"/>
          <p:cNvSpPr txBox="1"/>
          <p:nvPr>
            <p:ph idx="1" type="body"/>
          </p:nvPr>
        </p:nvSpPr>
        <p:spPr>
          <a:xfrm>
            <a:off x="717750" y="1779000"/>
            <a:ext cx="7708500" cy="1865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s"/>
              <a:t>Determinamos </a:t>
            </a:r>
            <a:r>
              <a:rPr b="1" lang="es"/>
              <a:t>cómo </a:t>
            </a:r>
            <a:r>
              <a:rPr lang="es"/>
              <a:t>queremos </a:t>
            </a:r>
            <a:r>
              <a:rPr b="1" lang="es"/>
              <a:t>explorar </a:t>
            </a:r>
            <a:r>
              <a:rPr lang="es"/>
              <a:t>el espacio de </a:t>
            </a:r>
            <a:r>
              <a:rPr b="1" lang="es"/>
              <a:t>soluciones</a:t>
            </a:r>
            <a:r>
              <a:rPr lang="es"/>
              <a:t>. ¿Cómo </a:t>
            </a:r>
            <a:r>
              <a:rPr lang="es"/>
              <a:t>construimos</a:t>
            </a:r>
            <a:r>
              <a:rPr lang="es"/>
              <a:t> las soluciones?</a:t>
            </a:r>
            <a:endParaRPr/>
          </a:p>
          <a:p>
            <a:pPr indent="-342900" lvl="0" marL="457200" rtl="0" algn="l">
              <a:spcBef>
                <a:spcPts val="0"/>
              </a:spcBef>
              <a:spcAft>
                <a:spcPts val="0"/>
              </a:spcAft>
              <a:buSzPts val="1800"/>
              <a:buAutoNum type="arabicPeriod"/>
            </a:pPr>
            <a:r>
              <a:rPr lang="es"/>
              <a:t>Con la base del trecho anterior hecha podemos ir pensando </a:t>
            </a:r>
            <a:r>
              <a:rPr b="1" lang="es"/>
              <a:t>qué podas agregar </a:t>
            </a:r>
            <a:r>
              <a:rPr lang="es"/>
              <a:t>para hacer la solución más rápida.  </a:t>
            </a:r>
            <a:endParaRPr/>
          </a:p>
        </p:txBody>
      </p:sp>
      <p:sp>
        <p:nvSpPr>
          <p:cNvPr id="224" name="Google Shape;224;p41"/>
          <p:cNvSpPr txBox="1"/>
          <p:nvPr/>
        </p:nvSpPr>
        <p:spPr>
          <a:xfrm>
            <a:off x="1300375" y="3509325"/>
            <a:ext cx="63888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s" sz="2400">
                <a:solidFill>
                  <a:srgbClr val="111111"/>
                </a:solidFill>
                <a:latin typeface="Proxima Nova"/>
                <a:ea typeface="Proxima Nova"/>
                <a:cs typeface="Proxima Nova"/>
                <a:sym typeface="Proxima Nova"/>
              </a:rPr>
              <a:t>"Premature optimization is the root of all evil"</a:t>
            </a:r>
            <a:endParaRPr i="1" sz="2400">
              <a:solidFill>
                <a:srgbClr val="111111"/>
              </a:solidFill>
              <a:latin typeface="Proxima Nova"/>
              <a:ea typeface="Proxima Nova"/>
              <a:cs typeface="Proxima Nova"/>
              <a:sym typeface="Proxima Nova"/>
            </a:endParaRPr>
          </a:p>
          <a:p>
            <a:pPr indent="-361950" lvl="0" marL="457200" rtl="0" algn="r">
              <a:spcBef>
                <a:spcPts val="0"/>
              </a:spcBef>
              <a:spcAft>
                <a:spcPts val="0"/>
              </a:spcAft>
              <a:buClr>
                <a:srgbClr val="111111"/>
              </a:buClr>
              <a:buSzPts val="2100"/>
              <a:buFont typeface="Proxima Nova"/>
              <a:buChar char="-"/>
            </a:pPr>
            <a:r>
              <a:rPr i="1" lang="es" sz="2100">
                <a:solidFill>
                  <a:srgbClr val="111111"/>
                </a:solidFill>
                <a:latin typeface="Proxima Nova"/>
                <a:ea typeface="Proxima Nova"/>
                <a:cs typeface="Proxima Nova"/>
                <a:sym typeface="Proxima Nova"/>
              </a:rPr>
              <a:t>Donald Knuth</a:t>
            </a:r>
            <a:endParaRPr i="1" sz="2100">
              <a:solidFill>
                <a:srgbClr val="111111"/>
              </a:solidFill>
              <a:latin typeface="Proxima Nova"/>
              <a:ea typeface="Proxima Nova"/>
              <a:cs typeface="Proxima Nova"/>
              <a:sym typeface="Proxima Nov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2"/>
          <p:cNvSpPr txBox="1"/>
          <p:nvPr>
            <p:ph type="title"/>
          </p:nvPr>
        </p:nvSpPr>
        <p:spPr>
          <a:xfrm>
            <a:off x="781050" y="431200"/>
            <a:ext cx="75843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Recapitulando: Trechos para llegar a nuestro algoritmo</a:t>
            </a:r>
            <a:endParaRPr/>
          </a:p>
        </p:txBody>
      </p:sp>
      <p:sp>
        <p:nvSpPr>
          <p:cNvPr id="230" name="Google Shape;230;p42"/>
          <p:cNvSpPr txBox="1"/>
          <p:nvPr>
            <p:ph idx="1" type="body"/>
          </p:nvPr>
        </p:nvSpPr>
        <p:spPr>
          <a:xfrm>
            <a:off x="717750" y="1779000"/>
            <a:ext cx="7708500" cy="1865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s"/>
              <a:t>Determinamos </a:t>
            </a:r>
            <a:r>
              <a:rPr b="1" lang="es"/>
              <a:t>cómo </a:t>
            </a:r>
            <a:r>
              <a:rPr lang="es"/>
              <a:t>queremos </a:t>
            </a:r>
            <a:r>
              <a:rPr b="1" lang="es"/>
              <a:t>explorar </a:t>
            </a:r>
            <a:r>
              <a:rPr lang="es"/>
              <a:t>el espacio de </a:t>
            </a:r>
            <a:r>
              <a:rPr b="1" lang="es"/>
              <a:t>soluciones</a:t>
            </a:r>
            <a:r>
              <a:rPr lang="es"/>
              <a:t>. ¿Cómo construimos las soluciones?</a:t>
            </a:r>
            <a:endParaRPr/>
          </a:p>
          <a:p>
            <a:pPr indent="-342900" lvl="0" marL="457200" rtl="0" algn="l">
              <a:spcBef>
                <a:spcPts val="0"/>
              </a:spcBef>
              <a:spcAft>
                <a:spcPts val="0"/>
              </a:spcAft>
              <a:buSzPts val="1800"/>
              <a:buAutoNum type="arabicPeriod"/>
            </a:pPr>
            <a:r>
              <a:rPr lang="es"/>
              <a:t>Con la base del trecho anterior hecha podemos ir pensando </a:t>
            </a:r>
            <a:r>
              <a:rPr b="1" lang="es"/>
              <a:t>qué podas agregar </a:t>
            </a:r>
            <a:r>
              <a:rPr lang="es"/>
              <a:t>para hacer la solución más rápida.  </a:t>
            </a:r>
            <a:endParaRPr/>
          </a:p>
        </p:txBody>
      </p:sp>
      <p:sp>
        <p:nvSpPr>
          <p:cNvPr id="231" name="Google Shape;231;p42"/>
          <p:cNvSpPr txBox="1"/>
          <p:nvPr/>
        </p:nvSpPr>
        <p:spPr>
          <a:xfrm>
            <a:off x="2360525" y="3523125"/>
            <a:ext cx="49005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s" sz="2400">
                <a:solidFill>
                  <a:srgbClr val="111111"/>
                </a:solidFill>
                <a:highlight>
                  <a:srgbClr val="FFFFFF"/>
                </a:highlight>
                <a:latin typeface="Proxima Nova"/>
                <a:ea typeface="Proxima Nova"/>
                <a:cs typeface="Proxima Nova"/>
                <a:sym typeface="Proxima Nova"/>
              </a:rPr>
              <a:t>Primero lo primero</a:t>
            </a:r>
            <a:endParaRPr i="1" sz="2400">
              <a:solidFill>
                <a:srgbClr val="111111"/>
              </a:solidFill>
              <a:highlight>
                <a:srgbClr val="FFFFFF"/>
              </a:highlight>
              <a:latin typeface="Proxima Nova"/>
              <a:ea typeface="Proxima Nova"/>
              <a:cs typeface="Proxima Nova"/>
              <a:sym typeface="Proxima Nova"/>
            </a:endParaRPr>
          </a:p>
          <a:p>
            <a:pPr indent="-361950" lvl="0" marL="457200" rtl="0" algn="r">
              <a:spcBef>
                <a:spcPts val="0"/>
              </a:spcBef>
              <a:spcAft>
                <a:spcPts val="0"/>
              </a:spcAft>
              <a:buClr>
                <a:srgbClr val="111111"/>
              </a:buClr>
              <a:buSzPts val="2100"/>
              <a:buFont typeface="Proxima Nova"/>
              <a:buChar char="-"/>
            </a:pPr>
            <a:r>
              <a:rPr i="1" lang="es" sz="2100">
                <a:solidFill>
                  <a:srgbClr val="111111"/>
                </a:solidFill>
                <a:highlight>
                  <a:srgbClr val="FFFFFF"/>
                </a:highlight>
                <a:latin typeface="Proxima Nova"/>
                <a:ea typeface="Proxima Nova"/>
                <a:cs typeface="Proxima Nova"/>
                <a:sym typeface="Proxima Nova"/>
              </a:rPr>
              <a:t>Sentido común</a:t>
            </a:r>
            <a:endParaRPr i="1" sz="2100">
              <a:solidFill>
                <a:srgbClr val="111111"/>
              </a:solidFill>
              <a:highlight>
                <a:srgbClr val="FFFFFF"/>
              </a:highlight>
              <a:latin typeface="Proxima Nova"/>
              <a:ea typeface="Proxima Nova"/>
              <a:cs typeface="Proxima Nova"/>
              <a:sym typeface="Proxima Nov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3"/>
          <p:cNvSpPr txBox="1"/>
          <p:nvPr>
            <p:ph type="title"/>
          </p:nvPr>
        </p:nvSpPr>
        <p:spPr>
          <a:xfrm>
            <a:off x="604500" y="307000"/>
            <a:ext cx="7692000" cy="1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Explorar el espacio de soluciones: </a:t>
            </a:r>
            <a:r>
              <a:rPr b="1" lang="es"/>
              <a:t>decisiones </a:t>
            </a:r>
            <a:r>
              <a:rPr lang="es"/>
              <a:t>y sus opciones</a:t>
            </a:r>
            <a:endParaRPr/>
          </a:p>
        </p:txBody>
      </p:sp>
      <p:sp>
        <p:nvSpPr>
          <p:cNvPr id="237" name="Google Shape;237;p43"/>
          <p:cNvSpPr txBox="1"/>
          <p:nvPr>
            <p:ph idx="1" type="body"/>
          </p:nvPr>
        </p:nvSpPr>
        <p:spPr>
          <a:xfrm>
            <a:off x="529950" y="1573700"/>
            <a:ext cx="7841100" cy="343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Decisiones: Qué decisione</a:t>
            </a:r>
            <a:r>
              <a:rPr b="1" lang="es"/>
              <a:t>s </a:t>
            </a:r>
            <a:r>
              <a:rPr lang="es"/>
              <a:t>juntas conformarían lo que pretendemos que sea nuestra solución:</a:t>
            </a:r>
            <a:endParaRPr/>
          </a:p>
          <a:p>
            <a:pPr indent="-336550" lvl="1" marL="914400" rtl="0" algn="l">
              <a:spcBef>
                <a:spcPts val="0"/>
              </a:spcBef>
              <a:spcAft>
                <a:spcPts val="0"/>
              </a:spcAft>
              <a:buSzPts val="1700"/>
              <a:buChar char="○"/>
            </a:pPr>
            <a:r>
              <a:rPr lang="es" sz="1700"/>
              <a:t>Ejemplo trivial: Ordenar un arreglo de n elementos, decisiones que conformarían la solución: Qué </a:t>
            </a:r>
            <a:r>
              <a:rPr b="1" lang="es" sz="1700"/>
              <a:t>posición </a:t>
            </a:r>
            <a:r>
              <a:rPr lang="es" sz="1700"/>
              <a:t>se le asigna a </a:t>
            </a:r>
            <a:r>
              <a:rPr b="1" lang="es" sz="1700"/>
              <a:t>cada </a:t>
            </a:r>
            <a:r>
              <a:rPr b="1" lang="es" sz="1700"/>
              <a:t>elemento</a:t>
            </a:r>
            <a:br>
              <a:rPr b="1" lang="es" sz="1700"/>
            </a:br>
            <a:endParaRPr b="1" sz="1700"/>
          </a:p>
          <a:p>
            <a:pPr indent="-336550" lvl="1" marL="914400" rtl="0" algn="l">
              <a:spcBef>
                <a:spcPts val="0"/>
              </a:spcBef>
              <a:spcAft>
                <a:spcPts val="0"/>
              </a:spcAft>
              <a:buSzPts val="1700"/>
              <a:buChar char="○"/>
            </a:pPr>
            <a:r>
              <a:rPr lang="es" sz="1700"/>
              <a:t>En K coloreo?  En Independent set?</a:t>
            </a:r>
            <a:br>
              <a:rPr lang="es" sz="1700"/>
            </a:br>
            <a:endParaRPr sz="1700"/>
          </a:p>
          <a:p>
            <a:pPr indent="-336550" lvl="1" marL="914400" rtl="0" algn="l">
              <a:spcBef>
                <a:spcPts val="0"/>
              </a:spcBef>
              <a:spcAft>
                <a:spcPts val="0"/>
              </a:spcAft>
              <a:buSzPts val="1700"/>
              <a:buChar char="○"/>
            </a:pPr>
            <a:r>
              <a:rPr lang="es" sz="1700"/>
              <a:t>Cada decisión tiene opciones a escoger (si solo hubiese un valor posible para esa decisión realmente no estamos decidiendo nada)</a:t>
            </a:r>
            <a:endParaRPr sz="17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4"/>
          <p:cNvSpPr txBox="1"/>
          <p:nvPr>
            <p:ph type="title"/>
          </p:nvPr>
        </p:nvSpPr>
        <p:spPr>
          <a:xfrm>
            <a:off x="604500" y="307000"/>
            <a:ext cx="7692000" cy="1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Explorar el espacio de soluciones: decisiones y sus </a:t>
            </a:r>
            <a:r>
              <a:rPr b="1" lang="es"/>
              <a:t>opciones</a:t>
            </a:r>
            <a:endParaRPr b="1"/>
          </a:p>
        </p:txBody>
      </p:sp>
      <p:sp>
        <p:nvSpPr>
          <p:cNvPr id="243" name="Google Shape;243;p44"/>
          <p:cNvSpPr txBox="1"/>
          <p:nvPr/>
        </p:nvSpPr>
        <p:spPr>
          <a:xfrm>
            <a:off x="674250" y="1421800"/>
            <a:ext cx="7692000" cy="31122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Font typeface="Proxima Nova"/>
              <a:buChar char="●"/>
            </a:pPr>
            <a:r>
              <a:rPr lang="es" sz="1800">
                <a:solidFill>
                  <a:schemeClr val="dk1"/>
                </a:solidFill>
                <a:latin typeface="Proxima Nova"/>
                <a:ea typeface="Proxima Nova"/>
                <a:cs typeface="Proxima Nova"/>
                <a:sym typeface="Proxima Nova"/>
              </a:rPr>
              <a:t>Opciones: Qué opciones hay para cada decisión. Podríamos explorar (</a:t>
            </a:r>
            <a:r>
              <a:rPr lang="es" sz="1800">
                <a:solidFill>
                  <a:schemeClr val="dk1"/>
                </a:solidFill>
                <a:latin typeface="Proxima Nova"/>
                <a:ea typeface="Proxima Nova"/>
                <a:cs typeface="Proxima Nova"/>
                <a:sym typeface="Proxima Nova"/>
              </a:rPr>
              <a:t>explícitamente</a:t>
            </a:r>
            <a:r>
              <a:rPr lang="es" sz="1800">
                <a:solidFill>
                  <a:schemeClr val="dk1"/>
                </a:solidFill>
                <a:latin typeface="Proxima Nova"/>
                <a:ea typeface="Proxima Nova"/>
                <a:cs typeface="Proxima Nova"/>
                <a:sym typeface="Proxima Nova"/>
              </a:rPr>
              <a:t> en el código):</a:t>
            </a:r>
            <a:br>
              <a:rPr lang="es" sz="1800">
                <a:solidFill>
                  <a:schemeClr val="dk1"/>
                </a:solidFill>
                <a:latin typeface="Proxima Nova"/>
                <a:ea typeface="Proxima Nova"/>
                <a:cs typeface="Proxima Nova"/>
                <a:sym typeface="Proxima Nova"/>
              </a:rPr>
            </a:br>
            <a:endParaRPr sz="1800">
              <a:solidFill>
                <a:schemeClr val="dk1"/>
              </a:solidFill>
              <a:latin typeface="Proxima Nova"/>
              <a:ea typeface="Proxima Nova"/>
              <a:cs typeface="Proxima Nova"/>
              <a:sym typeface="Proxima Nova"/>
            </a:endParaRPr>
          </a:p>
          <a:p>
            <a:pPr indent="-336550" lvl="1" marL="914400" rtl="0" algn="l">
              <a:lnSpc>
                <a:spcPct val="115000"/>
              </a:lnSpc>
              <a:spcBef>
                <a:spcPts val="0"/>
              </a:spcBef>
              <a:spcAft>
                <a:spcPts val="0"/>
              </a:spcAft>
              <a:buClr>
                <a:schemeClr val="dk1"/>
              </a:buClr>
              <a:buSzPts val="1700"/>
              <a:buFont typeface="Proxima Nova"/>
              <a:buChar char="○"/>
            </a:pPr>
            <a:r>
              <a:rPr b="1" lang="es" sz="1700">
                <a:solidFill>
                  <a:schemeClr val="dk1"/>
                </a:solidFill>
                <a:latin typeface="Proxima Nova"/>
                <a:ea typeface="Proxima Nova"/>
                <a:cs typeface="Proxima Nova"/>
                <a:sym typeface="Proxima Nova"/>
              </a:rPr>
              <a:t>Las m</a:t>
            </a:r>
            <a:r>
              <a:rPr b="1" lang="es" sz="1700">
                <a:solidFill>
                  <a:schemeClr val="dk1"/>
                </a:solidFill>
                <a:latin typeface="Proxima Nova"/>
                <a:ea typeface="Proxima Nova"/>
                <a:cs typeface="Proxima Nova"/>
                <a:sym typeface="Proxima Nova"/>
              </a:rPr>
              <a:t>ismas opciones</a:t>
            </a:r>
            <a:r>
              <a:rPr lang="es" sz="1700">
                <a:solidFill>
                  <a:schemeClr val="dk1"/>
                </a:solidFill>
                <a:latin typeface="Proxima Nova"/>
                <a:ea typeface="Proxima Nova"/>
                <a:cs typeface="Proxima Nova"/>
                <a:sym typeface="Proxima Nova"/>
              </a:rPr>
              <a:t> (todas) para cada decisión. Ejemplo: K- coloreo:</a:t>
            </a:r>
            <a:endParaRPr sz="1700">
              <a:solidFill>
                <a:schemeClr val="dk1"/>
              </a:solidFill>
              <a:latin typeface="Proxima Nova"/>
              <a:ea typeface="Proxima Nova"/>
              <a:cs typeface="Proxima Nova"/>
              <a:sym typeface="Proxima Nova"/>
            </a:endParaRPr>
          </a:p>
          <a:p>
            <a:pPr indent="-336550" lvl="2" marL="1371600" rtl="0" algn="l">
              <a:lnSpc>
                <a:spcPct val="115000"/>
              </a:lnSpc>
              <a:spcBef>
                <a:spcPts val="0"/>
              </a:spcBef>
              <a:spcAft>
                <a:spcPts val="0"/>
              </a:spcAft>
              <a:buClr>
                <a:schemeClr val="dk1"/>
              </a:buClr>
              <a:buSzPts val="1700"/>
              <a:buFont typeface="Proxima Nova"/>
              <a:buChar char="■"/>
            </a:pPr>
            <a:r>
              <a:rPr lang="es" sz="1700">
                <a:solidFill>
                  <a:schemeClr val="dk1"/>
                </a:solidFill>
                <a:latin typeface="Proxima Nova"/>
                <a:ea typeface="Proxima Nova"/>
                <a:cs typeface="Proxima Nova"/>
                <a:sym typeface="Proxima Nova"/>
              </a:rPr>
              <a:t>Decisiones: Qué color toma cada </a:t>
            </a:r>
            <a:r>
              <a:rPr lang="es" sz="1700">
                <a:solidFill>
                  <a:schemeClr val="dk1"/>
                </a:solidFill>
                <a:latin typeface="Proxima Nova"/>
                <a:ea typeface="Proxima Nova"/>
                <a:cs typeface="Proxima Nova"/>
                <a:sym typeface="Proxima Nova"/>
              </a:rPr>
              <a:t>país</a:t>
            </a:r>
            <a:endParaRPr sz="1700">
              <a:solidFill>
                <a:schemeClr val="dk1"/>
              </a:solidFill>
              <a:latin typeface="Proxima Nova"/>
              <a:ea typeface="Proxima Nova"/>
              <a:cs typeface="Proxima Nova"/>
              <a:sym typeface="Proxima Nova"/>
            </a:endParaRPr>
          </a:p>
          <a:p>
            <a:pPr indent="-336550" lvl="2" marL="1371600" rtl="0" algn="l">
              <a:lnSpc>
                <a:spcPct val="115000"/>
              </a:lnSpc>
              <a:spcBef>
                <a:spcPts val="0"/>
              </a:spcBef>
              <a:spcAft>
                <a:spcPts val="0"/>
              </a:spcAft>
              <a:buClr>
                <a:schemeClr val="dk1"/>
              </a:buClr>
              <a:buSzPts val="1700"/>
              <a:buFont typeface="Proxima Nova"/>
              <a:buChar char="■"/>
            </a:pPr>
            <a:r>
              <a:rPr lang="es" sz="1700">
                <a:solidFill>
                  <a:schemeClr val="dk1"/>
                </a:solidFill>
                <a:latin typeface="Proxima Nova"/>
                <a:ea typeface="Proxima Nova"/>
                <a:cs typeface="Proxima Nova"/>
                <a:sym typeface="Proxima Nova"/>
              </a:rPr>
              <a:t>Opciones: Intent</a:t>
            </a:r>
            <a:r>
              <a:rPr lang="es" sz="1700">
                <a:solidFill>
                  <a:schemeClr val="dk1"/>
                </a:solidFill>
                <a:latin typeface="Proxima Nova"/>
                <a:ea typeface="Proxima Nova"/>
                <a:cs typeface="Proxima Nova"/>
                <a:sym typeface="Proxima Nova"/>
              </a:rPr>
              <a:t>á</a:t>
            </a:r>
            <a:r>
              <a:rPr lang="es" sz="1700">
                <a:solidFill>
                  <a:schemeClr val="dk1"/>
                </a:solidFill>
                <a:latin typeface="Proxima Nova"/>
                <a:ea typeface="Proxima Nova"/>
                <a:cs typeface="Proxima Nova"/>
                <a:sym typeface="Proxima Nova"/>
              </a:rPr>
              <a:t>bamos por cada </a:t>
            </a:r>
            <a:r>
              <a:rPr lang="es" sz="1700">
                <a:solidFill>
                  <a:schemeClr val="dk1"/>
                </a:solidFill>
                <a:latin typeface="Proxima Nova"/>
                <a:ea typeface="Proxima Nova"/>
                <a:cs typeface="Proxima Nova"/>
                <a:sym typeface="Proxima Nova"/>
              </a:rPr>
              <a:t>país</a:t>
            </a:r>
            <a:r>
              <a:rPr lang="es" sz="1700">
                <a:solidFill>
                  <a:schemeClr val="dk1"/>
                </a:solidFill>
                <a:latin typeface="Proxima Nova"/>
                <a:ea typeface="Proxima Nova"/>
                <a:cs typeface="Proxima Nova"/>
                <a:sym typeface="Proxima Nova"/>
              </a:rPr>
              <a:t> con todos los k colores (obvio retrocediendo en cuanto no pase la verificación del color elegido mantiene la solución en conjunto válida). </a:t>
            </a:r>
            <a:endParaRPr sz="1700">
              <a:solidFill>
                <a:schemeClr val="dk1"/>
              </a:solidFill>
              <a:latin typeface="Proxima Nova"/>
              <a:ea typeface="Proxima Nova"/>
              <a:cs typeface="Proxima Nova"/>
              <a:sym typeface="Proxima Nova"/>
            </a:endParaRPr>
          </a:p>
          <a:p>
            <a:pPr indent="0" lvl="0" marL="0" rtl="0" algn="l">
              <a:lnSpc>
                <a:spcPct val="115000"/>
              </a:lnSpc>
              <a:spcBef>
                <a:spcPts val="1600"/>
              </a:spcBef>
              <a:spcAft>
                <a:spcPts val="1600"/>
              </a:spcAft>
              <a:buNone/>
            </a:pPr>
            <a:r>
              <a:t/>
            </a:r>
            <a:endParaRPr sz="17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5"/>
          <p:cNvSpPr txBox="1"/>
          <p:nvPr>
            <p:ph type="title"/>
          </p:nvPr>
        </p:nvSpPr>
        <p:spPr>
          <a:xfrm>
            <a:off x="604500" y="307000"/>
            <a:ext cx="7692000" cy="1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Explorar el espacio de soluciones: decisiones y sus </a:t>
            </a:r>
            <a:r>
              <a:rPr b="1" lang="es"/>
              <a:t>opciones</a:t>
            </a:r>
            <a:endParaRPr b="1"/>
          </a:p>
        </p:txBody>
      </p:sp>
      <p:sp>
        <p:nvSpPr>
          <p:cNvPr id="249" name="Google Shape;249;p45"/>
          <p:cNvSpPr txBox="1"/>
          <p:nvPr/>
        </p:nvSpPr>
        <p:spPr>
          <a:xfrm>
            <a:off x="674250" y="1421800"/>
            <a:ext cx="8133000" cy="31122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Font typeface="Proxima Nova"/>
              <a:buChar char="●"/>
            </a:pPr>
            <a:r>
              <a:rPr lang="es" sz="1800">
                <a:solidFill>
                  <a:schemeClr val="dk1"/>
                </a:solidFill>
                <a:latin typeface="Proxima Nova"/>
                <a:ea typeface="Proxima Nova"/>
                <a:cs typeface="Proxima Nova"/>
                <a:sym typeface="Proxima Nova"/>
              </a:rPr>
              <a:t>Opciones: Qué opciones hay para cada decisión. Podríamos explorar (explícitamente en el código):</a:t>
            </a:r>
            <a:br>
              <a:rPr lang="es" sz="1800">
                <a:solidFill>
                  <a:schemeClr val="dk1"/>
                </a:solidFill>
                <a:latin typeface="Proxima Nova"/>
                <a:ea typeface="Proxima Nova"/>
                <a:cs typeface="Proxima Nova"/>
                <a:sym typeface="Proxima Nova"/>
              </a:rPr>
            </a:br>
            <a:endParaRPr sz="1800">
              <a:solidFill>
                <a:schemeClr val="dk1"/>
              </a:solidFill>
              <a:latin typeface="Proxima Nova"/>
              <a:ea typeface="Proxima Nova"/>
              <a:cs typeface="Proxima Nova"/>
              <a:sym typeface="Proxima Nova"/>
            </a:endParaRPr>
          </a:p>
          <a:p>
            <a:pPr indent="-336550" lvl="1" marL="914400" rtl="0" algn="l">
              <a:lnSpc>
                <a:spcPct val="115000"/>
              </a:lnSpc>
              <a:spcBef>
                <a:spcPts val="0"/>
              </a:spcBef>
              <a:spcAft>
                <a:spcPts val="0"/>
              </a:spcAft>
              <a:buClr>
                <a:schemeClr val="dk1"/>
              </a:buClr>
              <a:buSzPts val="1700"/>
              <a:buFont typeface="Proxima Nova"/>
              <a:buChar char="○"/>
            </a:pPr>
            <a:r>
              <a:rPr lang="es" sz="1700">
                <a:solidFill>
                  <a:schemeClr val="dk1"/>
                </a:solidFill>
                <a:latin typeface="Proxima Nova"/>
                <a:ea typeface="Proxima Nova"/>
                <a:cs typeface="Proxima Nova"/>
                <a:sym typeface="Proxima Nova"/>
              </a:rPr>
              <a:t> Un </a:t>
            </a:r>
            <a:r>
              <a:rPr b="1" lang="es" sz="1700">
                <a:solidFill>
                  <a:schemeClr val="dk1"/>
                </a:solidFill>
                <a:latin typeface="Proxima Nova"/>
                <a:ea typeface="Proxima Nova"/>
                <a:cs typeface="Proxima Nova"/>
                <a:sym typeface="Proxima Nova"/>
              </a:rPr>
              <a:t>subset </a:t>
            </a:r>
            <a:r>
              <a:rPr lang="es" sz="1700">
                <a:solidFill>
                  <a:schemeClr val="dk1"/>
                </a:solidFill>
                <a:latin typeface="Proxima Nova"/>
                <a:ea typeface="Proxima Nova"/>
                <a:cs typeface="Proxima Nova"/>
                <a:sym typeface="Proxima Nova"/>
              </a:rPr>
              <a:t>del total de opciones: </a:t>
            </a:r>
            <a:r>
              <a:rPr i="1" lang="es" sz="1700">
                <a:solidFill>
                  <a:schemeClr val="dk1"/>
                </a:solidFill>
                <a:latin typeface="Proxima Nova"/>
                <a:ea typeface="Proxima Nova"/>
                <a:cs typeface="Proxima Nova"/>
                <a:sym typeface="Proxima Nova"/>
              </a:rPr>
              <a:t>Para esta decisión teniendo en cuenta algo del estado de la solución con la que llegamos hasta aquí, probaré con estas opciones.</a:t>
            </a:r>
            <a:r>
              <a:rPr lang="es" sz="1700">
                <a:solidFill>
                  <a:schemeClr val="dk1"/>
                </a:solidFill>
                <a:latin typeface="Proxima Nova"/>
                <a:ea typeface="Proxima Nova"/>
                <a:cs typeface="Proxima Nova"/>
                <a:sym typeface="Proxima Nova"/>
              </a:rPr>
              <a:t> Esto para cada decisión.  </a:t>
            </a:r>
            <a:br>
              <a:rPr lang="es" sz="1700">
                <a:solidFill>
                  <a:schemeClr val="dk1"/>
                </a:solidFill>
                <a:latin typeface="Proxima Nova"/>
                <a:ea typeface="Proxima Nova"/>
                <a:cs typeface="Proxima Nova"/>
                <a:sym typeface="Proxima Nova"/>
              </a:rPr>
            </a:br>
            <a:br>
              <a:rPr lang="es" sz="1700">
                <a:solidFill>
                  <a:schemeClr val="dk1"/>
                </a:solidFill>
                <a:latin typeface="Proxima Nova"/>
                <a:ea typeface="Proxima Nova"/>
                <a:cs typeface="Proxima Nova"/>
                <a:sym typeface="Proxima Nova"/>
              </a:rPr>
            </a:br>
            <a:r>
              <a:rPr lang="es" sz="1700">
                <a:solidFill>
                  <a:schemeClr val="dk1"/>
                </a:solidFill>
                <a:latin typeface="Proxima Nova"/>
                <a:ea typeface="Proxima Nova"/>
                <a:cs typeface="Proxima Nova"/>
                <a:sym typeface="Proxima Nova"/>
              </a:rPr>
              <a:t>Qué hicimos en Camino Hamiltoniano?</a:t>
            </a:r>
            <a:endParaRPr sz="1700">
              <a:solidFill>
                <a:schemeClr val="dk1"/>
              </a:solidFill>
              <a:latin typeface="Proxima Nova"/>
              <a:ea typeface="Proxima Nova"/>
              <a:cs typeface="Proxima Nova"/>
              <a:sym typeface="Proxima Nova"/>
            </a:endParaRPr>
          </a:p>
          <a:p>
            <a:pPr indent="0" lvl="0" marL="0" rtl="0" algn="l">
              <a:lnSpc>
                <a:spcPct val="115000"/>
              </a:lnSpc>
              <a:spcBef>
                <a:spcPts val="1600"/>
              </a:spcBef>
              <a:spcAft>
                <a:spcPts val="1600"/>
              </a:spcAft>
              <a:buNone/>
            </a:pPr>
            <a:r>
              <a:t/>
            </a:r>
            <a:endParaRPr sz="17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6"/>
          <p:cNvSpPr txBox="1"/>
          <p:nvPr>
            <p:ph type="title"/>
          </p:nvPr>
        </p:nvSpPr>
        <p:spPr>
          <a:xfrm>
            <a:off x="604500" y="307000"/>
            <a:ext cx="7692000" cy="1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Explorar el espacio de soluciones: decisiones y sus </a:t>
            </a:r>
            <a:r>
              <a:rPr b="1" lang="es"/>
              <a:t>opciones</a:t>
            </a:r>
            <a:endParaRPr b="1"/>
          </a:p>
        </p:txBody>
      </p:sp>
      <p:sp>
        <p:nvSpPr>
          <p:cNvPr id="255" name="Google Shape;255;p46"/>
          <p:cNvSpPr txBox="1"/>
          <p:nvPr/>
        </p:nvSpPr>
        <p:spPr>
          <a:xfrm>
            <a:off x="674250" y="1421800"/>
            <a:ext cx="8133000" cy="28110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Font typeface="Proxima Nova"/>
              <a:buChar char="●"/>
            </a:pPr>
            <a:r>
              <a:rPr lang="es" sz="1800">
                <a:solidFill>
                  <a:schemeClr val="dk1"/>
                </a:solidFill>
                <a:latin typeface="Proxima Nova"/>
                <a:ea typeface="Proxima Nova"/>
                <a:cs typeface="Proxima Nova"/>
                <a:sym typeface="Proxima Nova"/>
              </a:rPr>
              <a:t>Opciones: Qué opciones hay para cada decisión. Podríamos explorar (explícitamente en el código):</a:t>
            </a:r>
            <a:br>
              <a:rPr lang="es" sz="1800">
                <a:solidFill>
                  <a:schemeClr val="dk1"/>
                </a:solidFill>
                <a:latin typeface="Proxima Nova"/>
                <a:ea typeface="Proxima Nova"/>
                <a:cs typeface="Proxima Nova"/>
                <a:sym typeface="Proxima Nova"/>
              </a:rPr>
            </a:br>
            <a:endParaRPr sz="1800">
              <a:solidFill>
                <a:schemeClr val="dk1"/>
              </a:solidFill>
              <a:latin typeface="Proxima Nova"/>
              <a:ea typeface="Proxima Nova"/>
              <a:cs typeface="Proxima Nova"/>
              <a:sym typeface="Proxima Nova"/>
            </a:endParaRPr>
          </a:p>
          <a:p>
            <a:pPr indent="-336550" lvl="1" marL="914400" rtl="0" algn="l">
              <a:lnSpc>
                <a:spcPct val="115000"/>
              </a:lnSpc>
              <a:spcBef>
                <a:spcPts val="0"/>
              </a:spcBef>
              <a:spcAft>
                <a:spcPts val="0"/>
              </a:spcAft>
              <a:buClr>
                <a:schemeClr val="dk1"/>
              </a:buClr>
              <a:buSzPts val="1700"/>
              <a:buFont typeface="Proxima Nova"/>
              <a:buChar char="○"/>
            </a:pPr>
            <a:r>
              <a:rPr lang="es" sz="1700">
                <a:solidFill>
                  <a:schemeClr val="dk1"/>
                </a:solidFill>
                <a:latin typeface="Proxima Nova"/>
                <a:ea typeface="Proxima Nova"/>
                <a:cs typeface="Proxima Nova"/>
                <a:sym typeface="Proxima Nova"/>
              </a:rPr>
              <a:t> Un </a:t>
            </a:r>
            <a:r>
              <a:rPr b="1" lang="es" sz="1700">
                <a:solidFill>
                  <a:schemeClr val="dk1"/>
                </a:solidFill>
                <a:latin typeface="Proxima Nova"/>
                <a:ea typeface="Proxima Nova"/>
                <a:cs typeface="Proxima Nova"/>
                <a:sym typeface="Proxima Nova"/>
              </a:rPr>
              <a:t>subset </a:t>
            </a:r>
            <a:r>
              <a:rPr lang="es" sz="1700">
                <a:solidFill>
                  <a:schemeClr val="dk1"/>
                </a:solidFill>
                <a:latin typeface="Proxima Nova"/>
                <a:ea typeface="Proxima Nova"/>
                <a:cs typeface="Proxima Nova"/>
                <a:sym typeface="Proxima Nova"/>
              </a:rPr>
              <a:t>del total de opciones. En Camino Hamiltoniano:</a:t>
            </a:r>
            <a:br>
              <a:rPr lang="es" sz="1700">
                <a:solidFill>
                  <a:schemeClr val="dk1"/>
                </a:solidFill>
                <a:latin typeface="Proxima Nova"/>
                <a:ea typeface="Proxima Nova"/>
                <a:cs typeface="Proxima Nova"/>
                <a:sym typeface="Proxima Nova"/>
              </a:rPr>
            </a:br>
            <a:r>
              <a:rPr lang="es" sz="1700">
                <a:solidFill>
                  <a:schemeClr val="dk1"/>
                </a:solidFill>
                <a:latin typeface="Proxima Nova"/>
                <a:ea typeface="Proxima Nova"/>
                <a:cs typeface="Proxima Nova"/>
                <a:sym typeface="Proxima Nova"/>
              </a:rPr>
              <a:t>Iniciando por un vértice, decidimos cuál era el siguiente vértice en el camino. Hicimos que nuestras opciones sean los vértices adyacentes al último del camino que fuimos formando.</a:t>
            </a:r>
            <a:endParaRPr sz="1700">
              <a:solidFill>
                <a:schemeClr val="dk1"/>
              </a:solidFill>
              <a:latin typeface="Proxima Nova"/>
              <a:ea typeface="Proxima Nova"/>
              <a:cs typeface="Proxima Nova"/>
              <a:sym typeface="Proxima Nova"/>
            </a:endParaRPr>
          </a:p>
          <a:p>
            <a:pPr indent="0" lvl="0" marL="0" rtl="0" algn="l">
              <a:lnSpc>
                <a:spcPct val="115000"/>
              </a:lnSpc>
              <a:spcBef>
                <a:spcPts val="1600"/>
              </a:spcBef>
              <a:spcAft>
                <a:spcPts val="1600"/>
              </a:spcAft>
              <a:buNone/>
            </a:pPr>
            <a:r>
              <a:t/>
            </a:r>
            <a:endParaRPr sz="1700"/>
          </a:p>
        </p:txBody>
      </p:sp>
      <p:sp>
        <p:nvSpPr>
          <p:cNvPr id="256" name="Google Shape;256;p46"/>
          <p:cNvSpPr/>
          <p:nvPr/>
        </p:nvSpPr>
        <p:spPr>
          <a:xfrm>
            <a:off x="2011450" y="3974813"/>
            <a:ext cx="483000" cy="51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A</a:t>
            </a:r>
            <a:endParaRPr>
              <a:latin typeface="Old Standard TT"/>
              <a:ea typeface="Old Standard TT"/>
              <a:cs typeface="Old Standard TT"/>
              <a:sym typeface="Old Standard TT"/>
            </a:endParaRPr>
          </a:p>
        </p:txBody>
      </p:sp>
      <p:sp>
        <p:nvSpPr>
          <p:cNvPr id="257" name="Google Shape;257;p46"/>
          <p:cNvSpPr/>
          <p:nvPr/>
        </p:nvSpPr>
        <p:spPr>
          <a:xfrm>
            <a:off x="2938225" y="3974813"/>
            <a:ext cx="483000" cy="51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C</a:t>
            </a:r>
            <a:endParaRPr>
              <a:latin typeface="Old Standard TT"/>
              <a:ea typeface="Old Standard TT"/>
              <a:cs typeface="Old Standard TT"/>
              <a:sym typeface="Old Standard TT"/>
            </a:endParaRPr>
          </a:p>
        </p:txBody>
      </p:sp>
      <p:sp>
        <p:nvSpPr>
          <p:cNvPr id="258" name="Google Shape;258;p46"/>
          <p:cNvSpPr/>
          <p:nvPr/>
        </p:nvSpPr>
        <p:spPr>
          <a:xfrm>
            <a:off x="3972725" y="3716800"/>
            <a:ext cx="483000" cy="516000"/>
          </a:xfrm>
          <a:prstGeom prst="ellipse">
            <a:avLst/>
          </a:pr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D</a:t>
            </a:r>
            <a:endParaRPr>
              <a:latin typeface="Old Standard TT"/>
              <a:ea typeface="Old Standard TT"/>
              <a:cs typeface="Old Standard TT"/>
              <a:sym typeface="Old Standard TT"/>
            </a:endParaRPr>
          </a:p>
        </p:txBody>
      </p:sp>
      <p:sp>
        <p:nvSpPr>
          <p:cNvPr id="259" name="Google Shape;259;p46"/>
          <p:cNvSpPr/>
          <p:nvPr/>
        </p:nvSpPr>
        <p:spPr>
          <a:xfrm>
            <a:off x="3978675" y="4424025"/>
            <a:ext cx="483000" cy="516000"/>
          </a:xfrm>
          <a:prstGeom prst="ellipse">
            <a:avLst/>
          </a:pr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E</a:t>
            </a:r>
            <a:endParaRPr>
              <a:latin typeface="Old Standard TT"/>
              <a:ea typeface="Old Standard TT"/>
              <a:cs typeface="Old Standard TT"/>
              <a:sym typeface="Old Standard TT"/>
            </a:endParaRPr>
          </a:p>
        </p:txBody>
      </p:sp>
      <p:sp>
        <p:nvSpPr>
          <p:cNvPr id="260" name="Google Shape;260;p46"/>
          <p:cNvSpPr/>
          <p:nvPr/>
        </p:nvSpPr>
        <p:spPr>
          <a:xfrm>
            <a:off x="6595375" y="3716800"/>
            <a:ext cx="483000" cy="516000"/>
          </a:xfrm>
          <a:prstGeom prst="ellipse">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Y</a:t>
            </a:r>
            <a:endParaRPr>
              <a:latin typeface="Old Standard TT"/>
              <a:ea typeface="Old Standard TT"/>
              <a:cs typeface="Old Standard TT"/>
              <a:sym typeface="Old Standard TT"/>
            </a:endParaRPr>
          </a:p>
        </p:txBody>
      </p:sp>
      <p:sp>
        <p:nvSpPr>
          <p:cNvPr id="261" name="Google Shape;261;p46"/>
          <p:cNvSpPr txBox="1"/>
          <p:nvPr/>
        </p:nvSpPr>
        <p:spPr>
          <a:xfrm>
            <a:off x="1528450" y="3974775"/>
            <a:ext cx="483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latin typeface="Old Standard TT"/>
                <a:ea typeface="Old Standard TT"/>
                <a:cs typeface="Old Standard TT"/>
                <a:sym typeface="Old Standard TT"/>
              </a:rPr>
              <a:t>…</a:t>
            </a:r>
            <a:endParaRPr sz="1800">
              <a:solidFill>
                <a:schemeClr val="dk1"/>
              </a:solidFill>
              <a:latin typeface="Old Standard TT"/>
              <a:ea typeface="Old Standard TT"/>
              <a:cs typeface="Old Standard TT"/>
              <a:sym typeface="Old Standard TT"/>
            </a:endParaRPr>
          </a:p>
        </p:txBody>
      </p:sp>
      <p:cxnSp>
        <p:nvCxnSpPr>
          <p:cNvPr id="262" name="Google Shape;262;p46"/>
          <p:cNvCxnSpPr>
            <a:stCxn id="256" idx="6"/>
            <a:endCxn id="257" idx="2"/>
          </p:cNvCxnSpPr>
          <p:nvPr/>
        </p:nvCxnSpPr>
        <p:spPr>
          <a:xfrm>
            <a:off x="2494450" y="4232813"/>
            <a:ext cx="443700" cy="0"/>
          </a:xfrm>
          <a:prstGeom prst="straightConnector1">
            <a:avLst/>
          </a:prstGeom>
          <a:noFill/>
          <a:ln cap="flat" cmpd="sng" w="38100">
            <a:solidFill>
              <a:schemeClr val="dk2"/>
            </a:solidFill>
            <a:prstDash val="solid"/>
            <a:round/>
            <a:headEnd len="med" w="med" type="none"/>
            <a:tailEnd len="med" w="med" type="none"/>
          </a:ln>
        </p:spPr>
      </p:cxnSp>
      <p:cxnSp>
        <p:nvCxnSpPr>
          <p:cNvPr id="263" name="Google Shape;263;p46"/>
          <p:cNvCxnSpPr>
            <a:stCxn id="257" idx="7"/>
            <a:endCxn id="258" idx="2"/>
          </p:cNvCxnSpPr>
          <p:nvPr/>
        </p:nvCxnSpPr>
        <p:spPr>
          <a:xfrm flipH="1" rot="10800000">
            <a:off x="3350491" y="3974779"/>
            <a:ext cx="622200" cy="75600"/>
          </a:xfrm>
          <a:prstGeom prst="straightConnector1">
            <a:avLst/>
          </a:prstGeom>
          <a:noFill/>
          <a:ln cap="flat" cmpd="sng" w="28575">
            <a:solidFill>
              <a:schemeClr val="accent6"/>
            </a:solidFill>
            <a:prstDash val="solid"/>
            <a:round/>
            <a:headEnd len="med" w="med" type="none"/>
            <a:tailEnd len="med" w="med" type="none"/>
          </a:ln>
        </p:spPr>
      </p:cxnSp>
      <p:sp>
        <p:nvSpPr>
          <p:cNvPr id="264" name="Google Shape;264;p46"/>
          <p:cNvSpPr/>
          <p:nvPr/>
        </p:nvSpPr>
        <p:spPr>
          <a:xfrm>
            <a:off x="4660675" y="3839903"/>
            <a:ext cx="1591164" cy="965304"/>
          </a:xfrm>
          <a:prstGeom prst="cloud">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cxnSp>
        <p:nvCxnSpPr>
          <p:cNvPr id="265" name="Google Shape;265;p46"/>
          <p:cNvCxnSpPr>
            <a:stCxn id="257" idx="5"/>
            <a:endCxn id="259" idx="2"/>
          </p:cNvCxnSpPr>
          <p:nvPr/>
        </p:nvCxnSpPr>
        <p:spPr>
          <a:xfrm>
            <a:off x="3350491" y="4415246"/>
            <a:ext cx="628200" cy="266700"/>
          </a:xfrm>
          <a:prstGeom prst="straightConnector1">
            <a:avLst/>
          </a:prstGeom>
          <a:noFill/>
          <a:ln cap="flat" cmpd="sng" w="28575">
            <a:solidFill>
              <a:schemeClr val="accent6"/>
            </a:solidFill>
            <a:prstDash val="solid"/>
            <a:round/>
            <a:headEnd len="med" w="med" type="none"/>
            <a:tailEnd len="med" w="med" type="none"/>
          </a:ln>
        </p:spPr>
      </p:cxnSp>
      <p:cxnSp>
        <p:nvCxnSpPr>
          <p:cNvPr id="266" name="Google Shape;266;p46"/>
          <p:cNvCxnSpPr>
            <a:stCxn id="258" idx="6"/>
          </p:cNvCxnSpPr>
          <p:nvPr/>
        </p:nvCxnSpPr>
        <p:spPr>
          <a:xfrm>
            <a:off x="4455725" y="3974800"/>
            <a:ext cx="467100" cy="96600"/>
          </a:xfrm>
          <a:prstGeom prst="straightConnector1">
            <a:avLst/>
          </a:prstGeom>
          <a:noFill/>
          <a:ln cap="flat" cmpd="sng" w="28575">
            <a:solidFill>
              <a:schemeClr val="accent2"/>
            </a:solidFill>
            <a:prstDash val="solid"/>
            <a:round/>
            <a:headEnd len="med" w="med" type="none"/>
            <a:tailEnd len="med" w="med" type="none"/>
          </a:ln>
        </p:spPr>
      </p:cxnSp>
      <p:cxnSp>
        <p:nvCxnSpPr>
          <p:cNvPr id="267" name="Google Shape;267;p46"/>
          <p:cNvCxnSpPr>
            <a:stCxn id="259" idx="6"/>
          </p:cNvCxnSpPr>
          <p:nvPr/>
        </p:nvCxnSpPr>
        <p:spPr>
          <a:xfrm flipH="1" rot="10800000">
            <a:off x="4461675" y="4627725"/>
            <a:ext cx="427200" cy="54300"/>
          </a:xfrm>
          <a:prstGeom prst="straightConnector1">
            <a:avLst/>
          </a:prstGeom>
          <a:noFill/>
          <a:ln cap="flat" cmpd="sng" w="28575">
            <a:solidFill>
              <a:schemeClr val="accent2"/>
            </a:solidFill>
            <a:prstDash val="solid"/>
            <a:round/>
            <a:headEnd len="med" w="med" type="none"/>
            <a:tailEnd len="med" w="med" type="none"/>
          </a:ln>
        </p:spPr>
      </p:cxnSp>
      <p:sp>
        <p:nvSpPr>
          <p:cNvPr id="268" name="Google Shape;268;p46"/>
          <p:cNvSpPr/>
          <p:nvPr/>
        </p:nvSpPr>
        <p:spPr>
          <a:xfrm>
            <a:off x="6991550" y="4339875"/>
            <a:ext cx="483000" cy="516000"/>
          </a:xfrm>
          <a:prstGeom prst="ellipse">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Z</a:t>
            </a:r>
            <a:endParaRPr>
              <a:latin typeface="Old Standard TT"/>
              <a:ea typeface="Old Standard TT"/>
              <a:cs typeface="Old Standard TT"/>
              <a:sym typeface="Old Standard TT"/>
            </a:endParaRPr>
          </a:p>
        </p:txBody>
      </p:sp>
      <p:cxnSp>
        <p:nvCxnSpPr>
          <p:cNvPr id="269" name="Google Shape;269;p46"/>
          <p:cNvCxnSpPr>
            <a:endCxn id="260" idx="2"/>
          </p:cNvCxnSpPr>
          <p:nvPr/>
        </p:nvCxnSpPr>
        <p:spPr>
          <a:xfrm flipH="1" rot="10800000">
            <a:off x="6175975" y="3974800"/>
            <a:ext cx="419400" cy="134100"/>
          </a:xfrm>
          <a:prstGeom prst="straightConnector1">
            <a:avLst/>
          </a:prstGeom>
          <a:noFill/>
          <a:ln cap="flat" cmpd="sng" w="28575">
            <a:solidFill>
              <a:schemeClr val="accent2"/>
            </a:solidFill>
            <a:prstDash val="solid"/>
            <a:round/>
            <a:headEnd len="med" w="med" type="none"/>
            <a:tailEnd len="med" w="med" type="none"/>
          </a:ln>
        </p:spPr>
      </p:cxnSp>
      <p:cxnSp>
        <p:nvCxnSpPr>
          <p:cNvPr id="270" name="Google Shape;270;p46"/>
          <p:cNvCxnSpPr>
            <a:stCxn id="264" idx="0"/>
            <a:endCxn id="268" idx="2"/>
          </p:cNvCxnSpPr>
          <p:nvPr/>
        </p:nvCxnSpPr>
        <p:spPr>
          <a:xfrm>
            <a:off x="6250513" y="4322555"/>
            <a:ext cx="741000" cy="275400"/>
          </a:xfrm>
          <a:prstGeom prst="straightConnector1">
            <a:avLst/>
          </a:prstGeom>
          <a:noFill/>
          <a:ln cap="flat" cmpd="sng" w="28575">
            <a:solidFill>
              <a:schemeClr val="accent2"/>
            </a:solidFill>
            <a:prstDash val="solid"/>
            <a:round/>
            <a:headEnd len="med" w="med" type="none"/>
            <a:tailEnd len="med" w="med"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74" name="Shape 274"/>
        <p:cNvGrpSpPr/>
        <p:nvPr/>
      </p:nvGrpSpPr>
      <p:grpSpPr>
        <a:xfrm>
          <a:off x="0" y="0"/>
          <a:ext cx="0" cy="0"/>
          <a:chOff x="0" y="0"/>
          <a:chExt cx="0" cy="0"/>
        </a:xfrm>
      </p:grpSpPr>
      <p:pic>
        <p:nvPicPr>
          <p:cNvPr id="275" name="Google Shape;275;p47"/>
          <p:cNvPicPr preferRelativeResize="0"/>
          <p:nvPr/>
        </p:nvPicPr>
        <p:blipFill>
          <a:blip r:embed="rId3">
            <a:alphaModFix/>
          </a:blip>
          <a:stretch>
            <a:fillRect/>
          </a:stretch>
        </p:blipFill>
        <p:spPr>
          <a:xfrm>
            <a:off x="152400" y="2135924"/>
            <a:ext cx="8839199" cy="887677"/>
          </a:xfrm>
          <a:prstGeom prst="rect">
            <a:avLst/>
          </a:prstGeom>
          <a:noFill/>
          <a:ln>
            <a:noFill/>
          </a:ln>
        </p:spPr>
      </p:pic>
      <p:pic>
        <p:nvPicPr>
          <p:cNvPr id="276" name="Google Shape;276;p47"/>
          <p:cNvPicPr preferRelativeResize="0"/>
          <p:nvPr/>
        </p:nvPicPr>
        <p:blipFill>
          <a:blip r:embed="rId4">
            <a:alphaModFix/>
          </a:blip>
          <a:stretch>
            <a:fillRect/>
          </a:stretch>
        </p:blipFill>
        <p:spPr>
          <a:xfrm>
            <a:off x="718000" y="152400"/>
            <a:ext cx="7708009" cy="15152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80" name="Shape 280"/>
        <p:cNvGrpSpPr/>
        <p:nvPr/>
      </p:nvGrpSpPr>
      <p:grpSpPr>
        <a:xfrm>
          <a:off x="0" y="0"/>
          <a:ext cx="0" cy="0"/>
          <a:chOff x="0" y="0"/>
          <a:chExt cx="0" cy="0"/>
        </a:xfrm>
      </p:grpSpPr>
      <p:pic>
        <p:nvPicPr>
          <p:cNvPr id="281" name="Google Shape;281;p48"/>
          <p:cNvPicPr preferRelativeResize="0"/>
          <p:nvPr/>
        </p:nvPicPr>
        <p:blipFill>
          <a:blip r:embed="rId3">
            <a:alphaModFix/>
          </a:blip>
          <a:stretch>
            <a:fillRect/>
          </a:stretch>
        </p:blipFill>
        <p:spPr>
          <a:xfrm>
            <a:off x="152400" y="445999"/>
            <a:ext cx="8839199" cy="887677"/>
          </a:xfrm>
          <a:prstGeom prst="rect">
            <a:avLst/>
          </a:prstGeom>
          <a:noFill/>
          <a:ln>
            <a:noFill/>
          </a:ln>
        </p:spPr>
      </p:pic>
      <p:pic>
        <p:nvPicPr>
          <p:cNvPr id="282" name="Google Shape;282;p48"/>
          <p:cNvPicPr preferRelativeResize="0"/>
          <p:nvPr/>
        </p:nvPicPr>
        <p:blipFill>
          <a:blip r:embed="rId4">
            <a:alphaModFix/>
          </a:blip>
          <a:stretch>
            <a:fillRect/>
          </a:stretch>
        </p:blipFill>
        <p:spPr>
          <a:xfrm>
            <a:off x="3129913" y="1526252"/>
            <a:ext cx="2884179" cy="350502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p49"/>
          <p:cNvPicPr preferRelativeResize="0"/>
          <p:nvPr/>
        </p:nvPicPr>
        <p:blipFill>
          <a:blip r:embed="rId3">
            <a:alphaModFix/>
          </a:blip>
          <a:stretch>
            <a:fillRect/>
          </a:stretch>
        </p:blipFill>
        <p:spPr>
          <a:xfrm>
            <a:off x="6459526" y="0"/>
            <a:ext cx="2684475" cy="3262325"/>
          </a:xfrm>
          <a:prstGeom prst="rect">
            <a:avLst/>
          </a:prstGeom>
          <a:noFill/>
          <a:ln>
            <a:noFill/>
          </a:ln>
        </p:spPr>
      </p:pic>
      <p:pic>
        <p:nvPicPr>
          <p:cNvPr id="288" name="Google Shape;288;p49"/>
          <p:cNvPicPr preferRelativeResize="0"/>
          <p:nvPr/>
        </p:nvPicPr>
        <p:blipFill>
          <a:blip r:embed="rId4">
            <a:alphaModFix/>
          </a:blip>
          <a:stretch>
            <a:fillRect/>
          </a:stretch>
        </p:blipFill>
        <p:spPr>
          <a:xfrm>
            <a:off x="972725" y="152400"/>
            <a:ext cx="4838701" cy="48387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id="293" name="Google Shape;293;p50"/>
          <p:cNvPicPr preferRelativeResize="0"/>
          <p:nvPr/>
        </p:nvPicPr>
        <p:blipFill>
          <a:blip r:embed="rId3">
            <a:alphaModFix/>
          </a:blip>
          <a:stretch>
            <a:fillRect/>
          </a:stretch>
        </p:blipFill>
        <p:spPr>
          <a:xfrm>
            <a:off x="6459526" y="0"/>
            <a:ext cx="2684475" cy="3262325"/>
          </a:xfrm>
          <a:prstGeom prst="rect">
            <a:avLst/>
          </a:prstGeom>
          <a:noFill/>
          <a:ln>
            <a:noFill/>
          </a:ln>
        </p:spPr>
      </p:pic>
      <p:pic>
        <p:nvPicPr>
          <p:cNvPr id="294" name="Google Shape;294;p50"/>
          <p:cNvPicPr preferRelativeResize="0"/>
          <p:nvPr/>
        </p:nvPicPr>
        <p:blipFill>
          <a:blip r:embed="rId4">
            <a:alphaModFix/>
          </a:blip>
          <a:stretch>
            <a:fillRect/>
          </a:stretch>
        </p:blipFill>
        <p:spPr>
          <a:xfrm>
            <a:off x="972725" y="152400"/>
            <a:ext cx="4838701" cy="4838701"/>
          </a:xfrm>
          <a:prstGeom prst="rect">
            <a:avLst/>
          </a:prstGeom>
          <a:noFill/>
          <a:ln>
            <a:noFill/>
          </a:ln>
        </p:spPr>
      </p:pic>
      <p:cxnSp>
        <p:nvCxnSpPr>
          <p:cNvPr id="295" name="Google Shape;295;p50"/>
          <p:cNvCxnSpPr/>
          <p:nvPr/>
        </p:nvCxnSpPr>
        <p:spPr>
          <a:xfrm>
            <a:off x="3042900" y="2183825"/>
            <a:ext cx="219300" cy="240300"/>
          </a:xfrm>
          <a:prstGeom prst="straightConnector1">
            <a:avLst/>
          </a:prstGeom>
          <a:noFill/>
          <a:ln cap="flat" cmpd="sng" w="76200">
            <a:solidFill>
              <a:schemeClr val="dk2"/>
            </a:solidFill>
            <a:prstDash val="solid"/>
            <a:round/>
            <a:headEnd len="med" w="med" type="none"/>
            <a:tailEnd len="med" w="med" type="none"/>
          </a:ln>
        </p:spPr>
      </p:cxnSp>
      <p:cxnSp>
        <p:nvCxnSpPr>
          <p:cNvPr id="296" name="Google Shape;296;p50"/>
          <p:cNvCxnSpPr/>
          <p:nvPr/>
        </p:nvCxnSpPr>
        <p:spPr>
          <a:xfrm flipH="1">
            <a:off x="3042900" y="2183825"/>
            <a:ext cx="232800" cy="232800"/>
          </a:xfrm>
          <a:prstGeom prst="straightConnector1">
            <a:avLst/>
          </a:prstGeom>
          <a:noFill/>
          <a:ln cap="flat" cmpd="sng" w="76200">
            <a:solidFill>
              <a:schemeClr val="dk2"/>
            </a:solidFill>
            <a:prstDash val="solid"/>
            <a:round/>
            <a:headEnd len="med" w="med" type="none"/>
            <a:tailEnd len="med" w="med" type="none"/>
          </a:ln>
        </p:spPr>
      </p:cxnSp>
      <p:cxnSp>
        <p:nvCxnSpPr>
          <p:cNvPr id="297" name="Google Shape;297;p50"/>
          <p:cNvCxnSpPr/>
          <p:nvPr/>
        </p:nvCxnSpPr>
        <p:spPr>
          <a:xfrm>
            <a:off x="4033500" y="2679125"/>
            <a:ext cx="219300" cy="240300"/>
          </a:xfrm>
          <a:prstGeom prst="straightConnector1">
            <a:avLst/>
          </a:prstGeom>
          <a:noFill/>
          <a:ln cap="flat" cmpd="sng" w="76200">
            <a:solidFill>
              <a:srgbClr val="FFFFFF"/>
            </a:solidFill>
            <a:prstDash val="solid"/>
            <a:round/>
            <a:headEnd len="med" w="med" type="none"/>
            <a:tailEnd len="med" w="med" type="none"/>
          </a:ln>
        </p:spPr>
      </p:cxnSp>
      <p:cxnSp>
        <p:nvCxnSpPr>
          <p:cNvPr id="298" name="Google Shape;298;p50"/>
          <p:cNvCxnSpPr/>
          <p:nvPr/>
        </p:nvCxnSpPr>
        <p:spPr>
          <a:xfrm flipH="1">
            <a:off x="4033500" y="2679125"/>
            <a:ext cx="232800" cy="232800"/>
          </a:xfrm>
          <a:prstGeom prst="straightConnector1">
            <a:avLst/>
          </a:prstGeom>
          <a:noFill/>
          <a:ln cap="flat" cmpd="sng" w="76200">
            <a:solidFill>
              <a:srgbClr val="FFFFFF"/>
            </a:solidFill>
            <a:prstDash val="solid"/>
            <a:round/>
            <a:headEnd len="med" w="med" type="none"/>
            <a:tailEnd len="med" w="med" type="none"/>
          </a:ln>
        </p:spPr>
      </p:cxnSp>
      <p:cxnSp>
        <p:nvCxnSpPr>
          <p:cNvPr id="299" name="Google Shape;299;p50"/>
          <p:cNvCxnSpPr/>
          <p:nvPr/>
        </p:nvCxnSpPr>
        <p:spPr>
          <a:xfrm>
            <a:off x="4026750" y="1688525"/>
            <a:ext cx="219300" cy="240300"/>
          </a:xfrm>
          <a:prstGeom prst="straightConnector1">
            <a:avLst/>
          </a:prstGeom>
          <a:noFill/>
          <a:ln cap="flat" cmpd="sng" w="76200">
            <a:solidFill>
              <a:srgbClr val="FFFFFF"/>
            </a:solidFill>
            <a:prstDash val="solid"/>
            <a:round/>
            <a:headEnd len="med" w="med" type="none"/>
            <a:tailEnd len="med" w="med" type="none"/>
          </a:ln>
        </p:spPr>
      </p:cxnSp>
      <p:cxnSp>
        <p:nvCxnSpPr>
          <p:cNvPr id="300" name="Google Shape;300;p50"/>
          <p:cNvCxnSpPr/>
          <p:nvPr/>
        </p:nvCxnSpPr>
        <p:spPr>
          <a:xfrm flipH="1">
            <a:off x="4026750" y="1688525"/>
            <a:ext cx="232800" cy="232800"/>
          </a:xfrm>
          <a:prstGeom prst="straightConnector1">
            <a:avLst/>
          </a:prstGeom>
          <a:noFill/>
          <a:ln cap="flat" cmpd="sng" w="76200">
            <a:solidFill>
              <a:srgbClr val="FFFFFF"/>
            </a:solidFill>
            <a:prstDash val="solid"/>
            <a:round/>
            <a:headEnd len="med" w="med" type="none"/>
            <a:tailEnd len="med" w="med" type="none"/>
          </a:ln>
        </p:spPr>
      </p:cxnSp>
      <p:cxnSp>
        <p:nvCxnSpPr>
          <p:cNvPr id="301" name="Google Shape;301;p50"/>
          <p:cNvCxnSpPr/>
          <p:nvPr/>
        </p:nvCxnSpPr>
        <p:spPr>
          <a:xfrm>
            <a:off x="3523925" y="1193225"/>
            <a:ext cx="219300" cy="240300"/>
          </a:xfrm>
          <a:prstGeom prst="straightConnector1">
            <a:avLst/>
          </a:prstGeom>
          <a:noFill/>
          <a:ln cap="flat" cmpd="sng" w="76200">
            <a:solidFill>
              <a:srgbClr val="FFFFFF"/>
            </a:solidFill>
            <a:prstDash val="solid"/>
            <a:round/>
            <a:headEnd len="med" w="med" type="none"/>
            <a:tailEnd len="med" w="med" type="none"/>
          </a:ln>
        </p:spPr>
      </p:cxnSp>
      <p:cxnSp>
        <p:nvCxnSpPr>
          <p:cNvPr id="302" name="Google Shape;302;p50"/>
          <p:cNvCxnSpPr/>
          <p:nvPr/>
        </p:nvCxnSpPr>
        <p:spPr>
          <a:xfrm flipH="1">
            <a:off x="3523925" y="1193225"/>
            <a:ext cx="232800" cy="232800"/>
          </a:xfrm>
          <a:prstGeom prst="straightConnector1">
            <a:avLst/>
          </a:prstGeom>
          <a:noFill/>
          <a:ln cap="flat" cmpd="sng" w="76200">
            <a:solidFill>
              <a:srgbClr val="FFFFFF"/>
            </a:solidFill>
            <a:prstDash val="solid"/>
            <a:round/>
            <a:headEnd len="med" w="med" type="none"/>
            <a:tailEnd len="med" w="med" type="none"/>
          </a:ln>
        </p:spPr>
      </p:cxnSp>
      <p:cxnSp>
        <p:nvCxnSpPr>
          <p:cNvPr id="303" name="Google Shape;303;p50"/>
          <p:cNvCxnSpPr/>
          <p:nvPr/>
        </p:nvCxnSpPr>
        <p:spPr>
          <a:xfrm>
            <a:off x="2533275" y="1216475"/>
            <a:ext cx="219300" cy="240300"/>
          </a:xfrm>
          <a:prstGeom prst="straightConnector1">
            <a:avLst/>
          </a:prstGeom>
          <a:noFill/>
          <a:ln cap="flat" cmpd="sng" w="76200">
            <a:solidFill>
              <a:srgbClr val="FFFFFF"/>
            </a:solidFill>
            <a:prstDash val="solid"/>
            <a:round/>
            <a:headEnd len="med" w="med" type="none"/>
            <a:tailEnd len="med" w="med" type="none"/>
          </a:ln>
        </p:spPr>
      </p:cxnSp>
      <p:cxnSp>
        <p:nvCxnSpPr>
          <p:cNvPr id="304" name="Google Shape;304;p50"/>
          <p:cNvCxnSpPr/>
          <p:nvPr/>
        </p:nvCxnSpPr>
        <p:spPr>
          <a:xfrm flipH="1">
            <a:off x="2533275" y="1216475"/>
            <a:ext cx="232800" cy="232800"/>
          </a:xfrm>
          <a:prstGeom prst="straightConnector1">
            <a:avLst/>
          </a:prstGeom>
          <a:noFill/>
          <a:ln cap="flat" cmpd="sng" w="76200">
            <a:solidFill>
              <a:srgbClr val="FFFFFF"/>
            </a:solidFill>
            <a:prstDash val="solid"/>
            <a:round/>
            <a:headEnd len="med" w="med" type="none"/>
            <a:tailEnd len="med" w="med" type="none"/>
          </a:ln>
        </p:spPr>
      </p:cxnSp>
      <p:cxnSp>
        <p:nvCxnSpPr>
          <p:cNvPr id="305" name="Google Shape;305;p50"/>
          <p:cNvCxnSpPr/>
          <p:nvPr/>
        </p:nvCxnSpPr>
        <p:spPr>
          <a:xfrm>
            <a:off x="3552475" y="3203000"/>
            <a:ext cx="219300" cy="240300"/>
          </a:xfrm>
          <a:prstGeom prst="straightConnector1">
            <a:avLst/>
          </a:prstGeom>
          <a:noFill/>
          <a:ln cap="flat" cmpd="sng" w="76200">
            <a:solidFill>
              <a:srgbClr val="FFFFFF"/>
            </a:solidFill>
            <a:prstDash val="solid"/>
            <a:round/>
            <a:headEnd len="med" w="med" type="none"/>
            <a:tailEnd len="med" w="med" type="none"/>
          </a:ln>
        </p:spPr>
      </p:cxnSp>
      <p:cxnSp>
        <p:nvCxnSpPr>
          <p:cNvPr id="306" name="Google Shape;306;p50"/>
          <p:cNvCxnSpPr/>
          <p:nvPr/>
        </p:nvCxnSpPr>
        <p:spPr>
          <a:xfrm flipH="1">
            <a:off x="3552475" y="3203000"/>
            <a:ext cx="232800" cy="232800"/>
          </a:xfrm>
          <a:prstGeom prst="straightConnector1">
            <a:avLst/>
          </a:prstGeom>
          <a:noFill/>
          <a:ln cap="flat" cmpd="sng" w="76200">
            <a:solidFill>
              <a:srgbClr val="FFFFFF"/>
            </a:solidFill>
            <a:prstDash val="solid"/>
            <a:round/>
            <a:headEnd len="med" w="med" type="none"/>
            <a:tailEnd len="med" w="med" type="none"/>
          </a:ln>
        </p:spPr>
      </p:cxnSp>
      <p:cxnSp>
        <p:nvCxnSpPr>
          <p:cNvPr id="307" name="Google Shape;307;p50"/>
          <p:cNvCxnSpPr/>
          <p:nvPr/>
        </p:nvCxnSpPr>
        <p:spPr>
          <a:xfrm>
            <a:off x="2533275" y="3203000"/>
            <a:ext cx="219300" cy="240300"/>
          </a:xfrm>
          <a:prstGeom prst="straightConnector1">
            <a:avLst/>
          </a:prstGeom>
          <a:noFill/>
          <a:ln cap="flat" cmpd="sng" w="76200">
            <a:solidFill>
              <a:srgbClr val="FFFFFF"/>
            </a:solidFill>
            <a:prstDash val="solid"/>
            <a:round/>
            <a:headEnd len="med" w="med" type="none"/>
            <a:tailEnd len="med" w="med" type="none"/>
          </a:ln>
        </p:spPr>
      </p:cxnSp>
      <p:cxnSp>
        <p:nvCxnSpPr>
          <p:cNvPr id="308" name="Google Shape;308;p50"/>
          <p:cNvCxnSpPr/>
          <p:nvPr/>
        </p:nvCxnSpPr>
        <p:spPr>
          <a:xfrm flipH="1">
            <a:off x="2533275" y="3203000"/>
            <a:ext cx="232800" cy="232800"/>
          </a:xfrm>
          <a:prstGeom prst="straightConnector1">
            <a:avLst/>
          </a:prstGeom>
          <a:noFill/>
          <a:ln cap="flat" cmpd="sng" w="76200">
            <a:solidFill>
              <a:srgbClr val="FFFFFF"/>
            </a:solidFill>
            <a:prstDash val="solid"/>
            <a:round/>
            <a:headEnd len="med" w="med" type="none"/>
            <a:tailEnd len="med" w="med" type="none"/>
          </a:ln>
        </p:spPr>
      </p:cxnSp>
      <p:cxnSp>
        <p:nvCxnSpPr>
          <p:cNvPr id="309" name="Google Shape;309;p50"/>
          <p:cNvCxnSpPr/>
          <p:nvPr/>
        </p:nvCxnSpPr>
        <p:spPr>
          <a:xfrm>
            <a:off x="2042775" y="2675375"/>
            <a:ext cx="219300" cy="240300"/>
          </a:xfrm>
          <a:prstGeom prst="straightConnector1">
            <a:avLst/>
          </a:prstGeom>
          <a:noFill/>
          <a:ln cap="flat" cmpd="sng" w="76200">
            <a:solidFill>
              <a:srgbClr val="FFFFFF"/>
            </a:solidFill>
            <a:prstDash val="solid"/>
            <a:round/>
            <a:headEnd len="med" w="med" type="none"/>
            <a:tailEnd len="med" w="med" type="none"/>
          </a:ln>
        </p:spPr>
      </p:cxnSp>
      <p:cxnSp>
        <p:nvCxnSpPr>
          <p:cNvPr id="310" name="Google Shape;310;p50"/>
          <p:cNvCxnSpPr/>
          <p:nvPr/>
        </p:nvCxnSpPr>
        <p:spPr>
          <a:xfrm flipH="1">
            <a:off x="2042775" y="2675375"/>
            <a:ext cx="232800" cy="232800"/>
          </a:xfrm>
          <a:prstGeom prst="straightConnector1">
            <a:avLst/>
          </a:prstGeom>
          <a:noFill/>
          <a:ln cap="flat" cmpd="sng" w="76200">
            <a:solidFill>
              <a:srgbClr val="FFFFFF"/>
            </a:solidFill>
            <a:prstDash val="solid"/>
            <a:round/>
            <a:headEnd len="med" w="med" type="none"/>
            <a:tailEnd len="med" w="med" type="none"/>
          </a:ln>
        </p:spPr>
      </p:cxnSp>
      <p:cxnSp>
        <p:nvCxnSpPr>
          <p:cNvPr id="311" name="Google Shape;311;p50"/>
          <p:cNvCxnSpPr/>
          <p:nvPr/>
        </p:nvCxnSpPr>
        <p:spPr>
          <a:xfrm>
            <a:off x="2036025" y="1684775"/>
            <a:ext cx="219300" cy="240300"/>
          </a:xfrm>
          <a:prstGeom prst="straightConnector1">
            <a:avLst/>
          </a:prstGeom>
          <a:noFill/>
          <a:ln cap="flat" cmpd="sng" w="76200">
            <a:solidFill>
              <a:srgbClr val="FFFFFF"/>
            </a:solidFill>
            <a:prstDash val="solid"/>
            <a:round/>
            <a:headEnd len="med" w="med" type="none"/>
            <a:tailEnd len="med" w="med" type="none"/>
          </a:ln>
        </p:spPr>
      </p:cxnSp>
      <p:cxnSp>
        <p:nvCxnSpPr>
          <p:cNvPr id="312" name="Google Shape;312;p50"/>
          <p:cNvCxnSpPr/>
          <p:nvPr/>
        </p:nvCxnSpPr>
        <p:spPr>
          <a:xfrm flipH="1">
            <a:off x="2036025" y="1684775"/>
            <a:ext cx="232800" cy="232800"/>
          </a:xfrm>
          <a:prstGeom prst="straightConnector1">
            <a:avLst/>
          </a:prstGeom>
          <a:noFill/>
          <a:ln cap="flat" cmpd="sng" w="76200">
            <a:solidFill>
              <a:srgbClr val="FFFFFF"/>
            </a:solidFill>
            <a:prstDash val="solid"/>
            <a:round/>
            <a:headEnd len="med" w="med" type="none"/>
            <a:tailEnd len="med" w="med"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pic>
        <p:nvPicPr>
          <p:cNvPr id="317" name="Google Shape;317;p51"/>
          <p:cNvPicPr preferRelativeResize="0"/>
          <p:nvPr/>
        </p:nvPicPr>
        <p:blipFill>
          <a:blip r:embed="rId3">
            <a:alphaModFix/>
          </a:blip>
          <a:stretch>
            <a:fillRect/>
          </a:stretch>
        </p:blipFill>
        <p:spPr>
          <a:xfrm>
            <a:off x="6459526" y="0"/>
            <a:ext cx="2684475" cy="3262325"/>
          </a:xfrm>
          <a:prstGeom prst="rect">
            <a:avLst/>
          </a:prstGeom>
          <a:noFill/>
          <a:ln>
            <a:noFill/>
          </a:ln>
        </p:spPr>
      </p:pic>
      <p:pic>
        <p:nvPicPr>
          <p:cNvPr id="318" name="Google Shape;318;p51"/>
          <p:cNvPicPr preferRelativeResize="0"/>
          <p:nvPr/>
        </p:nvPicPr>
        <p:blipFill>
          <a:blip r:embed="rId4">
            <a:alphaModFix/>
          </a:blip>
          <a:stretch>
            <a:fillRect/>
          </a:stretch>
        </p:blipFill>
        <p:spPr>
          <a:xfrm>
            <a:off x="152400" y="152400"/>
            <a:ext cx="4876800" cy="48768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2"/>
          <p:cNvSpPr txBox="1"/>
          <p:nvPr>
            <p:ph idx="1" type="body"/>
          </p:nvPr>
        </p:nvSpPr>
        <p:spPr>
          <a:xfrm>
            <a:off x="43850" y="60275"/>
            <a:ext cx="9022200" cy="5005200"/>
          </a:xfrm>
          <a:prstGeom prst="rect">
            <a:avLst/>
          </a:prstGeom>
          <a:solidFill>
            <a:schemeClr val="dk1"/>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def </a:t>
            </a:r>
            <a:r>
              <a:rPr b="1" lang="es" sz="2200">
                <a:solidFill>
                  <a:srgbClr val="00FF00"/>
                </a:solidFill>
                <a:latin typeface="Ubuntu Mono"/>
                <a:ea typeface="Ubuntu Mono"/>
                <a:cs typeface="Ubuntu Mono"/>
                <a:sym typeface="Ubuntu Mono"/>
              </a:rPr>
              <a:t>tour_caballo_rec</a:t>
            </a:r>
            <a:r>
              <a:rPr lang="es" sz="2200">
                <a:solidFill>
                  <a:srgbClr val="FFFFFF"/>
                </a:solidFill>
                <a:latin typeface="Ubuntu Mono"/>
                <a:ea typeface="Ubuntu Mono"/>
                <a:cs typeface="Ubuntu Mono"/>
                <a:sym typeface="Ubuntu Mono"/>
              </a:rPr>
              <a:t>(</a:t>
            </a:r>
            <a:r>
              <a:rPr lang="es">
                <a:solidFill>
                  <a:srgbClr val="FFFFFF"/>
                </a:solidFill>
                <a:latin typeface="Ubuntu Mono"/>
                <a:ea typeface="Ubuntu Mono"/>
                <a:cs typeface="Ubuntu Mono"/>
                <a:sym typeface="Ubuntu Mono"/>
              </a:rPr>
              <a:t>tour_actual</a:t>
            </a:r>
            <a:r>
              <a:rPr lang="es" sz="2200">
                <a:solidFill>
                  <a:srgbClr val="FFFFFF"/>
                </a:solidFill>
                <a:latin typeface="Ubuntu Mono"/>
                <a:ea typeface="Ubuntu Mono"/>
                <a:cs typeface="Ubuntu Mono"/>
                <a:sym typeface="Ubuntu Mono"/>
              </a:rPr>
              <a:t>):</a:t>
            </a:r>
            <a:endParaRPr sz="2200">
              <a:solidFill>
                <a:srgbClr val="FFFFFF"/>
              </a:solidFill>
              <a:latin typeface="Ubuntu Mono"/>
              <a:ea typeface="Ubuntu Mono"/>
              <a:cs typeface="Ubuntu Mono"/>
              <a:sym typeface="Ubuntu Mono"/>
            </a:endParaRPr>
          </a:p>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  if completo(</a:t>
            </a:r>
            <a:r>
              <a:rPr lang="es">
                <a:solidFill>
                  <a:schemeClr val="lt1"/>
                </a:solidFill>
                <a:latin typeface="Ubuntu Mono"/>
                <a:ea typeface="Ubuntu Mono"/>
                <a:cs typeface="Ubuntu Mono"/>
                <a:sym typeface="Ubuntu Mono"/>
              </a:rPr>
              <a:t>tour_actual</a:t>
            </a:r>
            <a:r>
              <a:rPr lang="es" sz="2200">
                <a:solidFill>
                  <a:srgbClr val="FFFFFF"/>
                </a:solidFill>
                <a:latin typeface="Ubuntu Mono"/>
                <a:ea typeface="Ubuntu Mono"/>
                <a:cs typeface="Ubuntu Mono"/>
                <a:sym typeface="Ubuntu Mono"/>
              </a:rPr>
              <a:t>):  return </a:t>
            </a:r>
            <a:r>
              <a:rPr b="1" lang="es" sz="2200">
                <a:solidFill>
                  <a:srgbClr val="A64D79"/>
                </a:solidFill>
                <a:latin typeface="Ubuntu Mono"/>
                <a:ea typeface="Ubuntu Mono"/>
                <a:cs typeface="Ubuntu Mono"/>
                <a:sym typeface="Ubuntu Mono"/>
              </a:rPr>
              <a:t>tour_actual</a:t>
            </a:r>
            <a:endParaRPr b="1" sz="2200">
              <a:solidFill>
                <a:srgbClr val="A64D79"/>
              </a:solidFill>
              <a:latin typeface="Ubuntu Mono"/>
              <a:ea typeface="Ubuntu Mono"/>
              <a:cs typeface="Ubuntu Mono"/>
              <a:sym typeface="Ubuntu Mono"/>
            </a:endParaRPr>
          </a:p>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  x, y = posicion_actual_caballo(</a:t>
            </a:r>
            <a:r>
              <a:rPr lang="es">
                <a:solidFill>
                  <a:schemeClr val="lt1"/>
                </a:solidFill>
                <a:latin typeface="Ubuntu Mono"/>
                <a:ea typeface="Ubuntu Mono"/>
                <a:cs typeface="Ubuntu Mono"/>
                <a:sym typeface="Ubuntu Mono"/>
              </a:rPr>
              <a:t>tour_actual</a:t>
            </a:r>
            <a:r>
              <a:rPr lang="es" sz="2200">
                <a:solidFill>
                  <a:srgbClr val="FFFFFF"/>
                </a:solidFill>
                <a:latin typeface="Ubuntu Mono"/>
                <a:ea typeface="Ubuntu Mono"/>
                <a:cs typeface="Ubuntu Mono"/>
                <a:sym typeface="Ubuntu Mono"/>
              </a:rPr>
              <a:t>)</a:t>
            </a:r>
            <a:endParaRPr sz="2200">
              <a:solidFill>
                <a:srgbClr val="FFFFFF"/>
              </a:solidFill>
              <a:latin typeface="Ubuntu Mono"/>
              <a:ea typeface="Ubuntu Mono"/>
              <a:cs typeface="Ubuntu Mono"/>
              <a:sym typeface="Ubuntu Mono"/>
            </a:endParaRPr>
          </a:p>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  for </a:t>
            </a:r>
            <a:r>
              <a:rPr lang="es" sz="2200">
                <a:solidFill>
                  <a:srgbClr val="A4C2F4"/>
                </a:solidFill>
                <a:latin typeface="Ubuntu Mono"/>
                <a:ea typeface="Ubuntu Mono"/>
                <a:cs typeface="Ubuntu Mono"/>
                <a:sym typeface="Ubuntu Mono"/>
              </a:rPr>
              <a:t>fila, col</a:t>
            </a:r>
            <a:r>
              <a:rPr lang="es" sz="2200">
                <a:solidFill>
                  <a:srgbClr val="FFFFFF"/>
                </a:solidFill>
                <a:latin typeface="Ubuntu Mono"/>
                <a:ea typeface="Ubuntu Mono"/>
                <a:cs typeface="Ubuntu Mono"/>
                <a:sym typeface="Ubuntu Mono"/>
              </a:rPr>
              <a:t> in movimientos_caballo(x,y):</a:t>
            </a:r>
            <a:endParaRPr sz="2200">
              <a:solidFill>
                <a:srgbClr val="FFFFFF"/>
              </a:solidFill>
              <a:latin typeface="Ubuntu Mono"/>
              <a:ea typeface="Ubuntu Mono"/>
              <a:cs typeface="Ubuntu Mono"/>
              <a:sym typeface="Ubuntu Mono"/>
            </a:endParaRPr>
          </a:p>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    if not dentro_de_tablero(</a:t>
            </a:r>
            <a:r>
              <a:rPr lang="es" sz="2200">
                <a:solidFill>
                  <a:srgbClr val="A4C2F4"/>
                </a:solidFill>
                <a:latin typeface="Ubuntu Mono"/>
                <a:ea typeface="Ubuntu Mono"/>
                <a:cs typeface="Ubuntu Mono"/>
                <a:sym typeface="Ubuntu Mono"/>
              </a:rPr>
              <a:t>fila, col</a:t>
            </a:r>
            <a:r>
              <a:rPr lang="es" sz="2200">
                <a:solidFill>
                  <a:srgbClr val="FFFFFF"/>
                </a:solidFill>
                <a:latin typeface="Ubuntu Mono"/>
                <a:ea typeface="Ubuntu Mono"/>
                <a:cs typeface="Ubuntu Mono"/>
                <a:sym typeface="Ubuntu Mono"/>
              </a:rPr>
              <a:t>): </a:t>
            </a:r>
            <a:r>
              <a:rPr b="1" lang="es" sz="2200">
                <a:solidFill>
                  <a:srgbClr val="00FFFF"/>
                </a:solidFill>
                <a:latin typeface="Ubuntu Mono"/>
                <a:ea typeface="Ubuntu Mono"/>
                <a:cs typeface="Ubuntu Mono"/>
                <a:sym typeface="Ubuntu Mono"/>
              </a:rPr>
              <a:t>continue</a:t>
            </a:r>
            <a:endParaRPr b="1" sz="2200">
              <a:solidFill>
                <a:srgbClr val="00FFFF"/>
              </a:solidFill>
              <a:latin typeface="Ubuntu Mono"/>
              <a:ea typeface="Ubuntu Mono"/>
              <a:cs typeface="Ubuntu Mono"/>
              <a:sym typeface="Ubuntu Mono"/>
            </a:endParaRPr>
          </a:p>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    if casillero_ya_marcado(fila, col): </a:t>
            </a:r>
            <a:r>
              <a:rPr b="1" lang="es" sz="2200">
                <a:solidFill>
                  <a:srgbClr val="00FFFF"/>
                </a:solidFill>
                <a:latin typeface="Ubuntu Mono"/>
                <a:ea typeface="Ubuntu Mono"/>
                <a:cs typeface="Ubuntu Mono"/>
                <a:sym typeface="Ubuntu Mono"/>
              </a:rPr>
              <a:t>continue</a:t>
            </a:r>
            <a:endParaRPr b="1" sz="2200">
              <a:solidFill>
                <a:srgbClr val="00FFFF"/>
              </a:solidFill>
              <a:latin typeface="Ubuntu Mono"/>
              <a:ea typeface="Ubuntu Mono"/>
              <a:cs typeface="Ubuntu Mono"/>
              <a:sym typeface="Ubuntu Mono"/>
            </a:endParaRPr>
          </a:p>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    agregar_decision(</a:t>
            </a:r>
            <a:r>
              <a:rPr lang="es">
                <a:solidFill>
                  <a:srgbClr val="FFFFFF"/>
                </a:solidFill>
                <a:latin typeface="Ubuntu Mono"/>
                <a:ea typeface="Ubuntu Mono"/>
                <a:cs typeface="Ubuntu Mono"/>
                <a:sym typeface="Ubuntu Mono"/>
              </a:rPr>
              <a:t>(</a:t>
            </a:r>
            <a:r>
              <a:rPr lang="es">
                <a:solidFill>
                  <a:srgbClr val="A4C2F4"/>
                </a:solidFill>
                <a:latin typeface="Ubuntu Mono"/>
                <a:ea typeface="Ubuntu Mono"/>
                <a:cs typeface="Ubuntu Mono"/>
                <a:sym typeface="Ubuntu Mono"/>
              </a:rPr>
              <a:t>fila, col</a:t>
            </a:r>
            <a:r>
              <a:rPr lang="es">
                <a:solidFill>
                  <a:srgbClr val="FFFFFF"/>
                </a:solidFill>
                <a:latin typeface="Ubuntu Mono"/>
                <a:ea typeface="Ubuntu Mono"/>
                <a:cs typeface="Ubuntu Mono"/>
                <a:sym typeface="Ubuntu Mono"/>
              </a:rPr>
              <a:t>),</a:t>
            </a:r>
            <a:r>
              <a:rPr lang="es" sz="2200">
                <a:solidFill>
                  <a:srgbClr val="FFFFFF"/>
                </a:solidFill>
                <a:latin typeface="Ubuntu Mono"/>
                <a:ea typeface="Ubuntu Mono"/>
                <a:cs typeface="Ubuntu Mono"/>
                <a:sym typeface="Ubuntu Mono"/>
              </a:rPr>
              <a:t> </a:t>
            </a:r>
            <a:r>
              <a:rPr lang="es">
                <a:solidFill>
                  <a:schemeClr val="lt1"/>
                </a:solidFill>
                <a:latin typeface="Ubuntu Mono"/>
                <a:ea typeface="Ubuntu Mono"/>
                <a:cs typeface="Ubuntu Mono"/>
                <a:sym typeface="Ubuntu Mono"/>
              </a:rPr>
              <a:t>tour_actual</a:t>
            </a:r>
            <a:r>
              <a:rPr lang="es" sz="2200">
                <a:solidFill>
                  <a:srgbClr val="FFFFFF"/>
                </a:solidFill>
                <a:latin typeface="Ubuntu Mono"/>
                <a:ea typeface="Ubuntu Mono"/>
                <a:cs typeface="Ubuntu Mono"/>
                <a:sym typeface="Ubuntu Mono"/>
              </a:rPr>
              <a:t>)</a:t>
            </a:r>
            <a:endParaRPr sz="2200">
              <a:solidFill>
                <a:srgbClr val="FFFFFF"/>
              </a:solidFill>
              <a:latin typeface="Ubuntu Mono"/>
              <a:ea typeface="Ubuntu Mono"/>
              <a:cs typeface="Ubuntu Mono"/>
              <a:sym typeface="Ubuntu Mono"/>
            </a:endParaRPr>
          </a:p>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    if (</a:t>
            </a:r>
            <a:r>
              <a:rPr b="1" lang="es" sz="2200">
                <a:solidFill>
                  <a:srgbClr val="00FF00"/>
                </a:solidFill>
                <a:latin typeface="Ubuntu Mono"/>
                <a:ea typeface="Ubuntu Mono"/>
                <a:cs typeface="Ubuntu Mono"/>
                <a:sym typeface="Ubuntu Mono"/>
              </a:rPr>
              <a:t>tour_caballo_rec</a:t>
            </a:r>
            <a:r>
              <a:rPr lang="es" sz="2200">
                <a:solidFill>
                  <a:srgbClr val="FFFFFF"/>
                </a:solidFill>
                <a:latin typeface="Ubuntu Mono"/>
                <a:ea typeface="Ubuntu Mono"/>
                <a:cs typeface="Ubuntu Mono"/>
                <a:sym typeface="Ubuntu Mono"/>
              </a:rPr>
              <a:t>(</a:t>
            </a:r>
            <a:r>
              <a:rPr lang="es">
                <a:solidFill>
                  <a:schemeClr val="lt1"/>
                </a:solidFill>
                <a:latin typeface="Ubuntu Mono"/>
                <a:ea typeface="Ubuntu Mono"/>
                <a:cs typeface="Ubuntu Mono"/>
                <a:sym typeface="Ubuntu Mono"/>
              </a:rPr>
              <a:t>tour_actual</a:t>
            </a:r>
            <a:r>
              <a:rPr lang="es" sz="2200">
                <a:solidFill>
                  <a:srgbClr val="FFFFFF"/>
                </a:solidFill>
                <a:latin typeface="Ubuntu Mono"/>
                <a:ea typeface="Ubuntu Mono"/>
                <a:cs typeface="Ubuntu Mono"/>
                <a:sym typeface="Ubuntu Mono"/>
              </a:rPr>
              <a:t>)): </a:t>
            </a:r>
            <a:endParaRPr sz="2200">
              <a:solidFill>
                <a:srgbClr val="FFFFFF"/>
              </a:solidFill>
              <a:latin typeface="Ubuntu Mono"/>
              <a:ea typeface="Ubuntu Mono"/>
              <a:cs typeface="Ubuntu Mono"/>
              <a:sym typeface="Ubuntu Mono"/>
            </a:endParaRPr>
          </a:p>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      return </a:t>
            </a:r>
            <a:r>
              <a:rPr b="1" lang="es" sz="2200">
                <a:solidFill>
                  <a:srgbClr val="A64D79"/>
                </a:solidFill>
                <a:latin typeface="Ubuntu Mono"/>
                <a:ea typeface="Ubuntu Mono"/>
                <a:cs typeface="Ubuntu Mono"/>
                <a:sym typeface="Ubuntu Mono"/>
              </a:rPr>
              <a:t>tour_actual</a:t>
            </a:r>
            <a:endParaRPr b="1" sz="2200">
              <a:solidFill>
                <a:srgbClr val="B6D7A8"/>
              </a:solidFill>
              <a:latin typeface="Ubuntu Mono"/>
              <a:ea typeface="Ubuntu Mono"/>
              <a:cs typeface="Ubuntu Mono"/>
              <a:sym typeface="Ubuntu Mono"/>
            </a:endParaRPr>
          </a:p>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    deshacer_desicion(</a:t>
            </a:r>
            <a:r>
              <a:rPr lang="es">
                <a:solidFill>
                  <a:schemeClr val="lt1"/>
                </a:solidFill>
                <a:latin typeface="Ubuntu Mono"/>
                <a:ea typeface="Ubuntu Mono"/>
                <a:cs typeface="Ubuntu Mono"/>
                <a:sym typeface="Ubuntu Mono"/>
              </a:rPr>
              <a:t>(</a:t>
            </a:r>
            <a:r>
              <a:rPr lang="es">
                <a:solidFill>
                  <a:srgbClr val="A4C2F4"/>
                </a:solidFill>
                <a:latin typeface="Ubuntu Mono"/>
                <a:ea typeface="Ubuntu Mono"/>
                <a:cs typeface="Ubuntu Mono"/>
                <a:sym typeface="Ubuntu Mono"/>
              </a:rPr>
              <a:t>fila, col</a:t>
            </a:r>
            <a:r>
              <a:rPr lang="es">
                <a:solidFill>
                  <a:schemeClr val="lt1"/>
                </a:solidFill>
                <a:latin typeface="Ubuntu Mono"/>
                <a:ea typeface="Ubuntu Mono"/>
                <a:cs typeface="Ubuntu Mono"/>
                <a:sym typeface="Ubuntu Mono"/>
              </a:rPr>
              <a:t>)</a:t>
            </a:r>
            <a:r>
              <a:rPr lang="es" sz="2200">
                <a:solidFill>
                  <a:srgbClr val="FFFFFF"/>
                </a:solidFill>
                <a:latin typeface="Ubuntu Mono"/>
                <a:ea typeface="Ubuntu Mono"/>
                <a:cs typeface="Ubuntu Mono"/>
                <a:sym typeface="Ubuntu Mono"/>
              </a:rPr>
              <a:t>)                                </a:t>
            </a:r>
            <a:endParaRPr sz="2200">
              <a:solidFill>
                <a:srgbClr val="FFFFFF"/>
              </a:solidFill>
              <a:latin typeface="Ubuntu Mono"/>
              <a:ea typeface="Ubuntu Mono"/>
              <a:cs typeface="Ubuntu Mono"/>
              <a:sym typeface="Ubuntu Mono"/>
            </a:endParaRPr>
          </a:p>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  return </a:t>
            </a:r>
            <a:r>
              <a:rPr b="1" lang="es" sz="2200">
                <a:solidFill>
                  <a:srgbClr val="FF0000"/>
                </a:solidFill>
                <a:latin typeface="Ubuntu Mono"/>
                <a:ea typeface="Ubuntu Mono"/>
                <a:cs typeface="Ubuntu Mono"/>
                <a:sym typeface="Ubuntu Mono"/>
              </a:rPr>
              <a:t>None</a:t>
            </a:r>
            <a:endParaRPr b="1" sz="2200">
              <a:solidFill>
                <a:srgbClr val="FF0000"/>
              </a:solidFill>
              <a:latin typeface="Ubuntu Mono"/>
              <a:ea typeface="Ubuntu Mono"/>
              <a:cs typeface="Ubuntu Mono"/>
              <a:sym typeface="Ubuntu Mon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3"/>
          <p:cNvSpPr/>
          <p:nvPr/>
        </p:nvSpPr>
        <p:spPr>
          <a:xfrm>
            <a:off x="416725" y="3068150"/>
            <a:ext cx="5076300" cy="634500"/>
          </a:xfrm>
          <a:prstGeom prst="rect">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53"/>
          <p:cNvSpPr/>
          <p:nvPr/>
        </p:nvSpPr>
        <p:spPr>
          <a:xfrm>
            <a:off x="323575" y="1091900"/>
            <a:ext cx="5472600" cy="335100"/>
          </a:xfrm>
          <a:prstGeom prst="rect">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53"/>
          <p:cNvSpPr txBox="1"/>
          <p:nvPr>
            <p:ph idx="1" type="body"/>
          </p:nvPr>
        </p:nvSpPr>
        <p:spPr>
          <a:xfrm>
            <a:off x="43850" y="60275"/>
            <a:ext cx="9022200" cy="5005200"/>
          </a:xfrm>
          <a:prstGeom prst="rect">
            <a:avLst/>
          </a:prstGeom>
          <a:solidFill>
            <a:schemeClr val="dk1"/>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def </a:t>
            </a:r>
            <a:r>
              <a:rPr b="1" lang="es" sz="2200">
                <a:solidFill>
                  <a:srgbClr val="00FF00"/>
                </a:solidFill>
                <a:latin typeface="Ubuntu Mono"/>
                <a:ea typeface="Ubuntu Mono"/>
                <a:cs typeface="Ubuntu Mono"/>
                <a:sym typeface="Ubuntu Mono"/>
              </a:rPr>
              <a:t>tour_caballo_rec</a:t>
            </a:r>
            <a:r>
              <a:rPr lang="es" sz="2200">
                <a:solidFill>
                  <a:srgbClr val="FFFFFF"/>
                </a:solidFill>
                <a:latin typeface="Ubuntu Mono"/>
                <a:ea typeface="Ubuntu Mono"/>
                <a:cs typeface="Ubuntu Mono"/>
                <a:sym typeface="Ubuntu Mono"/>
              </a:rPr>
              <a:t>(</a:t>
            </a:r>
            <a:r>
              <a:rPr lang="es">
                <a:solidFill>
                  <a:srgbClr val="FFFFFF"/>
                </a:solidFill>
                <a:latin typeface="Ubuntu Mono"/>
                <a:ea typeface="Ubuntu Mono"/>
                <a:cs typeface="Ubuntu Mono"/>
                <a:sym typeface="Ubuntu Mono"/>
              </a:rPr>
              <a:t>tour_actual</a:t>
            </a:r>
            <a:r>
              <a:rPr lang="es" sz="2200">
                <a:solidFill>
                  <a:srgbClr val="FFFFFF"/>
                </a:solidFill>
                <a:latin typeface="Ubuntu Mono"/>
                <a:ea typeface="Ubuntu Mono"/>
                <a:cs typeface="Ubuntu Mono"/>
                <a:sym typeface="Ubuntu Mono"/>
              </a:rPr>
              <a:t>):</a:t>
            </a:r>
            <a:endParaRPr sz="2200">
              <a:solidFill>
                <a:srgbClr val="FFFFFF"/>
              </a:solidFill>
              <a:latin typeface="Ubuntu Mono"/>
              <a:ea typeface="Ubuntu Mono"/>
              <a:cs typeface="Ubuntu Mono"/>
              <a:sym typeface="Ubuntu Mono"/>
            </a:endParaRPr>
          </a:p>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  if completo(</a:t>
            </a:r>
            <a:r>
              <a:rPr lang="es">
                <a:solidFill>
                  <a:schemeClr val="lt1"/>
                </a:solidFill>
                <a:latin typeface="Ubuntu Mono"/>
                <a:ea typeface="Ubuntu Mono"/>
                <a:cs typeface="Ubuntu Mono"/>
                <a:sym typeface="Ubuntu Mono"/>
              </a:rPr>
              <a:t>tour_actual</a:t>
            </a:r>
            <a:r>
              <a:rPr lang="es" sz="2200">
                <a:solidFill>
                  <a:srgbClr val="FFFFFF"/>
                </a:solidFill>
                <a:latin typeface="Ubuntu Mono"/>
                <a:ea typeface="Ubuntu Mono"/>
                <a:cs typeface="Ubuntu Mono"/>
                <a:sym typeface="Ubuntu Mono"/>
              </a:rPr>
              <a:t>):  return </a:t>
            </a:r>
            <a:r>
              <a:rPr b="1" lang="es" sz="2200">
                <a:solidFill>
                  <a:srgbClr val="A64D79"/>
                </a:solidFill>
                <a:latin typeface="Ubuntu Mono"/>
                <a:ea typeface="Ubuntu Mono"/>
                <a:cs typeface="Ubuntu Mono"/>
                <a:sym typeface="Ubuntu Mono"/>
              </a:rPr>
              <a:t>tour_actual</a:t>
            </a:r>
            <a:endParaRPr b="1" sz="2200">
              <a:solidFill>
                <a:srgbClr val="A64D79"/>
              </a:solidFill>
              <a:latin typeface="Ubuntu Mono"/>
              <a:ea typeface="Ubuntu Mono"/>
              <a:cs typeface="Ubuntu Mono"/>
              <a:sym typeface="Ubuntu Mono"/>
            </a:endParaRPr>
          </a:p>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  x, y = posicion_actual_caballo(</a:t>
            </a:r>
            <a:r>
              <a:rPr lang="es">
                <a:solidFill>
                  <a:schemeClr val="lt1"/>
                </a:solidFill>
                <a:latin typeface="Ubuntu Mono"/>
                <a:ea typeface="Ubuntu Mono"/>
                <a:cs typeface="Ubuntu Mono"/>
                <a:sym typeface="Ubuntu Mono"/>
              </a:rPr>
              <a:t>tour_actual</a:t>
            </a:r>
            <a:r>
              <a:rPr lang="es" sz="2200">
                <a:solidFill>
                  <a:srgbClr val="FFFFFF"/>
                </a:solidFill>
                <a:latin typeface="Ubuntu Mono"/>
                <a:ea typeface="Ubuntu Mono"/>
                <a:cs typeface="Ubuntu Mono"/>
                <a:sym typeface="Ubuntu Mono"/>
              </a:rPr>
              <a:t>)</a:t>
            </a:r>
            <a:endParaRPr sz="2200">
              <a:solidFill>
                <a:srgbClr val="FFFFFF"/>
              </a:solidFill>
              <a:latin typeface="Ubuntu Mono"/>
              <a:ea typeface="Ubuntu Mono"/>
              <a:cs typeface="Ubuntu Mono"/>
              <a:sym typeface="Ubuntu Mono"/>
            </a:endParaRPr>
          </a:p>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  for </a:t>
            </a:r>
            <a:r>
              <a:rPr lang="es" sz="2200">
                <a:solidFill>
                  <a:srgbClr val="A4C2F4"/>
                </a:solidFill>
                <a:latin typeface="Ubuntu Mono"/>
                <a:ea typeface="Ubuntu Mono"/>
                <a:cs typeface="Ubuntu Mono"/>
                <a:sym typeface="Ubuntu Mono"/>
              </a:rPr>
              <a:t>fila, col</a:t>
            </a:r>
            <a:r>
              <a:rPr lang="es" sz="2200">
                <a:solidFill>
                  <a:srgbClr val="FFFFFF"/>
                </a:solidFill>
                <a:latin typeface="Ubuntu Mono"/>
                <a:ea typeface="Ubuntu Mono"/>
                <a:cs typeface="Ubuntu Mono"/>
                <a:sym typeface="Ubuntu Mono"/>
              </a:rPr>
              <a:t> in movimientos_caballo(x,y):</a:t>
            </a:r>
            <a:endParaRPr sz="2200">
              <a:solidFill>
                <a:srgbClr val="FFFFFF"/>
              </a:solidFill>
              <a:latin typeface="Ubuntu Mono"/>
              <a:ea typeface="Ubuntu Mono"/>
              <a:cs typeface="Ubuntu Mono"/>
              <a:sym typeface="Ubuntu Mono"/>
            </a:endParaRPr>
          </a:p>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    if not dentro_de_tablero(</a:t>
            </a:r>
            <a:r>
              <a:rPr lang="es" sz="2200">
                <a:solidFill>
                  <a:srgbClr val="A4C2F4"/>
                </a:solidFill>
                <a:latin typeface="Ubuntu Mono"/>
                <a:ea typeface="Ubuntu Mono"/>
                <a:cs typeface="Ubuntu Mono"/>
                <a:sym typeface="Ubuntu Mono"/>
              </a:rPr>
              <a:t>fila, col</a:t>
            </a:r>
            <a:r>
              <a:rPr lang="es" sz="2200">
                <a:solidFill>
                  <a:srgbClr val="FFFFFF"/>
                </a:solidFill>
                <a:latin typeface="Ubuntu Mono"/>
                <a:ea typeface="Ubuntu Mono"/>
                <a:cs typeface="Ubuntu Mono"/>
                <a:sym typeface="Ubuntu Mono"/>
              </a:rPr>
              <a:t>): </a:t>
            </a:r>
            <a:r>
              <a:rPr b="1" lang="es" sz="2200">
                <a:solidFill>
                  <a:srgbClr val="00FFFF"/>
                </a:solidFill>
                <a:latin typeface="Ubuntu Mono"/>
                <a:ea typeface="Ubuntu Mono"/>
                <a:cs typeface="Ubuntu Mono"/>
                <a:sym typeface="Ubuntu Mono"/>
              </a:rPr>
              <a:t>continue</a:t>
            </a:r>
            <a:endParaRPr b="1" sz="2200">
              <a:solidFill>
                <a:srgbClr val="00FFFF"/>
              </a:solidFill>
              <a:latin typeface="Ubuntu Mono"/>
              <a:ea typeface="Ubuntu Mono"/>
              <a:cs typeface="Ubuntu Mono"/>
              <a:sym typeface="Ubuntu Mono"/>
            </a:endParaRPr>
          </a:p>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    if casillero_ya_marcado(fila, col): </a:t>
            </a:r>
            <a:r>
              <a:rPr b="1" lang="es" sz="2200">
                <a:solidFill>
                  <a:srgbClr val="00FFFF"/>
                </a:solidFill>
                <a:latin typeface="Ubuntu Mono"/>
                <a:ea typeface="Ubuntu Mono"/>
                <a:cs typeface="Ubuntu Mono"/>
                <a:sym typeface="Ubuntu Mono"/>
              </a:rPr>
              <a:t>continue</a:t>
            </a:r>
            <a:endParaRPr b="1" sz="2200">
              <a:solidFill>
                <a:srgbClr val="00FFFF"/>
              </a:solidFill>
              <a:latin typeface="Ubuntu Mono"/>
              <a:ea typeface="Ubuntu Mono"/>
              <a:cs typeface="Ubuntu Mono"/>
              <a:sym typeface="Ubuntu Mono"/>
            </a:endParaRPr>
          </a:p>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    agregar_decision(</a:t>
            </a:r>
            <a:r>
              <a:rPr lang="es">
                <a:solidFill>
                  <a:srgbClr val="FFFFFF"/>
                </a:solidFill>
                <a:latin typeface="Ubuntu Mono"/>
                <a:ea typeface="Ubuntu Mono"/>
                <a:cs typeface="Ubuntu Mono"/>
                <a:sym typeface="Ubuntu Mono"/>
              </a:rPr>
              <a:t>(</a:t>
            </a:r>
            <a:r>
              <a:rPr lang="es">
                <a:solidFill>
                  <a:srgbClr val="A4C2F4"/>
                </a:solidFill>
                <a:latin typeface="Ubuntu Mono"/>
                <a:ea typeface="Ubuntu Mono"/>
                <a:cs typeface="Ubuntu Mono"/>
                <a:sym typeface="Ubuntu Mono"/>
              </a:rPr>
              <a:t>fila, col</a:t>
            </a:r>
            <a:r>
              <a:rPr lang="es">
                <a:solidFill>
                  <a:srgbClr val="FFFFFF"/>
                </a:solidFill>
                <a:latin typeface="Ubuntu Mono"/>
                <a:ea typeface="Ubuntu Mono"/>
                <a:cs typeface="Ubuntu Mono"/>
                <a:sym typeface="Ubuntu Mono"/>
              </a:rPr>
              <a:t>),</a:t>
            </a:r>
            <a:r>
              <a:rPr lang="es" sz="2200">
                <a:solidFill>
                  <a:srgbClr val="FFFFFF"/>
                </a:solidFill>
                <a:latin typeface="Ubuntu Mono"/>
                <a:ea typeface="Ubuntu Mono"/>
                <a:cs typeface="Ubuntu Mono"/>
                <a:sym typeface="Ubuntu Mono"/>
              </a:rPr>
              <a:t> </a:t>
            </a:r>
            <a:r>
              <a:rPr lang="es">
                <a:solidFill>
                  <a:schemeClr val="lt1"/>
                </a:solidFill>
                <a:latin typeface="Ubuntu Mono"/>
                <a:ea typeface="Ubuntu Mono"/>
                <a:cs typeface="Ubuntu Mono"/>
                <a:sym typeface="Ubuntu Mono"/>
              </a:rPr>
              <a:t>tour_actual</a:t>
            </a:r>
            <a:r>
              <a:rPr lang="es" sz="2200">
                <a:solidFill>
                  <a:srgbClr val="FFFFFF"/>
                </a:solidFill>
                <a:latin typeface="Ubuntu Mono"/>
                <a:ea typeface="Ubuntu Mono"/>
                <a:cs typeface="Ubuntu Mono"/>
                <a:sym typeface="Ubuntu Mono"/>
              </a:rPr>
              <a:t>)</a:t>
            </a:r>
            <a:endParaRPr sz="2200">
              <a:solidFill>
                <a:srgbClr val="FFFFFF"/>
              </a:solidFill>
              <a:latin typeface="Ubuntu Mono"/>
              <a:ea typeface="Ubuntu Mono"/>
              <a:cs typeface="Ubuntu Mono"/>
              <a:sym typeface="Ubuntu Mono"/>
            </a:endParaRPr>
          </a:p>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    if (</a:t>
            </a:r>
            <a:r>
              <a:rPr b="1" lang="es" sz="2200">
                <a:solidFill>
                  <a:srgbClr val="00FF00"/>
                </a:solidFill>
                <a:latin typeface="Ubuntu Mono"/>
                <a:ea typeface="Ubuntu Mono"/>
                <a:cs typeface="Ubuntu Mono"/>
                <a:sym typeface="Ubuntu Mono"/>
              </a:rPr>
              <a:t>tour_caballo_rec</a:t>
            </a:r>
            <a:r>
              <a:rPr lang="es" sz="2200">
                <a:solidFill>
                  <a:srgbClr val="FFFFFF"/>
                </a:solidFill>
                <a:latin typeface="Ubuntu Mono"/>
                <a:ea typeface="Ubuntu Mono"/>
                <a:cs typeface="Ubuntu Mono"/>
                <a:sym typeface="Ubuntu Mono"/>
              </a:rPr>
              <a:t>(</a:t>
            </a:r>
            <a:r>
              <a:rPr lang="es">
                <a:solidFill>
                  <a:schemeClr val="lt1"/>
                </a:solidFill>
                <a:latin typeface="Ubuntu Mono"/>
                <a:ea typeface="Ubuntu Mono"/>
                <a:cs typeface="Ubuntu Mono"/>
                <a:sym typeface="Ubuntu Mono"/>
              </a:rPr>
              <a:t>tour_actual</a:t>
            </a:r>
            <a:r>
              <a:rPr lang="es" sz="2200">
                <a:solidFill>
                  <a:srgbClr val="FFFFFF"/>
                </a:solidFill>
                <a:latin typeface="Ubuntu Mono"/>
                <a:ea typeface="Ubuntu Mono"/>
                <a:cs typeface="Ubuntu Mono"/>
                <a:sym typeface="Ubuntu Mono"/>
              </a:rPr>
              <a:t>)): </a:t>
            </a:r>
            <a:endParaRPr sz="2200">
              <a:solidFill>
                <a:srgbClr val="FFFFFF"/>
              </a:solidFill>
              <a:latin typeface="Ubuntu Mono"/>
              <a:ea typeface="Ubuntu Mono"/>
              <a:cs typeface="Ubuntu Mono"/>
              <a:sym typeface="Ubuntu Mono"/>
            </a:endParaRPr>
          </a:p>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      return </a:t>
            </a:r>
            <a:r>
              <a:rPr b="1" lang="es" sz="2200">
                <a:solidFill>
                  <a:srgbClr val="A64D79"/>
                </a:solidFill>
                <a:latin typeface="Ubuntu Mono"/>
                <a:ea typeface="Ubuntu Mono"/>
                <a:cs typeface="Ubuntu Mono"/>
                <a:sym typeface="Ubuntu Mono"/>
              </a:rPr>
              <a:t>tour_actual</a:t>
            </a:r>
            <a:endParaRPr b="1" sz="2200">
              <a:solidFill>
                <a:srgbClr val="B6D7A8"/>
              </a:solidFill>
              <a:latin typeface="Ubuntu Mono"/>
              <a:ea typeface="Ubuntu Mono"/>
              <a:cs typeface="Ubuntu Mono"/>
              <a:sym typeface="Ubuntu Mono"/>
            </a:endParaRPr>
          </a:p>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    deshacer_desicion(</a:t>
            </a:r>
            <a:r>
              <a:rPr lang="es">
                <a:solidFill>
                  <a:schemeClr val="lt1"/>
                </a:solidFill>
                <a:latin typeface="Ubuntu Mono"/>
                <a:ea typeface="Ubuntu Mono"/>
                <a:cs typeface="Ubuntu Mono"/>
                <a:sym typeface="Ubuntu Mono"/>
              </a:rPr>
              <a:t>(</a:t>
            </a:r>
            <a:r>
              <a:rPr lang="es">
                <a:solidFill>
                  <a:srgbClr val="A4C2F4"/>
                </a:solidFill>
                <a:latin typeface="Ubuntu Mono"/>
                <a:ea typeface="Ubuntu Mono"/>
                <a:cs typeface="Ubuntu Mono"/>
                <a:sym typeface="Ubuntu Mono"/>
              </a:rPr>
              <a:t>fila, col</a:t>
            </a:r>
            <a:r>
              <a:rPr lang="es">
                <a:solidFill>
                  <a:schemeClr val="lt1"/>
                </a:solidFill>
                <a:latin typeface="Ubuntu Mono"/>
                <a:ea typeface="Ubuntu Mono"/>
                <a:cs typeface="Ubuntu Mono"/>
                <a:sym typeface="Ubuntu Mono"/>
              </a:rPr>
              <a:t>)</a:t>
            </a:r>
            <a:r>
              <a:rPr lang="es" sz="2200">
                <a:solidFill>
                  <a:srgbClr val="FFFFFF"/>
                </a:solidFill>
                <a:latin typeface="Ubuntu Mono"/>
                <a:ea typeface="Ubuntu Mono"/>
                <a:cs typeface="Ubuntu Mono"/>
                <a:sym typeface="Ubuntu Mono"/>
              </a:rPr>
              <a:t>)                                </a:t>
            </a:r>
            <a:endParaRPr sz="2200">
              <a:solidFill>
                <a:srgbClr val="FFFFFF"/>
              </a:solidFill>
              <a:latin typeface="Ubuntu Mono"/>
              <a:ea typeface="Ubuntu Mono"/>
              <a:cs typeface="Ubuntu Mono"/>
              <a:sym typeface="Ubuntu Mono"/>
            </a:endParaRPr>
          </a:p>
          <a:p>
            <a:pPr indent="0" lvl="0" marL="0" rtl="0" algn="l">
              <a:lnSpc>
                <a:spcPct val="100000"/>
              </a:lnSpc>
              <a:spcBef>
                <a:spcPts val="0"/>
              </a:spcBef>
              <a:spcAft>
                <a:spcPts val="0"/>
              </a:spcAft>
              <a:buNone/>
            </a:pPr>
            <a:r>
              <a:rPr lang="es" sz="2200">
                <a:solidFill>
                  <a:srgbClr val="FFFFFF"/>
                </a:solidFill>
                <a:latin typeface="Ubuntu Mono"/>
                <a:ea typeface="Ubuntu Mono"/>
                <a:cs typeface="Ubuntu Mono"/>
                <a:sym typeface="Ubuntu Mono"/>
              </a:rPr>
              <a:t>  return </a:t>
            </a:r>
            <a:r>
              <a:rPr b="1" lang="es" sz="2200">
                <a:solidFill>
                  <a:srgbClr val="FF0000"/>
                </a:solidFill>
                <a:latin typeface="Ubuntu Mono"/>
                <a:ea typeface="Ubuntu Mono"/>
                <a:cs typeface="Ubuntu Mono"/>
                <a:sym typeface="Ubuntu Mono"/>
              </a:rPr>
              <a:t>None</a:t>
            </a:r>
            <a:endParaRPr b="1" sz="2200">
              <a:solidFill>
                <a:srgbClr val="FF0000"/>
              </a:solidFill>
              <a:latin typeface="Ubuntu Mono"/>
              <a:ea typeface="Ubuntu Mono"/>
              <a:cs typeface="Ubuntu Mono"/>
              <a:sym typeface="Ubuntu Mono"/>
            </a:endParaRPr>
          </a:p>
        </p:txBody>
      </p:sp>
      <p:sp>
        <p:nvSpPr>
          <p:cNvPr id="331" name="Google Shape;331;p53"/>
          <p:cNvSpPr txBox="1"/>
          <p:nvPr/>
        </p:nvSpPr>
        <p:spPr>
          <a:xfrm>
            <a:off x="3390950" y="4136550"/>
            <a:ext cx="5472600" cy="829800"/>
          </a:xfrm>
          <a:prstGeom prst="rect">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700">
                <a:solidFill>
                  <a:srgbClr val="FF0000"/>
                </a:solidFill>
              </a:rPr>
              <a:t>no encontró solución,probamos con todas las opciones para esta decisión, no funcionaron. VOLVEMOS para atrás</a:t>
            </a:r>
            <a:endParaRPr sz="1700">
              <a:solidFill>
                <a:srgbClr val="FF0000"/>
              </a:solidFill>
            </a:endParaRPr>
          </a:p>
        </p:txBody>
      </p:sp>
      <p:sp>
        <p:nvSpPr>
          <p:cNvPr id="332" name="Google Shape;332;p53"/>
          <p:cNvSpPr txBox="1"/>
          <p:nvPr/>
        </p:nvSpPr>
        <p:spPr>
          <a:xfrm>
            <a:off x="6610925" y="482650"/>
            <a:ext cx="2106600" cy="403200"/>
          </a:xfrm>
          <a:prstGeom prst="rect">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900">
                <a:solidFill>
                  <a:srgbClr val="C27BA0"/>
                </a:solidFill>
              </a:rPr>
              <a:t>encontró solución</a:t>
            </a:r>
            <a:endParaRPr sz="1900">
              <a:solidFill>
                <a:srgbClr val="C27BA0"/>
              </a:solidFill>
            </a:endParaRPr>
          </a:p>
        </p:txBody>
      </p:sp>
      <p:cxnSp>
        <p:nvCxnSpPr>
          <p:cNvPr id="333" name="Google Shape;333;p53"/>
          <p:cNvCxnSpPr>
            <a:stCxn id="332" idx="1"/>
          </p:cNvCxnSpPr>
          <p:nvPr/>
        </p:nvCxnSpPr>
        <p:spPr>
          <a:xfrm flipH="1">
            <a:off x="6099125" y="684250"/>
            <a:ext cx="511800" cy="420900"/>
          </a:xfrm>
          <a:prstGeom prst="straightConnector1">
            <a:avLst/>
          </a:prstGeom>
          <a:noFill/>
          <a:ln cap="flat" cmpd="sng" w="19050">
            <a:solidFill>
              <a:srgbClr val="FFFFFF"/>
            </a:solidFill>
            <a:prstDash val="solid"/>
            <a:round/>
            <a:headEnd len="med" w="med" type="none"/>
            <a:tailEnd len="med" w="med" type="triangle"/>
          </a:ln>
        </p:spPr>
      </p:cxnSp>
      <p:cxnSp>
        <p:nvCxnSpPr>
          <p:cNvPr id="334" name="Google Shape;334;p53"/>
          <p:cNvCxnSpPr>
            <a:stCxn id="331" idx="1"/>
          </p:cNvCxnSpPr>
          <p:nvPr/>
        </p:nvCxnSpPr>
        <p:spPr>
          <a:xfrm rot="10800000">
            <a:off x="2258750" y="4286250"/>
            <a:ext cx="1132200" cy="265200"/>
          </a:xfrm>
          <a:prstGeom prst="straightConnector1">
            <a:avLst/>
          </a:prstGeom>
          <a:noFill/>
          <a:ln cap="flat" cmpd="sng" w="19050">
            <a:solidFill>
              <a:srgbClr val="FFFFFF"/>
            </a:solidFill>
            <a:prstDash val="solid"/>
            <a:round/>
            <a:headEnd len="med" w="med" type="none"/>
            <a:tailEnd len="med" w="med" type="triangle"/>
          </a:ln>
        </p:spPr>
      </p:cxnSp>
      <p:sp>
        <p:nvSpPr>
          <p:cNvPr id="335" name="Google Shape;335;p53"/>
          <p:cNvSpPr txBox="1"/>
          <p:nvPr/>
        </p:nvSpPr>
        <p:spPr>
          <a:xfrm>
            <a:off x="7225050" y="1586100"/>
            <a:ext cx="1688700" cy="719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600">
                <a:solidFill>
                  <a:srgbClr val="674EA7"/>
                </a:solidFill>
              </a:rPr>
              <a:t>exploramos las opciones para esta decisión </a:t>
            </a:r>
            <a:endParaRPr sz="1600">
              <a:solidFill>
                <a:srgbClr val="674EA7"/>
              </a:solidFill>
            </a:endParaRPr>
          </a:p>
        </p:txBody>
      </p:sp>
      <p:cxnSp>
        <p:nvCxnSpPr>
          <p:cNvPr id="336" name="Google Shape;336;p53"/>
          <p:cNvCxnSpPr>
            <a:stCxn id="335" idx="1"/>
          </p:cNvCxnSpPr>
          <p:nvPr/>
        </p:nvCxnSpPr>
        <p:spPr>
          <a:xfrm rot="10800000">
            <a:off x="6318750" y="1939050"/>
            <a:ext cx="906300" cy="6900"/>
          </a:xfrm>
          <a:prstGeom prst="straightConnector1">
            <a:avLst/>
          </a:prstGeom>
          <a:noFill/>
          <a:ln cap="flat" cmpd="sng" w="19050">
            <a:solidFill>
              <a:schemeClr val="dk2"/>
            </a:solidFill>
            <a:prstDash val="solid"/>
            <a:round/>
            <a:headEnd len="med" w="med" type="none"/>
            <a:tailEnd len="med" w="med" type="triangle"/>
          </a:ln>
        </p:spPr>
      </p:cxnSp>
      <p:sp>
        <p:nvSpPr>
          <p:cNvPr id="337" name="Google Shape;337;p53"/>
          <p:cNvSpPr txBox="1"/>
          <p:nvPr/>
        </p:nvSpPr>
        <p:spPr>
          <a:xfrm>
            <a:off x="6610925" y="3183800"/>
            <a:ext cx="2106600" cy="403200"/>
          </a:xfrm>
          <a:prstGeom prst="rect">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900">
                <a:solidFill>
                  <a:srgbClr val="C27BA0"/>
                </a:solidFill>
              </a:rPr>
              <a:t>encontró solución</a:t>
            </a:r>
            <a:endParaRPr sz="1900">
              <a:solidFill>
                <a:srgbClr val="C27BA0"/>
              </a:solidFill>
            </a:endParaRPr>
          </a:p>
        </p:txBody>
      </p:sp>
      <p:cxnSp>
        <p:nvCxnSpPr>
          <p:cNvPr id="338" name="Google Shape;338;p53"/>
          <p:cNvCxnSpPr>
            <a:stCxn id="337" idx="1"/>
            <a:endCxn id="328" idx="3"/>
          </p:cNvCxnSpPr>
          <p:nvPr/>
        </p:nvCxnSpPr>
        <p:spPr>
          <a:xfrm rot="10800000">
            <a:off x="5493125" y="3385400"/>
            <a:ext cx="1117800" cy="0"/>
          </a:xfrm>
          <a:prstGeom prst="straightConnector1">
            <a:avLst/>
          </a:prstGeom>
          <a:noFill/>
          <a:ln cap="flat" cmpd="sng" w="19050">
            <a:solidFill>
              <a:srgbClr val="FFFFFF"/>
            </a:solidFill>
            <a:prstDash val="solid"/>
            <a:round/>
            <a:headEnd len="med" w="med" type="none"/>
            <a:tailEnd len="med" w="med" type="triangl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 puede modelar cómo un grafo?</a:t>
            </a:r>
            <a:endParaRPr/>
          </a:p>
        </p:txBody>
      </p:sp>
      <p:sp>
        <p:nvSpPr>
          <p:cNvPr id="344" name="Google Shape;344;p5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000"/>
              <a:t>¿Cuáles serían los vértices?</a:t>
            </a:r>
            <a:endParaRPr sz="2000"/>
          </a:p>
          <a:p>
            <a:pPr indent="0" lvl="0" marL="0" rtl="0" algn="l">
              <a:spcBef>
                <a:spcPts val="1600"/>
              </a:spcBef>
              <a:spcAft>
                <a:spcPts val="1600"/>
              </a:spcAft>
              <a:buNone/>
            </a:pPr>
            <a:r>
              <a:rPr lang="es" sz="2000"/>
              <a:t>¿Con qué criterio se crean las aristas?</a:t>
            </a:r>
            <a:endParaRPr sz="20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del Caballo</a:t>
            </a:r>
            <a:r>
              <a:rPr lang="es"/>
              <a:t>: Tenemos un Grafo</a:t>
            </a:r>
            <a:endParaRPr/>
          </a:p>
        </p:txBody>
      </p:sp>
      <p:sp>
        <p:nvSpPr>
          <p:cNvPr id="350" name="Google Shape;350;p55"/>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¿Cómo podemos resolver este problema?</a:t>
            </a:r>
            <a:endParaRPr/>
          </a:p>
          <a:p>
            <a:pPr indent="0" lvl="0" marL="0" rtl="0" algn="l">
              <a:spcBef>
                <a:spcPts val="1600"/>
              </a:spcBef>
              <a:spcAft>
                <a:spcPts val="0"/>
              </a:spcAft>
              <a:buNone/>
            </a:pPr>
            <a:r>
              <a:rPr lang="es"/>
              <a:t>.</a:t>
            </a:r>
            <a:endParaRPr/>
          </a:p>
          <a:p>
            <a:pPr indent="0" lvl="0" marL="0" rtl="0" algn="l">
              <a:spcBef>
                <a:spcPts val="1600"/>
              </a:spcBef>
              <a:spcAft>
                <a:spcPts val="0"/>
              </a:spcAft>
              <a:buNone/>
            </a:pPr>
            <a:r>
              <a:rPr lang="es"/>
              <a:t>.</a:t>
            </a:r>
            <a:endParaRPr/>
          </a:p>
          <a:p>
            <a:pPr indent="0" lvl="0" marL="0" rtl="0" algn="l">
              <a:spcBef>
                <a:spcPts val="1600"/>
              </a:spcBef>
              <a:spcAft>
                <a:spcPts val="0"/>
              </a:spcAft>
              <a:buNone/>
            </a:pPr>
            <a:r>
              <a:rPr lang="es"/>
              <a:t>.</a:t>
            </a:r>
            <a:endParaRPr/>
          </a:p>
          <a:p>
            <a:pPr indent="0" lvl="0" marL="0" rtl="0" algn="l">
              <a:spcBef>
                <a:spcPts val="1600"/>
              </a:spcBef>
              <a:spcAft>
                <a:spcPts val="1600"/>
              </a:spcAft>
              <a:buNone/>
            </a:pPr>
            <a:r>
              <a:rPr lang="es"/>
              <a:t>El buen Camino Hamiltoniano</a:t>
            </a:r>
            <a:endParaRPr/>
          </a:p>
        </p:txBody>
      </p:sp>
      <p:pic>
        <p:nvPicPr>
          <p:cNvPr id="351" name="Google Shape;351;p55"/>
          <p:cNvPicPr preferRelativeResize="0"/>
          <p:nvPr/>
        </p:nvPicPr>
        <p:blipFill>
          <a:blip r:embed="rId3">
            <a:alphaModFix/>
          </a:blip>
          <a:stretch>
            <a:fillRect/>
          </a:stretch>
        </p:blipFill>
        <p:spPr>
          <a:xfrm>
            <a:off x="4572001" y="1613650"/>
            <a:ext cx="2684475" cy="3262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4" st="4"/>
                                            </p:txEl>
                                          </p:spTgt>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Acaso habrá algún problema original?</a:t>
            </a:r>
            <a:endParaRPr/>
          </a:p>
        </p:txBody>
      </p:sp>
      <p:pic>
        <p:nvPicPr>
          <p:cNvPr id="357" name="Google Shape;357;p56"/>
          <p:cNvPicPr preferRelativeResize="0"/>
          <p:nvPr/>
        </p:nvPicPr>
        <p:blipFill>
          <a:blip r:embed="rId3">
            <a:alphaModFix/>
          </a:blip>
          <a:stretch>
            <a:fillRect/>
          </a:stretch>
        </p:blipFill>
        <p:spPr>
          <a:xfrm>
            <a:off x="2052600" y="1058225"/>
            <a:ext cx="5038809" cy="37804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7"/>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900"/>
              <a:t>De Wikipedia: </a:t>
            </a:r>
            <a:endParaRPr sz="1900"/>
          </a:p>
          <a:p>
            <a:pPr indent="0" lvl="0" marL="0" rtl="0" algn="l">
              <a:spcBef>
                <a:spcPts val="0"/>
              </a:spcBef>
              <a:spcAft>
                <a:spcPts val="0"/>
              </a:spcAft>
              <a:buClr>
                <a:schemeClr val="dk1"/>
              </a:buClr>
              <a:buSzPts val="1100"/>
              <a:buFont typeface="Arial"/>
              <a:buNone/>
            </a:pPr>
            <a:r>
              <a:rPr i="1" lang="es" sz="1900"/>
              <a:t>Un camino hamiltoniano, en el campo matemático de la teoría de grafos, es un camino de un grafo, que visita todos los vértices del grafo una sola vez. Si además el último vértice visitado es adyacente al primero, el camino es un ciclo hamiltoniano.</a:t>
            </a:r>
            <a:endParaRPr i="1" sz="3000"/>
          </a:p>
        </p:txBody>
      </p:sp>
      <p:sp>
        <p:nvSpPr>
          <p:cNvPr id="363" name="Google Shape;363;p5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Priviusly </a:t>
            </a:r>
            <a:r>
              <a:rPr lang="es"/>
              <a:t>- Camino Hamiltoniano</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 II - Camino Hamiltoniano</a:t>
            </a:r>
            <a:endParaRPr/>
          </a:p>
        </p:txBody>
      </p:sp>
      <p:pic>
        <p:nvPicPr>
          <p:cNvPr id="369" name="Google Shape;369;p58"/>
          <p:cNvPicPr preferRelativeResize="0"/>
          <p:nvPr/>
        </p:nvPicPr>
        <p:blipFill>
          <a:blip r:embed="rId3">
            <a:alphaModFix/>
          </a:blip>
          <a:stretch>
            <a:fillRect/>
          </a:stretch>
        </p:blipFill>
        <p:spPr>
          <a:xfrm>
            <a:off x="1058225" y="1058225"/>
            <a:ext cx="3970975" cy="39709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9"/>
          <p:cNvSpPr txBox="1"/>
          <p:nvPr>
            <p:ph type="title"/>
          </p:nvPr>
        </p:nvSpPr>
        <p:spPr>
          <a:xfrm>
            <a:off x="311700" y="1402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Y en código...</a:t>
            </a:r>
            <a:endParaRPr/>
          </a:p>
        </p:txBody>
      </p:sp>
      <p:sp>
        <p:nvSpPr>
          <p:cNvPr id="375" name="Google Shape;375;p59"/>
          <p:cNvSpPr txBox="1"/>
          <p:nvPr>
            <p:ph idx="1" type="body"/>
          </p:nvPr>
        </p:nvSpPr>
        <p:spPr>
          <a:xfrm>
            <a:off x="311700" y="790600"/>
            <a:ext cx="8520600" cy="435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600">
                <a:latin typeface="Consolas"/>
                <a:ea typeface="Consolas"/>
                <a:cs typeface="Consolas"/>
                <a:sym typeface="Consolas"/>
              </a:rPr>
              <a:t>def camino_hamiltoniano(grafo):</a:t>
            </a:r>
            <a:endParaRPr sz="1600">
              <a:latin typeface="Consolas"/>
              <a:ea typeface="Consolas"/>
              <a:cs typeface="Consolas"/>
              <a:sym typeface="Consolas"/>
            </a:endParaRPr>
          </a:p>
          <a:p>
            <a:pPr indent="457200" lvl="0" marL="0" rtl="0" algn="l">
              <a:spcBef>
                <a:spcPts val="0"/>
              </a:spcBef>
              <a:spcAft>
                <a:spcPts val="0"/>
              </a:spcAft>
              <a:buClr>
                <a:schemeClr val="dk1"/>
              </a:buClr>
              <a:buSzPts val="1100"/>
              <a:buFont typeface="Arial"/>
              <a:buNone/>
            </a:pPr>
            <a:r>
              <a:rPr lang="es" sz="1600">
                <a:latin typeface="Consolas"/>
                <a:ea typeface="Consolas"/>
                <a:cs typeface="Consolas"/>
                <a:sym typeface="Consolas"/>
              </a:rPr>
              <a:t>camino = []</a:t>
            </a:r>
            <a:endParaRPr sz="1600">
              <a:latin typeface="Consolas"/>
              <a:ea typeface="Consolas"/>
              <a:cs typeface="Consolas"/>
              <a:sym typeface="Consolas"/>
            </a:endParaRPr>
          </a:p>
          <a:p>
            <a:pPr indent="457200" lvl="0" marL="0" rtl="0" algn="l">
              <a:spcBef>
                <a:spcPts val="0"/>
              </a:spcBef>
              <a:spcAft>
                <a:spcPts val="0"/>
              </a:spcAft>
              <a:buClr>
                <a:schemeClr val="dk1"/>
              </a:buClr>
              <a:buSzPts val="1100"/>
              <a:buFont typeface="Arial"/>
              <a:buNone/>
            </a:pPr>
            <a:r>
              <a:rPr lang="es" sz="1600">
                <a:latin typeface="Consolas"/>
                <a:ea typeface="Consolas"/>
                <a:cs typeface="Consolas"/>
                <a:sym typeface="Consolas"/>
              </a:rPr>
              <a:t>visitados = set()	</a:t>
            </a:r>
            <a:endParaRPr sz="1600">
              <a:latin typeface="Consolas"/>
              <a:ea typeface="Consolas"/>
              <a:cs typeface="Consolas"/>
              <a:sym typeface="Consolas"/>
            </a:endParaRPr>
          </a:p>
          <a:p>
            <a:pPr indent="457200" lvl="0" marL="0" rtl="0" algn="l">
              <a:spcBef>
                <a:spcPts val="0"/>
              </a:spcBef>
              <a:spcAft>
                <a:spcPts val="0"/>
              </a:spcAft>
              <a:buClr>
                <a:schemeClr val="dk1"/>
              </a:buClr>
              <a:buSzPts val="1100"/>
              <a:buFont typeface="Arial"/>
              <a:buNone/>
            </a:pPr>
            <a:r>
              <a:rPr lang="es" sz="1600">
                <a:latin typeface="Consolas"/>
                <a:ea typeface="Consolas"/>
                <a:cs typeface="Consolas"/>
                <a:sym typeface="Consolas"/>
              </a:rPr>
              <a:t>for v in grafo:	</a:t>
            </a:r>
            <a:endParaRPr sz="16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600">
                <a:latin typeface="Consolas"/>
                <a:ea typeface="Consolas"/>
                <a:cs typeface="Consolas"/>
                <a:sym typeface="Consolas"/>
              </a:rPr>
              <a:t>		if camino_hamiltoniano_dfs(grafo, v, visitados, camino):</a:t>
            </a:r>
            <a:endParaRPr sz="16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600">
                <a:latin typeface="Consolas"/>
                <a:ea typeface="Consolas"/>
                <a:cs typeface="Consolas"/>
                <a:sym typeface="Consolas"/>
              </a:rPr>
              <a:t>			return camino</a:t>
            </a:r>
            <a:endParaRPr sz="16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600">
                <a:latin typeface="Consolas"/>
                <a:ea typeface="Consolas"/>
                <a:cs typeface="Consolas"/>
                <a:sym typeface="Consolas"/>
              </a:rPr>
              <a:t>	return None</a:t>
            </a:r>
            <a:endParaRPr sz="1600"/>
          </a:p>
          <a:p>
            <a:pPr indent="0" lvl="0" marL="0" rtl="0" algn="l">
              <a:spcBef>
                <a:spcPts val="0"/>
              </a:spcBef>
              <a:spcAft>
                <a:spcPts val="0"/>
              </a:spcAft>
              <a:buClr>
                <a:schemeClr val="dk1"/>
              </a:buClr>
              <a:buSzPts val="1100"/>
              <a:buFont typeface="Arial"/>
              <a:buNone/>
            </a:pPr>
            <a:r>
              <a:t/>
            </a:r>
            <a:endParaRPr sz="1200">
              <a:latin typeface="Consolas"/>
              <a:ea typeface="Consolas"/>
              <a:cs typeface="Consolas"/>
              <a:sym typeface="Consola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0"/>
          <p:cNvSpPr txBox="1"/>
          <p:nvPr>
            <p:ph type="title"/>
          </p:nvPr>
        </p:nvSpPr>
        <p:spPr>
          <a:xfrm>
            <a:off x="311700" y="1402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Y en código...</a:t>
            </a:r>
            <a:endParaRPr/>
          </a:p>
        </p:txBody>
      </p:sp>
      <p:sp>
        <p:nvSpPr>
          <p:cNvPr id="381" name="Google Shape;381;p60"/>
          <p:cNvSpPr txBox="1"/>
          <p:nvPr>
            <p:ph idx="1" type="body"/>
          </p:nvPr>
        </p:nvSpPr>
        <p:spPr>
          <a:xfrm>
            <a:off x="311700" y="790600"/>
            <a:ext cx="8520600" cy="435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600">
                <a:latin typeface="Consolas"/>
                <a:ea typeface="Consolas"/>
                <a:cs typeface="Consolas"/>
                <a:sym typeface="Consolas"/>
              </a:rPr>
              <a:t>def camino_hamiltoniano_dfs(grafo, v, visitados, camino):</a:t>
            </a:r>
            <a:endParaRPr sz="16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600">
                <a:latin typeface="Consolas"/>
                <a:ea typeface="Consolas"/>
                <a:cs typeface="Consolas"/>
                <a:sym typeface="Consolas"/>
              </a:rPr>
              <a:t>	visitados.add(v)</a:t>
            </a:r>
            <a:endParaRPr sz="16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600">
                <a:latin typeface="Consolas"/>
                <a:ea typeface="Consolas"/>
                <a:cs typeface="Consolas"/>
                <a:sym typeface="Consolas"/>
              </a:rPr>
              <a:t>	camino.append(v)</a:t>
            </a:r>
            <a:endParaRPr sz="16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600">
                <a:latin typeface="Consolas"/>
                <a:ea typeface="Consolas"/>
                <a:cs typeface="Consolas"/>
                <a:sym typeface="Consolas"/>
              </a:rPr>
              <a:t>	if len(visitados) == len(grafo):</a:t>
            </a:r>
            <a:endParaRPr sz="16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600">
                <a:latin typeface="Consolas"/>
                <a:ea typeface="Consolas"/>
                <a:cs typeface="Consolas"/>
                <a:sym typeface="Consolas"/>
              </a:rPr>
              <a:t>		return </a:t>
            </a:r>
            <a:r>
              <a:rPr lang="es" sz="1600">
                <a:latin typeface="Consolas"/>
                <a:ea typeface="Consolas"/>
                <a:cs typeface="Consolas"/>
                <a:sym typeface="Consolas"/>
              </a:rPr>
              <a:t>camino</a:t>
            </a:r>
            <a:endParaRPr sz="16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600">
                <a:latin typeface="Consolas"/>
                <a:ea typeface="Consolas"/>
                <a:cs typeface="Consolas"/>
                <a:sym typeface="Consolas"/>
              </a:rPr>
              <a:t>	for w in grafo.adyacentes(v):</a:t>
            </a:r>
            <a:endParaRPr sz="16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600">
                <a:latin typeface="Consolas"/>
                <a:ea typeface="Consolas"/>
                <a:cs typeface="Consolas"/>
                <a:sym typeface="Consolas"/>
              </a:rPr>
              <a:t>		if w not in visitados: </a:t>
            </a:r>
            <a:r>
              <a:rPr lang="es" sz="1600">
                <a:solidFill>
                  <a:srgbClr val="999999"/>
                </a:solidFill>
                <a:latin typeface="Consolas"/>
                <a:ea typeface="Consolas"/>
                <a:cs typeface="Consolas"/>
                <a:sym typeface="Consolas"/>
              </a:rPr>
              <a:t># Esta es en sí nuestra poda</a:t>
            </a:r>
            <a:endParaRPr sz="1600">
              <a:solidFill>
                <a:srgbClr val="999999"/>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600">
                <a:latin typeface="Consolas"/>
                <a:ea typeface="Consolas"/>
                <a:cs typeface="Consolas"/>
                <a:sym typeface="Consolas"/>
              </a:rPr>
              <a:t>			if camino_hamiltoniano_dfs(grafo, w, visitados, camino):</a:t>
            </a:r>
            <a:endParaRPr sz="16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600">
                <a:latin typeface="Consolas"/>
                <a:ea typeface="Consolas"/>
                <a:cs typeface="Consolas"/>
                <a:sym typeface="Consolas"/>
              </a:rPr>
              <a:t>				return </a:t>
            </a:r>
            <a:r>
              <a:rPr lang="es" sz="1600">
                <a:latin typeface="Consolas"/>
                <a:ea typeface="Consolas"/>
                <a:cs typeface="Consolas"/>
                <a:sym typeface="Consolas"/>
              </a:rPr>
              <a:t>camino</a:t>
            </a:r>
            <a:endParaRPr sz="16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600">
                <a:latin typeface="Consolas"/>
                <a:ea typeface="Consolas"/>
                <a:cs typeface="Consolas"/>
                <a:sym typeface="Consolas"/>
              </a:rPr>
              <a:t>	visitados.remove(v) 	</a:t>
            </a:r>
            <a:r>
              <a:rPr lang="es" sz="1600">
                <a:solidFill>
                  <a:srgbClr val="999999"/>
                </a:solidFill>
                <a:latin typeface="Consolas"/>
                <a:ea typeface="Consolas"/>
                <a:cs typeface="Consolas"/>
                <a:sym typeface="Consolas"/>
              </a:rPr>
              <a:t># Permitiendo volver a venir a este vertice</a:t>
            </a:r>
            <a:endParaRPr sz="1600">
              <a:solidFill>
                <a:srgbClr val="999999"/>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600">
                <a:latin typeface="Consolas"/>
                <a:ea typeface="Consolas"/>
                <a:cs typeface="Consolas"/>
                <a:sym typeface="Consolas"/>
              </a:rPr>
              <a:t>	camino.pop()			</a:t>
            </a:r>
            <a:r>
              <a:rPr lang="es" sz="1600">
                <a:solidFill>
                  <a:srgbClr val="999999"/>
                </a:solidFill>
                <a:latin typeface="Consolas"/>
                <a:ea typeface="Consolas"/>
                <a:cs typeface="Consolas"/>
                <a:sym typeface="Consolas"/>
              </a:rPr>
              <a:t># por otro camino</a:t>
            </a:r>
            <a:endParaRPr sz="1600">
              <a:solidFill>
                <a:srgbClr val="999999"/>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600">
                <a:latin typeface="Consolas"/>
                <a:ea typeface="Consolas"/>
                <a:cs typeface="Consolas"/>
                <a:sym typeface="Consolas"/>
              </a:rPr>
              <a:t>	return None</a:t>
            </a:r>
            <a:endParaRPr sz="16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200">
              <a:latin typeface="Consolas"/>
              <a:ea typeface="Consolas"/>
              <a:cs typeface="Consolas"/>
              <a:sym typeface="Consola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El trabajo necesario para reutilizar la solución</a:t>
            </a:r>
            <a:endParaRPr/>
          </a:p>
        </p:txBody>
      </p:sp>
      <p:sp>
        <p:nvSpPr>
          <p:cNvPr id="387" name="Google Shape;387;p61"/>
          <p:cNvSpPr txBox="1"/>
          <p:nvPr>
            <p:ph idx="1" type="body"/>
          </p:nvPr>
        </p:nvSpPr>
        <p:spPr>
          <a:xfrm>
            <a:off x="311700" y="1058225"/>
            <a:ext cx="8520600" cy="396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900">
                <a:latin typeface="Consolas"/>
                <a:ea typeface="Consolas"/>
                <a:cs typeface="Consolas"/>
                <a:sym typeface="Consolas"/>
              </a:rPr>
              <a:t>def problema_del_caballo():</a:t>
            </a:r>
            <a:endParaRPr sz="19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900">
                <a:latin typeface="Consolas"/>
                <a:ea typeface="Consolas"/>
                <a:cs typeface="Consolas"/>
                <a:sym typeface="Consolas"/>
              </a:rPr>
              <a:t>  # debemos crear el grafo</a:t>
            </a:r>
            <a:endParaRPr sz="19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900">
                <a:latin typeface="Consolas"/>
                <a:ea typeface="Consolas"/>
                <a:cs typeface="Consolas"/>
                <a:sym typeface="Consolas"/>
              </a:rPr>
              <a:t>  </a:t>
            </a:r>
            <a:r>
              <a:rPr lang="es" sz="1900">
                <a:latin typeface="Consolas"/>
                <a:ea typeface="Consolas"/>
                <a:cs typeface="Consolas"/>
                <a:sym typeface="Consolas"/>
              </a:rPr>
              <a:t># por un lado, las 8x8 posiciones como vértices</a:t>
            </a:r>
            <a:endParaRPr sz="19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900">
                <a:latin typeface="Consolas"/>
                <a:ea typeface="Consolas"/>
                <a:cs typeface="Consolas"/>
                <a:sym typeface="Consolas"/>
              </a:rPr>
              <a:t>  </a:t>
            </a:r>
            <a:r>
              <a:rPr lang="es" sz="1900">
                <a:latin typeface="Consolas"/>
                <a:ea typeface="Consolas"/>
                <a:cs typeface="Consolas"/>
                <a:sym typeface="Consolas"/>
              </a:rPr>
              <a:t># luego se deben conectar con aristas los vértices, según movimiento del caballo</a:t>
            </a:r>
            <a:endParaRPr sz="19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900">
                <a:latin typeface="Consolas"/>
                <a:ea typeface="Consolas"/>
                <a:cs typeface="Consolas"/>
                <a:sym typeface="Consolas"/>
              </a:rPr>
              <a:t>  camino = camino_hamiltoniano(grafo_construido_del_caballo)</a:t>
            </a:r>
            <a:endParaRPr sz="19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900">
                <a:latin typeface="Consolas"/>
                <a:ea typeface="Consolas"/>
                <a:cs typeface="Consolas"/>
                <a:sym typeface="Consolas"/>
              </a:rPr>
              <a:t>  # reconstruir las posiciones del tablero según el camino</a:t>
            </a:r>
            <a:endParaRPr sz="19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900">
                <a:latin typeface="Consolas"/>
                <a:ea typeface="Consolas"/>
                <a:cs typeface="Consolas"/>
                <a:sym typeface="Consolas"/>
              </a:rPr>
              <a:t>  # return solucion</a:t>
            </a:r>
            <a:endParaRPr sz="1900">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Un descansito de 5</a:t>
            </a:r>
            <a:r>
              <a:rPr lang="es"/>
              <a:t>'</a:t>
            </a:r>
            <a:endParaRPr/>
          </a:p>
        </p:txBody>
      </p:sp>
      <p:sp>
        <p:nvSpPr>
          <p:cNvPr id="393" name="Google Shape;393;p62"/>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Isomorfismos en Grafos</a:t>
            </a:r>
            <a:endParaRPr/>
          </a:p>
        </p:txBody>
      </p:sp>
      <p:pic>
        <p:nvPicPr>
          <p:cNvPr id="399" name="Google Shape;399;p63"/>
          <p:cNvPicPr preferRelativeResize="0"/>
          <p:nvPr/>
        </p:nvPicPr>
        <p:blipFill>
          <a:blip r:embed="rId3">
            <a:alphaModFix/>
          </a:blip>
          <a:stretch>
            <a:fillRect/>
          </a:stretch>
        </p:blipFill>
        <p:spPr>
          <a:xfrm>
            <a:off x="152400" y="1210625"/>
            <a:ext cx="1847850" cy="3495675"/>
          </a:xfrm>
          <a:prstGeom prst="rect">
            <a:avLst/>
          </a:prstGeom>
          <a:noFill/>
          <a:ln>
            <a:noFill/>
          </a:ln>
        </p:spPr>
      </p:pic>
      <p:pic>
        <p:nvPicPr>
          <p:cNvPr id="400" name="Google Shape;400;p63"/>
          <p:cNvPicPr preferRelativeResize="0"/>
          <p:nvPr/>
        </p:nvPicPr>
        <p:blipFill>
          <a:blip r:embed="rId4">
            <a:alphaModFix/>
          </a:blip>
          <a:stretch>
            <a:fillRect/>
          </a:stretch>
        </p:blipFill>
        <p:spPr>
          <a:xfrm>
            <a:off x="3143250" y="1210625"/>
            <a:ext cx="2867025" cy="3486150"/>
          </a:xfrm>
          <a:prstGeom prst="rect">
            <a:avLst/>
          </a:prstGeom>
          <a:noFill/>
          <a:ln>
            <a:noFill/>
          </a:ln>
        </p:spPr>
      </p:pic>
      <p:pic>
        <p:nvPicPr>
          <p:cNvPr id="401" name="Google Shape;401;p63"/>
          <p:cNvPicPr preferRelativeResize="0"/>
          <p:nvPr/>
        </p:nvPicPr>
        <p:blipFill>
          <a:blip r:embed="rId5">
            <a:alphaModFix/>
          </a:blip>
          <a:stretch>
            <a:fillRect/>
          </a:stretch>
        </p:blipFill>
        <p:spPr>
          <a:xfrm>
            <a:off x="7077075" y="1210625"/>
            <a:ext cx="1428750" cy="3495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6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Isomorfismos en Grafos: Fuerza Bruta</a:t>
            </a:r>
            <a:endParaRPr/>
          </a:p>
        </p:txBody>
      </p:sp>
      <p:sp>
        <p:nvSpPr>
          <p:cNvPr id="407" name="Google Shape;407;p64"/>
          <p:cNvSpPr txBox="1"/>
          <p:nvPr>
            <p:ph idx="1" type="body"/>
          </p:nvPr>
        </p:nvSpPr>
        <p:spPr>
          <a:xfrm>
            <a:off x="311700" y="1171600"/>
            <a:ext cx="8520600" cy="377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Probar todas las posibles asignaciones de un </a:t>
            </a:r>
            <a:r>
              <a:rPr lang="es"/>
              <a:t>vértice</a:t>
            </a:r>
            <a:r>
              <a:rPr lang="es"/>
              <a:t> en el grafo G contra todos los posibles vértices del Grafo H</a:t>
            </a:r>
            <a:endParaRPr/>
          </a:p>
          <a:p>
            <a:pPr indent="0" lvl="0" marL="0" rtl="0" algn="l">
              <a:spcBef>
                <a:spcPts val="1600"/>
              </a:spcBef>
              <a:spcAft>
                <a:spcPts val="0"/>
              </a:spcAft>
              <a:buClr>
                <a:schemeClr val="dk1"/>
              </a:buClr>
              <a:buSzPts val="1100"/>
              <a:buFont typeface="Arial"/>
              <a:buNone/>
            </a:pPr>
            <a:r>
              <a:rPr lang="es"/>
              <a:t>Será que los vértices 1,2,3,4,5,6,7,8 se corresponden con abcdghij</a:t>
            </a:r>
            <a:endParaRPr/>
          </a:p>
          <a:p>
            <a:pPr indent="0" lvl="0" marL="0" rtl="0" algn="l">
              <a:spcBef>
                <a:spcPts val="1600"/>
              </a:spcBef>
              <a:spcAft>
                <a:spcPts val="0"/>
              </a:spcAft>
              <a:buClr>
                <a:schemeClr val="dk1"/>
              </a:buClr>
              <a:buSzPts val="1100"/>
              <a:buFont typeface="Arial"/>
              <a:buNone/>
            </a:pPr>
            <a:r>
              <a:rPr lang="es"/>
              <a:t>Será que los vértices 1,2,3,4,5,6,7,8 se corresponden con abcdgh</a:t>
            </a:r>
            <a:r>
              <a:rPr b="1" lang="es"/>
              <a:t>ji</a:t>
            </a:r>
            <a:endParaRPr b="1"/>
          </a:p>
          <a:p>
            <a:pPr indent="0" lvl="0" marL="0" rtl="0" algn="l">
              <a:spcBef>
                <a:spcPts val="1600"/>
              </a:spcBef>
              <a:spcAft>
                <a:spcPts val="0"/>
              </a:spcAft>
              <a:buClr>
                <a:schemeClr val="dk1"/>
              </a:buClr>
              <a:buSzPts val="1100"/>
              <a:buFont typeface="Arial"/>
              <a:buNone/>
            </a:pPr>
            <a:r>
              <a:rPr lang="es"/>
              <a:t>Será que los vértices 1,2,3,4,5,6,7,8 se corresponden con abcdg</a:t>
            </a:r>
            <a:r>
              <a:rPr b="1" lang="es"/>
              <a:t>ihj</a:t>
            </a:r>
            <a:endParaRPr b="1"/>
          </a:p>
          <a:p>
            <a:pPr indent="0" lvl="0" marL="0" rtl="0" algn="l">
              <a:spcBef>
                <a:spcPts val="1600"/>
              </a:spcBef>
              <a:spcAft>
                <a:spcPts val="0"/>
              </a:spcAft>
              <a:buClr>
                <a:schemeClr val="dk1"/>
              </a:buClr>
              <a:buSzPts val="1100"/>
              <a:buFont typeface="Arial"/>
              <a:buNone/>
            </a:pPr>
            <a:r>
              <a:rPr lang="es"/>
              <a:t>Será que los vértices 1,2,3,4,5,6,7,8 se corresponden con abcdg</a:t>
            </a:r>
            <a:r>
              <a:rPr b="1" lang="es"/>
              <a:t>ijh</a:t>
            </a:r>
            <a:endParaRPr b="1"/>
          </a:p>
          <a:p>
            <a:pPr indent="0" lvl="0" marL="0" rtl="0" algn="l">
              <a:spcBef>
                <a:spcPts val="1600"/>
              </a:spcBef>
              <a:spcAft>
                <a:spcPts val="0"/>
              </a:spcAft>
              <a:buNone/>
            </a:pPr>
            <a:r>
              <a:rPr lang="es"/>
              <a:t>Será que los vértices 1,2,3,4,5,6,7,8 se corresponden con abcd</a:t>
            </a:r>
            <a:r>
              <a:rPr b="1" lang="es"/>
              <a:t>hgij</a:t>
            </a:r>
            <a:endParaRPr/>
          </a:p>
          <a:p>
            <a:pPr indent="0" lvl="0" marL="0" rtl="0" algn="l">
              <a:spcBef>
                <a:spcPts val="1600"/>
              </a:spcBef>
              <a:spcAft>
                <a:spcPts val="1600"/>
              </a:spcAft>
              <a:buNone/>
            </a:pPr>
            <a:r>
              <a:rPr lang="es"/>
              <a:t>Y seguimos permutando….. incluso si es imposible la asignación 12, ab. ¿Por qué?</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6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Isomorfismos en Grafos</a:t>
            </a:r>
            <a:endParaRPr/>
          </a:p>
        </p:txBody>
      </p:sp>
      <p:pic>
        <p:nvPicPr>
          <p:cNvPr id="413" name="Google Shape;413;p65"/>
          <p:cNvPicPr preferRelativeResize="0"/>
          <p:nvPr/>
        </p:nvPicPr>
        <p:blipFill>
          <a:blip r:embed="rId3">
            <a:alphaModFix/>
          </a:blip>
          <a:stretch>
            <a:fillRect/>
          </a:stretch>
        </p:blipFill>
        <p:spPr>
          <a:xfrm>
            <a:off x="152400" y="1210625"/>
            <a:ext cx="1847850" cy="3495675"/>
          </a:xfrm>
          <a:prstGeom prst="rect">
            <a:avLst/>
          </a:prstGeom>
          <a:noFill/>
          <a:ln>
            <a:noFill/>
          </a:ln>
        </p:spPr>
      </p:pic>
      <p:pic>
        <p:nvPicPr>
          <p:cNvPr id="414" name="Google Shape;414;p65"/>
          <p:cNvPicPr preferRelativeResize="0"/>
          <p:nvPr/>
        </p:nvPicPr>
        <p:blipFill>
          <a:blip r:embed="rId4">
            <a:alphaModFix/>
          </a:blip>
          <a:stretch>
            <a:fillRect/>
          </a:stretch>
        </p:blipFill>
        <p:spPr>
          <a:xfrm>
            <a:off x="3143250" y="1210625"/>
            <a:ext cx="2867025" cy="3486150"/>
          </a:xfrm>
          <a:prstGeom prst="rect">
            <a:avLst/>
          </a:prstGeom>
          <a:noFill/>
          <a:ln>
            <a:noFill/>
          </a:ln>
        </p:spPr>
      </p:pic>
      <p:pic>
        <p:nvPicPr>
          <p:cNvPr id="415" name="Google Shape;415;p65"/>
          <p:cNvPicPr preferRelativeResize="0"/>
          <p:nvPr/>
        </p:nvPicPr>
        <p:blipFill>
          <a:blip r:embed="rId5">
            <a:alphaModFix/>
          </a:blip>
          <a:stretch>
            <a:fillRect/>
          </a:stretch>
        </p:blipFill>
        <p:spPr>
          <a:xfrm>
            <a:off x="7077075" y="1210625"/>
            <a:ext cx="1428750" cy="34956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Subset Sum</a:t>
            </a:r>
            <a:endParaRPr/>
          </a:p>
        </p:txBody>
      </p:sp>
      <p:sp>
        <p:nvSpPr>
          <p:cNvPr id="421" name="Google Shape;421;p6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Escribir una función que, utilizando backtracking, dada una lista de enteros positivos L y un entero n devuelva un subconjunto de L que sume exactamente n.</a:t>
            </a:r>
            <a:endParaRPr/>
          </a:p>
          <a:p>
            <a:pPr indent="0" lvl="0" marL="0" rtl="0" algn="l">
              <a:spcBef>
                <a:spcPts val="1600"/>
              </a:spcBef>
              <a:spcAft>
                <a:spcPts val="1600"/>
              </a:spcAft>
              <a:buNone/>
            </a:pPr>
            <a:r>
              <a:rPr lang="es"/>
              <a:t>¿Cómo cambia el comportamiento del algoritmo frente a una solución por fuerza bruta?</a:t>
            </a:r>
            <a:endParaRPr/>
          </a:p>
        </p:txBody>
      </p:sp>
      <p:pic>
        <p:nvPicPr>
          <p:cNvPr id="422" name="Google Shape;422;p66"/>
          <p:cNvPicPr preferRelativeResize="0"/>
          <p:nvPr/>
        </p:nvPicPr>
        <p:blipFill>
          <a:blip r:embed="rId3">
            <a:alphaModFix/>
          </a:blip>
          <a:stretch>
            <a:fillRect/>
          </a:stretch>
        </p:blipFill>
        <p:spPr>
          <a:xfrm>
            <a:off x="2979975" y="2571750"/>
            <a:ext cx="3007175" cy="2256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7"/>
          <p:cNvSpPr txBox="1"/>
          <p:nvPr>
            <p:ph type="title"/>
          </p:nvPr>
        </p:nvSpPr>
        <p:spPr>
          <a:xfrm>
            <a:off x="311700" y="1402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Solución a Subset Sum</a:t>
            </a:r>
            <a:endParaRPr/>
          </a:p>
        </p:txBody>
      </p:sp>
      <p:sp>
        <p:nvSpPr>
          <p:cNvPr id="428" name="Google Shape;428;p67"/>
          <p:cNvSpPr txBox="1"/>
          <p:nvPr>
            <p:ph idx="1" type="body"/>
          </p:nvPr>
        </p:nvSpPr>
        <p:spPr>
          <a:xfrm>
            <a:off x="311700" y="753425"/>
            <a:ext cx="8520600" cy="422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def subset_sum(L, index, n, solucion_parcial) -&gt; list:</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 Si encuentro una solucion la devuelvo</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if sum(solucion_parcial) == n:</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return </a:t>
            </a:r>
            <a:r>
              <a:rPr lang="es" sz="1400">
                <a:latin typeface="Consolas"/>
                <a:ea typeface="Consolas"/>
                <a:cs typeface="Consolas"/>
                <a:sym typeface="Consolas"/>
              </a:rPr>
              <a:t>solucion_parcial </a:t>
            </a:r>
            <a:r>
              <a:rPr lang="es" sz="1200">
                <a:solidFill>
                  <a:srgbClr val="000000"/>
                </a:solidFill>
                <a:latin typeface="Consolas"/>
                <a:ea typeface="Consolas"/>
                <a:cs typeface="Consolas"/>
                <a:sym typeface="Consolas"/>
              </a:rPr>
              <a:t># en un problema de optimización, ojo, devolver copia</a:t>
            </a:r>
            <a:endParaRPr sz="1200">
              <a:solidFill>
                <a:srgbClr val="00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 Si por esta rama me paso, dejo de probar</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if sum(solucion_parcial) &gt; n or index &gt;= len(L):</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return None</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#intento con el elemento</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solucion_parcial.append(L[index])</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solucion = subset_sum(L, index+1, n, solucion_parcial)</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if </a:t>
            </a:r>
            <a:r>
              <a:rPr lang="es" sz="1400">
                <a:latin typeface="Consolas"/>
                <a:ea typeface="Consolas"/>
                <a:cs typeface="Consolas"/>
                <a:sym typeface="Consolas"/>
              </a:rPr>
              <a:t>solucion is not None: # en este caso hay solución válida</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return solucion</a:t>
            </a:r>
            <a:endParaRPr sz="1400">
              <a:latin typeface="Consolas"/>
              <a:ea typeface="Consolas"/>
              <a:cs typeface="Consolas"/>
              <a:sym typeface="Consolas"/>
            </a:endParaRPr>
          </a:p>
          <a:p>
            <a:pPr indent="45720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#intento sin el elemento</a:t>
            </a:r>
            <a:endParaRPr sz="1400">
              <a:latin typeface="Consolas"/>
              <a:ea typeface="Consolas"/>
              <a:cs typeface="Consolas"/>
              <a:sym typeface="Consolas"/>
            </a:endParaRPr>
          </a:p>
          <a:p>
            <a:pPr indent="0" lvl="0" marL="0" rtl="0" algn="l">
              <a:spcBef>
                <a:spcPts val="0"/>
              </a:spcBef>
              <a:spcAft>
                <a:spcPts val="0"/>
              </a:spcAft>
              <a:buNone/>
            </a:pPr>
            <a:r>
              <a:rPr lang="es" sz="1400">
                <a:latin typeface="Consolas"/>
                <a:ea typeface="Consolas"/>
                <a:cs typeface="Consolas"/>
                <a:sym typeface="Consolas"/>
              </a:rPr>
              <a:t>	solucion_parcial.pop()</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return </a:t>
            </a:r>
            <a:r>
              <a:rPr lang="es" sz="1400">
                <a:latin typeface="Consolas"/>
                <a:ea typeface="Consolas"/>
                <a:cs typeface="Consolas"/>
                <a:sym typeface="Consolas"/>
              </a:rPr>
              <a:t>subset_sum(L, index+1, n, solucion_parcial)</a:t>
            </a:r>
            <a:endParaRPr sz="1400">
              <a:latin typeface="Consolas"/>
              <a:ea typeface="Consolas"/>
              <a:cs typeface="Consolas"/>
              <a:sym typeface="Consolas"/>
            </a:endParaRPr>
          </a:p>
          <a:p>
            <a:pPr indent="0" lvl="0" marL="0" rtl="0" algn="l">
              <a:spcBef>
                <a:spcPts val="0"/>
              </a:spcBef>
              <a:spcAft>
                <a:spcPts val="0"/>
              </a:spcAft>
              <a:buNone/>
            </a:pPr>
            <a:r>
              <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400">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xEl>
                                              <p:pRg end="17" st="1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8"/>
          <p:cNvSpPr txBox="1"/>
          <p:nvPr>
            <p:ph type="title"/>
          </p:nvPr>
        </p:nvSpPr>
        <p:spPr>
          <a:xfrm>
            <a:off x="311700" y="-1217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OJO: Variables Locales!</a:t>
            </a:r>
            <a:endParaRPr/>
          </a:p>
        </p:txBody>
      </p:sp>
      <p:sp>
        <p:nvSpPr>
          <p:cNvPr id="434" name="Google Shape;434;p68"/>
          <p:cNvSpPr txBox="1"/>
          <p:nvPr>
            <p:ph idx="1" type="body"/>
          </p:nvPr>
        </p:nvSpPr>
        <p:spPr>
          <a:xfrm>
            <a:off x="159300" y="637050"/>
            <a:ext cx="8520600" cy="438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def subset_sum(L, index, n, solucion_parcial, solucion):</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if sum(solucion_parcial) == n:</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solucion = </a:t>
            </a:r>
            <a:r>
              <a:rPr lang="es" sz="1400">
                <a:highlight>
                  <a:srgbClr val="D5A6BD"/>
                </a:highlight>
                <a:latin typeface="Consolas"/>
                <a:ea typeface="Consolas"/>
                <a:cs typeface="Consolas"/>
                <a:sym typeface="Consolas"/>
              </a:rPr>
              <a:t>solucion_parcial[:]</a:t>
            </a:r>
            <a:r>
              <a:rPr lang="es" sz="1400">
                <a:latin typeface="Consolas"/>
                <a:ea typeface="Consolas"/>
                <a:cs typeface="Consolas"/>
                <a:sym typeface="Consolas"/>
              </a:rPr>
              <a:t> # </a:t>
            </a:r>
            <a:r>
              <a:rPr lang="es" sz="1400">
                <a:latin typeface="Consolas"/>
                <a:ea typeface="Consolas"/>
                <a:cs typeface="Consolas"/>
                <a:sym typeface="Consolas"/>
              </a:rPr>
              <a:t>solucion_parcial.copy()</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return</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 Si por esta rama me paso, dejo de probar</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if sum(solucion_parcial) &gt; n or index &gt;= len(L):</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return</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solucion_parcial.append(L[index])</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subset_sum(L, index+1, n, solucion_parcial, solucion)</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if sum(solucion)  == n:</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a:t>
            </a:r>
            <a:r>
              <a:rPr lang="es" sz="1400">
                <a:latin typeface="Consolas"/>
                <a:ea typeface="Consolas"/>
                <a:cs typeface="Consolas"/>
                <a:sym typeface="Consolas"/>
              </a:rPr>
              <a:t>solucion = </a:t>
            </a:r>
            <a:r>
              <a:rPr lang="es" sz="1400">
                <a:highlight>
                  <a:srgbClr val="D5A6BD"/>
                </a:highlight>
                <a:latin typeface="Consolas"/>
                <a:ea typeface="Consolas"/>
                <a:cs typeface="Consolas"/>
                <a:sym typeface="Consolas"/>
              </a:rPr>
              <a:t>solucion_parcial[:]</a:t>
            </a:r>
            <a:r>
              <a:rPr lang="es" sz="1400">
                <a:latin typeface="Consolas"/>
                <a:ea typeface="Consolas"/>
                <a:cs typeface="Consolas"/>
                <a:sym typeface="Consolas"/>
              </a:rPr>
              <a:t> # copy(solucion_parcial)</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return</a:t>
            </a:r>
            <a:endParaRPr sz="1400">
              <a:latin typeface="Consolas"/>
              <a:ea typeface="Consolas"/>
              <a:cs typeface="Consolas"/>
              <a:sym typeface="Consolas"/>
            </a:endParaRPr>
          </a:p>
          <a:p>
            <a:pPr indent="0" lvl="0" marL="0" rtl="0" algn="l">
              <a:spcBef>
                <a:spcPts val="0"/>
              </a:spcBef>
              <a:spcAft>
                <a:spcPts val="0"/>
              </a:spcAft>
              <a:buNone/>
            </a:pPr>
            <a:r>
              <a:rPr lang="es" sz="1400">
                <a:latin typeface="Consolas"/>
                <a:ea typeface="Consolas"/>
                <a:cs typeface="Consolas"/>
                <a:sym typeface="Consolas"/>
              </a:rPr>
              <a:t>	</a:t>
            </a:r>
            <a:endParaRPr sz="1400">
              <a:latin typeface="Consolas"/>
              <a:ea typeface="Consolas"/>
              <a:cs typeface="Consolas"/>
              <a:sym typeface="Consolas"/>
            </a:endParaRPr>
          </a:p>
          <a:p>
            <a:pPr indent="457200" lvl="0" marL="0" rtl="0" algn="l">
              <a:spcBef>
                <a:spcPts val="0"/>
              </a:spcBef>
              <a:spcAft>
                <a:spcPts val="0"/>
              </a:spcAft>
              <a:buNone/>
            </a:pPr>
            <a:r>
              <a:rPr lang="es" sz="1400">
                <a:latin typeface="Consolas"/>
                <a:ea typeface="Consolas"/>
                <a:cs typeface="Consolas"/>
                <a:sym typeface="Consolas"/>
              </a:rPr>
              <a:t>solucion_parcial.pop()</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subset_sum(L, index+1, n, solucion_parcial)</a:t>
            </a:r>
            <a:endParaRPr sz="1400">
              <a:latin typeface="Consolas"/>
              <a:ea typeface="Consolas"/>
              <a:cs typeface="Consolas"/>
              <a:sym typeface="Consolas"/>
            </a:endParaRPr>
          </a:p>
          <a:p>
            <a:pPr indent="0" lvl="0" marL="0" rtl="0" algn="l">
              <a:spcBef>
                <a:spcPts val="0"/>
              </a:spcBef>
              <a:spcAft>
                <a:spcPts val="0"/>
              </a:spcAft>
              <a:buNone/>
            </a:pPr>
            <a:r>
              <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400">
              <a:latin typeface="Consolas"/>
              <a:ea typeface="Consolas"/>
              <a:cs typeface="Consolas"/>
              <a:sym typeface="Consolas"/>
            </a:endParaRPr>
          </a:p>
        </p:txBody>
      </p:sp>
      <p:pic>
        <p:nvPicPr>
          <p:cNvPr id="435" name="Google Shape;435;p68"/>
          <p:cNvPicPr preferRelativeResize="0"/>
          <p:nvPr/>
        </p:nvPicPr>
        <p:blipFill>
          <a:blip r:embed="rId3">
            <a:alphaModFix/>
          </a:blip>
          <a:stretch>
            <a:fillRect/>
          </a:stretch>
        </p:blipFill>
        <p:spPr>
          <a:xfrm>
            <a:off x="6691525" y="0"/>
            <a:ext cx="2452475" cy="24281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Más sobre podas: problemas de optimización</a:t>
            </a:r>
            <a:endParaRPr/>
          </a:p>
        </p:txBody>
      </p:sp>
      <p:sp>
        <p:nvSpPr>
          <p:cNvPr id="441" name="Google Shape;441;p69"/>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Si tenemos que obtener un mínimo/máximo, podemos usar el primero que obtengamos para podar…</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7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Más podas: Algoritmos Greedy</a:t>
            </a:r>
            <a:endParaRPr/>
          </a:p>
        </p:txBody>
      </p:sp>
      <p:sp>
        <p:nvSpPr>
          <p:cNvPr id="447" name="Google Shape;447;p70"/>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Para problemas de optimización, podemos aplicar un algoritmo greedy como aproximación, e ir usando ese valor como cota para podar, que luego se actualice.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7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Materias Compatibles</a:t>
            </a:r>
            <a:endParaRPr/>
          </a:p>
        </p:txBody>
      </p:sp>
      <p:sp>
        <p:nvSpPr>
          <p:cNvPr id="453" name="Google Shape;453;p71"/>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Se tiene una lista de materias que deben ser cursadas en el mismo cuatrimestre, cada materia está representada con una lista de cursos/horarios posibles a cursar (solo debe elegirse un horario por cada curso). Cada materia puede tener varios cursos.</a:t>
            </a:r>
            <a:endParaRPr/>
          </a:p>
          <a:p>
            <a:pPr indent="0" lvl="0" marL="0" rtl="0" algn="l">
              <a:spcBef>
                <a:spcPts val="1600"/>
              </a:spcBef>
              <a:spcAft>
                <a:spcPts val="1600"/>
              </a:spcAft>
              <a:buNone/>
            </a:pPr>
            <a:r>
              <a:rPr lang="es"/>
              <a:t>Implementar un algoritmo de backtracking que devuelva un listado con todas las combinaciones posibles que permitan asistir a un curso de cada materia sin que se solapen los horarios. Considerar que existe una función son_compatibles(curso_1, curso_2) que dados dos cursos devuelve un valor booleano que indica si se pueden cursar al mismo tiempo.</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Materias Compatibles: Fuerza Bruta</a:t>
            </a:r>
            <a:endParaRPr/>
          </a:p>
        </p:txBody>
      </p:sp>
      <p:sp>
        <p:nvSpPr>
          <p:cNvPr id="459" name="Google Shape;459;p72"/>
          <p:cNvSpPr txBox="1"/>
          <p:nvPr>
            <p:ph idx="1" type="body"/>
          </p:nvPr>
        </p:nvSpPr>
        <p:spPr>
          <a:xfrm>
            <a:off x="311700" y="1171600"/>
            <a:ext cx="8520600" cy="373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La solución por fuerza bruta implicaría generar todas las posibles asignaciones.</a:t>
            </a:r>
            <a:endParaRPr/>
          </a:p>
          <a:p>
            <a:pPr indent="0" lvl="0" marL="0" rtl="0" algn="l">
              <a:spcBef>
                <a:spcPts val="1600"/>
              </a:spcBef>
              <a:spcAft>
                <a:spcPts val="0"/>
              </a:spcAft>
              <a:buNone/>
            </a:pPr>
            <a:r>
              <a:rPr lang="es"/>
              <a:t>Si para la materia</a:t>
            </a:r>
            <a:r>
              <a:rPr baseline="-25000" lang="es"/>
              <a:t>1</a:t>
            </a:r>
            <a:r>
              <a:rPr lang="es"/>
              <a:t> hay k</a:t>
            </a:r>
            <a:r>
              <a:rPr baseline="-25000" lang="es"/>
              <a:t>1</a:t>
            </a:r>
            <a:r>
              <a:rPr lang="es"/>
              <a:t> cursos, p</a:t>
            </a:r>
            <a:r>
              <a:rPr lang="es"/>
              <a:t>ara la materia</a:t>
            </a:r>
            <a:r>
              <a:rPr baseline="-25000" lang="es"/>
              <a:t>2</a:t>
            </a:r>
            <a:r>
              <a:rPr lang="es"/>
              <a:t> k</a:t>
            </a:r>
            <a:r>
              <a:rPr baseline="-25000" lang="es"/>
              <a:t>2</a:t>
            </a:r>
            <a:r>
              <a:rPr lang="es"/>
              <a:t> cursos, etc</a:t>
            </a:r>
            <a:endParaRPr/>
          </a:p>
          <a:p>
            <a:pPr indent="0" lvl="0" marL="0" rtl="0" algn="l">
              <a:spcBef>
                <a:spcPts val="1600"/>
              </a:spcBef>
              <a:spcAft>
                <a:spcPts val="0"/>
              </a:spcAft>
              <a:buNone/>
            </a:pPr>
            <a:r>
              <a:rPr lang="es"/>
              <a:t>Consistiría entonces en combinar cada k</a:t>
            </a:r>
            <a:r>
              <a:rPr baseline="-25000" lang="es"/>
              <a:t>1</a:t>
            </a:r>
            <a:r>
              <a:rPr lang="es"/>
              <a:t> curso con cada k</a:t>
            </a:r>
            <a:r>
              <a:rPr baseline="-25000" lang="es"/>
              <a:t>2</a:t>
            </a:r>
            <a:r>
              <a:rPr lang="es"/>
              <a:t> curso … con cada k</a:t>
            </a:r>
            <a:r>
              <a:rPr baseline="-25000" lang="es"/>
              <a:t>n</a:t>
            </a:r>
            <a:r>
              <a:rPr lang="es"/>
              <a:t> para las n materias</a:t>
            </a:r>
            <a:endParaRPr/>
          </a:p>
          <a:p>
            <a:pPr indent="0" lvl="0" marL="0" rtl="0" algn="l">
              <a:spcBef>
                <a:spcPts val="1600"/>
              </a:spcBef>
              <a:spcAft>
                <a:spcPts val="0"/>
              </a:spcAft>
              <a:buNone/>
            </a:pPr>
            <a:r>
              <a:rPr lang="es"/>
              <a:t>El tiempo que tardaría es necesariamente proporcional a la cantidad de combinaciones posible: k</a:t>
            </a:r>
            <a:r>
              <a:rPr baseline="-25000" lang="es"/>
              <a:t>1</a:t>
            </a:r>
            <a:r>
              <a:rPr lang="es"/>
              <a:t>*k</a:t>
            </a:r>
            <a:r>
              <a:rPr baseline="-25000" lang="es"/>
              <a:t>2</a:t>
            </a:r>
            <a:r>
              <a:rPr lang="es"/>
              <a:t>*...*k</a:t>
            </a:r>
            <a:r>
              <a:rPr baseline="-25000" lang="es"/>
              <a:t>n</a:t>
            </a:r>
            <a:endParaRPr baseline="-25000"/>
          </a:p>
          <a:p>
            <a:pPr indent="0" lvl="0" marL="0" rtl="0" algn="l">
              <a:spcBef>
                <a:spcPts val="1600"/>
              </a:spcBef>
              <a:spcAft>
                <a:spcPts val="0"/>
              </a:spcAft>
              <a:buNone/>
            </a:pPr>
            <a:r>
              <a:rPr lang="es"/>
              <a:t>Si cada curso tiene constante k cursos, la cantidad de asignaciones posibles O(k</a:t>
            </a:r>
            <a:r>
              <a:rPr baseline="30000" lang="es"/>
              <a:t>n</a:t>
            </a:r>
            <a:r>
              <a:rPr lang="es"/>
              <a:t>)</a:t>
            </a:r>
            <a:endParaRPr/>
          </a:p>
          <a:p>
            <a:pPr indent="0" lvl="0" marL="0" rtl="0" algn="l">
              <a:spcBef>
                <a:spcPts val="1600"/>
              </a:spcBef>
              <a:spcAft>
                <a:spcPts val="1600"/>
              </a:spcAft>
              <a:buNone/>
            </a:pPr>
            <a:r>
              <a:rPr lang="es"/>
              <a:t>Ejemplo, si cada materia tiene dos cursos, es O(2</a:t>
            </a:r>
            <a:r>
              <a:rPr baseline="30000" lang="es" sz="1500">
                <a:solidFill>
                  <a:srgbClr val="040C28"/>
                </a:solidFill>
                <a:latin typeface="Arial"/>
                <a:ea typeface="Arial"/>
                <a:cs typeface="Arial"/>
                <a:sym typeface="Arial"/>
              </a:rPr>
              <a:t>n</a:t>
            </a:r>
            <a:r>
              <a:rPr lang="es" sz="1500">
                <a:solidFill>
                  <a:srgbClr val="040C28"/>
                </a:solidFill>
                <a:latin typeface="Arial"/>
                <a:ea typeface="Arial"/>
                <a:cs typeface="Arial"/>
                <a:sym typeface="Arial"/>
              </a:rPr>
              <a:t>)</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Recordamos rápidamente "receta" de Algoritmo backtracking</a:t>
            </a:r>
            <a:endParaRPr/>
          </a:p>
        </p:txBody>
      </p:sp>
      <p:sp>
        <p:nvSpPr>
          <p:cNvPr id="465" name="Google Shape;465;p73"/>
          <p:cNvSpPr txBox="1"/>
          <p:nvPr/>
        </p:nvSpPr>
        <p:spPr>
          <a:xfrm>
            <a:off x="0" y="1659700"/>
            <a:ext cx="8832300" cy="2339700"/>
          </a:xfrm>
          <a:prstGeom prst="rect">
            <a:avLst/>
          </a:prstGeom>
          <a:noFill/>
          <a:ln>
            <a:noFill/>
          </a:ln>
        </p:spPr>
        <p:txBody>
          <a:bodyPr anchorCtr="0" anchor="t" bIns="91425" lIns="91425" spcFirstLastPara="1" rIns="91425" wrap="square" tIns="91425">
            <a:spAutoFit/>
          </a:bodyPr>
          <a:lstStyle/>
          <a:p>
            <a:pPr indent="-342900" lvl="0" marL="1371600" rtl="0" algn="l">
              <a:spcBef>
                <a:spcPts val="0"/>
              </a:spcBef>
              <a:spcAft>
                <a:spcPts val="0"/>
              </a:spcAft>
              <a:buClr>
                <a:schemeClr val="dk1"/>
              </a:buClr>
              <a:buSzPts val="1800"/>
              <a:buFont typeface="Source Code Pro"/>
              <a:buAutoNum type="arabicParenR"/>
            </a:pPr>
            <a:r>
              <a:rPr lang="es" sz="1800">
                <a:solidFill>
                  <a:schemeClr val="dk1"/>
                </a:solidFill>
                <a:latin typeface="Source Code Pro"/>
                <a:ea typeface="Source Code Pro"/>
                <a:cs typeface="Source Code Pro"/>
                <a:sym typeface="Source Code Pro"/>
              </a:rPr>
              <a:t>Si ya encontre una solucion, la devuelvo y termino.</a:t>
            </a:r>
            <a:endParaRPr sz="1800">
              <a:solidFill>
                <a:schemeClr val="dk1"/>
              </a:solidFill>
              <a:latin typeface="Source Code Pro"/>
              <a:ea typeface="Source Code Pro"/>
              <a:cs typeface="Source Code Pro"/>
              <a:sym typeface="Source Code Pro"/>
            </a:endParaRPr>
          </a:p>
          <a:p>
            <a:pPr indent="-342900" lvl="0" marL="1371600" rtl="0" algn="l">
              <a:spcBef>
                <a:spcPts val="0"/>
              </a:spcBef>
              <a:spcAft>
                <a:spcPts val="0"/>
              </a:spcAft>
              <a:buClr>
                <a:schemeClr val="dk1"/>
              </a:buClr>
              <a:buSzPts val="1800"/>
              <a:buFont typeface="Source Code Pro"/>
              <a:buAutoNum type="arabicParenR"/>
            </a:pPr>
            <a:r>
              <a:rPr lang="es" sz="1800">
                <a:solidFill>
                  <a:schemeClr val="dk1"/>
                </a:solidFill>
                <a:latin typeface="Source Code Pro"/>
                <a:ea typeface="Source Code Pro"/>
                <a:cs typeface="Source Code Pro"/>
                <a:sym typeface="Source Code Pro"/>
              </a:rPr>
              <a:t>Avanzo si puedo</a:t>
            </a:r>
            <a:endParaRPr sz="1800">
              <a:solidFill>
                <a:schemeClr val="dk1"/>
              </a:solidFill>
              <a:latin typeface="Source Code Pro"/>
              <a:ea typeface="Source Code Pro"/>
              <a:cs typeface="Source Code Pro"/>
              <a:sym typeface="Source Code Pro"/>
            </a:endParaRPr>
          </a:p>
          <a:p>
            <a:pPr indent="-342900" lvl="0" marL="1371600" rtl="0" algn="l">
              <a:spcBef>
                <a:spcPts val="0"/>
              </a:spcBef>
              <a:spcAft>
                <a:spcPts val="0"/>
              </a:spcAft>
              <a:buClr>
                <a:schemeClr val="dk1"/>
              </a:buClr>
              <a:buSzPts val="1800"/>
              <a:buFont typeface="Source Code Pro"/>
              <a:buAutoNum type="arabicParenR"/>
            </a:pPr>
            <a:r>
              <a:rPr lang="es" sz="1800">
                <a:solidFill>
                  <a:schemeClr val="dk1"/>
                </a:solidFill>
                <a:latin typeface="Source Code Pro"/>
                <a:ea typeface="Source Code Pro"/>
                <a:cs typeface="Source Code Pro"/>
                <a:sym typeface="Source Code Pro"/>
              </a:rPr>
              <a:t>Pruebo si la solución parcial es válida</a:t>
            </a:r>
            <a:endParaRPr sz="1800">
              <a:solidFill>
                <a:schemeClr val="dk1"/>
              </a:solidFill>
              <a:latin typeface="Source Code Pro"/>
              <a:ea typeface="Source Code Pro"/>
              <a:cs typeface="Source Code Pro"/>
              <a:sym typeface="Source Code Pro"/>
            </a:endParaRPr>
          </a:p>
          <a:p>
            <a:pPr indent="-330200" lvl="0" marL="1828800" rtl="0" algn="l">
              <a:spcBef>
                <a:spcPts val="0"/>
              </a:spcBef>
              <a:spcAft>
                <a:spcPts val="0"/>
              </a:spcAft>
              <a:buClr>
                <a:schemeClr val="dk1"/>
              </a:buClr>
              <a:buSzPts val="1600"/>
              <a:buFont typeface="Source Code Pro"/>
              <a:buAutoNum type="alphaLcParenR"/>
            </a:pPr>
            <a:r>
              <a:rPr lang="es" sz="1800">
                <a:solidFill>
                  <a:schemeClr val="dk1"/>
                </a:solidFill>
                <a:latin typeface="Source Code Pro"/>
                <a:ea typeface="Source Code Pro"/>
                <a:cs typeface="Source Code Pro"/>
                <a:sym typeface="Source Code Pro"/>
              </a:rPr>
              <a:t>Si no lo es, retrocedo </a:t>
            </a:r>
            <a:r>
              <a:rPr lang="es" sz="1600">
                <a:solidFill>
                  <a:schemeClr val="dk1"/>
                </a:solidFill>
                <a:latin typeface="Source Code Pro"/>
                <a:ea typeface="Source Code Pro"/>
                <a:cs typeface="Source Code Pro"/>
                <a:sym typeface="Source Code Pro"/>
              </a:rPr>
              <a:t>y vuelvo a 2)</a:t>
            </a:r>
            <a:endParaRPr sz="1800">
              <a:solidFill>
                <a:schemeClr val="dk1"/>
              </a:solidFill>
              <a:latin typeface="Source Code Pro"/>
              <a:ea typeface="Source Code Pro"/>
              <a:cs typeface="Source Code Pro"/>
              <a:sym typeface="Source Code Pro"/>
            </a:endParaRPr>
          </a:p>
          <a:p>
            <a:pPr indent="-342900" lvl="0" marL="1828800" rtl="0" algn="l">
              <a:spcBef>
                <a:spcPts val="0"/>
              </a:spcBef>
              <a:spcAft>
                <a:spcPts val="0"/>
              </a:spcAft>
              <a:buClr>
                <a:schemeClr val="dk1"/>
              </a:buClr>
              <a:buSzPts val="1800"/>
              <a:buFont typeface="Source Code Pro"/>
              <a:buAutoNum type="alphaLcParenR"/>
            </a:pPr>
            <a:r>
              <a:rPr lang="es" sz="1800">
                <a:solidFill>
                  <a:schemeClr val="dk1"/>
                </a:solidFill>
                <a:latin typeface="Source Code Pro"/>
                <a:ea typeface="Source Code Pro"/>
                <a:cs typeface="Source Code Pro"/>
                <a:sym typeface="Source Code Pro"/>
              </a:rPr>
              <a:t>Si lo es, llamo recursivamente y vuelvo a 1)</a:t>
            </a:r>
            <a:endParaRPr sz="1800">
              <a:solidFill>
                <a:schemeClr val="dk1"/>
              </a:solidFill>
              <a:latin typeface="Source Code Pro"/>
              <a:ea typeface="Source Code Pro"/>
              <a:cs typeface="Source Code Pro"/>
              <a:sym typeface="Source Code Pro"/>
            </a:endParaRPr>
          </a:p>
          <a:p>
            <a:pPr indent="-342900" lvl="0" marL="1371600" rtl="0" algn="l">
              <a:spcBef>
                <a:spcPts val="0"/>
              </a:spcBef>
              <a:spcAft>
                <a:spcPts val="0"/>
              </a:spcAft>
              <a:buClr>
                <a:schemeClr val="dk1"/>
              </a:buClr>
              <a:buSzPts val="1800"/>
              <a:buFont typeface="Source Code Pro"/>
              <a:buAutoNum type="arabicParenR"/>
            </a:pPr>
            <a:r>
              <a:rPr lang="es" sz="1800">
                <a:solidFill>
                  <a:schemeClr val="dk1"/>
                </a:solidFill>
                <a:latin typeface="Source Code Pro"/>
                <a:ea typeface="Source Code Pro"/>
                <a:cs typeface="Source Code Pro"/>
                <a:sym typeface="Source Code Pro"/>
              </a:rPr>
              <a:t>Si llegue hasta aca, ya probe con todo y no encontre una solucion</a:t>
            </a:r>
            <a:endParaRPr sz="1800">
              <a:solidFill>
                <a:schemeClr val="dk1"/>
              </a:solidFill>
              <a:latin typeface="Source Code Pro"/>
              <a:ea typeface="Source Code Pro"/>
              <a:cs typeface="Source Code Pro"/>
              <a:sym typeface="Source Code Pro"/>
            </a:endParaRPr>
          </a:p>
          <a:p>
            <a:pPr indent="457200" lvl="0" marL="0" rtl="0" algn="l">
              <a:spcBef>
                <a:spcPts val="0"/>
              </a:spcBef>
              <a:spcAft>
                <a:spcPts val="0"/>
              </a:spcAft>
              <a:buNone/>
            </a:pPr>
            <a:r>
              <a:rPr lang="es">
                <a:solidFill>
                  <a:schemeClr val="dk1"/>
                </a:solidFill>
                <a:latin typeface="Source Code Pro"/>
                <a:ea typeface="Source Code Pro"/>
                <a:cs typeface="Source Code Pro"/>
                <a:sym typeface="Source Code Pro"/>
              </a:rPr>
              <a:t>(no válido para todos los casos, pero el esquema suele ser similar)</a:t>
            </a:r>
            <a:endParaRPr>
              <a:solidFill>
                <a:schemeClr val="dk1"/>
              </a:solidFill>
              <a:latin typeface="Source Code Pro"/>
              <a:ea typeface="Source Code Pro"/>
              <a:cs typeface="Source Code Pro"/>
              <a:sym typeface="Source Code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1000"/>
                                        <p:tgtEl>
                                          <p:spTgt spid="4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7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Verificación de Solución Compatible</a:t>
            </a:r>
            <a:endParaRPr/>
          </a:p>
        </p:txBody>
      </p:sp>
      <p:sp>
        <p:nvSpPr>
          <p:cNvPr id="471" name="Google Shape;471;p74"/>
          <p:cNvSpPr txBox="1"/>
          <p:nvPr>
            <p:ph idx="1" type="body"/>
          </p:nvPr>
        </p:nvSpPr>
        <p:spPr>
          <a:xfrm>
            <a:off x="311700" y="1058225"/>
            <a:ext cx="8520600" cy="40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 intentar agregar una materia a nuestra solución posible, puede ser o no compatible</a:t>
            </a:r>
            <a:endParaRPr/>
          </a:p>
          <a:p>
            <a:pPr indent="0" lvl="0" marL="0" marR="0" rtl="0" algn="l">
              <a:lnSpc>
                <a:spcPct val="115000"/>
              </a:lnSpc>
              <a:spcBef>
                <a:spcPts val="1600"/>
              </a:spcBef>
              <a:spcAft>
                <a:spcPts val="0"/>
              </a:spcAft>
              <a:buNone/>
            </a:pPr>
            <a:r>
              <a:rPr lang="es" sz="1900">
                <a:latin typeface="Consolas"/>
                <a:ea typeface="Consolas"/>
                <a:cs typeface="Consolas"/>
                <a:sym typeface="Consolas"/>
              </a:rPr>
              <a:t>def solucion_posible(horarios):</a:t>
            </a:r>
            <a:endParaRPr sz="1900">
              <a:latin typeface="Consolas"/>
              <a:ea typeface="Consolas"/>
              <a:cs typeface="Consolas"/>
              <a:sym typeface="Consolas"/>
            </a:endParaRPr>
          </a:p>
          <a:p>
            <a:pPr indent="0" lvl="0" marL="0" marR="0" rtl="0" algn="l">
              <a:lnSpc>
                <a:spcPct val="115000"/>
              </a:lnSpc>
              <a:spcBef>
                <a:spcPts val="0"/>
              </a:spcBef>
              <a:spcAft>
                <a:spcPts val="0"/>
              </a:spcAft>
              <a:buNone/>
            </a:pPr>
            <a:r>
              <a:rPr lang="es" sz="1900">
                <a:latin typeface="Consolas"/>
                <a:ea typeface="Consolas"/>
                <a:cs typeface="Consolas"/>
                <a:sym typeface="Consolas"/>
              </a:rPr>
              <a:t>    ultimo = horarios[-1]</a:t>
            </a:r>
            <a:endParaRPr sz="1900">
              <a:latin typeface="Consolas"/>
              <a:ea typeface="Consolas"/>
              <a:cs typeface="Consolas"/>
              <a:sym typeface="Consolas"/>
            </a:endParaRPr>
          </a:p>
          <a:p>
            <a:pPr indent="0" lvl="0" marL="0" marR="0" rtl="0" algn="l">
              <a:lnSpc>
                <a:spcPct val="115000"/>
              </a:lnSpc>
              <a:spcBef>
                <a:spcPts val="0"/>
              </a:spcBef>
              <a:spcAft>
                <a:spcPts val="0"/>
              </a:spcAft>
              <a:buNone/>
            </a:pPr>
            <a:r>
              <a:rPr lang="es" sz="1900">
                <a:latin typeface="Consolas"/>
                <a:ea typeface="Consolas"/>
                <a:cs typeface="Consolas"/>
                <a:sym typeface="Consolas"/>
              </a:rPr>
              <a:t>    for curso in horarios:</a:t>
            </a:r>
            <a:endParaRPr sz="1900">
              <a:latin typeface="Consolas"/>
              <a:ea typeface="Consolas"/>
              <a:cs typeface="Consolas"/>
              <a:sym typeface="Consolas"/>
            </a:endParaRPr>
          </a:p>
          <a:p>
            <a:pPr indent="0" lvl="0" marL="0" marR="0" rtl="0" algn="l">
              <a:lnSpc>
                <a:spcPct val="115000"/>
              </a:lnSpc>
              <a:spcBef>
                <a:spcPts val="0"/>
              </a:spcBef>
              <a:spcAft>
                <a:spcPts val="0"/>
              </a:spcAft>
              <a:buNone/>
            </a:pPr>
            <a:r>
              <a:rPr lang="es" sz="1900">
                <a:latin typeface="Consolas"/>
                <a:ea typeface="Consolas"/>
                <a:cs typeface="Consolas"/>
                <a:sym typeface="Consolas"/>
              </a:rPr>
              <a:t>        if curso == ultimo: continue</a:t>
            </a:r>
            <a:endParaRPr sz="1900">
              <a:latin typeface="Consolas"/>
              <a:ea typeface="Consolas"/>
              <a:cs typeface="Consolas"/>
              <a:sym typeface="Consolas"/>
            </a:endParaRPr>
          </a:p>
          <a:p>
            <a:pPr indent="0" lvl="0" marL="0" marR="0" rtl="0" algn="l">
              <a:lnSpc>
                <a:spcPct val="115000"/>
              </a:lnSpc>
              <a:spcBef>
                <a:spcPts val="0"/>
              </a:spcBef>
              <a:spcAft>
                <a:spcPts val="0"/>
              </a:spcAft>
              <a:buNone/>
            </a:pPr>
            <a:r>
              <a:rPr lang="es" sz="1900">
                <a:latin typeface="Consolas"/>
                <a:ea typeface="Consolas"/>
                <a:cs typeface="Consolas"/>
                <a:sym typeface="Consolas"/>
              </a:rPr>
              <a:t>        if not son_compatibles(curso, ultimo):</a:t>
            </a:r>
            <a:endParaRPr sz="1900">
              <a:latin typeface="Consolas"/>
              <a:ea typeface="Consolas"/>
              <a:cs typeface="Consolas"/>
              <a:sym typeface="Consolas"/>
            </a:endParaRPr>
          </a:p>
          <a:p>
            <a:pPr indent="0" lvl="0" marL="0" marR="0" rtl="0" algn="l">
              <a:lnSpc>
                <a:spcPct val="115000"/>
              </a:lnSpc>
              <a:spcBef>
                <a:spcPts val="0"/>
              </a:spcBef>
              <a:spcAft>
                <a:spcPts val="0"/>
              </a:spcAft>
              <a:buNone/>
            </a:pPr>
            <a:r>
              <a:rPr lang="es" sz="1900">
                <a:latin typeface="Consolas"/>
                <a:ea typeface="Consolas"/>
                <a:cs typeface="Consolas"/>
                <a:sym typeface="Consolas"/>
              </a:rPr>
              <a:t>            return False</a:t>
            </a:r>
            <a:endParaRPr sz="1900">
              <a:latin typeface="Consolas"/>
              <a:ea typeface="Consolas"/>
              <a:cs typeface="Consolas"/>
              <a:sym typeface="Consolas"/>
            </a:endParaRPr>
          </a:p>
          <a:p>
            <a:pPr indent="0" lvl="0" marL="0" marR="0" rtl="0" algn="l">
              <a:lnSpc>
                <a:spcPct val="115000"/>
              </a:lnSpc>
              <a:spcBef>
                <a:spcPts val="0"/>
              </a:spcBef>
              <a:spcAft>
                <a:spcPts val="0"/>
              </a:spcAft>
              <a:buNone/>
            </a:pPr>
            <a:r>
              <a:rPr lang="es" sz="1900">
                <a:latin typeface="Consolas"/>
                <a:ea typeface="Consolas"/>
                <a:cs typeface="Consolas"/>
                <a:sym typeface="Consolas"/>
              </a:rPr>
              <a:t>    return True</a:t>
            </a:r>
            <a:endParaRPr sz="1900">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1">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75"/>
          <p:cNvSpPr txBox="1"/>
          <p:nvPr>
            <p:ph idx="1" type="body"/>
          </p:nvPr>
        </p:nvSpPr>
        <p:spPr>
          <a:xfrm>
            <a:off x="194100" y="0"/>
            <a:ext cx="8638200" cy="484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300">
                <a:latin typeface="Consolas"/>
                <a:ea typeface="Consolas"/>
                <a:cs typeface="Consolas"/>
                <a:sym typeface="Consolas"/>
              </a:rPr>
              <a:t>def horarios_posibles(materias, solucion_parcial):</a:t>
            </a:r>
            <a:endParaRPr sz="1300">
              <a:latin typeface="Consolas"/>
              <a:ea typeface="Consolas"/>
              <a:cs typeface="Consolas"/>
              <a:sym typeface="Consolas"/>
            </a:endParaRPr>
          </a:p>
          <a:p>
            <a:pPr indent="0" lvl="0" marL="0" rtl="0" algn="l">
              <a:spcBef>
                <a:spcPts val="0"/>
              </a:spcBef>
              <a:spcAft>
                <a:spcPts val="0"/>
              </a:spcAft>
              <a:buNone/>
            </a:pPr>
            <a:r>
              <a:rPr lang="es" sz="1300">
                <a:latin typeface="Consolas"/>
                <a:ea typeface="Consolas"/>
                <a:cs typeface="Consolas"/>
                <a:sym typeface="Consolas"/>
              </a:rPr>
              <a:t>    # Si no nos quedan materias por ver</a:t>
            </a:r>
            <a:endParaRPr sz="1300">
              <a:latin typeface="Consolas"/>
              <a:ea typeface="Consolas"/>
              <a:cs typeface="Consolas"/>
              <a:sym typeface="Consolas"/>
            </a:endParaRPr>
          </a:p>
          <a:p>
            <a:pPr indent="0" lvl="0" marL="0" rtl="0" algn="l">
              <a:spcBef>
                <a:spcPts val="0"/>
              </a:spcBef>
              <a:spcAft>
                <a:spcPts val="0"/>
              </a:spcAft>
              <a:buNone/>
            </a:pPr>
            <a:r>
              <a:rPr lang="es" sz="1300">
                <a:latin typeface="Consolas"/>
                <a:ea typeface="Consolas"/>
                <a:cs typeface="Consolas"/>
                <a:sym typeface="Consolas"/>
              </a:rPr>
              <a:t>    if len(materias) == 0:</a:t>
            </a:r>
            <a:endParaRPr sz="1300">
              <a:latin typeface="Consolas"/>
              <a:ea typeface="Consolas"/>
              <a:cs typeface="Consolas"/>
              <a:sym typeface="Consolas"/>
            </a:endParaRPr>
          </a:p>
          <a:p>
            <a:pPr indent="0" lvl="0" marL="0" rtl="0" algn="l">
              <a:spcBef>
                <a:spcPts val="0"/>
              </a:spcBef>
              <a:spcAft>
                <a:spcPts val="0"/>
              </a:spcAft>
              <a:buNone/>
            </a:pPr>
            <a:r>
              <a:rPr lang="es" sz="1300">
                <a:latin typeface="Consolas"/>
                <a:ea typeface="Consolas"/>
                <a:cs typeface="Consolas"/>
                <a:sym typeface="Consolas"/>
              </a:rPr>
              <a:t>        if solucion_posible(solucion_parcial):</a:t>
            </a:r>
            <a:endParaRPr sz="1300">
              <a:latin typeface="Consolas"/>
              <a:ea typeface="Consolas"/>
              <a:cs typeface="Consolas"/>
              <a:sym typeface="Consolas"/>
            </a:endParaRPr>
          </a:p>
          <a:p>
            <a:pPr indent="0" lvl="0" marL="0" rtl="0" algn="l">
              <a:spcBef>
                <a:spcPts val="0"/>
              </a:spcBef>
              <a:spcAft>
                <a:spcPts val="0"/>
              </a:spcAft>
              <a:buNone/>
            </a:pPr>
            <a:r>
              <a:rPr lang="es" sz="1300">
                <a:latin typeface="Consolas"/>
                <a:ea typeface="Consolas"/>
                <a:cs typeface="Consolas"/>
                <a:sym typeface="Consolas"/>
              </a:rPr>
              <a:t>            return [solucion_parcial]</a:t>
            </a:r>
            <a:endParaRPr sz="1300">
              <a:latin typeface="Consolas"/>
              <a:ea typeface="Consolas"/>
              <a:cs typeface="Consolas"/>
              <a:sym typeface="Consolas"/>
            </a:endParaRPr>
          </a:p>
          <a:p>
            <a:pPr indent="0" lvl="0" marL="0" rtl="0" algn="l">
              <a:spcBef>
                <a:spcPts val="0"/>
              </a:spcBef>
              <a:spcAft>
                <a:spcPts val="0"/>
              </a:spcAft>
              <a:buNone/>
            </a:pPr>
            <a:r>
              <a:rPr lang="es" sz="1300">
                <a:latin typeface="Consolas"/>
                <a:ea typeface="Consolas"/>
                <a:cs typeface="Consolas"/>
                <a:sym typeface="Consolas"/>
              </a:rPr>
              <a:t>        else:</a:t>
            </a:r>
            <a:endParaRPr sz="1300">
              <a:latin typeface="Consolas"/>
              <a:ea typeface="Consolas"/>
              <a:cs typeface="Consolas"/>
              <a:sym typeface="Consolas"/>
            </a:endParaRPr>
          </a:p>
          <a:p>
            <a:pPr indent="0" lvl="0" marL="0" rtl="0" algn="l">
              <a:spcBef>
                <a:spcPts val="0"/>
              </a:spcBef>
              <a:spcAft>
                <a:spcPts val="0"/>
              </a:spcAft>
              <a:buNone/>
            </a:pPr>
            <a:r>
              <a:rPr lang="es" sz="1300">
                <a:latin typeface="Consolas"/>
                <a:ea typeface="Consolas"/>
                <a:cs typeface="Consolas"/>
                <a:sym typeface="Consolas"/>
              </a:rPr>
              <a:t>            return []</a:t>
            </a:r>
            <a:endParaRPr sz="1300">
              <a:latin typeface="Consolas"/>
              <a:ea typeface="Consolas"/>
              <a:cs typeface="Consolas"/>
              <a:sym typeface="Consolas"/>
            </a:endParaRPr>
          </a:p>
          <a:p>
            <a:pPr indent="0" lvl="0" marL="0" rtl="0" algn="l">
              <a:spcBef>
                <a:spcPts val="0"/>
              </a:spcBef>
              <a:spcAft>
                <a:spcPts val="0"/>
              </a:spcAft>
              <a:buNone/>
            </a:pPr>
            <a:r>
              <a:rPr lang="es" sz="1300">
                <a:latin typeface="Consolas"/>
                <a:ea typeface="Consolas"/>
                <a:cs typeface="Consolas"/>
                <a:sym typeface="Consolas"/>
              </a:rPr>
              <a:t>    # No es solucion total, pero es solucion parcial?</a:t>
            </a:r>
            <a:endParaRPr sz="1300">
              <a:latin typeface="Consolas"/>
              <a:ea typeface="Consolas"/>
              <a:cs typeface="Consolas"/>
              <a:sym typeface="Consolas"/>
            </a:endParaRPr>
          </a:p>
          <a:p>
            <a:pPr indent="0" lvl="0" marL="0" rtl="0" algn="l">
              <a:spcBef>
                <a:spcPts val="0"/>
              </a:spcBef>
              <a:spcAft>
                <a:spcPts val="0"/>
              </a:spcAft>
              <a:buNone/>
            </a:pPr>
            <a:r>
              <a:rPr lang="es" sz="1300">
                <a:latin typeface="Consolas"/>
                <a:ea typeface="Consolas"/>
                <a:cs typeface="Consolas"/>
                <a:sym typeface="Consolas"/>
              </a:rPr>
              <a:t>    if not solucion_posible(solucion_parcial):</a:t>
            </a:r>
            <a:endParaRPr sz="1300">
              <a:latin typeface="Consolas"/>
              <a:ea typeface="Consolas"/>
              <a:cs typeface="Consolas"/>
              <a:sym typeface="Consolas"/>
            </a:endParaRPr>
          </a:p>
          <a:p>
            <a:pPr indent="0" lvl="0" marL="0" rtl="0" algn="l">
              <a:spcBef>
                <a:spcPts val="0"/>
              </a:spcBef>
              <a:spcAft>
                <a:spcPts val="0"/>
              </a:spcAft>
              <a:buNone/>
            </a:pPr>
            <a:r>
              <a:rPr lang="es" sz="1300">
                <a:latin typeface="Consolas"/>
                <a:ea typeface="Consolas"/>
                <a:cs typeface="Consolas"/>
                <a:sym typeface="Consolas"/>
              </a:rPr>
              <a:t>        return []</a:t>
            </a:r>
            <a:endParaRPr sz="1300">
              <a:latin typeface="Consolas"/>
              <a:ea typeface="Consolas"/>
              <a:cs typeface="Consolas"/>
              <a:sym typeface="Consolas"/>
            </a:endParaRPr>
          </a:p>
          <a:p>
            <a:pPr indent="0" lvl="0" marL="0" rtl="0" algn="l">
              <a:spcBef>
                <a:spcPts val="0"/>
              </a:spcBef>
              <a:spcAft>
                <a:spcPts val="0"/>
              </a:spcAft>
              <a:buNone/>
            </a:pPr>
            <a:r>
              <a:rPr lang="es" sz="1300">
                <a:latin typeface="Consolas"/>
                <a:ea typeface="Consolas"/>
                <a:cs typeface="Consolas"/>
                <a:sym typeface="Consolas"/>
              </a:rPr>
              <a:t>    # Caso general, por ahora la solucion parcial es aceptada:</a:t>
            </a:r>
            <a:endParaRPr sz="1300">
              <a:latin typeface="Consolas"/>
              <a:ea typeface="Consolas"/>
              <a:cs typeface="Consolas"/>
              <a:sym typeface="Consolas"/>
            </a:endParaRPr>
          </a:p>
          <a:p>
            <a:pPr indent="0" lvl="0" marL="0" rtl="0" algn="l">
              <a:spcBef>
                <a:spcPts val="0"/>
              </a:spcBef>
              <a:spcAft>
                <a:spcPts val="0"/>
              </a:spcAft>
              <a:buNone/>
            </a:pPr>
            <a:r>
              <a:rPr lang="es" sz="1300">
                <a:latin typeface="Consolas"/>
                <a:ea typeface="Consolas"/>
                <a:cs typeface="Consolas"/>
                <a:sym typeface="Consolas"/>
              </a:rPr>
              <a:t>    materia_actual = materias.popleft()</a:t>
            </a:r>
            <a:endParaRPr sz="1300">
              <a:latin typeface="Consolas"/>
              <a:ea typeface="Consolas"/>
              <a:cs typeface="Consolas"/>
              <a:sym typeface="Consolas"/>
            </a:endParaRPr>
          </a:p>
          <a:p>
            <a:pPr indent="0" lvl="0" marL="0" rtl="0" algn="l">
              <a:spcBef>
                <a:spcPts val="0"/>
              </a:spcBef>
              <a:spcAft>
                <a:spcPts val="0"/>
              </a:spcAft>
              <a:buNone/>
            </a:pPr>
            <a:r>
              <a:t/>
            </a:r>
            <a:endParaRPr sz="1300">
              <a:latin typeface="Consolas"/>
              <a:ea typeface="Consolas"/>
              <a:cs typeface="Consolas"/>
              <a:sym typeface="Consolas"/>
            </a:endParaRPr>
          </a:p>
          <a:p>
            <a:pPr indent="0" lvl="0" marL="0" rtl="0" algn="l">
              <a:spcBef>
                <a:spcPts val="0"/>
              </a:spcBef>
              <a:spcAft>
                <a:spcPts val="0"/>
              </a:spcAft>
              <a:buNone/>
            </a:pPr>
            <a:r>
              <a:rPr lang="es" sz="1300">
                <a:latin typeface="Consolas"/>
                <a:ea typeface="Consolas"/>
                <a:cs typeface="Consolas"/>
                <a:sym typeface="Consolas"/>
              </a:rPr>
              <a:t>    soluciones = []</a:t>
            </a:r>
            <a:endParaRPr sz="1300">
              <a:latin typeface="Consolas"/>
              <a:ea typeface="Consolas"/>
              <a:cs typeface="Consolas"/>
              <a:sym typeface="Consolas"/>
            </a:endParaRPr>
          </a:p>
          <a:p>
            <a:pPr indent="0" lvl="0" marL="0" rtl="0" algn="l">
              <a:spcBef>
                <a:spcPts val="0"/>
              </a:spcBef>
              <a:spcAft>
                <a:spcPts val="0"/>
              </a:spcAft>
              <a:buNone/>
            </a:pPr>
            <a:r>
              <a:rPr lang="es" sz="1300">
                <a:latin typeface="Consolas"/>
                <a:ea typeface="Consolas"/>
                <a:cs typeface="Consolas"/>
                <a:sym typeface="Consolas"/>
              </a:rPr>
              <a:t>    for curso in materia_actual:</a:t>
            </a:r>
            <a:endParaRPr sz="1300">
              <a:latin typeface="Consolas"/>
              <a:ea typeface="Consolas"/>
              <a:cs typeface="Consolas"/>
              <a:sym typeface="Consolas"/>
            </a:endParaRPr>
          </a:p>
          <a:p>
            <a:pPr indent="0" lvl="0" marL="0" rtl="0" algn="l">
              <a:spcBef>
                <a:spcPts val="0"/>
              </a:spcBef>
              <a:spcAft>
                <a:spcPts val="0"/>
              </a:spcAft>
              <a:buNone/>
            </a:pPr>
            <a:r>
              <a:rPr lang="es" sz="1300">
                <a:latin typeface="Consolas"/>
                <a:ea typeface="Consolas"/>
                <a:cs typeface="Consolas"/>
                <a:sym typeface="Consolas"/>
              </a:rPr>
              <a:t>        # Si es lista con soluciones, se agregan todas. Si devuelve lista vacia, no hará nada</a:t>
            </a:r>
            <a:endParaRPr sz="1300">
              <a:latin typeface="Consolas"/>
              <a:ea typeface="Consolas"/>
              <a:cs typeface="Consolas"/>
              <a:sym typeface="Consolas"/>
            </a:endParaRPr>
          </a:p>
          <a:p>
            <a:pPr indent="0" lvl="0" marL="0" rtl="0" algn="l">
              <a:spcBef>
                <a:spcPts val="0"/>
              </a:spcBef>
              <a:spcAft>
                <a:spcPts val="0"/>
              </a:spcAft>
              <a:buNone/>
            </a:pPr>
            <a:r>
              <a:rPr lang="es" sz="1300">
                <a:latin typeface="Consolas"/>
                <a:ea typeface="Consolas"/>
                <a:cs typeface="Consolas"/>
                <a:sym typeface="Consolas"/>
              </a:rPr>
              <a:t>        soluciones.extend(horarios_posibles(materias, solucion_parcial + [curso]))</a:t>
            </a:r>
            <a:endParaRPr sz="1300">
              <a:latin typeface="Consolas"/>
              <a:ea typeface="Consolas"/>
              <a:cs typeface="Consolas"/>
              <a:sym typeface="Consolas"/>
            </a:endParaRPr>
          </a:p>
          <a:p>
            <a:pPr indent="0" lvl="0" marL="0" rtl="0" algn="l">
              <a:spcBef>
                <a:spcPts val="0"/>
              </a:spcBef>
              <a:spcAft>
                <a:spcPts val="0"/>
              </a:spcAft>
              <a:buNone/>
            </a:pPr>
            <a:r>
              <a:rPr lang="es" sz="1300">
                <a:latin typeface="Consolas"/>
                <a:ea typeface="Consolas"/>
                <a:cs typeface="Consolas"/>
                <a:sym typeface="Consolas"/>
              </a:rPr>
              <a:t>    # Volver atrás un paso, para volver a poner la materia que sacamos:</a:t>
            </a:r>
            <a:endParaRPr sz="1300">
              <a:latin typeface="Consolas"/>
              <a:ea typeface="Consolas"/>
              <a:cs typeface="Consolas"/>
              <a:sym typeface="Consolas"/>
            </a:endParaRPr>
          </a:p>
          <a:p>
            <a:pPr indent="0" lvl="0" marL="0" rtl="0" algn="l">
              <a:spcBef>
                <a:spcPts val="0"/>
              </a:spcBef>
              <a:spcAft>
                <a:spcPts val="0"/>
              </a:spcAft>
              <a:buNone/>
            </a:pPr>
            <a:r>
              <a:rPr lang="es" sz="1300">
                <a:latin typeface="Consolas"/>
                <a:ea typeface="Consolas"/>
                <a:cs typeface="Consolas"/>
                <a:sym typeface="Consolas"/>
              </a:rPr>
              <a:t>    materias.appendleft(materia_actual)</a:t>
            </a:r>
            <a:endParaRPr sz="1300">
              <a:latin typeface="Consolas"/>
              <a:ea typeface="Consolas"/>
              <a:cs typeface="Consolas"/>
              <a:sym typeface="Consolas"/>
            </a:endParaRPr>
          </a:p>
          <a:p>
            <a:pPr indent="0" lvl="0" marL="0" rtl="0" algn="l">
              <a:spcBef>
                <a:spcPts val="0"/>
              </a:spcBef>
              <a:spcAft>
                <a:spcPts val="0"/>
              </a:spcAft>
              <a:buNone/>
            </a:pPr>
            <a:r>
              <a:t/>
            </a:r>
            <a:endParaRPr sz="1300">
              <a:latin typeface="Consolas"/>
              <a:ea typeface="Consolas"/>
              <a:cs typeface="Consolas"/>
              <a:sym typeface="Consolas"/>
            </a:endParaRPr>
          </a:p>
          <a:p>
            <a:pPr indent="0" lvl="0" marL="0" rtl="0" algn="l">
              <a:spcBef>
                <a:spcPts val="0"/>
              </a:spcBef>
              <a:spcAft>
                <a:spcPts val="0"/>
              </a:spcAft>
              <a:buNone/>
            </a:pPr>
            <a:r>
              <a:rPr lang="es" sz="1300">
                <a:latin typeface="Consolas"/>
                <a:ea typeface="Consolas"/>
                <a:cs typeface="Consolas"/>
                <a:sym typeface="Consolas"/>
              </a:rPr>
              <a:t>    return soluciones</a:t>
            </a:r>
            <a:endParaRPr sz="1300">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xEl>
                                              <p:pRg end="17" st="1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xEl>
                                              <p:pRg end="18" st="1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xEl>
                                              <p:pRg end="19" st="1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xEl>
                                              <p:pRg end="20" st="2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7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Sumatoria de n-dados</a:t>
            </a:r>
            <a:endParaRPr/>
          </a:p>
        </p:txBody>
      </p:sp>
      <p:sp>
        <p:nvSpPr>
          <p:cNvPr id="482" name="Google Shape;482;p76"/>
          <p:cNvSpPr txBox="1"/>
          <p:nvPr>
            <p:ph idx="1" type="body"/>
          </p:nvPr>
        </p:nvSpPr>
        <p:spPr>
          <a:xfrm>
            <a:off x="311700" y="1171600"/>
            <a:ext cx="8629800" cy="259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Escribir un algoritmo de tipo Backtracking que reciba una cantidad de dados n y una suma s. La función debe devolver todas las tiradas posibles de n dados cuya suma es s. Por ejemplo, con n = 2 y s = 7, debe devolver [1, 6] [2, 5] [3, 4] [4, 3] [5, 2] [6, 1].</a:t>
            </a:r>
            <a:endParaRPr/>
          </a:p>
          <a:p>
            <a:pPr indent="0" lvl="0" marL="0" rtl="0" algn="l">
              <a:spcBef>
                <a:spcPts val="1600"/>
              </a:spcBef>
              <a:spcAft>
                <a:spcPts val="0"/>
              </a:spcAft>
              <a:buClr>
                <a:schemeClr val="dk1"/>
              </a:buClr>
              <a:buSzPts val="1100"/>
              <a:buFont typeface="Arial"/>
              <a:buNone/>
            </a:pPr>
            <a:r>
              <a:rPr lang="es"/>
              <a:t>¿De qué complejidad es el algoritmo en tiempo? ¿Y en memoria?</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7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Sumatoria de n dados</a:t>
            </a:r>
            <a:endParaRPr/>
          </a:p>
        </p:txBody>
      </p:sp>
      <p:sp>
        <p:nvSpPr>
          <p:cNvPr id="488" name="Google Shape;488;p77"/>
          <p:cNvSpPr txBox="1"/>
          <p:nvPr>
            <p:ph idx="1" type="body"/>
          </p:nvPr>
        </p:nvSpPr>
        <p:spPr>
          <a:xfrm>
            <a:off x="311700" y="1171600"/>
            <a:ext cx="8520600" cy="371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def suma_dados(suma, cant_faltan, solucion_parcial, soluciones):</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if sum(solucion_parcial) == suma and cant_faltan == 0:</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soluciones.append(solucion_parcial.copy())</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return soluciones</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if cant_faltan == 0 or sum(solucion_parcial) &gt; n: return soluciones</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for valor in range(MIN_DADO, MAX_DADO+1):</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solucion_parcial.append(valor)</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suma_dados(suma, cant_faltan-1, solucion_parcial, soluciones)</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solucion_parcial.pop()</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return soluciones</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400">
              <a:latin typeface="Consolas"/>
              <a:ea typeface="Consolas"/>
              <a:cs typeface="Consolas"/>
              <a:sym typeface="Consolas"/>
            </a:endParaRPr>
          </a:p>
          <a:p>
            <a:pPr indent="0" lvl="0" marL="0" rtl="0" algn="l">
              <a:spcBef>
                <a:spcPts val="0"/>
              </a:spcBef>
              <a:spcAft>
                <a:spcPts val="16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14" st="1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7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Sumatoria de n dados</a:t>
            </a:r>
            <a:endParaRPr/>
          </a:p>
        </p:txBody>
      </p:sp>
      <p:sp>
        <p:nvSpPr>
          <p:cNvPr id="494" name="Google Shape;494;p78"/>
          <p:cNvSpPr txBox="1"/>
          <p:nvPr>
            <p:ph idx="1" type="body"/>
          </p:nvPr>
        </p:nvSpPr>
        <p:spPr>
          <a:xfrm>
            <a:off x="311700" y="1171600"/>
            <a:ext cx="8520600" cy="371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def suma_dados(suma, cant_faltan, solucion_parcial, soluciones):</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if sum(solucion_parcial) == suma and cant_faltan == 0:</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soluciones.append(solucion_parcial.copy())</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return soluciones</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a:t>
            </a:r>
            <a:r>
              <a:rPr lang="es" sz="1400">
                <a:latin typeface="Consolas"/>
                <a:ea typeface="Consolas"/>
                <a:cs typeface="Consolas"/>
                <a:sym typeface="Consolas"/>
              </a:rPr>
              <a:t>if cant_faltan == 0 or sum(solucion_parcial) &gt; n: return soluciones</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if sum(solucion_parcial) + cant_faltan*MIN_DADO &gt; suma: return </a:t>
            </a:r>
            <a:r>
              <a:rPr lang="es" sz="1400">
                <a:latin typeface="Consolas"/>
                <a:ea typeface="Consolas"/>
                <a:cs typeface="Consolas"/>
                <a:sym typeface="Consolas"/>
              </a:rPr>
              <a:t>soluciones</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if sum(solucion_parcial) + cant_faltan*MAX_DADO &lt; suma: return </a:t>
            </a:r>
            <a:r>
              <a:rPr lang="es" sz="1400">
                <a:latin typeface="Consolas"/>
                <a:ea typeface="Consolas"/>
                <a:cs typeface="Consolas"/>
                <a:sym typeface="Consolas"/>
              </a:rPr>
              <a:t>soluciones</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for valor in range(MIN_DADO, MAX_DADO+1):</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solucion_parcial.append(valor)</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soluciones = suma_dados(suma, cant_faltan-1, solucion_parcial, soluciones)</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solucion_parcial.pop()</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return </a:t>
            </a:r>
            <a:r>
              <a:rPr lang="es" sz="1400">
                <a:latin typeface="Consolas"/>
                <a:ea typeface="Consolas"/>
                <a:cs typeface="Consolas"/>
                <a:sym typeface="Consolas"/>
              </a:rPr>
              <a:t>soluciones</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400">
              <a:latin typeface="Consolas"/>
              <a:ea typeface="Consolas"/>
              <a:cs typeface="Consolas"/>
              <a:sym typeface="Consolas"/>
            </a:endParaRPr>
          </a:p>
          <a:p>
            <a:pPr indent="0" lvl="0" marL="0" rtl="0" algn="l">
              <a:spcBef>
                <a:spcPts val="0"/>
              </a:spcBef>
              <a:spcAft>
                <a:spcPts val="160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Sumatoria de n-dados</a:t>
            </a:r>
            <a:endParaRPr/>
          </a:p>
        </p:txBody>
      </p:sp>
      <p:sp>
        <p:nvSpPr>
          <p:cNvPr id="500" name="Google Shape;500;p79"/>
          <p:cNvSpPr txBox="1"/>
          <p:nvPr>
            <p:ph idx="1" type="body"/>
          </p:nvPr>
        </p:nvSpPr>
        <p:spPr>
          <a:xfrm>
            <a:off x="311700" y="1171600"/>
            <a:ext cx="8641200" cy="259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Escribir un algoritmo de tipo Backtracking que reciba una cantidad de dados n y una suma s. La función debe devolver todas las tiradas posibles de n dados cuya suma es s. Por ejemplo, con n = 2 y s = 7, debe devolver [1, 6] [2, 5] [3, 4] [4, 3] [5, 2] [6, 1].</a:t>
            </a:r>
            <a:endParaRPr/>
          </a:p>
          <a:p>
            <a:pPr indent="0" lvl="0" marL="0" rtl="0" algn="l">
              <a:spcBef>
                <a:spcPts val="1600"/>
              </a:spcBef>
              <a:spcAft>
                <a:spcPts val="0"/>
              </a:spcAft>
              <a:buClr>
                <a:schemeClr val="dk1"/>
              </a:buClr>
              <a:buSzPts val="1100"/>
              <a:buFont typeface="Arial"/>
              <a:buNone/>
            </a:pPr>
            <a:r>
              <a:rPr lang="es"/>
              <a:t>¿De qué orden es el algoritmo en tiempo? ¿Y en memoria?</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