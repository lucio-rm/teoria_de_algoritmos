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Proxima Nova"/>
      <p:regular r:id="rId48"/>
      <p:bold r:id="rId49"/>
      <p:italic r:id="rId50"/>
      <p:boldItalic r:id="rId51"/>
    </p:embeddedFont>
    <p:embeddedFont>
      <p:font typeface="Old Standard TT"/>
      <p:regular r:id="rId52"/>
      <p:bold r:id="rId53"/>
      <p: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D6AF0B-4086-4FF9-8F55-D43991197791}">
  <a:tblStyle styleId="{3AD6AF0B-4086-4FF9-8F55-D439911977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roximaNova-regular.fntdata"/><Relationship Id="rId47" Type="http://schemas.openxmlformats.org/officeDocument/2006/relationships/slide" Target="slides/slide41.xml"/><Relationship Id="rId49" Type="http://schemas.openxmlformats.org/officeDocument/2006/relationships/font" Target="fonts/ProximaNov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roximaNova-boldItalic.fntdata"/><Relationship Id="rId50" Type="http://schemas.openxmlformats.org/officeDocument/2006/relationships/font" Target="fonts/ProximaNova-italic.fntdata"/><Relationship Id="rId53" Type="http://schemas.openxmlformats.org/officeDocument/2006/relationships/font" Target="fonts/OldStandardTT-bold.fntdata"/><Relationship Id="rId52" Type="http://schemas.openxmlformats.org/officeDocument/2006/relationships/font" Target="fonts/OldStandardT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OldStandardT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b50ce2e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7b50ce2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cce2a344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cce2a344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fb0b6f6a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fb0b6f6a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fb0b6f6af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ffb0b6f6af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dcce2a344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dcce2a34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Jeremy Bentham vs Immanuel Kant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cce2a34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cce2a3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70e951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570e951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e0a6e428da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e0a6e428d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e0a6e428da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e0a6e428da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e0a6e428da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e0a6e428da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e0a6e428da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e0a6e428da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bae88ed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7bae88ed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0a6e428da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e0a6e428da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e0a6e428da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e0a6e428d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dcce2a34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dcce2a34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e0a6e428da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e0a6e428da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e0a6e428da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e0a6e428da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0a6e428da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e0a6e428da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e0a6e428da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e0a6e428da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e0a6e428da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e0a6e428da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e0a6e428da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e0a6e428da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e0a6e428da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e0a6e428da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e0a6e428da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e0a6e428da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0a6e428da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e0a6e428da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e0a6e428da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e0a6e428da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0a6e428da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e0a6e428da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e0a6e428da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e0a6e428da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e0a6e428da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e0a6e428da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e0a6e428da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e0a6e428da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e0a6e428da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e0a6e428da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f56c3602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f56c3602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e0a6e428da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e0a6e428da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e0a6e428da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e0a6e428da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e0a6e428da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e0a6e428da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e0a6e428da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e0a6e428da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e0a6e428da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e0a6e428da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e0a6e428da_1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e0a6e428da_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e0a6e428da_1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e0a6e428da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e0a6e428da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e0a6e428da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0a6e428da_1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e0a6e428da_1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Dinámica</a:t>
            </a:r>
            <a:r>
              <a:rPr lang="es"/>
              <a:t> 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0500" y="0"/>
            <a:ext cx="3513500" cy="17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Disclaimer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71600"/>
            <a:ext cx="8520600" cy="19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Este es posiblemente el tema más difícil de la materia → vamos a ir lento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Esperamos que en algún momento les caiga la ficha y vean la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Tema de entrevistas de lugares grosos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PREGUNTEN</a:t>
            </a:r>
            <a:r>
              <a:rPr lang="es"/>
              <a:t> apenas diga algo que los haga pensar "khè, no, pará.."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Dinámica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71600"/>
            <a:ext cx="8520600" cy="28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una técnica de programación, tal como: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División y Conquista</a:t>
            </a: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Algoritmos Greedy</a:t>
            </a: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Backtracking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Es una gran herramienta para casos donde no podemos recurrir a otras técnicas (y para típicos problemas de entrevistas de trabajo)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 introductoria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14821" l="4735" r="3505" t="0"/>
          <a:stretch/>
        </p:blipFill>
        <p:spPr>
          <a:xfrm>
            <a:off x="2162025" y="892025"/>
            <a:ext cx="6826251" cy="17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094025"/>
            <a:ext cx="8520600" cy="31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(5*7) + (5*9)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Usar el procedimiento cuesta tiempo. No sabemos cosas raras como factorizar.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Opción 1: Consultar al procedimiento 7 veces para sumar 5  y luego  usarlo para sumar 9 veces 5. 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Cuántas veces tendría que usar el procedimiento?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 introductoria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288225" y="1105100"/>
            <a:ext cx="8520600" cy="31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Enfoque final: U</a:t>
            </a:r>
            <a:r>
              <a:rPr lang="es"/>
              <a:t>so el procedimiento 7 veces para hallar 7*5 , anoto el resultado y basándome en el resultado al problema pequeño usaré el procedimiento para sumar 5 2 veces más.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Consultamos resultados de problemas más pequeños -&gt; no fuimos redundantes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MORALEJA</a:t>
            </a:r>
            <a:r>
              <a:rPr lang="es"/>
              <a:t>: capaz y puedo recordar las soluciones -al mismo problema- "mas chicas" para usarlas para el problema grande.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¿Problemas con problemas más pequeños?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Fibonacci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71600"/>
            <a:ext cx="8520600" cy="31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secuencia de Fibonacci empieza así: 0, 1, 1, 2, 3, 5, 8, 13, 21, 34, 55, 89…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Definición </a:t>
            </a:r>
            <a:r>
              <a:rPr i="1" lang="es"/>
              <a:t>recursiva</a:t>
            </a:r>
            <a:r>
              <a:rPr lang="es"/>
              <a:t>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f(0) =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f(1) =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[...] Caso general: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f(n) = f(n-1) + f(n-2)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600" y="2266950"/>
            <a:ext cx="434340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0200" y="1950695"/>
            <a:ext cx="2784201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Fibonacci: una solución</a:t>
            </a:r>
            <a:endParaRPr sz="2700"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100" y="1480813"/>
            <a:ext cx="39624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9975" y="1022825"/>
            <a:ext cx="4882025" cy="398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</a:t>
            </a:r>
            <a:r>
              <a:rPr lang="es"/>
              <a:t>ón Dinámica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la resoluci</a:t>
            </a:r>
            <a:r>
              <a:rPr lang="es"/>
              <a:t>ón combinatoria puede implicar repetir cálculos, PD nos va a ayudar a evitar los recálculos aprovechando lo ya hecho.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Vamos paso a paso.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Fibonacci: vamo a recordarno’</a:t>
            </a:r>
            <a:endParaRPr sz="2700"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71600"/>
            <a:ext cx="8520600" cy="370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fib_memorioso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1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1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fib_rec_memorioso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1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fib_rec_memorioso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1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1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1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1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1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1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1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fib_rec_memorioso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1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fib_rec_memorioso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1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1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1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1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9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Fibonacci: vamo a iterarlo’</a:t>
            </a:r>
            <a:endParaRPr sz="2700"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71600"/>
            <a:ext cx="8520600" cy="2451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fib_iterativo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267F99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M_FIB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9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738900" y="389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{3AD6AF0B-4086-4FF9-8F55-D43991197791}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" name="Google Shape;123;p22"/>
          <p:cNvSpPr txBox="1"/>
          <p:nvPr/>
        </p:nvSpPr>
        <p:spPr>
          <a:xfrm>
            <a:off x="2377450" y="4280550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3063250" y="4280550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3825250" y="4280550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4587250" y="4280550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</a:t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5273050" y="4280550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8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5958850" y="4280550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13</a:t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6644650" y="4280550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21</a:t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7406650" y="4280550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Fibonacci: vamo a programa’</a:t>
            </a:r>
            <a:endParaRPr sz="2700"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71600"/>
            <a:ext cx="8520600" cy="370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fib_dinamico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anterior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actual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267F99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n+1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nuevo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actual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anterior</a:t>
            </a:r>
            <a:endParaRPr sz="1400">
              <a:solidFill>
                <a:srgbClr val="001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anterior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actual</a:t>
            </a:r>
            <a:endParaRPr sz="1400">
              <a:solidFill>
                <a:srgbClr val="001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actual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nuevo</a:t>
            </a:r>
            <a:endParaRPr sz="1400">
              <a:solidFill>
                <a:srgbClr val="001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actual</a:t>
            </a:r>
            <a:endParaRPr sz="1400">
              <a:solidFill>
                <a:srgbClr val="001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9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Memoization o Memorización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71600"/>
            <a:ext cx="8520600" cy="28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técnica de guardar los resultados previamente calculados se llama Memoization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este caso nos permitió pasar de un tiempo de ejecución exponencial a uno polinomial (particularmente, proporcional al número de Fibonacci a calcular)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qué preferimos la forma iterativa (bottom up) a la recursiva (top down)?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49627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 mucho más fácil de entender qué pasa cuándo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Como consecuencia de lo anterior, </a:t>
            </a:r>
            <a:r>
              <a:rPr b="1" lang="es"/>
              <a:t>mucho</a:t>
            </a:r>
            <a:r>
              <a:rPr lang="es"/>
              <a:t> más fácil calcular la complejidad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Este tipo de resoluciones suelen ser más fáciles de resolver de forma inductiva que recursiva.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 más fácil cometer errores o pensarlo de una forma rebuscada en la versión recursiva.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Nos estructura mucho más cómo pensar la solución → primero la ecuación de recurrencia, después programar (este último paso, siendo extremadamente sencillo)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Se pueden aplicar optimizaciones de memoria fácilmente.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por Programación Dinámica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71600"/>
            <a:ext cx="8520600" cy="28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basa en la idea de Memoization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Construye iterativamente las soluciones a los subproblemas hasta llegar a la solución del problema original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consigue la solución al problema gracias a que tenemos una forma de construir la solución a problemas más grandes en función de problemas más pequeños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Establecemos una lógica inductiva: "Si yo puedo asumir que ya tengo calculados todas las soluciones anteriores (casos más pequeños), ¿cómo puedo usarlos para construir la que necesito?"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última optimización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71600"/>
            <a:ext cx="8520600" cy="28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este problema particular, las únicas soluciones de sub-problemas que necesitamos son las del paso n-1 y n-2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vez de mantener el vector con todas las soluciones, basta con recordar las últimas dos soluciones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Scheduling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Tengo un aula/sala donde quiero dar charlas. Las charlas tienen horario de inicio y fin. Quiero utilizar el aula para dar la mayor cantidad de charlas.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¿Cómo hacer?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Se resolvía como un algoritmo Greedy, ordenando las charlas por horario de fin.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Pero… </a:t>
            </a:r>
            <a:r>
              <a:rPr lang="es"/>
              <a:t>¿Qué</a:t>
            </a:r>
            <a:r>
              <a:rPr lang="es"/>
              <a:t> pasa si viene Messi?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¿Y si te la pide Román?</a:t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956225"/>
            <a:ext cx="2059101" cy="205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Scheduling con pesos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Tengo un aula/sala donde quiero dar charlas. Las charlas tienen horario de inicio y fin, </a:t>
            </a:r>
            <a:r>
              <a:rPr b="1" lang="es"/>
              <a:t>y un peso asociado al valor de cada charla</a:t>
            </a:r>
            <a:r>
              <a:rPr lang="es"/>
              <a:t>. Quiero utilizar el aula para </a:t>
            </a:r>
            <a:r>
              <a:rPr b="1" lang="es"/>
              <a:t>maximizar la sumatoria de pesos de las charlas dadas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¿Cómo hacer?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Scheduling con pesos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¿Puedo resolverlo</a:t>
            </a:r>
            <a:r>
              <a:rPr lang="es"/>
              <a:t> con el algoritmo Greedy?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¿Es óptimo?</a:t>
            </a:r>
            <a:endParaRPr/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5" y="2259931"/>
            <a:ext cx="9144000" cy="2242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Ideas?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Ordenar por horario de fin</a:t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00" y="1058225"/>
            <a:ext cx="6963974" cy="39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pinta tiene </a:t>
            </a:r>
            <a:r>
              <a:rPr lang="es"/>
              <a:t>la solución?</a:t>
            </a:r>
            <a:endParaRPr/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00" y="1058225"/>
            <a:ext cx="6963974" cy="39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Supongamos que tenemos sub-soluciones</a:t>
            </a: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00" y="1058225"/>
            <a:ext cx="6963974" cy="39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8074" y="1210625"/>
            <a:ext cx="1713525" cy="232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Construir una solución en base a sub-soluciones</a:t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0" y="1058225"/>
            <a:ext cx="8045949" cy="39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Cosas que sabemos hasta ahora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71600"/>
            <a:ext cx="85206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quedamos con la suposición de que sabemos las soluciones de problemas más pequeños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última charla en particular puede o no pertenecer a la solución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no damos esa charla, entonces el problema más pequeño puede excluir esta charla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damos esa charla, </a:t>
            </a:r>
            <a:r>
              <a:rPr lang="es"/>
              <a:t>entonces el problema más pequeño debe excluir todas las charlas que terminen después del comienzo de esta charla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 estas dos opciones deberíamos siempre seleccionar aquella que maximice la sumatoria de los pesos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p() como identificador de charlas no superpuestas</a:t>
            </a:r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0" y="1058225"/>
            <a:ext cx="8045949" cy="39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Cosas que sabemos hasta ahora</a:t>
            </a:r>
            <a:endParaRPr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311700" y="1171600"/>
            <a:ext cx="85206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quedamos con la suposición de que sabemos las soluciones de problemas más pequeños, </a:t>
            </a:r>
            <a:r>
              <a:rPr b="1" lang="es"/>
              <a:t>llamémosle</a:t>
            </a:r>
            <a:r>
              <a:rPr b="1" lang="es"/>
              <a:t> OPT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última </a:t>
            </a:r>
            <a:r>
              <a:rPr lang="es"/>
              <a:t>charla en particular puede o no pertenecer a la solución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no damos esa charla, entonces el problema más pequeño puede excluir esta charla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damos esa charla, entonces el problema más pequeño debe excluir todas las charlas que terminen después del comienzo de esta charla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 estas dos opciones deberíamos siempre seleccionar aquella que maximice la sumatoria de los pesos</a:t>
            </a:r>
            <a:endParaRPr/>
          </a:p>
        </p:txBody>
      </p:sp>
      <p:grpSp>
        <p:nvGrpSpPr>
          <p:cNvPr id="229" name="Google Shape;229;p38"/>
          <p:cNvGrpSpPr/>
          <p:nvPr/>
        </p:nvGrpSpPr>
        <p:grpSpPr>
          <a:xfrm>
            <a:off x="115200" y="3806225"/>
            <a:ext cx="8824250" cy="1190475"/>
            <a:chOff x="115200" y="3806225"/>
            <a:chExt cx="8824250" cy="1190475"/>
          </a:xfrm>
        </p:grpSpPr>
        <p:pic>
          <p:nvPicPr>
            <p:cNvPr id="230" name="Google Shape;23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5200" y="4419775"/>
              <a:ext cx="1515350" cy="3351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1" name="Google Shape;231;p38"/>
            <p:cNvCxnSpPr/>
            <p:nvPr/>
          </p:nvCxnSpPr>
          <p:spPr>
            <a:xfrm flipH="1" rot="10800000">
              <a:off x="1842650" y="4057400"/>
              <a:ext cx="1739400" cy="49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38"/>
            <p:cNvCxnSpPr/>
            <p:nvPr/>
          </p:nvCxnSpPr>
          <p:spPr>
            <a:xfrm>
              <a:off x="1851950" y="4587500"/>
              <a:ext cx="17022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3" name="Google Shape;233;p38"/>
            <p:cNvSpPr txBox="1"/>
            <p:nvPr/>
          </p:nvSpPr>
          <p:spPr>
            <a:xfrm>
              <a:off x="3582050" y="3806225"/>
              <a:ext cx="535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dar la charla:</a:t>
              </a:r>
              <a:endParaRPr sz="17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4" name="Google Shape;234;p38"/>
            <p:cNvSpPr txBox="1"/>
            <p:nvPr/>
          </p:nvSpPr>
          <p:spPr>
            <a:xfrm>
              <a:off x="3582050" y="4550300"/>
              <a:ext cx="535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no </a:t>
              </a: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dar la charla:</a:t>
              </a:r>
              <a:endParaRPr sz="17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pic>
          <p:nvPicPr>
            <p:cNvPr id="235" name="Google Shape;235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07550" y="3859200"/>
              <a:ext cx="1702200" cy="340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03575" y="4603271"/>
              <a:ext cx="1110150" cy="340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 lejos que hemos llegado</a:t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00" y="1676575"/>
            <a:ext cx="1515350" cy="3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39"/>
          <p:cNvCxnSpPr/>
          <p:nvPr/>
        </p:nvCxnSpPr>
        <p:spPr>
          <a:xfrm flipH="1" rot="10800000">
            <a:off x="1842650" y="1314200"/>
            <a:ext cx="1739400" cy="4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1851950" y="1844300"/>
            <a:ext cx="1702200" cy="29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9"/>
          <p:cNvSpPr txBox="1"/>
          <p:nvPr/>
        </p:nvSpPr>
        <p:spPr>
          <a:xfrm>
            <a:off x="3582050" y="1063025"/>
            <a:ext cx="535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Proxima Nova"/>
                <a:ea typeface="Proxima Nova"/>
                <a:cs typeface="Proxima Nova"/>
                <a:sym typeface="Proxima Nova"/>
              </a:rPr>
              <a:t>dar la charla: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6" name="Google Shape;246;p39"/>
          <p:cNvSpPr txBox="1"/>
          <p:nvPr/>
        </p:nvSpPr>
        <p:spPr>
          <a:xfrm>
            <a:off x="3582050" y="1807100"/>
            <a:ext cx="535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Proxima Nova"/>
                <a:ea typeface="Proxima Nova"/>
                <a:cs typeface="Proxima Nova"/>
                <a:sym typeface="Proxima Nova"/>
              </a:rPr>
              <a:t>no dar la charla: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47" name="Google Shape;24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7550" y="1116000"/>
            <a:ext cx="1702200" cy="340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3575" y="1860071"/>
            <a:ext cx="1110150" cy="3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311700" y="2604150"/>
            <a:ext cx="8520600" cy="20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formulación así debería sonarnos de algo…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Exacto! Es una ecuación de recurrencia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Ahora sí justificamos haber empezado la clase dando Fibonacci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Problema de Scheduling con pesos</a:t>
            </a:r>
            <a:r>
              <a:rPr lang="es" sz="2700"/>
              <a:t>: solución recursiva</a:t>
            </a:r>
            <a:endParaRPr sz="2700"/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623400" y="125662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sche_recursivo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sche_recursivo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]),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sche_recursivo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" name="Google Shape;256;p40"/>
          <p:cNvSpPr txBox="1"/>
          <p:nvPr/>
        </p:nvSpPr>
        <p:spPr>
          <a:xfrm>
            <a:off x="6830700" y="1129100"/>
            <a:ext cx="2001600" cy="44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/>
              <a:t>Problema de Scheduling con pesos</a:t>
            </a:r>
            <a:r>
              <a:rPr lang="es" sz="2600"/>
              <a:t>: vamo a recordarno’</a:t>
            </a:r>
            <a:endParaRPr sz="2600"/>
          </a:p>
        </p:txBody>
      </p:sp>
      <p:sp>
        <p:nvSpPr>
          <p:cNvPr id="262" name="Google Shape;262;p41"/>
          <p:cNvSpPr txBox="1"/>
          <p:nvPr>
            <p:ph idx="1" type="body"/>
          </p:nvPr>
        </p:nvSpPr>
        <p:spPr>
          <a:xfrm>
            <a:off x="311700" y="1171600"/>
            <a:ext cx="8520600" cy="370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sche_memorioso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 sz="1400">
              <a:solidFill>
                <a:srgbClr val="001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sche_rec_memorioso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sche_rec_memorioso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sche_rec_memorioso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sche_rec_memorioso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]],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9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41"/>
          <p:cNvSpPr txBox="1"/>
          <p:nvPr/>
        </p:nvSpPr>
        <p:spPr>
          <a:xfrm>
            <a:off x="6830700" y="1129100"/>
            <a:ext cx="2001600" cy="44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Problema de Scheduling con pesos</a:t>
            </a:r>
            <a:r>
              <a:rPr lang="es" sz="2700"/>
              <a:t>: vamo a programa’</a:t>
            </a:r>
            <a:endParaRPr sz="2700"/>
          </a:p>
        </p:txBody>
      </p:sp>
      <p:sp>
        <p:nvSpPr>
          <p:cNvPr id="269" name="Google Shape;269;p42"/>
          <p:cNvSpPr txBox="1"/>
          <p:nvPr>
            <p:ph idx="1" type="body"/>
          </p:nvPr>
        </p:nvSpPr>
        <p:spPr>
          <a:xfrm>
            <a:off x="311700" y="1171600"/>
            <a:ext cx="8520600" cy="370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sche_dinamico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p, 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267F99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]],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9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42"/>
          <p:cNvSpPr txBox="1"/>
          <p:nvPr/>
        </p:nvSpPr>
        <p:spPr>
          <a:xfrm>
            <a:off x="6830700" y="1129100"/>
            <a:ext cx="2001600" cy="44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Problema de Scheduling con pesos: seguimiento</a:t>
            </a:r>
            <a:endParaRPr sz="2700"/>
          </a:p>
        </p:txBody>
      </p:sp>
      <p:pic>
        <p:nvPicPr>
          <p:cNvPr id="276" name="Google Shape;27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0" cy="3335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¿Complejidad?</a:t>
            </a:r>
            <a:endParaRPr/>
          </a:p>
        </p:txBody>
      </p:sp>
      <p:sp>
        <p:nvSpPr>
          <p:cNvPr id="282" name="Google Shape;282;p4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Ordenar por tiempo de fin: O(n log 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Obtener p[i]: O(log n) → obtener p: O(n log 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cálculo de M_SCHE: O(n)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Total: O(n log n)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Problema de Scheduling con pesos: recuperar solución</a:t>
            </a:r>
            <a:endParaRPr sz="2700"/>
          </a:p>
        </p:txBody>
      </p:sp>
      <p:sp>
        <p:nvSpPr>
          <p:cNvPr id="288" name="Google Shape;288;p45"/>
          <p:cNvSpPr txBox="1"/>
          <p:nvPr>
            <p:ph idx="1" type="body"/>
          </p:nvPr>
        </p:nvSpPr>
        <p:spPr>
          <a:xfrm>
            <a:off x="311700" y="1171600"/>
            <a:ext cx="85206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</a:t>
            </a:r>
            <a:r>
              <a:rPr lang="es"/>
              <a:t> sabemos cuál es la solución?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Podríamos guardar un arreglo con el conjunto de charlas a dar para cada sub-problema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Pero: copiar este conjunto de charlas sería O(n), lo que repercute en el orden total del algoritmo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La solución vive en el arreglo M_SCHE</a:t>
            </a:r>
            <a:endParaRPr/>
          </a:p>
        </p:txBody>
      </p:sp>
      <p:pic>
        <p:nvPicPr>
          <p:cNvPr id="289" name="Google Shape;2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090093"/>
            <a:ext cx="3433976" cy="19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Problema de Scheduling con pesos: recuperar solución</a:t>
            </a:r>
            <a:endParaRPr sz="2700"/>
          </a:p>
        </p:txBody>
      </p:sp>
      <p:sp>
        <p:nvSpPr>
          <p:cNvPr id="295" name="Google Shape;295;p46"/>
          <p:cNvSpPr txBox="1"/>
          <p:nvPr>
            <p:ph idx="1" type="body"/>
          </p:nvPr>
        </p:nvSpPr>
        <p:spPr>
          <a:xfrm>
            <a:off x="311700" y="1171600"/>
            <a:ext cx="8520600" cy="370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sche_solucion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solucion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solucion</a:t>
            </a:r>
            <a:endParaRPr sz="1400">
              <a:solidFill>
                <a:srgbClr val="001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]] 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solucion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sche_solucion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solucion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4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sche_solucion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M_SCHE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s" sz="14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4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4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solucion</a:t>
            </a:r>
            <a:r>
              <a:rPr lang="es" sz="14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830700" y="1129100"/>
            <a:ext cx="2001600" cy="44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8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8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Programación Dinámica</a:t>
            </a:r>
            <a:endParaRPr sz="2700"/>
          </a:p>
        </p:txBody>
      </p:sp>
      <p:sp>
        <p:nvSpPr>
          <p:cNvPr id="302" name="Google Shape;302;p47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Exploración implícita del espacio de posibles soluciones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Descomposición del problema en subproblemas que permitan construir las soluciones de problemas más grandes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basamos en la intuición que nos da la Memorización para reconocer los sub-problemas y utilizarlos para construir la solución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vez que tenemos todas las soluciones memorizadas, el problema está resuelto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ayuda evitando explorar un espacio exponencial de soluciones por fuerza bruta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 esa manera podemos reducir la complejidad temporal de nuestro algoritmo significativamente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Intuición: cómo saber que podremos utilizar PD</a:t>
            </a:r>
            <a:endParaRPr sz="2700"/>
          </a:p>
        </p:txBody>
      </p:sp>
      <p:sp>
        <p:nvSpPr>
          <p:cNvPr id="308" name="Google Shape;308;p48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Hay un número polinomial de subproblemas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La solución al problema original puede ser construido a partir de soluciones a subproblemas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Hay un orden natural de los subproblemas de menor a mayor. Los subproblemas “mayores” son resueltos mediante la composición de problemas “menores”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 sz="1800"/>
              <a:t>La versión recursiva resuelve en formato Top-Down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 sz="1800"/>
              <a:t>La versión iterativa es de un formato Bottom-Up, es la que </a:t>
            </a:r>
            <a:r>
              <a:rPr lang="es" sz="1800"/>
              <a:t>preferimos</a:t>
            </a:r>
            <a:r>
              <a:rPr lang="es" sz="1800"/>
              <a:t> a partir de ahora al resolver ejercicios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Cómo encontrar la solución usando PD</a:t>
            </a:r>
            <a:endParaRPr sz="2700"/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Necesitamos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que tienen los subproblemas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en que dichos subproblemas se componen para solucionar subproblemas más grandes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¿Cómo se encuentran?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¿En qué pensamos primero?</a:t>
            </a:r>
            <a:endParaRPr/>
          </a:p>
        </p:txBody>
      </p:sp>
      <p:pic>
        <p:nvPicPr>
          <p:cNvPr id="315" name="Google Shape;3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325" y="2643224"/>
            <a:ext cx="4487675" cy="240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Problema de los 2 escalones</a:t>
            </a:r>
            <a:endParaRPr sz="2700"/>
          </a:p>
        </p:txBody>
      </p:sp>
      <p:sp>
        <p:nvSpPr>
          <p:cNvPr id="321" name="Google Shape;321;p50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Dada una escalera, y sabiendo que tenemos la capacidad de subir escalones de a 1 o 2 pasos, encontrar cuántas formas diferentes hay de subir la escalera.</a:t>
            </a:r>
            <a:endParaRPr/>
          </a:p>
        </p:txBody>
      </p:sp>
      <p:pic>
        <p:nvPicPr>
          <p:cNvPr id="322" name="Google Shape;32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950" y="1058225"/>
            <a:ext cx="5286710" cy="39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Problema de los 2 escalones</a:t>
            </a:r>
            <a:endParaRPr sz="2700"/>
          </a:p>
        </p:txBody>
      </p:sp>
      <p:sp>
        <p:nvSpPr>
          <p:cNvPr id="328" name="Google Shape;328;p51"/>
          <p:cNvSpPr txBox="1"/>
          <p:nvPr>
            <p:ph idx="1" type="body"/>
          </p:nvPr>
        </p:nvSpPr>
        <p:spPr>
          <a:xfrm>
            <a:off x="311700" y="2026900"/>
            <a:ext cx="8520600" cy="28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una escalera nivel 0: 1 sola forma, </a:t>
            </a:r>
            <a:r>
              <a:rPr lang="es"/>
              <a:t>quedarme estático = 1 forma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 una escalera nivel 1: dar 1 paso simple = 1 forma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 una escalera nivel 2: dar 2 pasos simples, o dar 1 paso doble = 2 formas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Para una escalera nivel n: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1"/>
          <p:cNvSpPr txBox="1"/>
          <p:nvPr/>
        </p:nvSpPr>
        <p:spPr>
          <a:xfrm>
            <a:off x="3257400" y="4342850"/>
            <a:ext cx="557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E[N] = 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E[N-1] + E[N-2]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311700" y="1171600"/>
            <a:ext cx="8520600" cy="8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Dada una escalera, y sabiendo que tenemos la capacidad de subir escalones de a 1 o 2 pasos, encontrar cuántas formas diferentes hay de subir la escalera.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Problema de los 3 escalones</a:t>
            </a:r>
            <a:endParaRPr sz="2700"/>
          </a:p>
        </p:txBody>
      </p:sp>
      <p:sp>
        <p:nvSpPr>
          <p:cNvPr id="336" name="Google Shape;336;p52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Dada una escalera, y sabiendo que tenemos la capacidad de subir escalones de a 1 o 2 </a:t>
            </a:r>
            <a:r>
              <a:rPr b="1" lang="es"/>
              <a:t>o 3</a:t>
            </a:r>
            <a:r>
              <a:rPr lang="es"/>
              <a:t> pasos, encontrar cuántas formas diferentes hay de subir la escalera.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Para una escalera nivel 0: 1 sola forma, quedarme estático = 1 forma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Para una escalera nivel 1: dar 1 paso simple = 1 forma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 una escalera nivel 2: dar 2 pasos simples, o dar 1 paso doble = 2 formas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Para una escalera nivel 3: dar 3 pasos simples, dar 1 simple y 1 doble, dar 1 doble y 1 simple, o dar 1 paso triple = 4 formas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Para una escalera nivel n: ?</a:t>
            </a:r>
            <a:endParaRPr/>
          </a:p>
        </p:txBody>
      </p:sp>
      <p:sp>
        <p:nvSpPr>
          <p:cNvPr id="337" name="Google Shape;337;p52"/>
          <p:cNvSpPr txBox="1"/>
          <p:nvPr/>
        </p:nvSpPr>
        <p:spPr>
          <a:xfrm>
            <a:off x="4080075" y="4435900"/>
            <a:ext cx="394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E[N] = E[N-1]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E[N-2] + E[N-3]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Problema de los 8 escalones</a:t>
            </a:r>
            <a:endParaRPr sz="2700"/>
          </a:p>
        </p:txBody>
      </p:sp>
      <p:pic>
        <p:nvPicPr>
          <p:cNvPr id="343" name="Google Shape;34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100" y="2749825"/>
            <a:ext cx="3810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10625"/>
            <a:ext cx="4334200" cy="2435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