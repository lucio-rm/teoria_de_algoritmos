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embeddedFontLst>
    <p:embeddedFont>
      <p:font typeface="Proxima Nova"/>
      <p:regular r:id="rId47"/>
      <p:bold r:id="rId48"/>
      <p:italic r:id="rId49"/>
      <p:boldItalic r:id="rId50"/>
    </p:embeddedFont>
    <p:embeddedFont>
      <p:font typeface="Old Standard TT"/>
      <p:regular r:id="rId51"/>
      <p:bold r:id="rId52"/>
      <p: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roximaNova-bold.fntdata"/><Relationship Id="rId47" Type="http://schemas.openxmlformats.org/officeDocument/2006/relationships/font" Target="fonts/ProximaNova-regular.fntdata"/><Relationship Id="rId49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ldStandardTT-regular.fntdata"/><Relationship Id="rId50" Type="http://schemas.openxmlformats.org/officeDocument/2006/relationships/font" Target="fonts/ProximaNova-boldItalic.fntdata"/><Relationship Id="rId53" Type="http://schemas.openxmlformats.org/officeDocument/2006/relationships/font" Target="fonts/OldStandardTT-italic.fntdata"/><Relationship Id="rId52" Type="http://schemas.openxmlformats.org/officeDocument/2006/relationships/font" Target="fonts/OldStandardT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2c7a43fd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2c7a43fd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2c7a43fd5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2c7a43fd5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2c7a43fd5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2c7a43fd5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2c7a43fd5e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2c7a43fd5e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e0a6e428da_1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e0a6e428da_1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d334c1356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d334c1356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272a62abf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0272a62abf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0272a62abf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0272a62abf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272a62ab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0272a62ab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0272a62abf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0272a62abf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272a62abf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0272a62abf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0272a62abf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0272a62abf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¿Porqué intentaría componer con una solución que nunca fue óptima? {(20, Martes)} nunca fue la soluci</a:t>
            </a:r>
            <a:r>
              <a:rPr lang="es"/>
              <a:t>ón óptima a alguno de los subproblemas</a:t>
            </a:r>
            <a:r>
              <a:rPr lang="es"/>
              <a:t>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0272a62abf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0272a62abf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0272a62abf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0272a62abf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2c7a43fd5e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2c7a43fd5e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0272a62abf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0272a62abf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f7b5668533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1f7b566853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f7b566853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f7b566853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0272a62abf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0272a62abf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e0a6e428da_1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1e0a6e428da_1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e0a6e428da_1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e0a6e428da_1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cc6d6658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cc6d6658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Anecdótico 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0272a62abf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0272a62abf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2e15daf4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2e15daf4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2e15daf45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2e15daf45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2c7a43fd5e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2c7a43fd5e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2c7a43fd5e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2c7a43fd5e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0293263cb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0293263cb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2c7a43fd5e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2c7a43fd5e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2c7a43fd5e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2c7a43fd5e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2c7a43fd5e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2c7a43fd5e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2c7a43fd5e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2c7a43fd5e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2c7a43fd5e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22c7a43fd5e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2c7a43fd5e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22c7a43fd5e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2c7a43fd5e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2c7a43fd5e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2c7a43fd5e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2c7a43fd5e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2c7a43fd5e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22c7a43fd5e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2c7a43fd5e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22c7a43fd5e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2c7a43fd5e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22c7a43fd5e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2c7a43fd5e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2c7a43fd5e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2c7a43fd5e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22c7a43fd5e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roxima Nova"/>
              <a:buNone/>
              <a:defRPr sz="4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roxima Nova"/>
              <a:buNone/>
              <a:defRPr sz="24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Proxima Nova"/>
              <a:buNone/>
              <a:defRPr sz="54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rgbClr val="EFEF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Programación Dinámica II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Teoría de Algoritmos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80" l="0" r="0" t="70"/>
          <a:stretch/>
        </p:blipFill>
        <p:spPr>
          <a:xfrm>
            <a:off x="7060492" y="4349400"/>
            <a:ext cx="2079858" cy="78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Programación Dinámica</a:t>
            </a:r>
            <a:endParaRPr sz="2700"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71600"/>
            <a:ext cx="8520600" cy="3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Exploración implícita del espacio de posibles soluciones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Descomposición del problema en subproblemas que permitan construir las soluciones de problemas más grandes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Nos basamos en la intuición que nos da la Memorización para reconocer los sub-problemas y utilizarlos para construir la solución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Una vez que tenemos todas las soluciones memorizadas, el problema está resuelto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Nos ayuda evitando explorar un espacio exponencial de soluciones por fuerza bruta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 esa manera podemos reducir la complejidad temporal de nuestro algoritmo significativamente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Intuición: cómo saber que podremos utilizar PD</a:t>
            </a:r>
            <a:endParaRPr sz="2700"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71600"/>
            <a:ext cx="8520600" cy="3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" sz="2000"/>
              <a:t>Hay un número polinomial de subproblemas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" sz="2000"/>
              <a:t>La solución al problema original puede ser construido a partir de soluciones a subproblemas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" sz="2000"/>
              <a:t>Hay un orden natural de los subproblemas de menor a mayor. Los subproblemas “mayores” son resueltos mediante la composición de problemas “menores”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s" sz="2000"/>
              <a:t>La versión recursiva resuelve en formato Top-Down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s" sz="2000"/>
              <a:t>La versión iterativa es de un formato Bottom-Up, es la que preferimos a partir de ahora al resolver ejercicios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Cómo encontrar la solución usando PD</a:t>
            </a:r>
            <a:endParaRPr sz="2700"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71600"/>
            <a:ext cx="8520600" cy="3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Necesitamos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○ La forma que tienen los subproblemas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○ La forma en que dichos subproblemas se componen para solucionar subproblemas más grandes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¿Cómo se encuentran?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¿En qué pensamos primero?</a:t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6325" y="2651175"/>
            <a:ext cx="4487675" cy="240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Ejercicios: </a:t>
            </a:r>
            <a:r>
              <a:rPr lang="es" sz="2700"/>
              <a:t>Juan el vago</a:t>
            </a:r>
            <a:endParaRPr sz="2700"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71600"/>
            <a:ext cx="8520600" cy="3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Juan es ambicioso pero también algo vago. Dispone de varias ofertas de trabajo diarias, </a:t>
            </a:r>
            <a:r>
              <a:rPr b="1" lang="es"/>
              <a:t>pero no quiere trabajar dos días seguidos</a:t>
            </a:r>
            <a:r>
              <a:rPr lang="es"/>
              <a:t>. Dado un arreglo con el monto esperado a ganar cada día, determinar por programación dinámica el máximo monto a ganar, sabiendo que no aceptará trabajar dos días seguidos.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Si Juan quiere planificar su semana, tendríamos un arreglo con los montos esperados para los 5 días </a:t>
            </a:r>
            <a:r>
              <a:rPr lang="es"/>
              <a:t>laborables</a:t>
            </a:r>
            <a:r>
              <a:rPr lang="es"/>
              <a:t>. ¿Cuales son los mejores días en los que Juan puede trabajar respetando nuestra sagrada ley de mínimo esfuerzo?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Entendamos el problema…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S</a:t>
            </a:r>
            <a:r>
              <a:rPr lang="es"/>
              <a:t>i el arreglo es [100, 20, 30, 70, 50] el monto máximo que podrá ganar serán $180 (trabajar el primer, tercer y quinto día).</a:t>
            </a:r>
            <a:endParaRPr/>
          </a:p>
        </p:txBody>
      </p:sp>
      <p:sp>
        <p:nvSpPr>
          <p:cNvPr id="93" name="Google Shape;93;p18"/>
          <p:cNvSpPr/>
          <p:nvPr/>
        </p:nvSpPr>
        <p:spPr>
          <a:xfrm>
            <a:off x="1071288" y="2797098"/>
            <a:ext cx="1400400" cy="1296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100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grpSp>
        <p:nvGrpSpPr>
          <p:cNvPr id="94" name="Google Shape;94;p18"/>
          <p:cNvGrpSpPr/>
          <p:nvPr/>
        </p:nvGrpSpPr>
        <p:grpSpPr>
          <a:xfrm>
            <a:off x="2471651" y="2797110"/>
            <a:ext cx="1400306" cy="1296955"/>
            <a:chOff x="1743200" y="2078575"/>
            <a:chExt cx="816600" cy="787800"/>
          </a:xfrm>
        </p:grpSpPr>
        <p:cxnSp>
          <p:nvCxnSpPr>
            <p:cNvPr id="95" name="Google Shape;95;p18"/>
            <p:cNvCxnSpPr/>
            <p:nvPr/>
          </p:nvCxnSpPr>
          <p:spPr>
            <a:xfrm>
              <a:off x="1743200" y="2078575"/>
              <a:ext cx="816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" name="Google Shape;96;p18"/>
            <p:cNvCxnSpPr/>
            <p:nvPr/>
          </p:nvCxnSpPr>
          <p:spPr>
            <a:xfrm>
              <a:off x="1743200" y="2866375"/>
              <a:ext cx="816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" name="Google Shape;97;p18"/>
            <p:cNvCxnSpPr/>
            <p:nvPr/>
          </p:nvCxnSpPr>
          <p:spPr>
            <a:xfrm>
              <a:off x="2550250" y="2078575"/>
              <a:ext cx="0" cy="787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8" name="Google Shape;98;p18"/>
            <p:cNvSpPr txBox="1"/>
            <p:nvPr/>
          </p:nvSpPr>
          <p:spPr>
            <a:xfrm>
              <a:off x="1901600" y="2313475"/>
              <a:ext cx="4998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20</a:t>
              </a:r>
              <a:endParaRPr sz="2200"/>
            </a:p>
          </p:txBody>
        </p:sp>
      </p:grpSp>
      <p:grpSp>
        <p:nvGrpSpPr>
          <p:cNvPr id="99" name="Google Shape;99;p18"/>
          <p:cNvGrpSpPr/>
          <p:nvPr/>
        </p:nvGrpSpPr>
        <p:grpSpPr>
          <a:xfrm>
            <a:off x="3871906" y="2797110"/>
            <a:ext cx="1400306" cy="1296955"/>
            <a:chOff x="3871906" y="1554710"/>
            <a:chExt cx="1400306" cy="1296955"/>
          </a:xfrm>
        </p:grpSpPr>
        <p:grpSp>
          <p:nvGrpSpPr>
            <p:cNvPr id="100" name="Google Shape;100;p18"/>
            <p:cNvGrpSpPr/>
            <p:nvPr/>
          </p:nvGrpSpPr>
          <p:grpSpPr>
            <a:xfrm>
              <a:off x="3871906" y="1554710"/>
              <a:ext cx="1400306" cy="1296955"/>
              <a:chOff x="1743200" y="2078575"/>
              <a:chExt cx="816600" cy="787800"/>
            </a:xfrm>
          </p:grpSpPr>
          <p:cxnSp>
            <p:nvCxnSpPr>
              <p:cNvPr id="101" name="Google Shape;101;p18"/>
              <p:cNvCxnSpPr/>
              <p:nvPr/>
            </p:nvCxnSpPr>
            <p:spPr>
              <a:xfrm>
                <a:off x="1743200" y="20785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" name="Google Shape;102;p18"/>
              <p:cNvCxnSpPr/>
              <p:nvPr/>
            </p:nvCxnSpPr>
            <p:spPr>
              <a:xfrm>
                <a:off x="1743200" y="28663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" name="Google Shape;103;p18"/>
              <p:cNvCxnSpPr/>
              <p:nvPr/>
            </p:nvCxnSpPr>
            <p:spPr>
              <a:xfrm>
                <a:off x="2550250" y="2078575"/>
                <a:ext cx="0" cy="787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4" name="Google Shape;104;p18"/>
            <p:cNvSpPr txBox="1"/>
            <p:nvPr/>
          </p:nvSpPr>
          <p:spPr>
            <a:xfrm>
              <a:off x="4143432" y="1941571"/>
              <a:ext cx="8571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30</a:t>
              </a:r>
              <a:endParaRPr sz="2200"/>
            </a:p>
          </p:txBody>
        </p:sp>
      </p:grpSp>
      <p:grpSp>
        <p:nvGrpSpPr>
          <p:cNvPr id="105" name="Google Shape;105;p18"/>
          <p:cNvGrpSpPr/>
          <p:nvPr/>
        </p:nvGrpSpPr>
        <p:grpSpPr>
          <a:xfrm>
            <a:off x="5272152" y="2797110"/>
            <a:ext cx="1400306" cy="1296955"/>
            <a:chOff x="5272152" y="1554710"/>
            <a:chExt cx="1400306" cy="1296955"/>
          </a:xfrm>
        </p:grpSpPr>
        <p:grpSp>
          <p:nvGrpSpPr>
            <p:cNvPr id="106" name="Google Shape;106;p18"/>
            <p:cNvGrpSpPr/>
            <p:nvPr/>
          </p:nvGrpSpPr>
          <p:grpSpPr>
            <a:xfrm>
              <a:off x="5272152" y="1554710"/>
              <a:ext cx="1400306" cy="1296955"/>
              <a:chOff x="1743200" y="2078575"/>
              <a:chExt cx="816600" cy="787800"/>
            </a:xfrm>
          </p:grpSpPr>
          <p:cxnSp>
            <p:nvCxnSpPr>
              <p:cNvPr id="107" name="Google Shape;107;p18"/>
              <p:cNvCxnSpPr/>
              <p:nvPr/>
            </p:nvCxnSpPr>
            <p:spPr>
              <a:xfrm>
                <a:off x="1743200" y="20785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" name="Google Shape;108;p18"/>
              <p:cNvCxnSpPr/>
              <p:nvPr/>
            </p:nvCxnSpPr>
            <p:spPr>
              <a:xfrm>
                <a:off x="1743200" y="28663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" name="Google Shape;109;p18"/>
              <p:cNvCxnSpPr/>
              <p:nvPr/>
            </p:nvCxnSpPr>
            <p:spPr>
              <a:xfrm>
                <a:off x="2550250" y="2078575"/>
                <a:ext cx="0" cy="787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10" name="Google Shape;110;p18"/>
            <p:cNvSpPr txBox="1"/>
            <p:nvPr/>
          </p:nvSpPr>
          <p:spPr>
            <a:xfrm>
              <a:off x="5543678" y="1941571"/>
              <a:ext cx="8571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70</a:t>
              </a:r>
              <a:endParaRPr sz="2200"/>
            </a:p>
          </p:txBody>
        </p:sp>
      </p:grpSp>
      <p:grpSp>
        <p:nvGrpSpPr>
          <p:cNvPr id="111" name="Google Shape;111;p18"/>
          <p:cNvGrpSpPr/>
          <p:nvPr/>
        </p:nvGrpSpPr>
        <p:grpSpPr>
          <a:xfrm>
            <a:off x="6691948" y="2797072"/>
            <a:ext cx="1400306" cy="1296955"/>
            <a:chOff x="6672398" y="1554685"/>
            <a:chExt cx="1400306" cy="1296955"/>
          </a:xfrm>
        </p:grpSpPr>
        <p:grpSp>
          <p:nvGrpSpPr>
            <p:cNvPr id="112" name="Google Shape;112;p18"/>
            <p:cNvGrpSpPr/>
            <p:nvPr/>
          </p:nvGrpSpPr>
          <p:grpSpPr>
            <a:xfrm>
              <a:off x="6672398" y="1554685"/>
              <a:ext cx="1400306" cy="1296955"/>
              <a:chOff x="1743200" y="2078575"/>
              <a:chExt cx="816600" cy="787800"/>
            </a:xfrm>
          </p:grpSpPr>
          <p:cxnSp>
            <p:nvCxnSpPr>
              <p:cNvPr id="113" name="Google Shape;113;p18"/>
              <p:cNvCxnSpPr/>
              <p:nvPr/>
            </p:nvCxnSpPr>
            <p:spPr>
              <a:xfrm>
                <a:off x="1743200" y="20785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" name="Google Shape;114;p18"/>
              <p:cNvCxnSpPr/>
              <p:nvPr/>
            </p:nvCxnSpPr>
            <p:spPr>
              <a:xfrm>
                <a:off x="1743200" y="28663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" name="Google Shape;115;p18"/>
              <p:cNvCxnSpPr/>
              <p:nvPr/>
            </p:nvCxnSpPr>
            <p:spPr>
              <a:xfrm>
                <a:off x="2550250" y="2078575"/>
                <a:ext cx="0" cy="787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16" name="Google Shape;116;p18"/>
            <p:cNvSpPr txBox="1"/>
            <p:nvPr/>
          </p:nvSpPr>
          <p:spPr>
            <a:xfrm>
              <a:off x="6943924" y="1941546"/>
              <a:ext cx="8571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50</a:t>
              </a:r>
              <a:endParaRPr sz="2200"/>
            </a:p>
          </p:txBody>
        </p:sp>
      </p:grpSp>
      <p:sp>
        <p:nvSpPr>
          <p:cNvPr id="117" name="Google Shape;117;p18"/>
          <p:cNvSpPr/>
          <p:nvPr/>
        </p:nvSpPr>
        <p:spPr>
          <a:xfrm>
            <a:off x="4052388" y="23136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Miércoles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2652213" y="23136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Martes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5452563" y="23136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Jueves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6900838" y="23136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Viernes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1203938" y="23136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Lunes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1071288" y="2797135"/>
            <a:ext cx="1400400" cy="1296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100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3852238" y="2797098"/>
            <a:ext cx="1400400" cy="1296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30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6658338" y="2797110"/>
            <a:ext cx="1400400" cy="1296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</a:t>
            </a: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Entendamos el problema…</a:t>
            </a:r>
            <a:endParaRPr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600"/>
              </a:spcAft>
              <a:buSzPts val="1800"/>
              <a:buChar char="-"/>
            </a:pPr>
            <a:r>
              <a:rPr lang="es"/>
              <a:t>S</a:t>
            </a:r>
            <a:r>
              <a:rPr lang="es"/>
              <a:t>i el arreglo es [100, 20, 30, 70, 20], el monto máximo a ganar serían $170 (resultado de trabajar el primer y cuarto día).</a:t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1071288" y="2797098"/>
            <a:ext cx="1400400" cy="1296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100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grpSp>
        <p:nvGrpSpPr>
          <p:cNvPr id="132" name="Google Shape;132;p19"/>
          <p:cNvGrpSpPr/>
          <p:nvPr/>
        </p:nvGrpSpPr>
        <p:grpSpPr>
          <a:xfrm>
            <a:off x="2471651" y="2797110"/>
            <a:ext cx="1400306" cy="1296955"/>
            <a:chOff x="1743200" y="2078575"/>
            <a:chExt cx="816600" cy="787800"/>
          </a:xfrm>
        </p:grpSpPr>
        <p:cxnSp>
          <p:nvCxnSpPr>
            <p:cNvPr id="133" name="Google Shape;133;p19"/>
            <p:cNvCxnSpPr/>
            <p:nvPr/>
          </p:nvCxnSpPr>
          <p:spPr>
            <a:xfrm>
              <a:off x="1743200" y="2078575"/>
              <a:ext cx="816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" name="Google Shape;134;p19"/>
            <p:cNvCxnSpPr/>
            <p:nvPr/>
          </p:nvCxnSpPr>
          <p:spPr>
            <a:xfrm>
              <a:off x="1743200" y="2866375"/>
              <a:ext cx="816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" name="Google Shape;135;p19"/>
            <p:cNvCxnSpPr/>
            <p:nvPr/>
          </p:nvCxnSpPr>
          <p:spPr>
            <a:xfrm>
              <a:off x="2550250" y="2078575"/>
              <a:ext cx="0" cy="787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6" name="Google Shape;136;p19"/>
            <p:cNvSpPr txBox="1"/>
            <p:nvPr/>
          </p:nvSpPr>
          <p:spPr>
            <a:xfrm>
              <a:off x="1901600" y="2313475"/>
              <a:ext cx="4998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20</a:t>
              </a:r>
              <a:endParaRPr sz="2200"/>
            </a:p>
          </p:txBody>
        </p:sp>
      </p:grpSp>
      <p:grpSp>
        <p:nvGrpSpPr>
          <p:cNvPr id="137" name="Google Shape;137;p19"/>
          <p:cNvGrpSpPr/>
          <p:nvPr/>
        </p:nvGrpSpPr>
        <p:grpSpPr>
          <a:xfrm>
            <a:off x="3871906" y="2797110"/>
            <a:ext cx="1400306" cy="1296955"/>
            <a:chOff x="3871906" y="1554710"/>
            <a:chExt cx="1400306" cy="1296955"/>
          </a:xfrm>
        </p:grpSpPr>
        <p:grpSp>
          <p:nvGrpSpPr>
            <p:cNvPr id="138" name="Google Shape;138;p19"/>
            <p:cNvGrpSpPr/>
            <p:nvPr/>
          </p:nvGrpSpPr>
          <p:grpSpPr>
            <a:xfrm>
              <a:off x="3871906" y="1554710"/>
              <a:ext cx="1400306" cy="1296955"/>
              <a:chOff x="1743200" y="2078575"/>
              <a:chExt cx="816600" cy="787800"/>
            </a:xfrm>
          </p:grpSpPr>
          <p:cxnSp>
            <p:nvCxnSpPr>
              <p:cNvPr id="139" name="Google Shape;139;p19"/>
              <p:cNvCxnSpPr/>
              <p:nvPr/>
            </p:nvCxnSpPr>
            <p:spPr>
              <a:xfrm>
                <a:off x="1743200" y="20785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9"/>
              <p:cNvCxnSpPr/>
              <p:nvPr/>
            </p:nvCxnSpPr>
            <p:spPr>
              <a:xfrm>
                <a:off x="1743200" y="28663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" name="Google Shape;141;p19"/>
              <p:cNvCxnSpPr/>
              <p:nvPr/>
            </p:nvCxnSpPr>
            <p:spPr>
              <a:xfrm>
                <a:off x="2550250" y="2078575"/>
                <a:ext cx="0" cy="787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42" name="Google Shape;142;p19"/>
            <p:cNvSpPr txBox="1"/>
            <p:nvPr/>
          </p:nvSpPr>
          <p:spPr>
            <a:xfrm>
              <a:off x="4143432" y="1941571"/>
              <a:ext cx="8571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30</a:t>
              </a:r>
              <a:endParaRPr sz="2200"/>
            </a:p>
          </p:txBody>
        </p:sp>
      </p:grpSp>
      <p:grpSp>
        <p:nvGrpSpPr>
          <p:cNvPr id="143" name="Google Shape;143;p19"/>
          <p:cNvGrpSpPr/>
          <p:nvPr/>
        </p:nvGrpSpPr>
        <p:grpSpPr>
          <a:xfrm>
            <a:off x="5272152" y="2797110"/>
            <a:ext cx="1400306" cy="1296955"/>
            <a:chOff x="5272152" y="1554710"/>
            <a:chExt cx="1400306" cy="1296955"/>
          </a:xfrm>
        </p:grpSpPr>
        <p:grpSp>
          <p:nvGrpSpPr>
            <p:cNvPr id="144" name="Google Shape;144;p19"/>
            <p:cNvGrpSpPr/>
            <p:nvPr/>
          </p:nvGrpSpPr>
          <p:grpSpPr>
            <a:xfrm>
              <a:off x="5272152" y="1554710"/>
              <a:ext cx="1400306" cy="1296955"/>
              <a:chOff x="1743200" y="2078575"/>
              <a:chExt cx="816600" cy="787800"/>
            </a:xfrm>
          </p:grpSpPr>
          <p:cxnSp>
            <p:nvCxnSpPr>
              <p:cNvPr id="145" name="Google Shape;145;p19"/>
              <p:cNvCxnSpPr/>
              <p:nvPr/>
            </p:nvCxnSpPr>
            <p:spPr>
              <a:xfrm>
                <a:off x="1743200" y="20785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" name="Google Shape;146;p19"/>
              <p:cNvCxnSpPr/>
              <p:nvPr/>
            </p:nvCxnSpPr>
            <p:spPr>
              <a:xfrm>
                <a:off x="1743200" y="28663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" name="Google Shape;147;p19"/>
              <p:cNvCxnSpPr/>
              <p:nvPr/>
            </p:nvCxnSpPr>
            <p:spPr>
              <a:xfrm>
                <a:off x="2550250" y="2078575"/>
                <a:ext cx="0" cy="787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48" name="Google Shape;148;p19"/>
            <p:cNvSpPr txBox="1"/>
            <p:nvPr/>
          </p:nvSpPr>
          <p:spPr>
            <a:xfrm>
              <a:off x="5543678" y="1941571"/>
              <a:ext cx="8571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70</a:t>
              </a:r>
              <a:endParaRPr sz="2200"/>
            </a:p>
          </p:txBody>
        </p:sp>
      </p:grpSp>
      <p:grpSp>
        <p:nvGrpSpPr>
          <p:cNvPr id="149" name="Google Shape;149;p19"/>
          <p:cNvGrpSpPr/>
          <p:nvPr/>
        </p:nvGrpSpPr>
        <p:grpSpPr>
          <a:xfrm>
            <a:off x="6672398" y="2797047"/>
            <a:ext cx="1400306" cy="1296955"/>
            <a:chOff x="6672398" y="1554685"/>
            <a:chExt cx="1400306" cy="1296955"/>
          </a:xfrm>
        </p:grpSpPr>
        <p:grpSp>
          <p:nvGrpSpPr>
            <p:cNvPr id="150" name="Google Shape;150;p19"/>
            <p:cNvGrpSpPr/>
            <p:nvPr/>
          </p:nvGrpSpPr>
          <p:grpSpPr>
            <a:xfrm>
              <a:off x="6672398" y="1554685"/>
              <a:ext cx="1400306" cy="1296955"/>
              <a:chOff x="1743200" y="2078575"/>
              <a:chExt cx="816600" cy="787800"/>
            </a:xfrm>
          </p:grpSpPr>
          <p:cxnSp>
            <p:nvCxnSpPr>
              <p:cNvPr id="151" name="Google Shape;151;p19"/>
              <p:cNvCxnSpPr/>
              <p:nvPr/>
            </p:nvCxnSpPr>
            <p:spPr>
              <a:xfrm>
                <a:off x="1743200" y="20785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" name="Google Shape;152;p19"/>
              <p:cNvCxnSpPr/>
              <p:nvPr/>
            </p:nvCxnSpPr>
            <p:spPr>
              <a:xfrm>
                <a:off x="1743200" y="28663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" name="Google Shape;153;p19"/>
              <p:cNvCxnSpPr/>
              <p:nvPr/>
            </p:nvCxnSpPr>
            <p:spPr>
              <a:xfrm>
                <a:off x="2550250" y="2078575"/>
                <a:ext cx="0" cy="787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54" name="Google Shape;154;p19"/>
            <p:cNvSpPr txBox="1"/>
            <p:nvPr/>
          </p:nvSpPr>
          <p:spPr>
            <a:xfrm>
              <a:off x="6943924" y="1941546"/>
              <a:ext cx="8571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2</a:t>
              </a:r>
              <a:r>
                <a:rPr lang="es" sz="22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0</a:t>
              </a:r>
              <a:endParaRPr sz="2200"/>
            </a:p>
          </p:txBody>
        </p:sp>
      </p:grpSp>
      <p:sp>
        <p:nvSpPr>
          <p:cNvPr id="155" name="Google Shape;155;p19"/>
          <p:cNvSpPr/>
          <p:nvPr/>
        </p:nvSpPr>
        <p:spPr>
          <a:xfrm>
            <a:off x="4052388" y="23136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Miércoles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2652213" y="23136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Martes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5452563" y="23136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Jueves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6900838" y="23136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Viernes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1203938" y="23136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Lunes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1071288" y="2797135"/>
            <a:ext cx="1400400" cy="1296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100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5249900" y="2797135"/>
            <a:ext cx="1400400" cy="1296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7</a:t>
            </a: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Vamos de a pasos</a:t>
            </a:r>
            <a:endParaRPr/>
          </a:p>
        </p:txBody>
      </p:sp>
      <p:sp>
        <p:nvSpPr>
          <p:cNvPr id="167" name="Google Shape;167;p20"/>
          <p:cNvSpPr txBox="1"/>
          <p:nvPr>
            <p:ph idx="1" type="body"/>
          </p:nvPr>
        </p:nvSpPr>
        <p:spPr>
          <a:xfrm>
            <a:off x="484015" y="1231680"/>
            <a:ext cx="8127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Pensemos desde los problemas m</a:t>
            </a:r>
            <a:r>
              <a:rPr lang="es"/>
              <a:t>ás sencillos</a:t>
            </a:r>
            <a:r>
              <a:rPr lang="es"/>
              <a:t>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¿I</a:t>
            </a:r>
            <a:r>
              <a:rPr lang="es"/>
              <a:t>nstancias del problema con solución trivial?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¿Cómo afrontaría instancias un poco más grandes? ¿Me podría ayudar de </a:t>
            </a:r>
            <a:r>
              <a:rPr b="1" lang="es"/>
              <a:t>la mejor solución</a:t>
            </a:r>
            <a:r>
              <a:rPr lang="es"/>
              <a:t> para instancia/s pasada/s?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Sigamos el razonamiento sobre un ejemplo (Ejemplo 1:  [100, 20, 30, 70, 50] con 5 días)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/>
          <p:nvPr/>
        </p:nvSpPr>
        <p:spPr>
          <a:xfrm>
            <a:off x="1071288" y="1554698"/>
            <a:ext cx="1400400" cy="1296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100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1203938" y="10712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Lune</a:t>
            </a: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1071288" y="1554698"/>
            <a:ext cx="1400400" cy="1296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100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1082400" y="3568250"/>
            <a:ext cx="348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Mejor ganancia de Juan: </a:t>
            </a:r>
            <a:r>
              <a:rPr b="1"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100 </a:t>
            </a:r>
            <a:endParaRPr b="1"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6" name="Google Shape;17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4868" y="3182450"/>
            <a:ext cx="1308945" cy="129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 txBox="1"/>
          <p:nvPr/>
        </p:nvSpPr>
        <p:spPr>
          <a:xfrm>
            <a:off x="126575" y="233150"/>
            <a:ext cx="82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-"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REGLA: no trabajar dos días seguidos (maximizando la ganancia total)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/>
          <p:nvPr/>
        </p:nvSpPr>
        <p:spPr>
          <a:xfrm>
            <a:off x="1071288" y="1554698"/>
            <a:ext cx="1400400" cy="1296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100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grpSp>
        <p:nvGrpSpPr>
          <p:cNvPr id="183" name="Google Shape;183;p22"/>
          <p:cNvGrpSpPr/>
          <p:nvPr/>
        </p:nvGrpSpPr>
        <p:grpSpPr>
          <a:xfrm>
            <a:off x="2471651" y="1554710"/>
            <a:ext cx="1400306" cy="1296955"/>
            <a:chOff x="1743200" y="2078575"/>
            <a:chExt cx="816600" cy="787800"/>
          </a:xfrm>
        </p:grpSpPr>
        <p:cxnSp>
          <p:nvCxnSpPr>
            <p:cNvPr id="184" name="Google Shape;184;p22"/>
            <p:cNvCxnSpPr/>
            <p:nvPr/>
          </p:nvCxnSpPr>
          <p:spPr>
            <a:xfrm>
              <a:off x="1743200" y="2078575"/>
              <a:ext cx="816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" name="Google Shape;185;p22"/>
            <p:cNvCxnSpPr/>
            <p:nvPr/>
          </p:nvCxnSpPr>
          <p:spPr>
            <a:xfrm>
              <a:off x="1743200" y="2866375"/>
              <a:ext cx="816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6" name="Google Shape;186;p22"/>
            <p:cNvCxnSpPr/>
            <p:nvPr/>
          </p:nvCxnSpPr>
          <p:spPr>
            <a:xfrm>
              <a:off x="2550250" y="2078575"/>
              <a:ext cx="0" cy="787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7" name="Google Shape;187;p22"/>
            <p:cNvSpPr txBox="1"/>
            <p:nvPr/>
          </p:nvSpPr>
          <p:spPr>
            <a:xfrm>
              <a:off x="1901600" y="2313475"/>
              <a:ext cx="4998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20</a:t>
              </a:r>
              <a:endParaRPr sz="2200"/>
            </a:p>
          </p:txBody>
        </p:sp>
      </p:grpSp>
      <p:sp>
        <p:nvSpPr>
          <p:cNvPr id="188" name="Google Shape;188;p22"/>
          <p:cNvSpPr/>
          <p:nvPr/>
        </p:nvSpPr>
        <p:spPr>
          <a:xfrm>
            <a:off x="2652213" y="10712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Martes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1203938" y="10712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Lunes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2471588" y="1554698"/>
            <a:ext cx="1400400" cy="1296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1071300" y="3560850"/>
            <a:ext cx="348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Mejor ganancia de Juan: 20 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1071288" y="1554698"/>
            <a:ext cx="1400400" cy="1296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100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1071300" y="3560850"/>
            <a:ext cx="348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Mejor ganancia de Juan: </a:t>
            </a:r>
            <a:r>
              <a:rPr b="1"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100 </a:t>
            </a:r>
            <a:endParaRPr b="1"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94" name="Google Shape;19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200" y="3339975"/>
            <a:ext cx="1039175" cy="1029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2025" y="3339975"/>
            <a:ext cx="1071525" cy="102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126575" y="233150"/>
            <a:ext cx="82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-"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REGLA: no trabajar dos días seguidos (maximizando la ganancia total)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/>
          <p:nvPr/>
        </p:nvSpPr>
        <p:spPr>
          <a:xfrm>
            <a:off x="1071288" y="1554698"/>
            <a:ext cx="1400400" cy="1296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100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grpSp>
        <p:nvGrpSpPr>
          <p:cNvPr id="202" name="Google Shape;202;p23"/>
          <p:cNvGrpSpPr/>
          <p:nvPr/>
        </p:nvGrpSpPr>
        <p:grpSpPr>
          <a:xfrm>
            <a:off x="2471651" y="1554710"/>
            <a:ext cx="1400306" cy="1296955"/>
            <a:chOff x="1743200" y="2078575"/>
            <a:chExt cx="816600" cy="787800"/>
          </a:xfrm>
        </p:grpSpPr>
        <p:cxnSp>
          <p:nvCxnSpPr>
            <p:cNvPr id="203" name="Google Shape;203;p23"/>
            <p:cNvCxnSpPr/>
            <p:nvPr/>
          </p:nvCxnSpPr>
          <p:spPr>
            <a:xfrm>
              <a:off x="1743200" y="2078575"/>
              <a:ext cx="816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23"/>
            <p:cNvCxnSpPr/>
            <p:nvPr/>
          </p:nvCxnSpPr>
          <p:spPr>
            <a:xfrm>
              <a:off x="1743200" y="2866375"/>
              <a:ext cx="816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23"/>
            <p:cNvCxnSpPr/>
            <p:nvPr/>
          </p:nvCxnSpPr>
          <p:spPr>
            <a:xfrm>
              <a:off x="2550250" y="2078575"/>
              <a:ext cx="0" cy="787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6" name="Google Shape;206;p23"/>
            <p:cNvSpPr txBox="1"/>
            <p:nvPr/>
          </p:nvSpPr>
          <p:spPr>
            <a:xfrm>
              <a:off x="1901600" y="2313475"/>
              <a:ext cx="4998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20</a:t>
              </a:r>
              <a:endParaRPr sz="2200"/>
            </a:p>
          </p:txBody>
        </p:sp>
      </p:grpSp>
      <p:grpSp>
        <p:nvGrpSpPr>
          <p:cNvPr id="207" name="Google Shape;207;p23"/>
          <p:cNvGrpSpPr/>
          <p:nvPr/>
        </p:nvGrpSpPr>
        <p:grpSpPr>
          <a:xfrm>
            <a:off x="3871906" y="1554710"/>
            <a:ext cx="1400306" cy="1296955"/>
            <a:chOff x="3871906" y="1554710"/>
            <a:chExt cx="1400306" cy="1296955"/>
          </a:xfrm>
        </p:grpSpPr>
        <p:grpSp>
          <p:nvGrpSpPr>
            <p:cNvPr id="208" name="Google Shape;208;p23"/>
            <p:cNvGrpSpPr/>
            <p:nvPr/>
          </p:nvGrpSpPr>
          <p:grpSpPr>
            <a:xfrm>
              <a:off x="3871906" y="1554710"/>
              <a:ext cx="1400306" cy="1296955"/>
              <a:chOff x="1743200" y="2078575"/>
              <a:chExt cx="816600" cy="787800"/>
            </a:xfrm>
          </p:grpSpPr>
          <p:cxnSp>
            <p:nvCxnSpPr>
              <p:cNvPr id="209" name="Google Shape;209;p23"/>
              <p:cNvCxnSpPr/>
              <p:nvPr/>
            </p:nvCxnSpPr>
            <p:spPr>
              <a:xfrm>
                <a:off x="1743200" y="20785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" name="Google Shape;210;p23"/>
              <p:cNvCxnSpPr/>
              <p:nvPr/>
            </p:nvCxnSpPr>
            <p:spPr>
              <a:xfrm>
                <a:off x="1743200" y="28663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" name="Google Shape;211;p23"/>
              <p:cNvCxnSpPr/>
              <p:nvPr/>
            </p:nvCxnSpPr>
            <p:spPr>
              <a:xfrm>
                <a:off x="2550250" y="2078575"/>
                <a:ext cx="0" cy="787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12" name="Google Shape;212;p23"/>
            <p:cNvSpPr txBox="1"/>
            <p:nvPr/>
          </p:nvSpPr>
          <p:spPr>
            <a:xfrm>
              <a:off x="4143432" y="1941571"/>
              <a:ext cx="8571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30</a:t>
              </a:r>
              <a:endParaRPr sz="2200"/>
            </a:p>
          </p:txBody>
        </p:sp>
      </p:grpSp>
      <p:sp>
        <p:nvSpPr>
          <p:cNvPr id="213" name="Google Shape;213;p23"/>
          <p:cNvSpPr/>
          <p:nvPr/>
        </p:nvSpPr>
        <p:spPr>
          <a:xfrm>
            <a:off x="4052388" y="10712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Miércoles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2652213" y="10712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Martes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1203938" y="10712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Lunes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3855025" y="1554710"/>
            <a:ext cx="1400400" cy="1296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3</a:t>
            </a: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1071300" y="3560850"/>
            <a:ext cx="348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Mejor ganancia de Juan: </a:t>
            </a:r>
            <a:r>
              <a:rPr b="1"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130</a:t>
            </a:r>
            <a:endParaRPr b="1"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1071288" y="1554735"/>
            <a:ext cx="1400400" cy="1296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100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219" name="Google Shape;2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4868" y="3182450"/>
            <a:ext cx="1308945" cy="129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126575" y="233150"/>
            <a:ext cx="82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-"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REGLA: no trabajar dos días seguidos (maximizando la ganancia total)</a:t>
            </a:r>
            <a:endParaRPr/>
          </a:p>
        </p:txBody>
      </p:sp>
      <p:cxnSp>
        <p:nvCxnSpPr>
          <p:cNvPr id="221" name="Google Shape;221;p23"/>
          <p:cNvCxnSpPr/>
          <p:nvPr/>
        </p:nvCxnSpPr>
        <p:spPr>
          <a:xfrm>
            <a:off x="1071300" y="3009700"/>
            <a:ext cx="1413900" cy="900"/>
          </a:xfrm>
          <a:prstGeom prst="straightConnector1">
            <a:avLst/>
          </a:prstGeom>
          <a:noFill/>
          <a:ln cap="flat" cmpd="sng" w="38100">
            <a:solidFill>
              <a:srgbClr val="F26B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3"/>
          <p:cNvSpPr/>
          <p:nvPr/>
        </p:nvSpPr>
        <p:spPr>
          <a:xfrm>
            <a:off x="6357850" y="1450950"/>
            <a:ext cx="2254608" cy="1400652"/>
          </a:xfrm>
          <a:prstGeom prst="cloud">
            <a:avLst/>
          </a:prstGeom>
          <a:solidFill>
            <a:srgbClr val="F26B6B">
              <a:alpha val="5294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¿Si decidimos </a:t>
            </a:r>
            <a:r>
              <a:rPr b="1" lang="es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sí incluir dicho día</a:t>
            </a:r>
            <a:r>
              <a:rPr lang="es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?</a:t>
            </a:r>
            <a:endParaRPr b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/>
          <p:nvPr/>
        </p:nvSpPr>
        <p:spPr>
          <a:xfrm>
            <a:off x="1071288" y="1554698"/>
            <a:ext cx="1400400" cy="1296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100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grpSp>
        <p:nvGrpSpPr>
          <p:cNvPr id="228" name="Google Shape;228;p24"/>
          <p:cNvGrpSpPr/>
          <p:nvPr/>
        </p:nvGrpSpPr>
        <p:grpSpPr>
          <a:xfrm>
            <a:off x="2471651" y="1554710"/>
            <a:ext cx="1400306" cy="1296955"/>
            <a:chOff x="1743200" y="2078575"/>
            <a:chExt cx="816600" cy="787800"/>
          </a:xfrm>
        </p:grpSpPr>
        <p:cxnSp>
          <p:nvCxnSpPr>
            <p:cNvPr id="229" name="Google Shape;229;p24"/>
            <p:cNvCxnSpPr/>
            <p:nvPr/>
          </p:nvCxnSpPr>
          <p:spPr>
            <a:xfrm>
              <a:off x="1743200" y="2078575"/>
              <a:ext cx="816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" name="Google Shape;230;p24"/>
            <p:cNvCxnSpPr/>
            <p:nvPr/>
          </p:nvCxnSpPr>
          <p:spPr>
            <a:xfrm>
              <a:off x="1743200" y="2866375"/>
              <a:ext cx="816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" name="Google Shape;231;p24"/>
            <p:cNvCxnSpPr/>
            <p:nvPr/>
          </p:nvCxnSpPr>
          <p:spPr>
            <a:xfrm>
              <a:off x="2550250" y="2078575"/>
              <a:ext cx="0" cy="787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2" name="Google Shape;232;p24"/>
            <p:cNvSpPr txBox="1"/>
            <p:nvPr/>
          </p:nvSpPr>
          <p:spPr>
            <a:xfrm>
              <a:off x="1901600" y="2313475"/>
              <a:ext cx="4998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20</a:t>
              </a:r>
              <a:endParaRPr sz="2200"/>
            </a:p>
          </p:txBody>
        </p:sp>
      </p:grpSp>
      <p:grpSp>
        <p:nvGrpSpPr>
          <p:cNvPr id="233" name="Google Shape;233;p24"/>
          <p:cNvGrpSpPr/>
          <p:nvPr/>
        </p:nvGrpSpPr>
        <p:grpSpPr>
          <a:xfrm>
            <a:off x="3871906" y="1554710"/>
            <a:ext cx="1400306" cy="1296955"/>
            <a:chOff x="3871906" y="1554710"/>
            <a:chExt cx="1400306" cy="1296955"/>
          </a:xfrm>
        </p:grpSpPr>
        <p:grpSp>
          <p:nvGrpSpPr>
            <p:cNvPr id="234" name="Google Shape;234;p24"/>
            <p:cNvGrpSpPr/>
            <p:nvPr/>
          </p:nvGrpSpPr>
          <p:grpSpPr>
            <a:xfrm>
              <a:off x="3871906" y="1554710"/>
              <a:ext cx="1400306" cy="1296955"/>
              <a:chOff x="1743200" y="2078575"/>
              <a:chExt cx="816600" cy="787800"/>
            </a:xfrm>
          </p:grpSpPr>
          <p:cxnSp>
            <p:nvCxnSpPr>
              <p:cNvPr id="235" name="Google Shape;235;p24"/>
              <p:cNvCxnSpPr/>
              <p:nvPr/>
            </p:nvCxnSpPr>
            <p:spPr>
              <a:xfrm>
                <a:off x="1743200" y="20785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6" name="Google Shape;236;p24"/>
              <p:cNvCxnSpPr/>
              <p:nvPr/>
            </p:nvCxnSpPr>
            <p:spPr>
              <a:xfrm>
                <a:off x="1743200" y="28663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7" name="Google Shape;237;p24"/>
              <p:cNvCxnSpPr/>
              <p:nvPr/>
            </p:nvCxnSpPr>
            <p:spPr>
              <a:xfrm>
                <a:off x="2550250" y="2078575"/>
                <a:ext cx="0" cy="787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38" name="Google Shape;238;p24"/>
            <p:cNvSpPr txBox="1"/>
            <p:nvPr/>
          </p:nvSpPr>
          <p:spPr>
            <a:xfrm>
              <a:off x="4143432" y="1941571"/>
              <a:ext cx="8571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30</a:t>
              </a:r>
              <a:endParaRPr sz="2200"/>
            </a:p>
          </p:txBody>
        </p:sp>
      </p:grpSp>
      <p:sp>
        <p:nvSpPr>
          <p:cNvPr id="239" name="Google Shape;239;p24"/>
          <p:cNvSpPr/>
          <p:nvPr/>
        </p:nvSpPr>
        <p:spPr>
          <a:xfrm>
            <a:off x="4052388" y="10712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Miércoles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2652213" y="10712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Martes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1203938" y="10712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Lunes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1071300" y="3560850"/>
            <a:ext cx="348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Mejor ganancia de Juan: 20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43" name="Google Shape;243;p24"/>
          <p:cNvSpPr txBox="1"/>
          <p:nvPr>
            <p:ph type="title"/>
          </p:nvPr>
        </p:nvSpPr>
        <p:spPr>
          <a:xfrm>
            <a:off x="291050" y="11395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Cuál es la alternativa?</a:t>
            </a:r>
            <a:endParaRPr/>
          </a:p>
        </p:txBody>
      </p:sp>
      <p:sp>
        <p:nvSpPr>
          <p:cNvPr id="244" name="Google Shape;244;p24"/>
          <p:cNvSpPr/>
          <p:nvPr/>
        </p:nvSpPr>
        <p:spPr>
          <a:xfrm>
            <a:off x="2471588" y="1554698"/>
            <a:ext cx="1400400" cy="1296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1071288" y="1554710"/>
            <a:ext cx="1400400" cy="1296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100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1071300" y="3560850"/>
            <a:ext cx="348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Mejor ganancia de Juan: 100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247" name="Google Shape;24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200" y="3339975"/>
            <a:ext cx="1039175" cy="102963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/>
          <p:nvPr/>
        </p:nvSpPr>
        <p:spPr>
          <a:xfrm>
            <a:off x="6357850" y="1450950"/>
            <a:ext cx="2254608" cy="1400652"/>
          </a:xfrm>
          <a:prstGeom prst="cloud">
            <a:avLst/>
          </a:prstGeom>
          <a:solidFill>
            <a:srgbClr val="F26B6B">
              <a:alpha val="5294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¿Si decidimos </a:t>
            </a:r>
            <a:r>
              <a:rPr b="1" lang="es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no incluir ese último día?</a:t>
            </a:r>
            <a:endParaRPr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49" name="Google Shape;249;p24"/>
          <p:cNvCxnSpPr/>
          <p:nvPr/>
        </p:nvCxnSpPr>
        <p:spPr>
          <a:xfrm>
            <a:off x="1071300" y="3009700"/>
            <a:ext cx="2813700" cy="13200"/>
          </a:xfrm>
          <a:prstGeom prst="straightConnector1">
            <a:avLst/>
          </a:prstGeom>
          <a:noFill/>
          <a:ln cap="flat" cmpd="sng" w="38100">
            <a:solidFill>
              <a:srgbClr val="F26B6B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0" name="Google Shape;25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6075" y="2851675"/>
            <a:ext cx="2320499" cy="2320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/>
          <p:nvPr/>
        </p:nvSpPr>
        <p:spPr>
          <a:xfrm>
            <a:off x="1071288" y="1554698"/>
            <a:ext cx="1400400" cy="1296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100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grpSp>
        <p:nvGrpSpPr>
          <p:cNvPr id="256" name="Google Shape;256;p25"/>
          <p:cNvGrpSpPr/>
          <p:nvPr/>
        </p:nvGrpSpPr>
        <p:grpSpPr>
          <a:xfrm>
            <a:off x="2471651" y="1554710"/>
            <a:ext cx="1400306" cy="1296955"/>
            <a:chOff x="1743200" y="2078575"/>
            <a:chExt cx="816600" cy="787800"/>
          </a:xfrm>
        </p:grpSpPr>
        <p:cxnSp>
          <p:nvCxnSpPr>
            <p:cNvPr id="257" name="Google Shape;257;p25"/>
            <p:cNvCxnSpPr/>
            <p:nvPr/>
          </p:nvCxnSpPr>
          <p:spPr>
            <a:xfrm>
              <a:off x="1743200" y="2078575"/>
              <a:ext cx="816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" name="Google Shape;258;p25"/>
            <p:cNvCxnSpPr/>
            <p:nvPr/>
          </p:nvCxnSpPr>
          <p:spPr>
            <a:xfrm>
              <a:off x="1743200" y="2866375"/>
              <a:ext cx="816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" name="Google Shape;259;p25"/>
            <p:cNvCxnSpPr/>
            <p:nvPr/>
          </p:nvCxnSpPr>
          <p:spPr>
            <a:xfrm>
              <a:off x="2550250" y="2078575"/>
              <a:ext cx="0" cy="787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0" name="Google Shape;260;p25"/>
            <p:cNvSpPr txBox="1"/>
            <p:nvPr/>
          </p:nvSpPr>
          <p:spPr>
            <a:xfrm>
              <a:off x="1901600" y="2313475"/>
              <a:ext cx="4998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20</a:t>
              </a:r>
              <a:endParaRPr sz="2200"/>
            </a:p>
          </p:txBody>
        </p:sp>
      </p:grpSp>
      <p:grpSp>
        <p:nvGrpSpPr>
          <p:cNvPr id="261" name="Google Shape;261;p25"/>
          <p:cNvGrpSpPr/>
          <p:nvPr/>
        </p:nvGrpSpPr>
        <p:grpSpPr>
          <a:xfrm>
            <a:off x="3871906" y="1554710"/>
            <a:ext cx="1400306" cy="1296955"/>
            <a:chOff x="3871906" y="1554710"/>
            <a:chExt cx="1400306" cy="1296955"/>
          </a:xfrm>
        </p:grpSpPr>
        <p:grpSp>
          <p:nvGrpSpPr>
            <p:cNvPr id="262" name="Google Shape;262;p25"/>
            <p:cNvGrpSpPr/>
            <p:nvPr/>
          </p:nvGrpSpPr>
          <p:grpSpPr>
            <a:xfrm>
              <a:off x="3871906" y="1554710"/>
              <a:ext cx="1400306" cy="1296955"/>
              <a:chOff x="1743200" y="2078575"/>
              <a:chExt cx="816600" cy="787800"/>
            </a:xfrm>
          </p:grpSpPr>
          <p:cxnSp>
            <p:nvCxnSpPr>
              <p:cNvPr id="263" name="Google Shape;263;p25"/>
              <p:cNvCxnSpPr/>
              <p:nvPr/>
            </p:nvCxnSpPr>
            <p:spPr>
              <a:xfrm>
                <a:off x="1743200" y="20785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" name="Google Shape;264;p25"/>
              <p:cNvCxnSpPr/>
              <p:nvPr/>
            </p:nvCxnSpPr>
            <p:spPr>
              <a:xfrm>
                <a:off x="1743200" y="28663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" name="Google Shape;265;p25"/>
              <p:cNvCxnSpPr/>
              <p:nvPr/>
            </p:nvCxnSpPr>
            <p:spPr>
              <a:xfrm>
                <a:off x="2550250" y="2078575"/>
                <a:ext cx="0" cy="787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66" name="Google Shape;266;p25"/>
            <p:cNvSpPr txBox="1"/>
            <p:nvPr/>
          </p:nvSpPr>
          <p:spPr>
            <a:xfrm>
              <a:off x="4143432" y="1941571"/>
              <a:ext cx="8571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30</a:t>
              </a:r>
              <a:endParaRPr sz="2200"/>
            </a:p>
          </p:txBody>
        </p:sp>
      </p:grpSp>
      <p:grpSp>
        <p:nvGrpSpPr>
          <p:cNvPr id="267" name="Google Shape;267;p25"/>
          <p:cNvGrpSpPr/>
          <p:nvPr/>
        </p:nvGrpSpPr>
        <p:grpSpPr>
          <a:xfrm>
            <a:off x="5272152" y="1554710"/>
            <a:ext cx="1400306" cy="1296955"/>
            <a:chOff x="5272152" y="1554710"/>
            <a:chExt cx="1400306" cy="1296955"/>
          </a:xfrm>
        </p:grpSpPr>
        <p:grpSp>
          <p:nvGrpSpPr>
            <p:cNvPr id="268" name="Google Shape;268;p25"/>
            <p:cNvGrpSpPr/>
            <p:nvPr/>
          </p:nvGrpSpPr>
          <p:grpSpPr>
            <a:xfrm>
              <a:off x="5272152" y="1554710"/>
              <a:ext cx="1400306" cy="1296955"/>
              <a:chOff x="1743200" y="2078575"/>
              <a:chExt cx="816600" cy="787800"/>
            </a:xfrm>
          </p:grpSpPr>
          <p:cxnSp>
            <p:nvCxnSpPr>
              <p:cNvPr id="269" name="Google Shape;269;p25"/>
              <p:cNvCxnSpPr/>
              <p:nvPr/>
            </p:nvCxnSpPr>
            <p:spPr>
              <a:xfrm>
                <a:off x="1743200" y="20785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" name="Google Shape;270;p25"/>
              <p:cNvCxnSpPr/>
              <p:nvPr/>
            </p:nvCxnSpPr>
            <p:spPr>
              <a:xfrm>
                <a:off x="1743200" y="28663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" name="Google Shape;271;p25"/>
              <p:cNvCxnSpPr/>
              <p:nvPr/>
            </p:nvCxnSpPr>
            <p:spPr>
              <a:xfrm>
                <a:off x="2550250" y="2078575"/>
                <a:ext cx="0" cy="787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72" name="Google Shape;272;p25"/>
            <p:cNvSpPr txBox="1"/>
            <p:nvPr/>
          </p:nvSpPr>
          <p:spPr>
            <a:xfrm>
              <a:off x="5543678" y="1941571"/>
              <a:ext cx="8571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70</a:t>
              </a:r>
              <a:endParaRPr sz="2200"/>
            </a:p>
          </p:txBody>
        </p:sp>
      </p:grpSp>
      <p:sp>
        <p:nvSpPr>
          <p:cNvPr id="273" name="Google Shape;273;p25"/>
          <p:cNvSpPr/>
          <p:nvPr/>
        </p:nvSpPr>
        <p:spPr>
          <a:xfrm>
            <a:off x="4052388" y="10712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Miércoles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2652213" y="10712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Martes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5452563" y="10712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Jueves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1203938" y="10712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Lunes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77" name="Google Shape;277;p25"/>
          <p:cNvSpPr txBox="1"/>
          <p:nvPr>
            <p:ph type="title"/>
          </p:nvPr>
        </p:nvSpPr>
        <p:spPr>
          <a:xfrm>
            <a:off x="291050" y="11395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Y para 4 días?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1082400" y="3340775"/>
            <a:ext cx="348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Mejor ganancia de Juan: </a:t>
            </a:r>
            <a:r>
              <a:rPr b="1"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170 </a:t>
            </a:r>
            <a:endParaRPr b="1"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5254063" y="1554748"/>
            <a:ext cx="1400400" cy="1296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70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1071288" y="1554698"/>
            <a:ext cx="1400400" cy="1296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100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81" name="Google Shape;281;p25"/>
          <p:cNvSpPr txBox="1"/>
          <p:nvPr/>
        </p:nvSpPr>
        <p:spPr>
          <a:xfrm>
            <a:off x="1071300" y="3692175"/>
            <a:ext cx="738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¿Podrá ser menor a la ganancia considerando solo 3 días (130)? ¿Porqué?</a:t>
            </a:r>
            <a:endParaRPr b="1"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/>
          <p:nvPr/>
        </p:nvSpPr>
        <p:spPr>
          <a:xfrm>
            <a:off x="1071288" y="1554698"/>
            <a:ext cx="1400400" cy="1296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100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grpSp>
        <p:nvGrpSpPr>
          <p:cNvPr id="287" name="Google Shape;287;p26"/>
          <p:cNvGrpSpPr/>
          <p:nvPr/>
        </p:nvGrpSpPr>
        <p:grpSpPr>
          <a:xfrm>
            <a:off x="2471651" y="1554710"/>
            <a:ext cx="1400306" cy="1296955"/>
            <a:chOff x="1743200" y="2078575"/>
            <a:chExt cx="816600" cy="787800"/>
          </a:xfrm>
        </p:grpSpPr>
        <p:cxnSp>
          <p:nvCxnSpPr>
            <p:cNvPr id="288" name="Google Shape;288;p26"/>
            <p:cNvCxnSpPr/>
            <p:nvPr/>
          </p:nvCxnSpPr>
          <p:spPr>
            <a:xfrm>
              <a:off x="1743200" y="2078575"/>
              <a:ext cx="816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9" name="Google Shape;289;p26"/>
            <p:cNvCxnSpPr/>
            <p:nvPr/>
          </p:nvCxnSpPr>
          <p:spPr>
            <a:xfrm>
              <a:off x="1743200" y="2866375"/>
              <a:ext cx="816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0" name="Google Shape;290;p26"/>
            <p:cNvCxnSpPr/>
            <p:nvPr/>
          </p:nvCxnSpPr>
          <p:spPr>
            <a:xfrm>
              <a:off x="2550250" y="2078575"/>
              <a:ext cx="0" cy="787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1" name="Google Shape;291;p26"/>
            <p:cNvSpPr txBox="1"/>
            <p:nvPr/>
          </p:nvSpPr>
          <p:spPr>
            <a:xfrm>
              <a:off x="1901600" y="2313475"/>
              <a:ext cx="4998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20</a:t>
              </a:r>
              <a:endParaRPr sz="2200"/>
            </a:p>
          </p:txBody>
        </p:sp>
      </p:grpSp>
      <p:grpSp>
        <p:nvGrpSpPr>
          <p:cNvPr id="292" name="Google Shape;292;p26"/>
          <p:cNvGrpSpPr/>
          <p:nvPr/>
        </p:nvGrpSpPr>
        <p:grpSpPr>
          <a:xfrm>
            <a:off x="3871906" y="1554710"/>
            <a:ext cx="1400306" cy="1296955"/>
            <a:chOff x="3871906" y="1554710"/>
            <a:chExt cx="1400306" cy="1296955"/>
          </a:xfrm>
        </p:grpSpPr>
        <p:grpSp>
          <p:nvGrpSpPr>
            <p:cNvPr id="293" name="Google Shape;293;p26"/>
            <p:cNvGrpSpPr/>
            <p:nvPr/>
          </p:nvGrpSpPr>
          <p:grpSpPr>
            <a:xfrm>
              <a:off x="3871906" y="1554710"/>
              <a:ext cx="1400306" cy="1296955"/>
              <a:chOff x="1743200" y="2078575"/>
              <a:chExt cx="816600" cy="787800"/>
            </a:xfrm>
          </p:grpSpPr>
          <p:cxnSp>
            <p:nvCxnSpPr>
              <p:cNvPr id="294" name="Google Shape;294;p26"/>
              <p:cNvCxnSpPr/>
              <p:nvPr/>
            </p:nvCxnSpPr>
            <p:spPr>
              <a:xfrm>
                <a:off x="1743200" y="20785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" name="Google Shape;295;p26"/>
              <p:cNvCxnSpPr/>
              <p:nvPr/>
            </p:nvCxnSpPr>
            <p:spPr>
              <a:xfrm>
                <a:off x="1743200" y="28663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" name="Google Shape;296;p26"/>
              <p:cNvCxnSpPr/>
              <p:nvPr/>
            </p:nvCxnSpPr>
            <p:spPr>
              <a:xfrm>
                <a:off x="2550250" y="2078575"/>
                <a:ext cx="0" cy="787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97" name="Google Shape;297;p26"/>
            <p:cNvSpPr txBox="1"/>
            <p:nvPr/>
          </p:nvSpPr>
          <p:spPr>
            <a:xfrm>
              <a:off x="4143432" y="1941571"/>
              <a:ext cx="8571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30</a:t>
              </a:r>
              <a:endParaRPr sz="2200"/>
            </a:p>
          </p:txBody>
        </p:sp>
      </p:grpSp>
      <p:grpSp>
        <p:nvGrpSpPr>
          <p:cNvPr id="298" name="Google Shape;298;p26"/>
          <p:cNvGrpSpPr/>
          <p:nvPr/>
        </p:nvGrpSpPr>
        <p:grpSpPr>
          <a:xfrm>
            <a:off x="5272152" y="1554710"/>
            <a:ext cx="1400306" cy="1296955"/>
            <a:chOff x="5272152" y="1554710"/>
            <a:chExt cx="1400306" cy="1296955"/>
          </a:xfrm>
        </p:grpSpPr>
        <p:grpSp>
          <p:nvGrpSpPr>
            <p:cNvPr id="299" name="Google Shape;299;p26"/>
            <p:cNvGrpSpPr/>
            <p:nvPr/>
          </p:nvGrpSpPr>
          <p:grpSpPr>
            <a:xfrm>
              <a:off x="5272152" y="1554710"/>
              <a:ext cx="1400306" cy="1296955"/>
              <a:chOff x="1743200" y="2078575"/>
              <a:chExt cx="816600" cy="787800"/>
            </a:xfrm>
          </p:grpSpPr>
          <p:cxnSp>
            <p:nvCxnSpPr>
              <p:cNvPr id="300" name="Google Shape;300;p26"/>
              <p:cNvCxnSpPr/>
              <p:nvPr/>
            </p:nvCxnSpPr>
            <p:spPr>
              <a:xfrm>
                <a:off x="1743200" y="20785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" name="Google Shape;301;p26"/>
              <p:cNvCxnSpPr/>
              <p:nvPr/>
            </p:nvCxnSpPr>
            <p:spPr>
              <a:xfrm>
                <a:off x="1743200" y="28663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" name="Google Shape;302;p26"/>
              <p:cNvCxnSpPr/>
              <p:nvPr/>
            </p:nvCxnSpPr>
            <p:spPr>
              <a:xfrm>
                <a:off x="2550250" y="2078575"/>
                <a:ext cx="0" cy="787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03" name="Google Shape;303;p26"/>
            <p:cNvSpPr txBox="1"/>
            <p:nvPr/>
          </p:nvSpPr>
          <p:spPr>
            <a:xfrm>
              <a:off x="5543678" y="1941571"/>
              <a:ext cx="8571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70</a:t>
              </a:r>
              <a:endParaRPr sz="2200"/>
            </a:p>
          </p:txBody>
        </p:sp>
      </p:grpSp>
      <p:sp>
        <p:nvSpPr>
          <p:cNvPr id="304" name="Google Shape;304;p26"/>
          <p:cNvSpPr/>
          <p:nvPr/>
        </p:nvSpPr>
        <p:spPr>
          <a:xfrm>
            <a:off x="4052388" y="10712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Miércoles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2652213" y="10712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Martes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5452563" y="10712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Jueves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1203938" y="10712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Lunes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08" name="Google Shape;308;p26"/>
          <p:cNvSpPr txBox="1"/>
          <p:nvPr>
            <p:ph type="title"/>
          </p:nvPr>
        </p:nvSpPr>
        <p:spPr>
          <a:xfrm>
            <a:off x="291050" y="11395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Fue un camino largo…</a:t>
            </a:r>
            <a:endParaRPr/>
          </a:p>
        </p:txBody>
      </p:sp>
      <p:sp>
        <p:nvSpPr>
          <p:cNvPr id="309" name="Google Shape;309;p26"/>
          <p:cNvSpPr txBox="1"/>
          <p:nvPr/>
        </p:nvSpPr>
        <p:spPr>
          <a:xfrm>
            <a:off x="1082400" y="3340775"/>
            <a:ext cx="348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Mejor ganancia de Juan: </a:t>
            </a:r>
            <a:r>
              <a:rPr b="1"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180 </a:t>
            </a:r>
            <a:endParaRPr b="1"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3846338" y="1554748"/>
            <a:ext cx="1400400" cy="1296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3</a:t>
            </a: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1071288" y="1554698"/>
            <a:ext cx="1400400" cy="1296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100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grpSp>
        <p:nvGrpSpPr>
          <p:cNvPr id="312" name="Google Shape;312;p26"/>
          <p:cNvGrpSpPr/>
          <p:nvPr/>
        </p:nvGrpSpPr>
        <p:grpSpPr>
          <a:xfrm>
            <a:off x="6593098" y="1554672"/>
            <a:ext cx="1400306" cy="1296955"/>
            <a:chOff x="6672398" y="1554685"/>
            <a:chExt cx="1400306" cy="1296955"/>
          </a:xfrm>
        </p:grpSpPr>
        <p:grpSp>
          <p:nvGrpSpPr>
            <p:cNvPr id="313" name="Google Shape;313;p26"/>
            <p:cNvGrpSpPr/>
            <p:nvPr/>
          </p:nvGrpSpPr>
          <p:grpSpPr>
            <a:xfrm>
              <a:off x="6672398" y="1554685"/>
              <a:ext cx="1400306" cy="1296955"/>
              <a:chOff x="1743200" y="2078575"/>
              <a:chExt cx="816600" cy="787800"/>
            </a:xfrm>
          </p:grpSpPr>
          <p:cxnSp>
            <p:nvCxnSpPr>
              <p:cNvPr id="314" name="Google Shape;314;p26"/>
              <p:cNvCxnSpPr/>
              <p:nvPr/>
            </p:nvCxnSpPr>
            <p:spPr>
              <a:xfrm>
                <a:off x="1743200" y="20785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5" name="Google Shape;315;p26"/>
              <p:cNvCxnSpPr/>
              <p:nvPr/>
            </p:nvCxnSpPr>
            <p:spPr>
              <a:xfrm>
                <a:off x="1743200" y="2866375"/>
                <a:ext cx="8166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" name="Google Shape;316;p26"/>
              <p:cNvCxnSpPr/>
              <p:nvPr/>
            </p:nvCxnSpPr>
            <p:spPr>
              <a:xfrm>
                <a:off x="2550250" y="2078575"/>
                <a:ext cx="0" cy="787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17" name="Google Shape;317;p26"/>
            <p:cNvSpPr txBox="1"/>
            <p:nvPr/>
          </p:nvSpPr>
          <p:spPr>
            <a:xfrm>
              <a:off x="6943924" y="1941546"/>
              <a:ext cx="8571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50</a:t>
              </a:r>
              <a:endParaRPr sz="2200"/>
            </a:p>
          </p:txBody>
        </p:sp>
      </p:grpSp>
      <p:sp>
        <p:nvSpPr>
          <p:cNvPr id="318" name="Google Shape;318;p26"/>
          <p:cNvSpPr/>
          <p:nvPr/>
        </p:nvSpPr>
        <p:spPr>
          <a:xfrm>
            <a:off x="6801988" y="1071250"/>
            <a:ext cx="1039176" cy="32540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Viernes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6621375" y="1554698"/>
            <a:ext cx="1400400" cy="1296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50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320" name="Google Shape;3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4868" y="3182450"/>
            <a:ext cx="1308945" cy="129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Cómo encontrar la solución usando PD</a:t>
            </a:r>
            <a:endParaRPr sz="2700"/>
          </a:p>
        </p:txBody>
      </p:sp>
      <p:sp>
        <p:nvSpPr>
          <p:cNvPr id="326" name="Google Shape;326;p27"/>
          <p:cNvSpPr txBox="1"/>
          <p:nvPr>
            <p:ph idx="1" type="body"/>
          </p:nvPr>
        </p:nvSpPr>
        <p:spPr>
          <a:xfrm>
            <a:off x="311700" y="1171600"/>
            <a:ext cx="8520600" cy="3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Necesitamos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○ La forma que tienen los subproblemas: </a:t>
            </a:r>
            <a:r>
              <a:rPr b="1" lang="es"/>
              <a:t>trabajos realizados en función de la ganancia, sabiendo que trabajar un día no nos permite trabajar el anterior. Los subproblemas se achican a medida que son menos días</a:t>
            </a:r>
            <a:endParaRPr b="1"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○ La forma en que dichos subproblemas se componen para solucionar subproblemas más grandes: </a:t>
            </a:r>
            <a:r>
              <a:rPr b="1" lang="es"/>
              <a:t>si trabajo hoy, compongo la mejor solución </a:t>
            </a:r>
            <a:r>
              <a:rPr b="1" lang="es" u="sng"/>
              <a:t>sin considerar el día de ayer</a:t>
            </a:r>
            <a:r>
              <a:rPr b="1" lang="es"/>
              <a:t>, caso contrario compongo la mejor solución al día de ayer (sin trabajar hoy)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opciones consideramos para cada día?</a:t>
            </a:r>
            <a:endParaRPr sz="2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 Podemos obtener la ecuación de recurrencia a partir de la lógica que seguimos?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Esa lógica es básicamente la ecuación de recurrencia (</a:t>
            </a:r>
            <a:r>
              <a:rPr lang="es"/>
              <a:t>sólo</a:t>
            </a:r>
            <a:r>
              <a:rPr lang="es"/>
              <a:t> hay que verla con cariño)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9"/>
          <p:cNvGrpSpPr/>
          <p:nvPr/>
        </p:nvGrpSpPr>
        <p:grpSpPr>
          <a:xfrm>
            <a:off x="350075" y="1194025"/>
            <a:ext cx="8443850" cy="1377725"/>
            <a:chOff x="-259175" y="1235275"/>
            <a:chExt cx="8443850" cy="1377725"/>
          </a:xfrm>
        </p:grpSpPr>
        <p:cxnSp>
          <p:nvCxnSpPr>
            <p:cNvPr id="338" name="Google Shape;338;p29"/>
            <p:cNvCxnSpPr>
              <a:stCxn id="339" idx="3"/>
            </p:cNvCxnSpPr>
            <p:nvPr/>
          </p:nvCxnSpPr>
          <p:spPr>
            <a:xfrm flipH="1" rot="10800000">
              <a:off x="1475125" y="1494450"/>
              <a:ext cx="1301700" cy="441300"/>
            </a:xfrm>
            <a:prstGeom prst="straightConnector1">
              <a:avLst/>
            </a:prstGeom>
            <a:noFill/>
            <a:ln cap="flat" cmpd="sng" w="9525">
              <a:solidFill>
                <a:srgbClr val="00695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0" name="Google Shape;340;p29"/>
            <p:cNvCxnSpPr>
              <a:stCxn id="339" idx="3"/>
            </p:cNvCxnSpPr>
            <p:nvPr/>
          </p:nvCxnSpPr>
          <p:spPr>
            <a:xfrm>
              <a:off x="1475125" y="1935750"/>
              <a:ext cx="1263900" cy="403500"/>
            </a:xfrm>
            <a:prstGeom prst="straightConnector1">
              <a:avLst/>
            </a:prstGeom>
            <a:noFill/>
            <a:ln cap="flat" cmpd="sng" w="9525">
              <a:solidFill>
                <a:srgbClr val="00695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1" name="Google Shape;341;p29"/>
            <p:cNvSpPr txBox="1"/>
            <p:nvPr/>
          </p:nvSpPr>
          <p:spPr>
            <a:xfrm>
              <a:off x="2739025" y="2166600"/>
              <a:ext cx="5357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latin typeface="Proxima Nova"/>
                  <a:ea typeface="Proxima Nova"/>
                  <a:cs typeface="Proxima Nova"/>
                  <a:sym typeface="Proxima Nova"/>
                </a:rPr>
                <a:t>trabajar el día n</a:t>
              </a:r>
              <a:r>
                <a:rPr lang="es" sz="1700">
                  <a:latin typeface="Proxima Nova"/>
                  <a:ea typeface="Proxima Nova"/>
                  <a:cs typeface="Proxima Nova"/>
                  <a:sym typeface="Proxima Nova"/>
                </a:rPr>
                <a:t>: </a:t>
              </a:r>
              <a:r>
                <a:rPr lang="es" sz="17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OPT(n-2) + V</a:t>
              </a:r>
              <a:r>
                <a:rPr baseline="-25000" lang="es" sz="17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</a:t>
              </a:r>
              <a:endParaRPr baseline="-25000" sz="17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342" name="Google Shape;342;p29"/>
            <p:cNvSpPr txBox="1"/>
            <p:nvPr/>
          </p:nvSpPr>
          <p:spPr>
            <a:xfrm>
              <a:off x="2827275" y="1235275"/>
              <a:ext cx="5357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latin typeface="Proxima Nova"/>
                  <a:ea typeface="Proxima Nova"/>
                  <a:cs typeface="Proxima Nova"/>
                  <a:sym typeface="Proxima Nova"/>
                </a:rPr>
                <a:t>no trabajar el día n: OPT(n-1)</a:t>
              </a:r>
              <a:endParaRPr sz="17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339" name="Google Shape;339;p29"/>
            <p:cNvSpPr txBox="1"/>
            <p:nvPr/>
          </p:nvSpPr>
          <p:spPr>
            <a:xfrm>
              <a:off x="-259175" y="1704900"/>
              <a:ext cx="1734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latin typeface="Proxima Nova"/>
                  <a:ea typeface="Proxima Nova"/>
                  <a:cs typeface="Proxima Nova"/>
                  <a:sym typeface="Proxima Nova"/>
                </a:rPr>
                <a:t>OPT(n) = max</a:t>
              </a:r>
              <a:endParaRPr sz="18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343" name="Google Shape;343;p29"/>
          <p:cNvSpPr txBox="1"/>
          <p:nvPr>
            <p:ph idx="1" type="body"/>
          </p:nvPr>
        </p:nvSpPr>
        <p:spPr>
          <a:xfrm>
            <a:off x="311700" y="2919000"/>
            <a:ext cx="8520600" cy="19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para todo n &gt;= 2.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000"/>
              <a:t>si n == 0: </a:t>
            </a:r>
            <a:r>
              <a:rPr lang="es"/>
              <a:t>OPT(0) = V</a:t>
            </a:r>
            <a:r>
              <a:rPr baseline="-25000" lang="es"/>
              <a:t>0</a:t>
            </a:r>
            <a:endParaRPr baseline="-25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/>
              <a:t>si n == 1: </a:t>
            </a:r>
            <a:r>
              <a:rPr lang="es"/>
              <a:t>OPT(1) = max( V</a:t>
            </a:r>
            <a:r>
              <a:rPr baseline="-25000" lang="es"/>
              <a:t>0</a:t>
            </a:r>
            <a:r>
              <a:rPr lang="es" sz="1700"/>
              <a:t> , </a:t>
            </a:r>
            <a:r>
              <a:rPr lang="es"/>
              <a:t>V</a:t>
            </a:r>
            <a:r>
              <a:rPr baseline="-25000" lang="es"/>
              <a:t>1</a:t>
            </a:r>
            <a:r>
              <a:rPr lang="es"/>
              <a:t> )</a:t>
            </a:r>
            <a:endParaRPr baseline="-25000"/>
          </a:p>
        </p:txBody>
      </p:sp>
      <p:sp>
        <p:nvSpPr>
          <p:cNvPr id="344" name="Google Shape;344;p29"/>
          <p:cNvSpPr txBox="1"/>
          <p:nvPr>
            <p:ph type="title"/>
          </p:nvPr>
        </p:nvSpPr>
        <p:spPr>
          <a:xfrm>
            <a:off x="350075" y="38510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700"/>
              <a:t>Ejercicios: Juan el vago</a:t>
            </a:r>
            <a:endParaRPr sz="2900"/>
          </a:p>
        </p:txBody>
      </p:sp>
      <p:cxnSp>
        <p:nvCxnSpPr>
          <p:cNvPr id="345" name="Google Shape;345;p29"/>
          <p:cNvCxnSpPr>
            <a:endCxn id="342" idx="2"/>
          </p:cNvCxnSpPr>
          <p:nvPr/>
        </p:nvCxnSpPr>
        <p:spPr>
          <a:xfrm>
            <a:off x="5423125" y="1629025"/>
            <a:ext cx="692100" cy="11400"/>
          </a:xfrm>
          <a:prstGeom prst="straightConnector1">
            <a:avLst/>
          </a:prstGeom>
          <a:noFill/>
          <a:ln cap="flat" cmpd="sng" w="38100">
            <a:solidFill>
              <a:srgbClr val="F26B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29"/>
          <p:cNvCxnSpPr/>
          <p:nvPr/>
        </p:nvCxnSpPr>
        <p:spPr>
          <a:xfrm>
            <a:off x="4996234" y="2547348"/>
            <a:ext cx="839400" cy="4800"/>
          </a:xfrm>
          <a:prstGeom prst="straightConnector1">
            <a:avLst/>
          </a:prstGeom>
          <a:noFill/>
          <a:ln cap="flat" cmpd="sng" w="38100">
            <a:solidFill>
              <a:srgbClr val="F26B6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Ejercicios: Juan el vago</a:t>
            </a:r>
            <a:endParaRPr sz="2700"/>
          </a:p>
        </p:txBody>
      </p:sp>
      <p:sp>
        <p:nvSpPr>
          <p:cNvPr id="352" name="Google Shape;352;p30"/>
          <p:cNvSpPr txBox="1"/>
          <p:nvPr>
            <p:ph idx="1" type="body"/>
          </p:nvPr>
        </p:nvSpPr>
        <p:spPr>
          <a:xfrm>
            <a:off x="311700" y="1171600"/>
            <a:ext cx="8520600" cy="3704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def juan_el_vago(M, d):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  if d &lt; 0: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return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  return </a:t>
            </a:r>
            <a:r>
              <a:rPr b="1" lang="es">
                <a:latin typeface="Consolas"/>
                <a:ea typeface="Consolas"/>
                <a:cs typeface="Consolas"/>
                <a:sym typeface="Consolas"/>
              </a:rPr>
              <a:t>max(juan_el_vago(M, d-2) + M[d], juan_el_vago(M, d-1))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Todo bonito pero evitemos recá</a:t>
            </a:r>
            <a:r>
              <a:rPr lang="es"/>
              <a:t>lculos</a:t>
            </a:r>
            <a:r>
              <a:rPr lang="es"/>
              <a:t>..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Ejercicios: Juan el vago</a:t>
            </a:r>
            <a:endParaRPr sz="2700"/>
          </a:p>
        </p:txBody>
      </p:sp>
      <p:sp>
        <p:nvSpPr>
          <p:cNvPr id="363" name="Google Shape;363;p32"/>
          <p:cNvSpPr txBox="1"/>
          <p:nvPr>
            <p:ph idx="1" type="body"/>
          </p:nvPr>
        </p:nvSpPr>
        <p:spPr>
          <a:xfrm>
            <a:off x="311700" y="1171600"/>
            <a:ext cx="8520600" cy="3704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Consolas"/>
                <a:ea typeface="Consolas"/>
                <a:cs typeface="Consolas"/>
                <a:sym typeface="Consolas"/>
              </a:rPr>
              <a:t>def juan_el_vago_</a:t>
            </a:r>
            <a:r>
              <a:rPr b="1" lang="es" sz="2000">
                <a:latin typeface="Consolas"/>
                <a:ea typeface="Consolas"/>
                <a:cs typeface="Consolas"/>
                <a:sym typeface="Consolas"/>
              </a:rPr>
              <a:t>con_memoria</a:t>
            </a:r>
            <a:r>
              <a:rPr lang="es" sz="2000">
                <a:latin typeface="Consolas"/>
                <a:ea typeface="Consolas"/>
                <a:cs typeface="Consolas"/>
                <a:sym typeface="Consolas"/>
              </a:rPr>
              <a:t>(M, dias):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s" sz="2000"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lang="es" sz="2000">
                <a:latin typeface="Consolas"/>
                <a:ea typeface="Consolas"/>
                <a:cs typeface="Consolas"/>
                <a:sym typeface="Consolas"/>
              </a:rPr>
              <a:t> = [0] * dias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Consolas"/>
                <a:ea typeface="Consolas"/>
                <a:cs typeface="Consolas"/>
                <a:sym typeface="Consolas"/>
              </a:rPr>
              <a:t>  G[0] = M[0]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Consolas"/>
                <a:ea typeface="Consolas"/>
                <a:cs typeface="Consolas"/>
                <a:sym typeface="Consolas"/>
              </a:rPr>
              <a:t>  G[1] = max(M[0], M[1])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Consolas"/>
                <a:ea typeface="Consolas"/>
                <a:cs typeface="Consolas"/>
                <a:sym typeface="Consolas"/>
              </a:rPr>
              <a:t>  for d in range(2, dias):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Consolas"/>
                <a:ea typeface="Consolas"/>
                <a:cs typeface="Consolas"/>
                <a:sym typeface="Consolas"/>
              </a:rPr>
              <a:t>    G[d] = max(</a:t>
            </a:r>
            <a:r>
              <a:rPr lang="es" sz="2000">
                <a:latin typeface="Consolas"/>
                <a:ea typeface="Consolas"/>
                <a:cs typeface="Consolas"/>
                <a:sym typeface="Consolas"/>
              </a:rPr>
              <a:t>M[d] + G[d-2], </a:t>
            </a:r>
            <a:r>
              <a:rPr lang="es" sz="2000">
                <a:latin typeface="Consolas"/>
                <a:ea typeface="Consolas"/>
                <a:cs typeface="Consolas"/>
                <a:sym typeface="Consolas"/>
              </a:rPr>
              <a:t>G[d-1])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Consolas"/>
                <a:ea typeface="Consolas"/>
                <a:cs typeface="Consolas"/>
                <a:sym typeface="Consolas"/>
              </a:rPr>
              <a:t>  return G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Ejercicios: Juan el vago</a:t>
            </a:r>
            <a:endParaRPr sz="2700"/>
          </a:p>
        </p:txBody>
      </p:sp>
      <p:sp>
        <p:nvSpPr>
          <p:cNvPr id="369" name="Google Shape;369;p33"/>
          <p:cNvSpPr txBox="1"/>
          <p:nvPr>
            <p:ph idx="1" type="body"/>
          </p:nvPr>
        </p:nvSpPr>
        <p:spPr>
          <a:xfrm>
            <a:off x="311700" y="961275"/>
            <a:ext cx="8520600" cy="4056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def construir_elecciones(G,M):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elecciones = []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d = len(G)-1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while( d &gt;= 0 ):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  opt_ayer = G[d-1] if d&gt;0 else 0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  opt_anteayer = G[d-2] if d&gt;1 else 0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  valor_hoy = M[d]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  if </a:t>
            </a: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valor_hoy</a:t>
            </a: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+ opt_anteayer &gt;= opt_ayer</a:t>
            </a: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    elecciones.insert(0, d)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    d -= 2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  else: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    d -= 1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return elecciones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Ejercicios: Juan el vago</a:t>
            </a:r>
            <a:endParaRPr sz="2700"/>
          </a:p>
        </p:txBody>
      </p:sp>
      <p:sp>
        <p:nvSpPr>
          <p:cNvPr id="375" name="Google Shape;375;p34"/>
          <p:cNvSpPr txBox="1"/>
          <p:nvPr>
            <p:ph idx="1" type="body"/>
          </p:nvPr>
        </p:nvSpPr>
        <p:spPr>
          <a:xfrm>
            <a:off x="311700" y="961275"/>
            <a:ext cx="8520600" cy="4056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def construir_elecciones(G,M):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elecciones = []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d = len(G)-1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while( d &gt;= 0 ):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  opt_ayer = G[d-1] if d&gt;0 else 0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  opt_anteayer = G[d-2] if d&gt;1 else 0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  valor_hoy = M[d]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  if valor_hoy + opt_anteayer &gt;= opt_ayer: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    elecciones.append(d)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    d -= 2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  else: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    d -= 1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s" sz="1500">
                <a:latin typeface="Consolas"/>
                <a:ea typeface="Consolas"/>
                <a:cs typeface="Consolas"/>
                <a:sym typeface="Consolas"/>
              </a:rPr>
              <a:t>elecciones.reverse()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  return elecciones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Breve espacio para conversar…</a:t>
            </a:r>
            <a:endParaRPr/>
          </a:p>
        </p:txBody>
      </p:sp>
      <p:sp>
        <p:nvSpPr>
          <p:cNvPr id="381" name="Google Shape;381;p3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 Cómo pudimos haber pensado la ecuación de recurrencia de forma top-down?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(quizás esta es más intuitiva, depende de ustedes)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Previusly en Scheduling con Pesos</a:t>
            </a:r>
            <a:endParaRPr/>
          </a:p>
        </p:txBody>
      </p:sp>
      <p:pic>
        <p:nvPicPr>
          <p:cNvPr id="387" name="Google Shape;38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00" y="1058225"/>
            <a:ext cx="8045949" cy="39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Previusly en Scheduling con Pesos</a:t>
            </a:r>
            <a:endParaRPr/>
          </a:p>
        </p:txBody>
      </p:sp>
      <p:pic>
        <p:nvPicPr>
          <p:cNvPr id="393" name="Google Shape;39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00" y="1058225"/>
            <a:ext cx="5604125" cy="27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700"/>
              <a:t>Juan el vago: A qué se parece?</a:t>
            </a:r>
            <a:endParaRPr/>
          </a:p>
        </p:txBody>
      </p:sp>
      <p:sp>
        <p:nvSpPr>
          <p:cNvPr id="399" name="Google Shape;399;p38"/>
          <p:cNvSpPr txBox="1"/>
          <p:nvPr>
            <p:ph idx="1" type="body"/>
          </p:nvPr>
        </p:nvSpPr>
        <p:spPr>
          <a:xfrm>
            <a:off x="311700" y="1171600"/>
            <a:ext cx="8520600" cy="38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Juan está teniendo un problema de Scheduling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000"/>
              <a:t>Cada trabajo de Juan es como una charla, con comienzo el día i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000"/>
              <a:t>Y con fin el día i+1, ya que Juan no está dispuesto a trabajar un día si trabajó el día anterior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000"/>
              <a:t>En particular, para cada día i hay una “charla”, con comienzo i y fin i+1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2000"/>
              <a:t>Por lo tanto, otra forma de resolver este problema es convertir este set de datos en uno acorde al problema de Scheduling con pesos, y tirar un                                               return che_dinamico(dataset)</a:t>
            </a:r>
            <a:endParaRPr sz="2000"/>
          </a:p>
        </p:txBody>
      </p:sp>
      <p:pic>
        <p:nvPicPr>
          <p:cNvPr id="400" name="Google Shape;40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4325" y="1585900"/>
            <a:ext cx="45720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58225"/>
            <a:ext cx="3810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Ejercicio: Caminos posibles en un laberinto</a:t>
            </a:r>
            <a:endParaRPr/>
          </a:p>
        </p:txBody>
      </p:sp>
      <p:sp>
        <p:nvSpPr>
          <p:cNvPr id="407" name="Google Shape;407;p3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Dado un laberinto representado por una grilla, queremos calcular la cantidad de caminos posibles que existen para llegar desde la posición (0,0) hasta la posición NxM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Los movimientos permitidos son, desde la esquina superior izquierda (el 0,0), nos podemos mover hacia abajo o hacia la derecha.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Ejercicio: Caminos posibles en un laberinto</a:t>
            </a:r>
            <a:endParaRPr/>
          </a:p>
        </p:txBody>
      </p:sp>
      <p:sp>
        <p:nvSpPr>
          <p:cNvPr id="413" name="Google Shape;413;p4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Dado un laberinto representado por una grilla, queremos calcular la cantidad de caminos posibles que existen para llegar desde la posición (0,0) hasta la posición NxM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Los movimientos permitidos son, desde la esquina superior izquierda (el 0,0), nos podemos mover hacia abajo o hacia la derecha.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Salen esos dibujardos.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Ejercicio: Caminos posibles en un laberinto</a:t>
            </a:r>
            <a:endParaRPr/>
          </a:p>
        </p:txBody>
      </p:sp>
      <p:sp>
        <p:nvSpPr>
          <p:cNvPr id="419" name="Google Shape;419;p41"/>
          <p:cNvSpPr txBox="1"/>
          <p:nvPr>
            <p:ph idx="1" type="body"/>
          </p:nvPr>
        </p:nvSpPr>
        <p:spPr>
          <a:xfrm>
            <a:off x="311700" y="1171600"/>
            <a:ext cx="8520600" cy="20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Dado un laberinto representado por una grilla, queremos calcular la cantidad de caminos posibles que existen para llegar desde la posición (0,0) hasta la posición NxM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Los movimientos permitidos son, desde la esquina superior izquierda (el 0,0), nos podemos mover hacia abajo o hacia la derecha.</a:t>
            </a:r>
            <a:endParaRPr/>
          </a:p>
        </p:txBody>
      </p:sp>
      <p:sp>
        <p:nvSpPr>
          <p:cNvPr id="420" name="Google Shape;420;p41"/>
          <p:cNvSpPr txBox="1"/>
          <p:nvPr/>
        </p:nvSpPr>
        <p:spPr>
          <a:xfrm>
            <a:off x="311700" y="3668950"/>
            <a:ext cx="8520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Ecuación de recurrencia: Posibles[i][j] = 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Posibles[i-1][j] + Posibles[i][j-1]</a:t>
            </a:r>
            <a:endParaRPr sz="17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Ejercicio: Caminos posibles en un laberinto</a:t>
            </a:r>
            <a:endParaRPr/>
          </a:p>
        </p:txBody>
      </p:sp>
      <p:sp>
        <p:nvSpPr>
          <p:cNvPr id="426" name="Google Shape;426;p4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Dado un laberinto representado por una grilla, queremos calcular la cantidad de caminos posibles que existen para llegar desde la posición (0,0) hasta la posición NxM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Los movimientos permitidos son, desde la esquina superior izquierda (el 0,0), nos podemos mover hacia abajo o hacia la derecha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Si hay algunos lugares por los que no podemos pasar (obstáculos), cómo hay que modificar el algoritmo anterior para resolver el mismo problema?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Ejercicio: Caminos posibles en un laberinto</a:t>
            </a:r>
            <a:endParaRPr/>
          </a:p>
        </p:txBody>
      </p:sp>
      <p:sp>
        <p:nvSpPr>
          <p:cNvPr id="432" name="Google Shape;432;p4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Dado un laberinto representado por una grilla, queremos calcular </a:t>
            </a:r>
            <a:r>
              <a:rPr b="1" lang="es"/>
              <a:t>la ganancia máxima que existe</a:t>
            </a:r>
            <a:r>
              <a:rPr lang="es"/>
              <a:t> desde la posición (0,0) hasta la posición NxM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Los movimientos permitidos son, desde la esquina superior izquierda (el 0,0), nos podemos mover hacia abajo o hacia la derecha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Pasar por un casillero determinado i,j nos da una ganancia de Vij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Ejercicio: Caminos posibles en un laberinto</a:t>
            </a:r>
            <a:endParaRPr/>
          </a:p>
        </p:txBody>
      </p:sp>
      <p:sp>
        <p:nvSpPr>
          <p:cNvPr id="438" name="Google Shape;438;p4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Dado un laberinto representado por una grilla, queremos calcular </a:t>
            </a:r>
            <a:r>
              <a:rPr b="1" lang="es"/>
              <a:t>la ganancia máxima que existe</a:t>
            </a:r>
            <a:r>
              <a:rPr lang="es"/>
              <a:t> desde la posición (0,0) hasta la posición NxM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Los movimientos permitidos son, desde la esquina superior izquierda (el 0,0), nos podemos mover hacia abajo o hacia la derecha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Pasar por un casillero determinado i,j nos da una ganancia de Vij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Si hay algunos lugares por los que no podemos pasar (obstáculos), cómo hay que modificar el algoritmo anterior para resolver el mismo problema?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/>
              <a:t>Ejercicio: Caminos a través del teclado del teléfono</a:t>
            </a:r>
            <a:endParaRPr sz="2900"/>
          </a:p>
        </p:txBody>
      </p:sp>
      <p:pic>
        <p:nvPicPr>
          <p:cNvPr id="444" name="Google Shape;44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0063" y="1058225"/>
            <a:ext cx="1863879" cy="378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/>
              <a:t>Ejercicio: Caminos a través del teclado del teléfono</a:t>
            </a:r>
            <a:endParaRPr sz="2900"/>
          </a:p>
        </p:txBody>
      </p:sp>
      <p:sp>
        <p:nvSpPr>
          <p:cNvPr id="450" name="Google Shape;450;p46"/>
          <p:cNvSpPr txBox="1"/>
          <p:nvPr>
            <p:ph idx="1" type="body"/>
          </p:nvPr>
        </p:nvSpPr>
        <p:spPr>
          <a:xfrm>
            <a:off x="311700" y="1171600"/>
            <a:ext cx="6443400" cy="3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Dado el teclado </a:t>
            </a:r>
            <a:r>
              <a:rPr lang="es"/>
              <a:t>numérico</a:t>
            </a:r>
            <a:r>
              <a:rPr lang="es"/>
              <a:t> de un celular, y un número inicial k, encontrar la cantidad de posibles números de longitud N empezando por cierto botón. Restricción: solamente se puede presionar un botón si está arriba, abajo, a izquierda, o derecha del botón actual.</a:t>
            </a:r>
            <a:endParaRPr/>
          </a:p>
        </p:txBody>
      </p:sp>
      <p:pic>
        <p:nvPicPr>
          <p:cNvPr id="451" name="Google Shape;45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6700" y="1058225"/>
            <a:ext cx="1935600" cy="392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/>
              <a:t>Ejercicio: Caminos a través del teclado del teléfono</a:t>
            </a:r>
            <a:endParaRPr sz="2900"/>
          </a:p>
        </p:txBody>
      </p:sp>
      <p:sp>
        <p:nvSpPr>
          <p:cNvPr id="457" name="Google Shape;457;p47"/>
          <p:cNvSpPr txBox="1"/>
          <p:nvPr>
            <p:ph idx="1" type="body"/>
          </p:nvPr>
        </p:nvSpPr>
        <p:spPr>
          <a:xfrm>
            <a:off x="311700" y="1171600"/>
            <a:ext cx="6443400" cy="36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Para N=1, simplemente digitamos el número de inicio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/>
              <a:t>Para N=2, </a:t>
            </a:r>
            <a:r>
              <a:rPr lang="es" sz="1600"/>
              <a:t>empezamos </a:t>
            </a:r>
            <a:r>
              <a:rPr lang="es" sz="1600"/>
              <a:t>a notar que es importante la restricción y la tecla de inicio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/>
              <a:t>Empezando por </a:t>
            </a:r>
            <a:r>
              <a:rPr lang="es" sz="1600"/>
              <a:t>0, </a:t>
            </a:r>
            <a:r>
              <a:rPr lang="es" sz="1600"/>
              <a:t>son válidos 0</a:t>
            </a:r>
            <a:r>
              <a:rPr lang="es" sz="1600"/>
              <a:t>8 (</a:t>
            </a:r>
            <a:r>
              <a:rPr lang="es" sz="1600"/>
              <a:t>cantidad: 1</a:t>
            </a:r>
            <a:r>
              <a:rPr lang="es" sz="1600"/>
              <a:t>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/>
              <a:t>Empezando por </a:t>
            </a:r>
            <a:r>
              <a:rPr lang="es" sz="1600"/>
              <a:t>1, </a:t>
            </a:r>
            <a:r>
              <a:rPr lang="es" sz="1600"/>
              <a:t>son válidos </a:t>
            </a:r>
            <a:r>
              <a:rPr lang="es" sz="1600"/>
              <a:t>12, 14 (</a:t>
            </a:r>
            <a:r>
              <a:rPr lang="es" sz="1600"/>
              <a:t>cantidad: 2</a:t>
            </a:r>
            <a:r>
              <a:rPr lang="es" sz="1600"/>
              <a:t>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/>
              <a:t>Empezando por </a:t>
            </a:r>
            <a:r>
              <a:rPr lang="es" sz="1600"/>
              <a:t>2, </a:t>
            </a:r>
            <a:r>
              <a:rPr lang="es" sz="1600"/>
              <a:t>son válidos </a:t>
            </a:r>
            <a:r>
              <a:rPr lang="es" sz="1600"/>
              <a:t>21, 23, 25 (</a:t>
            </a:r>
            <a:r>
              <a:rPr lang="es" sz="1600"/>
              <a:t>cantidad: 3</a:t>
            </a:r>
            <a:r>
              <a:rPr lang="es" sz="1600"/>
              <a:t>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/>
              <a:t>Empezando por </a:t>
            </a:r>
            <a:r>
              <a:rPr lang="es" sz="1600"/>
              <a:t>3, </a:t>
            </a:r>
            <a:r>
              <a:rPr lang="es" sz="1600"/>
              <a:t>son válidos </a:t>
            </a:r>
            <a:r>
              <a:rPr lang="es" sz="1600"/>
              <a:t>32, 36 (</a:t>
            </a:r>
            <a:r>
              <a:rPr lang="es" sz="1600"/>
              <a:t>cantidad: 2</a:t>
            </a:r>
            <a:r>
              <a:rPr lang="es" sz="1600"/>
              <a:t>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1600"/>
              <a:t>Empezando por </a:t>
            </a:r>
            <a:r>
              <a:rPr lang="es" sz="1600"/>
              <a:t>4, </a:t>
            </a:r>
            <a:r>
              <a:rPr lang="es" sz="1600"/>
              <a:t>son válidos </a:t>
            </a:r>
            <a:r>
              <a:rPr lang="es" sz="1600"/>
              <a:t>41, 45, 47 (</a:t>
            </a:r>
            <a:r>
              <a:rPr lang="es" sz="1600"/>
              <a:t>cantidad: 3</a:t>
            </a:r>
            <a:r>
              <a:rPr lang="es" sz="1600"/>
              <a:t>)</a:t>
            </a:r>
            <a:endParaRPr sz="1600"/>
          </a:p>
        </p:txBody>
      </p:sp>
      <p:pic>
        <p:nvPicPr>
          <p:cNvPr id="458" name="Google Shape;45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6700" y="1058225"/>
            <a:ext cx="1935600" cy="392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/>
              <a:t>Ejercicio: Caminos a través del teclado del teléfono</a:t>
            </a:r>
            <a:endParaRPr sz="2900"/>
          </a:p>
        </p:txBody>
      </p:sp>
      <p:sp>
        <p:nvSpPr>
          <p:cNvPr id="464" name="Google Shape;464;p48"/>
          <p:cNvSpPr txBox="1"/>
          <p:nvPr>
            <p:ph idx="1" type="body"/>
          </p:nvPr>
        </p:nvSpPr>
        <p:spPr>
          <a:xfrm>
            <a:off x="311700" y="1171600"/>
            <a:ext cx="6443400" cy="27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Empezando por 5, son válidos 52, 54, 56, 58 (cantidad: 5)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600"/>
              <a:t>Empezando por 6, </a:t>
            </a:r>
            <a:r>
              <a:rPr lang="es" sz="1600"/>
              <a:t>son válidos </a:t>
            </a:r>
            <a:r>
              <a:rPr lang="es" sz="1600"/>
              <a:t>63, 65, 69 (</a:t>
            </a:r>
            <a:r>
              <a:rPr lang="es" sz="1600"/>
              <a:t>cantidad: 3</a:t>
            </a:r>
            <a:r>
              <a:rPr lang="es" sz="1600"/>
              <a:t>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600"/>
              <a:t>Empezando por 7, </a:t>
            </a:r>
            <a:r>
              <a:rPr lang="es" sz="1600"/>
              <a:t>son válidos </a:t>
            </a:r>
            <a:r>
              <a:rPr lang="es" sz="1600"/>
              <a:t>74, 78 (</a:t>
            </a:r>
            <a:r>
              <a:rPr lang="es" sz="1600"/>
              <a:t>cantidad: 2</a:t>
            </a:r>
            <a:r>
              <a:rPr lang="es" sz="1600"/>
              <a:t>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600"/>
              <a:t>Empezando por 8, </a:t>
            </a:r>
            <a:r>
              <a:rPr lang="es" sz="1600"/>
              <a:t>son válidos </a:t>
            </a:r>
            <a:r>
              <a:rPr lang="es" sz="1600"/>
              <a:t>80, 85, 87, 89 (</a:t>
            </a:r>
            <a:r>
              <a:rPr lang="es" sz="1600"/>
              <a:t>cantidad: 4</a:t>
            </a:r>
            <a:r>
              <a:rPr lang="es" sz="1600"/>
              <a:t>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1600"/>
              <a:t>Empezando por 9, </a:t>
            </a:r>
            <a:r>
              <a:rPr lang="es" sz="1600"/>
              <a:t>son válidos </a:t>
            </a:r>
            <a:r>
              <a:rPr lang="es" sz="1600"/>
              <a:t>96, 98 (</a:t>
            </a:r>
            <a:r>
              <a:rPr lang="es" sz="1600"/>
              <a:t>cantidad: 2</a:t>
            </a:r>
            <a:r>
              <a:rPr lang="es" sz="1600"/>
              <a:t>)</a:t>
            </a:r>
            <a:endParaRPr sz="1600"/>
          </a:p>
        </p:txBody>
      </p:sp>
      <p:pic>
        <p:nvPicPr>
          <p:cNvPr id="465" name="Google Shape;46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6700" y="1058225"/>
            <a:ext cx="1935600" cy="392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Cómo encontrar la solución usando PD</a:t>
            </a:r>
            <a:endParaRPr sz="2700"/>
          </a:p>
        </p:txBody>
      </p:sp>
      <p:sp>
        <p:nvSpPr>
          <p:cNvPr id="471" name="Google Shape;471;p49"/>
          <p:cNvSpPr txBox="1"/>
          <p:nvPr>
            <p:ph idx="1" type="body"/>
          </p:nvPr>
        </p:nvSpPr>
        <p:spPr>
          <a:xfrm>
            <a:off x="311700" y="1171600"/>
            <a:ext cx="8520600" cy="3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Necesitamos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○ La forma que tienen los subproblemas: </a:t>
            </a:r>
            <a:r>
              <a:rPr b="1" lang="es"/>
              <a:t>cantidad de combinaciones posibles, conociendo la cantidad de pasos y el número por el que se comienza</a:t>
            </a:r>
            <a:endParaRPr b="1"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○ La forma en que dichos subproblemas se componen para solucionar subproblemas más grandes: </a:t>
            </a:r>
            <a:r>
              <a:rPr b="1" lang="es"/>
              <a:t>sabemos que si digito un número estoy dando un paso, pero: ¿cómo considero todas las combinaciones teniendo un paso menos?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s"/>
              <a:t>¿Cómo se considera la restricción de posiciones del teléfono?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Hello Grafo, my old friend</a:t>
            </a:r>
            <a:endParaRPr/>
          </a:p>
        </p:txBody>
      </p:sp>
      <p:pic>
        <p:nvPicPr>
          <p:cNvPr id="477" name="Google Shape;47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6300" y="1058225"/>
            <a:ext cx="3191407" cy="37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Cómo encontrar la solución usando PD</a:t>
            </a:r>
            <a:endParaRPr sz="2700"/>
          </a:p>
        </p:txBody>
      </p:sp>
      <p:sp>
        <p:nvSpPr>
          <p:cNvPr id="483" name="Google Shape;483;p51"/>
          <p:cNvSpPr txBox="1"/>
          <p:nvPr>
            <p:ph idx="1" type="body"/>
          </p:nvPr>
        </p:nvSpPr>
        <p:spPr>
          <a:xfrm>
            <a:off x="311700" y="1171600"/>
            <a:ext cx="8520600" cy="30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Necesitamos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○ La forma que tienen los subproblemas: </a:t>
            </a:r>
            <a:r>
              <a:rPr b="1" lang="es"/>
              <a:t>cantidad de combinaciones posibles, conociendo la cantidad de pasos y el número por el que se comienza</a:t>
            </a:r>
            <a:endParaRPr b="1"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○ La forma en que dichos subproblemas se componen para solucionar subproblemas más grandes: </a:t>
            </a:r>
            <a:r>
              <a:rPr b="1" lang="es"/>
              <a:t>sabemos que si digito un número estoy dando un paso, para considerar todas las combinaciones teniendo un paso menos, hay que referirnos a la solución con un paso menos para todos los números conectados</a:t>
            </a:r>
            <a:endParaRPr b="1"/>
          </a:p>
        </p:txBody>
      </p:sp>
      <p:grpSp>
        <p:nvGrpSpPr>
          <p:cNvPr id="484" name="Google Shape;484;p51"/>
          <p:cNvGrpSpPr/>
          <p:nvPr/>
        </p:nvGrpSpPr>
        <p:grpSpPr>
          <a:xfrm>
            <a:off x="311700" y="4212700"/>
            <a:ext cx="8520600" cy="818800"/>
            <a:chOff x="311700" y="4212700"/>
            <a:chExt cx="8520600" cy="818800"/>
          </a:xfrm>
        </p:grpSpPr>
        <p:sp>
          <p:nvSpPr>
            <p:cNvPr id="485" name="Google Shape;485;p51"/>
            <p:cNvSpPr txBox="1"/>
            <p:nvPr/>
          </p:nvSpPr>
          <p:spPr>
            <a:xfrm>
              <a:off x="311700" y="4212700"/>
              <a:ext cx="8520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18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C[pasos=i][desde=v] = </a:t>
              </a:r>
              <a:r>
                <a:rPr lang="es" sz="22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Σ</a:t>
              </a:r>
              <a:r>
                <a:rPr lang="es" sz="18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C[pasos=i-1][desde=vecino]</a:t>
              </a:r>
              <a:endParaRPr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  <p:sp>
          <p:nvSpPr>
            <p:cNvPr id="486" name="Google Shape;486;p51"/>
            <p:cNvSpPr txBox="1"/>
            <p:nvPr/>
          </p:nvSpPr>
          <p:spPr>
            <a:xfrm>
              <a:off x="2566150" y="4538900"/>
              <a:ext cx="848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000">
                  <a:latin typeface="Old Standard TT"/>
                  <a:ea typeface="Old Standard TT"/>
                  <a:cs typeface="Old Standard TT"/>
                  <a:sym typeface="Old Standard TT"/>
                </a:rPr>
                <a:t>para todo</a:t>
              </a:r>
              <a:endParaRPr b="1" sz="1000"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000">
                  <a:latin typeface="Old Standard TT"/>
                  <a:ea typeface="Old Standard TT"/>
                  <a:cs typeface="Old Standard TT"/>
                  <a:sym typeface="Old Standard TT"/>
                </a:rPr>
                <a:t>vecino</a:t>
              </a:r>
              <a:endParaRPr b="1" sz="1000"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Construir la solución de abajo hacia arriba</a:t>
            </a:r>
            <a:endParaRPr sz="2700"/>
          </a:p>
        </p:txBody>
      </p:sp>
      <p:sp>
        <p:nvSpPr>
          <p:cNvPr id="492" name="Google Shape;492;p52"/>
          <p:cNvSpPr txBox="1"/>
          <p:nvPr>
            <p:ph idx="1" type="body"/>
          </p:nvPr>
        </p:nvSpPr>
        <p:spPr>
          <a:xfrm>
            <a:off x="311700" y="1171600"/>
            <a:ext cx="8520600" cy="30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Necesitamos disponer de la información de la tecla de inicio y la cantidad de pasos que quedan por hacer. Si elegimos correctamente los casos base, siempre podemos acudir a información previamente calculada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Gracias a que los sub-problemas tienen un orden subyacente, los sub-problemas crecen a medida se incrementa la cantidad de pasos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Los casos bases corresponden a una cantidad de pasos de 1, para cada uno de los botones del teléfono</a:t>
            </a:r>
            <a:endParaRPr/>
          </a:p>
        </p:txBody>
      </p:sp>
      <p:grpSp>
        <p:nvGrpSpPr>
          <p:cNvPr id="493" name="Google Shape;493;p52"/>
          <p:cNvGrpSpPr/>
          <p:nvPr/>
        </p:nvGrpSpPr>
        <p:grpSpPr>
          <a:xfrm>
            <a:off x="311700" y="4212700"/>
            <a:ext cx="8520600" cy="818800"/>
            <a:chOff x="311700" y="4212700"/>
            <a:chExt cx="8520600" cy="818800"/>
          </a:xfrm>
        </p:grpSpPr>
        <p:sp>
          <p:nvSpPr>
            <p:cNvPr id="494" name="Google Shape;494;p52"/>
            <p:cNvSpPr txBox="1"/>
            <p:nvPr/>
          </p:nvSpPr>
          <p:spPr>
            <a:xfrm>
              <a:off x="311700" y="4212700"/>
              <a:ext cx="8520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s" sz="18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C[pasos=i][desde=v] = </a:t>
              </a:r>
              <a:r>
                <a:rPr lang="es" sz="22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Σ</a:t>
              </a:r>
              <a:r>
                <a:rPr lang="es" sz="18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C[pasos=i-1][desde=vecino]</a:t>
              </a:r>
              <a:endParaRPr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  <p:sp>
          <p:nvSpPr>
            <p:cNvPr id="495" name="Google Shape;495;p52"/>
            <p:cNvSpPr txBox="1"/>
            <p:nvPr/>
          </p:nvSpPr>
          <p:spPr>
            <a:xfrm>
              <a:off x="2489950" y="4538900"/>
              <a:ext cx="848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000">
                  <a:latin typeface="Old Standard TT"/>
                  <a:ea typeface="Old Standard TT"/>
                  <a:cs typeface="Old Standard TT"/>
                  <a:sym typeface="Old Standard TT"/>
                </a:rPr>
                <a:t>para todo</a:t>
              </a:r>
              <a:endParaRPr b="1" sz="1000"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000">
                  <a:latin typeface="Old Standard TT"/>
                  <a:ea typeface="Old Standard TT"/>
                  <a:cs typeface="Old Standard TT"/>
                  <a:sym typeface="Old Standard TT"/>
                </a:rPr>
                <a:t>vecino</a:t>
              </a:r>
              <a:endParaRPr b="1" sz="1000"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/>
              <a:t>Programación Dinámica: Escribite un par de for y estamos</a:t>
            </a:r>
            <a:endParaRPr sz="2600"/>
          </a:p>
        </p:txBody>
      </p:sp>
      <p:sp>
        <p:nvSpPr>
          <p:cNvPr id="501" name="Google Shape;501;p53"/>
          <p:cNvSpPr txBox="1"/>
          <p:nvPr>
            <p:ph idx="1" type="body"/>
          </p:nvPr>
        </p:nvSpPr>
        <p:spPr>
          <a:xfrm>
            <a:off x="311700" y="1171600"/>
            <a:ext cx="8520600" cy="38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latin typeface="Consolas"/>
                <a:ea typeface="Consolas"/>
                <a:cs typeface="Consolas"/>
                <a:sym typeface="Consolas"/>
              </a:rPr>
              <a:t>def cant_combinaciones(grafo, pasos, tecla_inicial):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Consolas"/>
                <a:ea typeface="Consolas"/>
                <a:cs typeface="Consolas"/>
                <a:sym typeface="Consolas"/>
              </a:rPr>
              <a:t>  cant = [][]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Consolas"/>
                <a:ea typeface="Consolas"/>
                <a:cs typeface="Consolas"/>
                <a:sym typeface="Consolas"/>
              </a:rPr>
              <a:t>  for tecla in range(teclas del 0 al 9):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Consolas"/>
                <a:ea typeface="Consolas"/>
                <a:cs typeface="Consolas"/>
                <a:sym typeface="Consolas"/>
              </a:rPr>
              <a:t>    cant[0][tecla] = 0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latin typeface="Consolas"/>
                <a:ea typeface="Consolas"/>
                <a:cs typeface="Consolas"/>
                <a:sym typeface="Consolas"/>
              </a:rPr>
              <a:t>    cant[1][tecla] = 1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Consolas"/>
                <a:ea typeface="Consolas"/>
                <a:cs typeface="Consolas"/>
                <a:sym typeface="Consolas"/>
              </a:rPr>
              <a:t>  for i in range(2, pasos+1):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Consolas"/>
                <a:ea typeface="Consolas"/>
                <a:cs typeface="Consolas"/>
                <a:sym typeface="Consolas"/>
              </a:rPr>
              <a:t>    for tecla in range(teclas del 0 al 9):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Consolas"/>
                <a:ea typeface="Consolas"/>
                <a:cs typeface="Consolas"/>
                <a:sym typeface="Consolas"/>
              </a:rPr>
              <a:t>      contador = 0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Consolas"/>
                <a:ea typeface="Consolas"/>
                <a:cs typeface="Consolas"/>
                <a:sym typeface="Consolas"/>
              </a:rPr>
              <a:t>      for vecino in grafo.adyacentes(tecla):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Consolas"/>
                <a:ea typeface="Consolas"/>
                <a:cs typeface="Consolas"/>
                <a:sym typeface="Consolas"/>
              </a:rPr>
              <a:t>        contador += cant[i-1][vecino]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latin typeface="Consolas"/>
                <a:ea typeface="Consolas"/>
                <a:cs typeface="Consolas"/>
                <a:sym typeface="Consolas"/>
              </a:rPr>
              <a:t>      cant[i][tecla] = contador</a:t>
            </a:r>
            <a:endParaRPr sz="1400">
              <a:highlight>
                <a:srgbClr val="93C47D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latin typeface="Consolas"/>
                <a:ea typeface="Consolas"/>
                <a:cs typeface="Consolas"/>
                <a:sym typeface="Consolas"/>
              </a:rPr>
              <a:t>  return cant[pasos][tecla_inicial]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