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Proxima Nova"/>
      <p:regular r:id="rId39"/>
      <p:bold r:id="rId40"/>
      <p:italic r:id="rId41"/>
      <p:boldItalic r:id="rId42"/>
    </p:embeddedFont>
    <p:embeddedFont>
      <p:font typeface="Old Standard TT"/>
      <p:regular r:id="rId43"/>
      <p:bold r:id="rId44"/>
      <p: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roximaNova-bold.fntdata"/><Relationship Id="rId20" Type="http://schemas.openxmlformats.org/officeDocument/2006/relationships/slide" Target="slides/slide15.xml"/><Relationship Id="rId42" Type="http://schemas.openxmlformats.org/officeDocument/2006/relationships/font" Target="fonts/ProximaNova-boldItalic.fntdata"/><Relationship Id="rId41" Type="http://schemas.openxmlformats.org/officeDocument/2006/relationships/font" Target="fonts/ProximaNova-italic.fntdata"/><Relationship Id="rId22" Type="http://schemas.openxmlformats.org/officeDocument/2006/relationships/slide" Target="slides/slide17.xml"/><Relationship Id="rId44" Type="http://schemas.openxmlformats.org/officeDocument/2006/relationships/font" Target="fonts/OldStandardTT-bold.fntdata"/><Relationship Id="rId21" Type="http://schemas.openxmlformats.org/officeDocument/2006/relationships/slide" Target="slides/slide16.xml"/><Relationship Id="rId43" Type="http://schemas.openxmlformats.org/officeDocument/2006/relationships/font" Target="fonts/OldStandardTT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OldStandardT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roximaNova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2e15daf4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2e15daf4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7f2a6163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7f2a6163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f2a61636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7f2a61636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f2a61636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7f2a61636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d362d0a6e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d362d0a6e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2e15daf46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2e15daf46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2e15daf46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2e15daf46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2e15daf469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2e15daf469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2e15daf469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2e15daf469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2e15daf469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2e15daf46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e15daf469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2e15daf469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e15daf469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2e15daf469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f7b58102d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f7b58102d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2e15daf469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2e15daf469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2e15daf46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2e15daf46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2e15daf469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2e15daf469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2e15daf469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2e15daf469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2e15daf469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2e15daf469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2e15daf469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2e15daf469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6d657630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6d657630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e15daf469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2e15daf469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2e15daf469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2e15daf469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2e15daf469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2e15daf469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2e15daf469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2e15daf469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2e15daf469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2e15daf469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2e15daf469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2e15daf469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2e15daf469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2e15daf469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2e15daf469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2e15daf469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2e15daf469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2e15daf469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2e15daf469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2e15daf469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2e15daf469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2e15daf469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f7b61db02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f7b61db02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2e15daf469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2e15daf469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Programación Dinámica III: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The return of the king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Programación Dinámica</a:t>
            </a:r>
            <a:endParaRPr sz="2700"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71600"/>
            <a:ext cx="85206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Exploración implícita del espacio de posibles soluciones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Descomposición del problema en subproblemas que permitan construir las soluciones de problemas más grandes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Nos basamos en la intuición que nos da la Memorización para reconocer los sub-problemas y utilizarlos para construir la solución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vez que tenemos todas las soluciones memorizadas, el problema está resuelto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Nos ayuda evitando explorar un espacio exponencial de soluciones por fuerza bruta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 esa manera podemos reducir la complejidad temporal de nuestro algoritmo significativamente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Intuición: cómo saber que podremos utilizar PD</a:t>
            </a:r>
            <a:endParaRPr sz="2700"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71600"/>
            <a:ext cx="85206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Hay un número polinomial de subproblemas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La solución al problema original puede ser construido a partir de soluciones a subproblemas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Hay un orden natural de los subproblemas de menor a mayor. Los subproblemas “mayores” son resueltos mediante la composición de problemas “menores”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" sz="2000"/>
              <a:t>La versión recursiva resuelve en formato Top-Down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" sz="2000"/>
              <a:t>La versión iterativa es de un formato Bottom-Up, es la que preferimos a partir de ahora al resolver ejercicios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Cómo encontrar la solución usando PD</a:t>
            </a:r>
            <a:endParaRPr sz="2700"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71600"/>
            <a:ext cx="8520600" cy="37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Necesitamos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○ La forma que tienen los subproblemas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○ La forma en que dichos subproblemas se componen para solucionar subproblemas más grandes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¿Cómo se encuentran?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¿En qué pensamos primero?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325" y="2651175"/>
            <a:ext cx="4487675" cy="240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7300" y="1040724"/>
            <a:ext cx="3141851" cy="314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 b="13915" l="0" r="4370" t="14982"/>
          <a:stretch/>
        </p:blipFill>
        <p:spPr>
          <a:xfrm>
            <a:off x="6528300" y="152400"/>
            <a:ext cx="2434124" cy="22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4748" y="55138"/>
            <a:ext cx="1738976" cy="2516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" y="-3"/>
            <a:ext cx="1640476" cy="186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2724150"/>
            <a:ext cx="2151713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mochila (Knapsack)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/>
              <a:t>Tenemos una mochila con una capacidad W (ya sea peso, volumen). Hay elementos a guardar. Cada elemento tiene un peso que ocupa de la capacidad y un valor. Queremos maximizar el valor de lo </a:t>
            </a:r>
            <a:r>
              <a:rPr lang="es" sz="2000"/>
              <a:t>que llevamos</a:t>
            </a:r>
            <a:r>
              <a:rPr lang="es" sz="2000"/>
              <a:t> sin exceder la capacidad.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/>
              <a:t>¿Qué opciones Greedy ya vimos?</a:t>
            </a:r>
            <a:endParaRPr sz="2000"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7700" y="2380825"/>
            <a:ext cx="2573551" cy="257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mochila II (Continuous knapsack)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Ahora supongamos que no es necesario poner "todo un elemento" sino que podemos poner proporciones, fraccionarlos. 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2000"/>
              <a:t>¿Ahora un algoritmo greedy puede ser óptimo?</a:t>
            </a:r>
            <a:endParaRPr sz="2000"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3200" y="1847450"/>
            <a:ext cx="3260799" cy="31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mochila: Programación Dinámica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Hemos visto que la Programación Dinámica nos puede ayudar en problemas difíciles que no encuentran soluciones óptimas de forma Greedy.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2000"/>
              <a:t>Es momento de intentar resolver por </a:t>
            </a:r>
            <a:r>
              <a:rPr lang="es" sz="2000"/>
              <a:t>Programación Dinámica resolver el problema original.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mochila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/>
              <a:t>Tenemos una mochila con una capacidad W valor entero (ya sea peso, volumen). Hay elementos a guardar. Cada elemento tiene un peso (</a:t>
            </a:r>
            <a:r>
              <a:rPr lang="es" sz="2000"/>
              <a:t>valor entero</a:t>
            </a:r>
            <a:r>
              <a:rPr lang="es" sz="2000"/>
              <a:t>) que ocupa de la capacidad y un valor. Queremos maximizar el valor de lo que llevamos sin exceder la capacidad.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/>
              <a:t>¿Por dónde empezamos a pensar una solución por Programación Dinámica?</a:t>
            </a:r>
            <a:br>
              <a:rPr lang="es" sz="2000"/>
            </a:b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/>
              <a:t>Probemos pensando en los </a:t>
            </a:r>
            <a:r>
              <a:rPr lang="es" sz="2000"/>
              <a:t>subproblemas</a:t>
            </a:r>
            <a:r>
              <a:rPr lang="es" sz="2000"/>
              <a:t> más pequeños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mochila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095400"/>
            <a:ext cx="8520600" cy="31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Llenar la Mochila de tamaño W: Sub-Problema de cantidad de ítems 0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Con 0 ítems simplemente tenemos una ganancia de valor de 0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Llenar la Mochila de tamaño W: Sub-Problema de cantidad de ítems 1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Con 1 ítem está la posibilidad de incluir el ítem en la solución, o no incluirlo. Consideraciones: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-"/>
            </a:pPr>
            <a:r>
              <a:rPr lang="es" sz="1600"/>
              <a:t>el ítem debe poder entrar en la mochila (su peso sea menor a W), y ocupará ese peso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 sz="1600"/>
              <a:t>si se incluye el ítem tendremos una ganancia acorde a su valor</a:t>
            </a:r>
            <a:endParaRPr sz="1600"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875" y="3709449"/>
            <a:ext cx="4822250" cy="13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mochila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2358100"/>
            <a:ext cx="8832300" cy="26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Llenar la Mochila de tamaño W: Sub-Problema de cantidad de ítems 2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Con 2 ítems hay que considerar que los subproblemas más pequeños deberían poder ayudarme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Este 2do ítem está la posibilidad de incluirlo en la solución, o no incluirlo. Consideraciones: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-"/>
            </a:pPr>
            <a:r>
              <a:rPr lang="es" sz="1600"/>
              <a:t>si no se </a:t>
            </a:r>
            <a:r>
              <a:rPr lang="es" sz="1600"/>
              <a:t>incluye</a:t>
            </a:r>
            <a:r>
              <a:rPr lang="es" sz="1600"/>
              <a:t> el ítem, disponemos de la solución de tamaño 1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 sz="1600"/>
              <a:t>si se incluye el ítem tendremos una ganancia acorde a su valor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 sz="1600"/>
              <a:t>el ítem debe poder entrar en la mochila (su peso sea menor a W), y ocupará ese peso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 sz="1600"/>
              <a:t>¿Cómo sabemos si agregar el 2do ítem es compatible con la presencia del primero?</a:t>
            </a:r>
            <a:endParaRPr sz="1600"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875" y="1095400"/>
            <a:ext cx="4822250" cy="13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mochila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058225"/>
            <a:ext cx="8832300" cy="38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Llenar la Mochila de tamaño W: Sub-Problema de cantidad de ítems 3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Con 3 ítems hay que considerar que los subproblemas más pequeños deberían poder ayudarme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/>
              <a:t>Este 3er ítem está la posibilidad de incluirlo en la solución, o no incluirlo. Consideraciones: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-"/>
            </a:pPr>
            <a:r>
              <a:rPr lang="es" sz="1600"/>
              <a:t>si no se </a:t>
            </a:r>
            <a:r>
              <a:rPr lang="es" sz="1600"/>
              <a:t>incluye</a:t>
            </a:r>
            <a:r>
              <a:rPr lang="es" sz="1600"/>
              <a:t> el ítem, disponemos de la solución de tamaño 2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 sz="1600"/>
              <a:t>si se incluye el ítem tendremos una ganancia acorde a su valor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 sz="1600"/>
              <a:t>el ítem debe poder entrar en la mochila (su peso sea menor a W), y ocupará ese peso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s" sz="1600"/>
              <a:t>¿Cómo sabemos si agregar el 3er ítem es compatible con la presencia del segundo? </a:t>
            </a:r>
            <a:r>
              <a:rPr lang="es" sz="1600"/>
              <a:t>¿Cómo sabemos si agregar el 3er ítem es compatible con la presencia del primero?¿O de ambos?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600"/>
              <a:t>A este punto deberíamos poder identificar una fórmula que maximice la ganancia, comparando la posibilidad entre incluir el ítem o no.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158400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Movamos los elementos</a:t>
            </a:r>
            <a:endParaRPr/>
          </a:p>
        </p:txBody>
      </p:sp>
      <p:sp>
        <p:nvSpPr>
          <p:cNvPr id="141" name="Google Shape;141;p25"/>
          <p:cNvSpPr/>
          <p:nvPr/>
        </p:nvSpPr>
        <p:spPr>
          <a:xfrm>
            <a:off x="396800" y="4133375"/>
            <a:ext cx="8164500" cy="613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309250" y="3218975"/>
            <a:ext cx="2407500" cy="613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10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3" name="Google Shape;143;p25"/>
          <p:cNvSpPr/>
          <p:nvPr/>
        </p:nvSpPr>
        <p:spPr>
          <a:xfrm>
            <a:off x="2842600" y="3183738"/>
            <a:ext cx="1485600" cy="6132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20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4454050" y="3183725"/>
            <a:ext cx="2407500" cy="6132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15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6987400" y="3183738"/>
            <a:ext cx="2097600" cy="6132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45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396800" y="850300"/>
            <a:ext cx="8164500" cy="613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396800" y="850300"/>
            <a:ext cx="2407500" cy="613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10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396800" y="1542200"/>
            <a:ext cx="8164500" cy="613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396800" y="1542200"/>
            <a:ext cx="2407500" cy="613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10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2804300" y="1542200"/>
            <a:ext cx="1485600" cy="6132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20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396800" y="2234100"/>
            <a:ext cx="8164500" cy="613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396800" y="2234100"/>
            <a:ext cx="2407500" cy="613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10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2804300" y="2234100"/>
            <a:ext cx="1485600" cy="6132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20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4289900" y="2234100"/>
            <a:ext cx="2407500" cy="6132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15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mochila</a:t>
            </a:r>
            <a:endParaRPr/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812" y="1031775"/>
            <a:ext cx="7036375" cy="394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700"/>
              <a:t>Previusly en Juan el vago</a:t>
            </a:r>
            <a:endParaRPr sz="2700"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2843500"/>
            <a:ext cx="8832300" cy="21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Trabajar el día n implicaba directamente no poder trabajar el día n-1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Por lo tanto, nos podíamos referir a la solución para el día n-2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Los sub-problemas nos </a:t>
            </a:r>
            <a:r>
              <a:rPr lang="es"/>
              <a:t>permitían</a:t>
            </a:r>
            <a:r>
              <a:rPr lang="es"/>
              <a:t> componer la solución en base a soluciones ya calculadas</a:t>
            </a:r>
            <a:endParaRPr/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8900" y="0"/>
            <a:ext cx="2105100" cy="2105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27"/>
          <p:cNvGrpSpPr/>
          <p:nvPr/>
        </p:nvGrpSpPr>
        <p:grpSpPr>
          <a:xfrm>
            <a:off x="350075" y="1194025"/>
            <a:ext cx="8443850" cy="1377725"/>
            <a:chOff x="-259175" y="1235275"/>
            <a:chExt cx="8443850" cy="1377725"/>
          </a:xfrm>
        </p:grpSpPr>
        <p:cxnSp>
          <p:nvCxnSpPr>
            <p:cNvPr id="169" name="Google Shape;169;p27"/>
            <p:cNvCxnSpPr>
              <a:stCxn id="170" idx="3"/>
            </p:cNvCxnSpPr>
            <p:nvPr/>
          </p:nvCxnSpPr>
          <p:spPr>
            <a:xfrm flipH="1" rot="10800000">
              <a:off x="1475125" y="1494450"/>
              <a:ext cx="1301700" cy="441300"/>
            </a:xfrm>
            <a:prstGeom prst="straightConnector1">
              <a:avLst/>
            </a:prstGeom>
            <a:noFill/>
            <a:ln cap="flat" cmpd="sng" w="9525">
              <a:solidFill>
                <a:srgbClr val="00695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27"/>
            <p:cNvCxnSpPr>
              <a:stCxn id="170" idx="3"/>
            </p:cNvCxnSpPr>
            <p:nvPr/>
          </p:nvCxnSpPr>
          <p:spPr>
            <a:xfrm>
              <a:off x="1475125" y="1935750"/>
              <a:ext cx="1263900" cy="403500"/>
            </a:xfrm>
            <a:prstGeom prst="straightConnector1">
              <a:avLst/>
            </a:prstGeom>
            <a:noFill/>
            <a:ln cap="flat" cmpd="sng" w="9525">
              <a:solidFill>
                <a:srgbClr val="00695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2" name="Google Shape;172;p27"/>
            <p:cNvSpPr txBox="1"/>
            <p:nvPr/>
          </p:nvSpPr>
          <p:spPr>
            <a:xfrm>
              <a:off x="2739025" y="2166600"/>
              <a:ext cx="5357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latin typeface="Proxima Nova"/>
                  <a:ea typeface="Proxima Nova"/>
                  <a:cs typeface="Proxima Nova"/>
                  <a:sym typeface="Proxima Nova"/>
                </a:rPr>
                <a:t>trabajar el día n: </a:t>
              </a:r>
              <a:r>
                <a:rPr lang="es" sz="1700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OPT(n-2) + V</a:t>
              </a:r>
              <a:r>
                <a:rPr baseline="-25000" lang="es" sz="1700">
                  <a:latin typeface="Proxima Nova"/>
                  <a:ea typeface="Proxima Nova"/>
                  <a:cs typeface="Proxima Nova"/>
                  <a:sym typeface="Proxima Nova"/>
                </a:rPr>
                <a:t>n</a:t>
              </a:r>
              <a:endParaRPr baseline="-25000" sz="17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73" name="Google Shape;173;p27"/>
            <p:cNvSpPr txBox="1"/>
            <p:nvPr/>
          </p:nvSpPr>
          <p:spPr>
            <a:xfrm>
              <a:off x="2827275" y="1235275"/>
              <a:ext cx="5357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latin typeface="Proxima Nova"/>
                  <a:ea typeface="Proxima Nova"/>
                  <a:cs typeface="Proxima Nova"/>
                  <a:sym typeface="Proxima Nova"/>
                </a:rPr>
                <a:t>no trabajar el día n: OPT(n-1)</a:t>
              </a:r>
              <a:endParaRPr sz="17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70" name="Google Shape;170;p27"/>
            <p:cNvSpPr txBox="1"/>
            <p:nvPr/>
          </p:nvSpPr>
          <p:spPr>
            <a:xfrm>
              <a:off x="-259175" y="1704900"/>
              <a:ext cx="173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Proxima Nova"/>
                  <a:ea typeface="Proxima Nova"/>
                  <a:cs typeface="Proxima Nova"/>
                  <a:sym typeface="Proxima Nova"/>
                </a:rPr>
                <a:t>OPT(n) = max</a:t>
              </a:r>
              <a:endParaRPr sz="18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Previusly en Scheduling con Pesos</a:t>
            </a:r>
            <a:endParaRPr/>
          </a:p>
        </p:txBody>
      </p:sp>
      <p:pic>
        <p:nvPicPr>
          <p:cNvPr id="179" name="Google Shape;17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00" y="1058225"/>
            <a:ext cx="8045949" cy="39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Previusly en Scheduling con Pesos</a:t>
            </a:r>
            <a:endParaRPr/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00" y="1701100"/>
            <a:ext cx="5604125" cy="27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5728625" y="1058225"/>
            <a:ext cx="3415500" cy="40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inclusión de un elemento nos </a:t>
            </a:r>
            <a:r>
              <a:rPr lang="es"/>
              <a:t>impacta</a:t>
            </a:r>
            <a:r>
              <a:rPr lang="es"/>
              <a:t> de forma directa en la cantidad de elementos anteriores que se podían utilizar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Por lo tanto, nos referíamos directamente a la solución para los elementos no superpuestos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Los sub-problemas nos permitían componer la solución en base a soluciones ya calculadas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Problema del Problema de la Mochila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Plantear los sub-problemas como medida de la cantidad de elementos no es suficiente para saber de qué manera la presencia de un elemento condiciona a otros.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¿Cuál es el condicionamiento e impacto de un elemento al agregarlo?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 un elemento se agrega, es una </a:t>
            </a:r>
            <a:r>
              <a:rPr lang="es"/>
              <a:t>cuota</a:t>
            </a:r>
            <a:r>
              <a:rPr lang="es"/>
              <a:t> de capacidad que no puede ser utilizada por otros elementos.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Eso significa que hay que agregar una nueva variable a nuestros sub-problemas.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39569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Mochila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2123825"/>
            <a:ext cx="8520600" cy="26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Maximizar la ganancia para mochila W: Agregar o no agregar un elemento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si el elemento no se agrega, la mejor solución posible es aquella que sin utilizar ese elemento, maximiza la ganancia para la mochila 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si el elemento se agrega, la mejor </a:t>
            </a:r>
            <a:r>
              <a:rPr lang="es"/>
              <a:t>solución posible es aquella que considera: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1. parte de la ganancia será el valor V</a:t>
            </a:r>
            <a:r>
              <a:rPr baseline="-25000" lang="es"/>
              <a:t>i</a:t>
            </a:r>
            <a:r>
              <a:rPr lang="es"/>
              <a:t> del elemento en cuestión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2. la mejor sub-solución posible con menos capacidad: una capacidad de W-P</a:t>
            </a:r>
            <a:r>
              <a:rPr baseline="-25000" lang="es"/>
              <a:t>i</a:t>
            </a:r>
            <a:endParaRPr baseline="-25000"/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875" y="794204"/>
            <a:ext cx="4822250" cy="13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Ecuación de Recurrencia?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Mochila</a:t>
            </a:r>
            <a:endParaRPr/>
          </a:p>
        </p:txBody>
      </p:sp>
      <p:grpSp>
        <p:nvGrpSpPr>
          <p:cNvPr id="210" name="Google Shape;210;p33"/>
          <p:cNvGrpSpPr/>
          <p:nvPr/>
        </p:nvGrpSpPr>
        <p:grpSpPr>
          <a:xfrm>
            <a:off x="350075" y="1194025"/>
            <a:ext cx="8443850" cy="1377725"/>
            <a:chOff x="-259175" y="1235275"/>
            <a:chExt cx="8443850" cy="1377725"/>
          </a:xfrm>
        </p:grpSpPr>
        <p:cxnSp>
          <p:nvCxnSpPr>
            <p:cNvPr id="211" name="Google Shape;211;p33"/>
            <p:cNvCxnSpPr>
              <a:stCxn id="212" idx="3"/>
              <a:endCxn id="213" idx="1"/>
            </p:cNvCxnSpPr>
            <p:nvPr/>
          </p:nvCxnSpPr>
          <p:spPr>
            <a:xfrm flipH="1" rot="10800000">
              <a:off x="1896625" y="1458450"/>
              <a:ext cx="930600" cy="477300"/>
            </a:xfrm>
            <a:prstGeom prst="straightConnector1">
              <a:avLst/>
            </a:prstGeom>
            <a:noFill/>
            <a:ln cap="flat" cmpd="sng" w="9525">
              <a:solidFill>
                <a:srgbClr val="00695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33"/>
            <p:cNvCxnSpPr>
              <a:stCxn id="212" idx="3"/>
              <a:endCxn id="215" idx="1"/>
            </p:cNvCxnSpPr>
            <p:nvPr/>
          </p:nvCxnSpPr>
          <p:spPr>
            <a:xfrm>
              <a:off x="1896625" y="1935750"/>
              <a:ext cx="842400" cy="454200"/>
            </a:xfrm>
            <a:prstGeom prst="straightConnector1">
              <a:avLst/>
            </a:prstGeom>
            <a:noFill/>
            <a:ln cap="flat" cmpd="sng" w="9525">
              <a:solidFill>
                <a:srgbClr val="00695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5" name="Google Shape;215;p33"/>
            <p:cNvSpPr txBox="1"/>
            <p:nvPr/>
          </p:nvSpPr>
          <p:spPr>
            <a:xfrm>
              <a:off x="2739025" y="2166600"/>
              <a:ext cx="5357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latin typeface="Proxima Nova"/>
                  <a:ea typeface="Proxima Nova"/>
                  <a:cs typeface="Proxima Nova"/>
                  <a:sym typeface="Proxima Nova"/>
                </a:rPr>
                <a:t>usar el elemento</a:t>
              </a:r>
              <a:r>
                <a:rPr lang="es" sz="1700">
                  <a:latin typeface="Proxima Nova"/>
                  <a:ea typeface="Proxima Nova"/>
                  <a:cs typeface="Proxima Nova"/>
                  <a:sym typeface="Proxima Nova"/>
                </a:rPr>
                <a:t>: </a:t>
              </a:r>
              <a:r>
                <a:rPr lang="es" sz="17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OPT( i-1, W-P</a:t>
              </a:r>
              <a:r>
                <a:rPr baseline="-25000" lang="es" sz="17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 </a:t>
              </a:r>
              <a:r>
                <a:rPr lang="es" sz="17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) + V</a:t>
              </a:r>
              <a:r>
                <a:rPr baseline="-25000" lang="es" sz="17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</a:t>
              </a:r>
              <a:endParaRPr baseline="-25000" sz="17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13" name="Google Shape;213;p33"/>
            <p:cNvSpPr txBox="1"/>
            <p:nvPr/>
          </p:nvSpPr>
          <p:spPr>
            <a:xfrm>
              <a:off x="2827275" y="1235275"/>
              <a:ext cx="5357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700">
                  <a:latin typeface="Proxima Nova"/>
                  <a:ea typeface="Proxima Nova"/>
                  <a:cs typeface="Proxima Nova"/>
                  <a:sym typeface="Proxima Nova"/>
                </a:rPr>
                <a:t>no usar el elemento: OPT( i-1, W )</a:t>
              </a:r>
              <a:endParaRPr sz="17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212" name="Google Shape;212;p33"/>
            <p:cNvSpPr txBox="1"/>
            <p:nvPr/>
          </p:nvSpPr>
          <p:spPr>
            <a:xfrm>
              <a:off x="-259175" y="1704900"/>
              <a:ext cx="2155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Proxima Nova"/>
                  <a:ea typeface="Proxima Nova"/>
                  <a:cs typeface="Proxima Nova"/>
                  <a:sym typeface="Proxima Nova"/>
                </a:rPr>
                <a:t>OPT(i, W) = max</a:t>
              </a:r>
              <a:endParaRPr sz="1800"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16" name="Google Shape;216;p33"/>
          <p:cNvSpPr txBox="1"/>
          <p:nvPr>
            <p:ph idx="1" type="body"/>
          </p:nvPr>
        </p:nvSpPr>
        <p:spPr>
          <a:xfrm>
            <a:off x="311700" y="2919000"/>
            <a:ext cx="8520600" cy="19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OJO: este último caso siempre y cuando W sea mayor o igual a P</a:t>
            </a:r>
            <a:r>
              <a:rPr baseline="-25000" lang="es" sz="2000"/>
              <a:t>i</a:t>
            </a:r>
            <a:r>
              <a:rPr lang="es" sz="2000"/>
              <a:t> (el elemento entra)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2000"/>
              <a:t>¿Es esta la ecuación de recurrencia?</a:t>
            </a:r>
            <a:endParaRPr sz="2000"/>
          </a:p>
        </p:txBody>
      </p:sp>
      <p:pic>
        <p:nvPicPr>
          <p:cNvPr id="217" name="Google Shape;21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9576" y="3408173"/>
            <a:ext cx="1563250" cy="162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Problema de la Mochila: Solución recursiva</a:t>
            </a:r>
            <a:endParaRPr sz="2700"/>
          </a:p>
        </p:txBody>
      </p:sp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311700" y="1171600"/>
            <a:ext cx="8520600" cy="2466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mochila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peso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6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6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00"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6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6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600">
              <a:solidFill>
                <a:srgbClr val="09865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6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00"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peso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]:</a:t>
            </a:r>
            <a:endParaRPr sz="16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" sz="16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mochila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peso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6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6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" sz="1600">
                <a:solidFill>
                  <a:srgbClr val="AF00D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6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mochila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peso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6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6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600">
              <a:solidFill>
                <a:srgbClr val="3B3B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s" sz="16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600">
                <a:solidFill>
                  <a:srgbClr val="795E26"/>
                </a:solidFill>
                <a:latin typeface="Courier New"/>
                <a:ea typeface="Courier New"/>
                <a:cs typeface="Courier New"/>
                <a:sym typeface="Courier New"/>
              </a:rPr>
              <a:t>mochila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valor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peso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6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600">
                <a:solidFill>
                  <a:srgbClr val="09865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es" sz="160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peso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600">
                <a:solidFill>
                  <a:srgbClr val="00108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600">
                <a:solidFill>
                  <a:srgbClr val="3B3B3B"/>
                </a:solidFill>
                <a:latin typeface="Courier New"/>
                <a:ea typeface="Courier New"/>
                <a:cs typeface="Courier New"/>
                <a:sym typeface="Courier New"/>
              </a:rPr>
              <a:t>]))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311700" y="3637600"/>
            <a:ext cx="8520600" cy="12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¿Problema</a:t>
            </a:r>
            <a:r>
              <a:rPr lang="es" sz="2000"/>
              <a:t>? El mismo de todas las soluciones recursivas planteadas.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2000"/>
              <a:t>¿Qué</a:t>
            </a:r>
            <a:r>
              <a:rPr lang="es" sz="2000"/>
              <a:t> estructura necesitamos para memorizar todos los subproblemas?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Mochila: Solución Iterativa</a:t>
            </a:r>
            <a:endParaRPr sz="2700"/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311700" y="1217100"/>
            <a:ext cx="8520600" cy="90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 sz="2000"/>
              <a:t>Sabiendo que necesitamos una matriz para memorizar todas los posibles sub-problemas, podemos ver cómo llenar esa matriz iterativamente</a:t>
            </a:r>
            <a:endParaRPr sz="2000"/>
          </a:p>
        </p:txBody>
      </p:sp>
      <p:pic>
        <p:nvPicPr>
          <p:cNvPr id="231" name="Google Shape;23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3775" y="2571738"/>
            <a:ext cx="2076450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Mochila: </a:t>
            </a:r>
            <a:r>
              <a:rPr lang="es"/>
              <a:t>¿cuánto</a:t>
            </a:r>
            <a:r>
              <a:rPr lang="es"/>
              <a:t> tarda?</a:t>
            </a:r>
            <a:endParaRPr sz="2700"/>
          </a:p>
        </p:txBody>
      </p:sp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311700" y="1217100"/>
            <a:ext cx="8520600" cy="28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Todas las operaciones que se hacen en cada posición de la matriz son de tiempo constante, por lo tanto la complejidad es proporcional a la cantidad de posiciones de la matriz.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2000"/>
              <a:t>Podemos decir que es O(#elem x W)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Pausa para hablar de Complejidad Temporal</a:t>
            </a:r>
            <a:endParaRPr/>
          </a:p>
        </p:txBody>
      </p:sp>
      <p:sp>
        <p:nvSpPr>
          <p:cNvPr id="243" name="Google Shape;243;p37"/>
          <p:cNvSpPr txBox="1"/>
          <p:nvPr>
            <p:ph idx="1" type="body"/>
          </p:nvPr>
        </p:nvSpPr>
        <p:spPr>
          <a:xfrm>
            <a:off x="311700" y="1171600"/>
            <a:ext cx="8520600" cy="3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 importante que siempre hemos hecho al hablar de la complejidad temporal es expresarla en función de las variables del problema.</a:t>
            </a:r>
            <a:br>
              <a:rPr lang="es"/>
            </a:br>
            <a:r>
              <a:rPr lang="es"/>
              <a:t>Ejemplo: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Los</a:t>
            </a:r>
            <a:r>
              <a:rPr lang="es"/>
              <a:t> mejores ordenamientos que ordenan utilizando el método por comparación son O(n log n). </a:t>
            </a:r>
            <a:r>
              <a:rPr lang="es"/>
              <a:t>¿Qué</a:t>
            </a:r>
            <a:r>
              <a:rPr lang="es"/>
              <a:t> es n? La cantidad de elementos </a:t>
            </a:r>
            <a:r>
              <a:rPr lang="es"/>
              <a:t>¿Cómo se expresan?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Técnicamente todos los datos nos llegan como una tira de bits. Eso significa que el valor de n corresponde a la longitud de la tira de bits involucrada.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La definición de complejidad temporal en realidad se refiere a la longitud expresada en bits.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Pausa para hablar de Complejidad Temporal</a:t>
            </a:r>
            <a:endParaRPr/>
          </a:p>
        </p:txBody>
      </p:sp>
      <p:sp>
        <p:nvSpPr>
          <p:cNvPr id="249" name="Google Shape;249;p38"/>
          <p:cNvSpPr txBox="1"/>
          <p:nvPr>
            <p:ph idx="1" type="body"/>
          </p:nvPr>
        </p:nvSpPr>
        <p:spPr>
          <a:xfrm>
            <a:off x="311700" y="1171600"/>
            <a:ext cx="8520600" cy="3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Otro e</a:t>
            </a:r>
            <a:r>
              <a:rPr lang="es"/>
              <a:t>jemplo: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Encontrar el máximo en un arreglo desordenado es O(n).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Esto se debe a que hay que comparar todos los elementos y para ello también hay que leerlos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Técnicamente todos los datos nos llegan como una tira de bits. Eso significa que el valor de n corresponde a la longitud de la tira de bits involucrada. Y las lecturas son siempre proporcionales a esa longitud de bits.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Si el arreglo es: </a:t>
            </a:r>
            <a:r>
              <a:rPr lang="es"/>
              <a:t>[1</a:t>
            </a:r>
            <a:r>
              <a:rPr lang="es"/>
              <a:t>010110101110, 1011010100100110, 11011010] nos toma O(n) leerlo, y O(n) obtener el máximo.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Pausa para hablar de Complejidad Temporal</a:t>
            </a:r>
            <a:endParaRPr/>
          </a:p>
        </p:txBody>
      </p:sp>
      <p:pic>
        <p:nvPicPr>
          <p:cNvPr id="255" name="Google Shape;25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3025" y="1058225"/>
            <a:ext cx="6166950" cy="379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Mochila: Complejidad Temporal</a:t>
            </a:r>
            <a:endParaRPr/>
          </a:p>
        </p:txBody>
      </p:sp>
      <p:sp>
        <p:nvSpPr>
          <p:cNvPr id="261" name="Google Shape;261;p40"/>
          <p:cNvSpPr txBox="1"/>
          <p:nvPr>
            <p:ph idx="1" type="body"/>
          </p:nvPr>
        </p:nvSpPr>
        <p:spPr>
          <a:xfrm>
            <a:off x="311700" y="1171600"/>
            <a:ext cx="8520600" cy="3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la entrada al problema de la mochila 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Valores: 5550, 46374, 218; Pesos: </a:t>
            </a:r>
            <a:r>
              <a:rPr lang="es"/>
              <a:t>5550, 46374, 218; W=7656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Expresado en bits será</a:t>
            </a:r>
            <a:r>
              <a:rPr lang="es"/>
              <a:t>: </a:t>
            </a:r>
            <a:r>
              <a:rPr lang="es"/>
              <a:t>[1010110101110, 1011010100100110, 11011010]; [1010110101110, 1011010100100110, 11011010]; 1110111101000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Y es a ello lo que típicamente podríamos llamar O(n+m)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Digamos que n es proporcional a la longitud de lecturas de los vectores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En este caso m sería la longitud de lectura del valor de W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Ya casi estamos con la matemática</a:t>
            </a:r>
            <a:endParaRPr/>
          </a:p>
        </p:txBody>
      </p:sp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311700" y="1171600"/>
            <a:ext cx="8520600" cy="3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Sabemos </a:t>
            </a:r>
            <a:r>
              <a:rPr lang="es"/>
              <a:t>que n es proporcional a la longitud de lecturas de los vectores.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Y en este caso m sería la longitud de lecturas del valor de W.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Entonces: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La cantidad de bits que representa m y el valor de W son cosas distintas, aunque relacionadas.</a:t>
            </a:r>
            <a:br>
              <a:rPr lang="es"/>
            </a:br>
            <a:r>
              <a:rPr lang="es"/>
              <a:t>La cantidad de bits para escribir un valor de W es log(W).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Por lo tanto, W = 2^m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2"/>
          <p:cNvSpPr txBox="1"/>
          <p:nvPr>
            <p:ph type="title"/>
          </p:nvPr>
        </p:nvSpPr>
        <p:spPr>
          <a:xfrm>
            <a:off x="311700" y="445025"/>
            <a:ext cx="8667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Volviendo. </a:t>
            </a:r>
            <a:r>
              <a:rPr lang="es"/>
              <a:t>Problema de la Mochila: ¿cuánto tarda?</a:t>
            </a:r>
            <a:endParaRPr sz="2700"/>
          </a:p>
        </p:txBody>
      </p:sp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311700" y="1217100"/>
            <a:ext cx="8520600" cy="37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Si </a:t>
            </a:r>
            <a:r>
              <a:rPr lang="es" sz="2000"/>
              <a:t>es O(#elem x W)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000"/>
              <a:t>Para expresar esta complejidad en función del tamaño de los atributos de la entrada, n para los vectores y m para la capacidad, nos queda:</a:t>
            </a:r>
            <a:br>
              <a:rPr lang="es" sz="2000"/>
            </a:b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000"/>
              <a:t>O(n x W) = O(n x </a:t>
            </a:r>
            <a:r>
              <a:rPr lang="es"/>
              <a:t>2^m</a:t>
            </a:r>
            <a:r>
              <a:rPr lang="es" sz="2000"/>
              <a:t>)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2000"/>
              <a:t>Técnicamente, este algoritmo es exponencial</a:t>
            </a:r>
            <a:endParaRPr sz="2000"/>
          </a:p>
        </p:txBody>
      </p:sp>
      <p:pic>
        <p:nvPicPr>
          <p:cNvPr id="274" name="Google Shape;27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1147" y="1058225"/>
            <a:ext cx="4756554" cy="31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/>
          <p:nvPr>
            <p:ph type="title"/>
          </p:nvPr>
        </p:nvSpPr>
        <p:spPr>
          <a:xfrm>
            <a:off x="311700" y="445025"/>
            <a:ext cx="8667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Mochila: ¿cuánto tarda?</a:t>
            </a:r>
            <a:endParaRPr sz="2700"/>
          </a:p>
        </p:txBody>
      </p:sp>
      <p:pic>
        <p:nvPicPr>
          <p:cNvPr id="280" name="Google Shape;28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124842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¿Por qué exponencial?</a:t>
            </a:r>
            <a:endParaRPr/>
          </a:p>
        </p:txBody>
      </p:sp>
      <p:sp>
        <p:nvSpPr>
          <p:cNvPr id="286" name="Google Shape;286;p44"/>
          <p:cNvSpPr txBox="1"/>
          <p:nvPr>
            <p:ph idx="1" type="body"/>
          </p:nvPr>
        </p:nvSpPr>
        <p:spPr>
          <a:xfrm>
            <a:off x="6351975" y="48400"/>
            <a:ext cx="2792100" cy="4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una mochila de capacidad 19, mejor dicho </a:t>
            </a: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10011</a:t>
            </a:r>
            <a:r>
              <a:rPr lang="es"/>
              <a:t>, necesitamos crear una </a:t>
            </a:r>
            <a:r>
              <a:rPr b="1" lang="es"/>
              <a:t>columna</a:t>
            </a:r>
            <a:r>
              <a:rPr lang="es"/>
              <a:t> por cada </a:t>
            </a:r>
            <a:r>
              <a:rPr i="1" lang="es"/>
              <a:t>permutación posible de los bits</a:t>
            </a:r>
            <a:r>
              <a:rPr lang="es"/>
              <a:t> de la capacidad.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00000 (capacidad 0)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00001</a:t>
            </a: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 (capacidad 1)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00010</a:t>
            </a: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 (capacidad 2)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00011</a:t>
            </a:r>
            <a:r>
              <a:rPr lang="es">
                <a:latin typeface="Courier New"/>
                <a:ea typeface="Courier New"/>
                <a:cs typeface="Courier New"/>
                <a:sym typeface="Courier New"/>
              </a:rPr>
              <a:t> (capacidad 3)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etc…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7" name="Google Shape;287;p44"/>
          <p:cNvSpPr txBox="1"/>
          <p:nvPr>
            <p:ph idx="1" type="body"/>
          </p:nvPr>
        </p:nvSpPr>
        <p:spPr>
          <a:xfrm>
            <a:off x="311700" y="4443250"/>
            <a:ext cx="87669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La cantidad total de permutaciones es exponencial a la cantidad de bits utilizados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88" name="Google Shape;288;p44"/>
          <p:cNvPicPr preferRelativeResize="0"/>
          <p:nvPr/>
        </p:nvPicPr>
        <p:blipFill rotWithShape="1">
          <a:blip r:embed="rId3">
            <a:alphaModFix/>
          </a:blip>
          <a:srcRect b="-10" l="0" r="0" t="1923"/>
          <a:stretch/>
        </p:blipFill>
        <p:spPr>
          <a:xfrm>
            <a:off x="67550" y="1130725"/>
            <a:ext cx="6170775" cy="187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445025"/>
            <a:ext cx="8667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Algoritmos Pseudo-Polinomiales</a:t>
            </a:r>
            <a:endParaRPr sz="2700"/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1217100"/>
            <a:ext cx="8520600" cy="37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El problema de la Mochila es un algoritmo Pseudo-Polinomial.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000"/>
              <a:t>Un algoritmo se ejecuta en tiempo </a:t>
            </a:r>
            <a:r>
              <a:rPr b="1" lang="es" sz="2000"/>
              <a:t>Pseudo-Polinomial</a:t>
            </a:r>
            <a:r>
              <a:rPr lang="es" sz="2000"/>
              <a:t> </a:t>
            </a:r>
            <a:r>
              <a:rPr lang="es" sz="2000"/>
              <a:t>si su </a:t>
            </a:r>
            <a:r>
              <a:rPr b="1" lang="es" sz="2000"/>
              <a:t>tiempo de ejecución </a:t>
            </a:r>
            <a:r>
              <a:rPr lang="es" sz="2000"/>
              <a:t>es proporcional a un </a:t>
            </a:r>
            <a:r>
              <a:rPr b="1" lang="es" sz="2000"/>
              <a:t>polinomio en el valor numérico de la entrada</a:t>
            </a:r>
            <a:r>
              <a:rPr lang="es" sz="2000"/>
              <a:t> (el valor entero más grande presente en la entrada), pero no necesariamente en la </a:t>
            </a:r>
            <a:r>
              <a:rPr b="1" lang="es" sz="2000"/>
              <a:t>longitud de la entrada </a:t>
            </a:r>
            <a:r>
              <a:rPr lang="es" sz="2000"/>
              <a:t>(la cantidad de bits necesarios para </a:t>
            </a:r>
            <a:r>
              <a:rPr lang="es" sz="2000"/>
              <a:t>representarlo</a:t>
            </a:r>
            <a:r>
              <a:rPr lang="es" sz="2000"/>
              <a:t>), que es el caso de los </a:t>
            </a:r>
            <a:r>
              <a:rPr b="1" lang="es" sz="2000"/>
              <a:t>algoritmos de tiempo polinomial</a:t>
            </a:r>
            <a:r>
              <a:rPr lang="es" sz="2000"/>
              <a:t>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000"/>
              <a:t>Eso habla de la dificultad del problema de la mochila.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000"/>
              <a:t>Ya veremos qué tan difíciles se pueden poner los problemas en el futuro.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