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Proxima Nova"/>
      <p:regular r:id="rId49"/>
      <p:bold r:id="rId50"/>
      <p:italic r:id="rId51"/>
      <p:boldItalic r:id="rId52"/>
    </p:embeddedFont>
    <p:embeddedFont>
      <p:font typeface="Old Standard TT"/>
      <p:regular r:id="rId53"/>
      <p:bold r:id="rId54"/>
      <p: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ProximaNov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roximaNova-italic.fntdata"/><Relationship Id="rId50" Type="http://schemas.openxmlformats.org/officeDocument/2006/relationships/font" Target="fonts/ProximaNova-bold.fntdata"/><Relationship Id="rId53" Type="http://schemas.openxmlformats.org/officeDocument/2006/relationships/font" Target="fonts/OldStandardTT-regular.fntdata"/><Relationship Id="rId52" Type="http://schemas.openxmlformats.org/officeDocument/2006/relationships/font" Target="fonts/ProximaNova-boldItalic.fntdata"/><Relationship Id="rId11" Type="http://schemas.openxmlformats.org/officeDocument/2006/relationships/slide" Target="slides/slide6.xml"/><Relationship Id="rId55" Type="http://schemas.openxmlformats.org/officeDocument/2006/relationships/font" Target="fonts/OldStandardTT-italic.fntdata"/><Relationship Id="rId10" Type="http://schemas.openxmlformats.org/officeDocument/2006/relationships/slide" Target="slides/slide5.xml"/><Relationship Id="rId54" Type="http://schemas.openxmlformats.org/officeDocument/2006/relationships/font" Target="fonts/OldStandardTT-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2e15daf4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2e15daf4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2c7a43fd5e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2c7a43fd5e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2c7a43fd5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2c7a43fd5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2c7a43fd5e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2c7a43fd5e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2c7a43fd5e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2c7a43fd5e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2c7a43fd5e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2c7a43fd5e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2f4cbdd8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2f4cbdd8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2f4cbdd8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2f4cbdd8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2f4cbdd8d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2f4cbdd8d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2f4cbdd8d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2f4cbdd8d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2f4cbdd8d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2f4cbdd8d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7f4d766e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7f4d766e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2f4cbdd8d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2f4cbdd8d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2f4cbdd8d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2f4cbdd8d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2f4cbdd8d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2f4cbdd8d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76e72162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76e72162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2f4cbdd8d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2f4cbdd8d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2f4cbdd8d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2f4cbdd8d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2f4cbdd8d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2f4cbdd8d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2f4cbdd8d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2f4cbdd8d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2f4cbdd8d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2f4cbdd8d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2f4cbdd8d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2f4cbdd8d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2f4cbdd8d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2f4cbdd8d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811d0af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811d0af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2f4cbdd8d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2f4cbdd8d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2f4cbdd8d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2f4cbdd8d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2f4cbdd8d7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2f4cbdd8d7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2f4cbdd8d7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2f4cbdd8d7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2f4cbdd8d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2f4cbdd8d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2f4cbdd8d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2f4cbdd8d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f7cfd26f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f7cfd26f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2e15daf469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2e15daf469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26f8cdb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526f8cdb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26f8cdbb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526f8cdbb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26f8cdbb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26f8cdbb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2e15daf469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2e15daf469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808b24a9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808b24a9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808b24a9b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808b24a9b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2e15daf469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22e15daf469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2e15daf469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2e15daf469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4de809ef7b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4de809ef7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2e15daf469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2e15daf469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2e15daf469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2e15daf469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rgbClr val="FFFFFF"/>
              </a:buClr>
              <a:buSzPts val="4200"/>
              <a:buFont typeface="Proxima Nova"/>
              <a:buNone/>
              <a:defRPr sz="4200">
                <a:solidFill>
                  <a:srgbClr val="FFFFFF"/>
                </a:solidFill>
                <a:latin typeface="Proxima Nova"/>
                <a:ea typeface="Proxima Nova"/>
                <a:cs typeface="Proxima Nova"/>
                <a:sym typeface="Proxima Nova"/>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Font typeface="Proxima Nova"/>
              <a:buNone/>
              <a:defRPr sz="2400">
                <a:solidFill>
                  <a:schemeClr val="accent2"/>
                </a:solidFill>
                <a:latin typeface="Proxima Nova"/>
                <a:ea typeface="Proxima Nova"/>
                <a:cs typeface="Proxima Nova"/>
                <a:sym typeface="Proxima Nova"/>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Proxima Nova"/>
              <a:buChar char="●"/>
              <a:defRPr>
                <a:latin typeface="Proxima Nova"/>
                <a:ea typeface="Proxima Nova"/>
                <a:cs typeface="Proxima Nova"/>
                <a:sym typeface="Proxima Nova"/>
              </a:defRPr>
            </a:lvl1pPr>
            <a:lvl2pPr indent="-317500" lvl="1" marL="914400">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Proxima Nova"/>
              <a:buNone/>
              <a:defRPr>
                <a:latin typeface="Proxima Nova"/>
                <a:ea typeface="Proxima Nova"/>
                <a:cs typeface="Proxima Nova"/>
                <a:sym typeface="Proxima Nov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a:spcBef>
                <a:spcPts val="160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160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160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160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160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160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160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1600"/>
              </a:spcBef>
              <a:spcAft>
                <a:spcPts val="1600"/>
              </a:spcAft>
              <a:buSzPts val="1200"/>
              <a:buFont typeface="Proxima Nova"/>
              <a:buChar char="■"/>
              <a:defRPr sz="1200">
                <a:latin typeface="Proxima Nova"/>
                <a:ea typeface="Proxima Nova"/>
                <a:cs typeface="Proxima Nova"/>
                <a:sym typeface="Proxima Nova"/>
              </a:defRPr>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Font typeface="Proxima Nova"/>
              <a:buNone/>
              <a:defRPr sz="5400">
                <a:solidFill>
                  <a:schemeClr val="accent1"/>
                </a:solidFill>
                <a:latin typeface="Proxima Nova"/>
                <a:ea typeface="Proxima Nova"/>
                <a:cs typeface="Proxima Nova"/>
                <a:sym typeface="Proxima Nova"/>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rgbClr val="EFEFE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Programación Dinámica IV</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Teoría de Algoritmos</a:t>
            </a:r>
            <a:endParaRPr/>
          </a:p>
        </p:txBody>
      </p:sp>
      <p:pic>
        <p:nvPicPr>
          <p:cNvPr id="61" name="Google Shape;61;p13"/>
          <p:cNvPicPr preferRelativeResize="0"/>
          <p:nvPr/>
        </p:nvPicPr>
        <p:blipFill rotWithShape="1">
          <a:blip r:embed="rId3">
            <a:alphaModFix/>
          </a:blip>
          <a:srcRect b="80" l="0" r="0" t="70"/>
          <a:stretch/>
        </p:blipFill>
        <p:spPr>
          <a:xfrm>
            <a:off x="7060492" y="4349400"/>
            <a:ext cx="2079858" cy="787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Ejercicios: El Problema del Cambio</a:t>
            </a:r>
            <a:endParaRPr sz="2700"/>
          </a:p>
        </p:txBody>
      </p:sp>
      <p:pic>
        <p:nvPicPr>
          <p:cNvPr id="67" name="Google Shape;67;p14"/>
          <p:cNvPicPr preferRelativeResize="0"/>
          <p:nvPr/>
        </p:nvPicPr>
        <p:blipFill>
          <a:blip r:embed="rId3">
            <a:alphaModFix/>
          </a:blip>
          <a:stretch>
            <a:fillRect/>
          </a:stretch>
        </p:blipFill>
        <p:spPr>
          <a:xfrm>
            <a:off x="2171700" y="1062038"/>
            <a:ext cx="4800600" cy="3019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Ejercicios: El Problema del Cambio</a:t>
            </a:r>
            <a:endParaRPr sz="2700"/>
          </a:p>
        </p:txBody>
      </p:sp>
      <p:sp>
        <p:nvSpPr>
          <p:cNvPr id="73" name="Google Shape;73;p15"/>
          <p:cNvSpPr txBox="1"/>
          <p:nvPr>
            <p:ph idx="1" type="body"/>
          </p:nvPr>
        </p:nvSpPr>
        <p:spPr>
          <a:xfrm>
            <a:off x="311700" y="1171600"/>
            <a:ext cx="8520600" cy="372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s" sz="2000"/>
              <a:t>Se tiene un sistema monetario (ejemplo, el nuestro). Se quiere dar "cambio" de una determinada cantidad de plata. Implementar un algoritmo que devuelva el cambio pedido, usando la mínima cantidad de monedas/billetes. </a:t>
            </a:r>
            <a:endParaRPr sz="2000"/>
          </a:p>
          <a:p>
            <a:pPr indent="0" lvl="0" marL="0" rtl="0" algn="l">
              <a:spcBef>
                <a:spcPts val="1600"/>
              </a:spcBef>
              <a:spcAft>
                <a:spcPts val="0"/>
              </a:spcAft>
              <a:buClr>
                <a:schemeClr val="dk1"/>
              </a:buClr>
              <a:buSzPts val="1100"/>
              <a:buFont typeface="Arial"/>
              <a:buNone/>
            </a:pPr>
            <a:r>
              <a:rPr lang="es" sz="2000"/>
              <a:t>¿El algoritmo propuesto era siempre óptimo?</a:t>
            </a:r>
            <a:endParaRPr sz="2000"/>
          </a:p>
          <a:p>
            <a:pPr indent="0" lvl="0" marL="0" rtl="0" algn="l">
              <a:spcBef>
                <a:spcPts val="1600"/>
              </a:spcBef>
              <a:spcAft>
                <a:spcPts val="0"/>
              </a:spcAft>
              <a:buClr>
                <a:schemeClr val="dk1"/>
              </a:buClr>
              <a:buSzPts val="1100"/>
              <a:buFont typeface="Arial"/>
              <a:buNone/>
            </a:pPr>
            <a:r>
              <a:rPr lang="es" sz="2000"/>
              <a:t>¿Y si el sistema monetario fuera [1, 5, 6, 9] y quisiéramos cambio de 11?</a:t>
            </a:r>
            <a:endParaRPr sz="2000"/>
          </a:p>
          <a:p>
            <a:pPr indent="0" lvl="0" marL="0" rtl="0" algn="l">
              <a:spcBef>
                <a:spcPts val="1600"/>
              </a:spcBef>
              <a:spcAft>
                <a:spcPts val="1600"/>
              </a:spcAft>
              <a:buNone/>
            </a:pPr>
            <a:r>
              <a:rPr lang="es" sz="2000"/>
              <a:t>¿Por qué fallaba?</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10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10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10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1000"/>
                                        <p:tgtEl>
                                          <p:spTgt spid="7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Ejercicios: El Problema del Cambio</a:t>
            </a:r>
            <a:endParaRPr sz="2700"/>
          </a:p>
        </p:txBody>
      </p:sp>
      <p:pic>
        <p:nvPicPr>
          <p:cNvPr id="79" name="Google Shape;79;p16"/>
          <p:cNvPicPr preferRelativeResize="0"/>
          <p:nvPr/>
        </p:nvPicPr>
        <p:blipFill>
          <a:blip r:embed="rId3">
            <a:alphaModFix/>
          </a:blip>
          <a:stretch>
            <a:fillRect/>
          </a:stretch>
        </p:blipFill>
        <p:spPr>
          <a:xfrm>
            <a:off x="2654275" y="1058225"/>
            <a:ext cx="3835441" cy="3780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700"/>
              <a:t>Cómo encontrar la solución usando PD</a:t>
            </a:r>
            <a:endParaRPr sz="2700"/>
          </a:p>
        </p:txBody>
      </p:sp>
      <p:sp>
        <p:nvSpPr>
          <p:cNvPr id="85" name="Google Shape;85;p17"/>
          <p:cNvSpPr txBox="1"/>
          <p:nvPr>
            <p:ph idx="1" type="body"/>
          </p:nvPr>
        </p:nvSpPr>
        <p:spPr>
          <a:xfrm>
            <a:off x="311700" y="1171600"/>
            <a:ext cx="8520600" cy="3373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Necesitamos</a:t>
            </a:r>
            <a:endParaRPr/>
          </a:p>
          <a:p>
            <a:pPr indent="457200" lvl="0" marL="0" rtl="0" algn="l">
              <a:spcBef>
                <a:spcPts val="1600"/>
              </a:spcBef>
              <a:spcAft>
                <a:spcPts val="0"/>
              </a:spcAft>
              <a:buNone/>
            </a:pPr>
            <a:r>
              <a:rPr lang="es"/>
              <a:t>○ La forma que tienen los subproblemas: </a:t>
            </a:r>
            <a:r>
              <a:rPr b="1" lang="es"/>
              <a:t>el subproblema es dar cambio a cierta cantidad de dinero, teniendo disponible el sistema monetario. Para esa cantidad, podría usar cualquier moneda del sistema, y quedaría menos cambio por dar. El tamaño del subproblema es la cantidad de cambio a dar</a:t>
            </a:r>
            <a:endParaRPr b="1"/>
          </a:p>
          <a:p>
            <a:pPr indent="457200" lvl="0" marL="0" rtl="0" algn="l">
              <a:spcBef>
                <a:spcPts val="1600"/>
              </a:spcBef>
              <a:spcAft>
                <a:spcPts val="1600"/>
              </a:spcAft>
              <a:buNone/>
            </a:pPr>
            <a:r>
              <a:rPr lang="es"/>
              <a:t>○ La forma en que dichos subproblemas se componen para solucionar subproblemas más grandes: </a:t>
            </a:r>
            <a:r>
              <a:rPr b="1" lang="es"/>
              <a:t>tengo varias monedas que puedo usar para dar cambio. La mejor sería aquella que minimice la cantidad total utilizada. Probar todas y sacar el mínimo</a:t>
            </a:r>
            <a:endParaRPr b="1"/>
          </a:p>
        </p:txBody>
      </p:sp>
      <p:sp>
        <p:nvSpPr>
          <p:cNvPr id="86" name="Google Shape;86;p17"/>
          <p:cNvSpPr txBox="1"/>
          <p:nvPr/>
        </p:nvSpPr>
        <p:spPr>
          <a:xfrm>
            <a:off x="311700" y="4464850"/>
            <a:ext cx="8520600" cy="6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s" sz="1800">
                <a:solidFill>
                  <a:schemeClr val="dk1"/>
                </a:solidFill>
                <a:latin typeface="Proxima Nova"/>
                <a:ea typeface="Proxima Nova"/>
                <a:cs typeface="Proxima Nova"/>
                <a:sym typeface="Proxima Nova"/>
              </a:rPr>
              <a:t>C[dinero] = 1 + min(  </a:t>
            </a:r>
            <a:r>
              <a:rPr lang="es" sz="2900">
                <a:solidFill>
                  <a:schemeClr val="dk1"/>
                </a:solidFill>
                <a:latin typeface="Proxima Nova"/>
                <a:ea typeface="Proxima Nova"/>
                <a:cs typeface="Proxima Nova"/>
                <a:sym typeface="Proxima Nova"/>
              </a:rPr>
              <a:t>∀</a:t>
            </a:r>
            <a:r>
              <a:rPr lang="es" sz="2200">
                <a:solidFill>
                  <a:schemeClr val="dk1"/>
                </a:solidFill>
                <a:latin typeface="Proxima Nova"/>
                <a:ea typeface="Proxima Nova"/>
                <a:cs typeface="Proxima Nova"/>
                <a:sym typeface="Proxima Nova"/>
              </a:rPr>
              <a:t>moneda</a:t>
            </a:r>
            <a:r>
              <a:rPr lang="es" sz="2050">
                <a:solidFill>
                  <a:srgbClr val="040C28"/>
                </a:solidFill>
              </a:rPr>
              <a:t>&lt;=dinero: C[dinero - moneda]</a:t>
            </a:r>
            <a:r>
              <a:rPr lang="es" sz="1800">
                <a:solidFill>
                  <a:schemeClr val="dk1"/>
                </a:solidFill>
                <a:latin typeface="Proxima Nova"/>
                <a:ea typeface="Proxima Nova"/>
                <a:cs typeface="Proxima Nova"/>
                <a:sym typeface="Proxima Nova"/>
              </a:rPr>
              <a:t>      )  </a:t>
            </a:r>
            <a:r>
              <a:rPr lang="es">
                <a:solidFill>
                  <a:schemeClr val="dk1"/>
                </a:solidFill>
                <a:latin typeface="Proxima Nova"/>
                <a:ea typeface="Proxima Nova"/>
                <a:cs typeface="Proxima Nova"/>
                <a:sym typeface="Proxima Nova"/>
              </a:rPr>
              <a:t>(C[0] = 0)</a:t>
            </a:r>
            <a:endParaRPr sz="1000">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animEffect filter="fade" transition="in">
                                      <p:cBhvr>
                                        <p:cTn dur="1000"/>
                                        <p:tgtEl>
                                          <p:spTgt spid="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animEffect filter="fade" transition="in">
                                      <p:cBhvr>
                                        <p:cTn dur="1000"/>
                                        <p:tgtEl>
                                          <p:spTgt spid="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animEffect filter="fade" transition="in">
                                      <p:cBhvr>
                                        <p:cTn dur="1000"/>
                                        <p:tgtEl>
                                          <p:spTgt spid="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600"/>
              <a:t>Programación Dinámica: Escribite un par de for y estamos</a:t>
            </a:r>
            <a:endParaRPr sz="2600"/>
          </a:p>
        </p:txBody>
      </p:sp>
      <p:sp>
        <p:nvSpPr>
          <p:cNvPr id="92" name="Google Shape;92;p18"/>
          <p:cNvSpPr txBox="1"/>
          <p:nvPr>
            <p:ph idx="1" type="body"/>
          </p:nvPr>
        </p:nvSpPr>
        <p:spPr>
          <a:xfrm>
            <a:off x="311700" y="1171600"/>
            <a:ext cx="8520600" cy="3688800"/>
          </a:xfrm>
          <a:prstGeom prst="rect">
            <a:avLst/>
          </a:prstGeom>
          <a:solidFill>
            <a:srgbClr val="2B2B2B"/>
          </a:solidFill>
        </p:spPr>
        <p:txBody>
          <a:bodyPr anchorCtr="0" anchor="t" bIns="91425" lIns="91425" spcFirstLastPara="1" rIns="91425" wrap="square" tIns="91425">
            <a:noAutofit/>
          </a:bodyPr>
          <a:lstStyle/>
          <a:p>
            <a:pPr indent="457200" lvl="0" marL="0" rtl="0" algn="l">
              <a:spcBef>
                <a:spcPts val="0"/>
              </a:spcBef>
              <a:spcAft>
                <a:spcPts val="0"/>
              </a:spcAft>
              <a:buClr>
                <a:schemeClr val="dk1"/>
              </a:buClr>
              <a:buSzPts val="1100"/>
              <a:buFont typeface="Arial"/>
              <a:buNone/>
            </a:pPr>
            <a:r>
              <a:rPr lang="es" sz="1400">
                <a:solidFill>
                  <a:srgbClr val="CC7832"/>
                </a:solidFill>
                <a:highlight>
                  <a:srgbClr val="2B2B2B"/>
                </a:highlight>
                <a:latin typeface="Courier New"/>
                <a:ea typeface="Courier New"/>
                <a:cs typeface="Courier New"/>
                <a:sym typeface="Courier New"/>
              </a:rPr>
              <a:t>def </a:t>
            </a:r>
            <a:r>
              <a:rPr lang="es" sz="1400">
                <a:solidFill>
                  <a:srgbClr val="FFC66D"/>
                </a:solidFill>
                <a:highlight>
                  <a:srgbClr val="2B2B2B"/>
                </a:highlight>
                <a:latin typeface="Courier New"/>
                <a:ea typeface="Courier New"/>
                <a:cs typeface="Courier New"/>
                <a:sym typeface="Courier New"/>
              </a:rPr>
              <a:t>cant_monedas</a:t>
            </a:r>
            <a:r>
              <a:rPr lang="es" sz="1400">
                <a:solidFill>
                  <a:srgbClr val="A9B7C6"/>
                </a:solidFill>
                <a:highlight>
                  <a:srgbClr val="2B2B2B"/>
                </a:highlight>
                <a:latin typeface="Courier New"/>
                <a:ea typeface="Courier New"/>
                <a:cs typeface="Courier New"/>
                <a:sym typeface="Courier New"/>
              </a:rPr>
              <a:t>(sist_monetario</a:t>
            </a:r>
            <a:r>
              <a:rPr lang="es" sz="1400">
                <a:solidFill>
                  <a:srgbClr val="CC7832"/>
                </a:solidFill>
                <a:highlight>
                  <a:srgbClr val="2B2B2B"/>
                </a:highlight>
                <a:latin typeface="Courier New"/>
                <a:ea typeface="Courier New"/>
                <a:cs typeface="Courier New"/>
                <a:sym typeface="Courier New"/>
              </a:rPr>
              <a:t>, </a:t>
            </a:r>
            <a:r>
              <a:rPr lang="es" sz="1400">
                <a:solidFill>
                  <a:srgbClr val="A9B7C6"/>
                </a:solidFill>
                <a:highlight>
                  <a:srgbClr val="2B2B2B"/>
                </a:highlight>
                <a:latin typeface="Courier New"/>
                <a:ea typeface="Courier New"/>
                <a:cs typeface="Courier New"/>
                <a:sym typeface="Courier New"/>
              </a:rPr>
              <a:t>dinero):</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cant = [</a:t>
            </a:r>
            <a:r>
              <a:rPr lang="es" sz="1400">
                <a:solidFill>
                  <a:srgbClr val="6897BB"/>
                </a:solidFill>
                <a:highlight>
                  <a:srgbClr val="2B2B2B"/>
                </a:highlight>
                <a:latin typeface="Courier New"/>
                <a:ea typeface="Courier New"/>
                <a:cs typeface="Courier New"/>
                <a:sym typeface="Courier New"/>
              </a:rPr>
              <a:t>0</a:t>
            </a:r>
            <a:r>
              <a:rPr lang="es" sz="1400">
                <a:solidFill>
                  <a:srgbClr val="A9B7C6"/>
                </a:solidFill>
                <a:highlight>
                  <a:srgbClr val="2B2B2B"/>
                </a:highlight>
                <a:latin typeface="Courier New"/>
                <a:ea typeface="Courier New"/>
                <a:cs typeface="Courier New"/>
                <a:sym typeface="Courier New"/>
              </a:rPr>
              <a:t>] * (dinero + </a:t>
            </a:r>
            <a:r>
              <a:rPr lang="es" sz="1400">
                <a:solidFill>
                  <a:srgbClr val="6897BB"/>
                </a:solidFill>
                <a:highlight>
                  <a:srgbClr val="2B2B2B"/>
                </a:highlight>
                <a:latin typeface="Courier New"/>
                <a:ea typeface="Courier New"/>
                <a:cs typeface="Courier New"/>
                <a:sym typeface="Courier New"/>
              </a:rPr>
              <a:t>1</a:t>
            </a:r>
            <a:r>
              <a:rPr lang="es" sz="1400">
                <a:solidFill>
                  <a:srgbClr val="A9B7C6"/>
                </a:solidFill>
                <a:highlight>
                  <a:srgbClr val="2B2B2B"/>
                </a:highlight>
                <a:latin typeface="Courier New"/>
                <a:ea typeface="Courier New"/>
                <a:cs typeface="Courier New"/>
                <a:sym typeface="Courier New"/>
              </a:rPr>
              <a:t>)</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a:t>
            </a:r>
            <a:r>
              <a:rPr lang="es" sz="1400">
                <a:solidFill>
                  <a:srgbClr val="CC7832"/>
                </a:solidFill>
                <a:highlight>
                  <a:srgbClr val="2B2B2B"/>
                </a:highlight>
                <a:latin typeface="Courier New"/>
                <a:ea typeface="Courier New"/>
                <a:cs typeface="Courier New"/>
                <a:sym typeface="Courier New"/>
              </a:rPr>
              <a:t>for </a:t>
            </a:r>
            <a:r>
              <a:rPr lang="es" sz="1400">
                <a:solidFill>
                  <a:srgbClr val="A9B7C6"/>
                </a:solidFill>
                <a:highlight>
                  <a:srgbClr val="2B2B2B"/>
                </a:highlight>
                <a:latin typeface="Courier New"/>
                <a:ea typeface="Courier New"/>
                <a:cs typeface="Courier New"/>
                <a:sym typeface="Courier New"/>
              </a:rPr>
              <a:t>i </a:t>
            </a:r>
            <a:r>
              <a:rPr lang="es" sz="1400">
                <a:solidFill>
                  <a:srgbClr val="CC7832"/>
                </a:solidFill>
                <a:highlight>
                  <a:srgbClr val="2B2B2B"/>
                </a:highlight>
                <a:latin typeface="Courier New"/>
                <a:ea typeface="Courier New"/>
                <a:cs typeface="Courier New"/>
                <a:sym typeface="Courier New"/>
              </a:rPr>
              <a:t>in </a:t>
            </a:r>
            <a:r>
              <a:rPr lang="es" sz="1400">
                <a:solidFill>
                  <a:srgbClr val="8888C6"/>
                </a:solidFill>
                <a:highlight>
                  <a:srgbClr val="2B2B2B"/>
                </a:highlight>
                <a:latin typeface="Courier New"/>
                <a:ea typeface="Courier New"/>
                <a:cs typeface="Courier New"/>
                <a:sym typeface="Courier New"/>
              </a:rPr>
              <a:t>range</a:t>
            </a:r>
            <a:r>
              <a:rPr lang="es" sz="1400">
                <a:solidFill>
                  <a:srgbClr val="A9B7C6"/>
                </a:solidFill>
                <a:highlight>
                  <a:srgbClr val="2B2B2B"/>
                </a:highlight>
                <a:latin typeface="Courier New"/>
                <a:ea typeface="Courier New"/>
                <a:cs typeface="Courier New"/>
                <a:sym typeface="Courier New"/>
              </a:rPr>
              <a:t>(</a:t>
            </a:r>
            <a:r>
              <a:rPr lang="es" sz="1400">
                <a:solidFill>
                  <a:srgbClr val="6897BB"/>
                </a:solidFill>
                <a:highlight>
                  <a:srgbClr val="2B2B2B"/>
                </a:highlight>
                <a:latin typeface="Courier New"/>
                <a:ea typeface="Courier New"/>
                <a:cs typeface="Courier New"/>
                <a:sym typeface="Courier New"/>
              </a:rPr>
              <a:t>1</a:t>
            </a:r>
            <a:r>
              <a:rPr lang="es" sz="1400">
                <a:solidFill>
                  <a:srgbClr val="CC7832"/>
                </a:solidFill>
                <a:highlight>
                  <a:srgbClr val="2B2B2B"/>
                </a:highlight>
                <a:latin typeface="Courier New"/>
                <a:ea typeface="Courier New"/>
                <a:cs typeface="Courier New"/>
                <a:sym typeface="Courier New"/>
              </a:rPr>
              <a:t>, </a:t>
            </a:r>
            <a:r>
              <a:rPr lang="es" sz="1400">
                <a:solidFill>
                  <a:srgbClr val="A9B7C6"/>
                </a:solidFill>
                <a:highlight>
                  <a:srgbClr val="2B2B2B"/>
                </a:highlight>
                <a:latin typeface="Courier New"/>
                <a:ea typeface="Courier New"/>
                <a:cs typeface="Courier New"/>
                <a:sym typeface="Courier New"/>
              </a:rPr>
              <a:t>dinero + </a:t>
            </a:r>
            <a:r>
              <a:rPr lang="es" sz="1400">
                <a:solidFill>
                  <a:srgbClr val="6897BB"/>
                </a:solidFill>
                <a:highlight>
                  <a:srgbClr val="2B2B2B"/>
                </a:highlight>
                <a:latin typeface="Courier New"/>
                <a:ea typeface="Courier New"/>
                <a:cs typeface="Courier New"/>
                <a:sym typeface="Courier New"/>
              </a:rPr>
              <a:t>1</a:t>
            </a:r>
            <a:r>
              <a:rPr lang="es" sz="1400">
                <a:solidFill>
                  <a:srgbClr val="A9B7C6"/>
                </a:solidFill>
                <a:highlight>
                  <a:srgbClr val="2B2B2B"/>
                </a:highlight>
                <a:latin typeface="Courier New"/>
                <a:ea typeface="Courier New"/>
                <a:cs typeface="Courier New"/>
                <a:sym typeface="Courier New"/>
              </a:rPr>
              <a:t>):</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minimo = i  </a:t>
            </a:r>
            <a:r>
              <a:rPr lang="es" sz="1400">
                <a:solidFill>
                  <a:srgbClr val="808080"/>
                </a:solidFill>
                <a:highlight>
                  <a:srgbClr val="2B2B2B"/>
                </a:highlight>
                <a:latin typeface="Courier New"/>
                <a:ea typeface="Courier New"/>
                <a:cs typeface="Courier New"/>
                <a:sym typeface="Courier New"/>
              </a:rPr>
              <a:t># usar todas monedas de 1</a:t>
            </a:r>
            <a:endParaRPr sz="1400">
              <a:solidFill>
                <a:srgbClr val="808080"/>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808080"/>
                </a:solidFill>
                <a:highlight>
                  <a:srgbClr val="2B2B2B"/>
                </a:highlight>
                <a:latin typeface="Courier New"/>
                <a:ea typeface="Courier New"/>
                <a:cs typeface="Courier New"/>
                <a:sym typeface="Courier New"/>
              </a:rPr>
              <a:t>       </a:t>
            </a:r>
            <a:r>
              <a:rPr lang="es" sz="1400">
                <a:solidFill>
                  <a:srgbClr val="CC7832"/>
                </a:solidFill>
                <a:highlight>
                  <a:srgbClr val="2B2B2B"/>
                </a:highlight>
                <a:latin typeface="Courier New"/>
                <a:ea typeface="Courier New"/>
                <a:cs typeface="Courier New"/>
                <a:sym typeface="Courier New"/>
              </a:rPr>
              <a:t>for </a:t>
            </a:r>
            <a:r>
              <a:rPr lang="es" sz="1400">
                <a:solidFill>
                  <a:srgbClr val="A9B7C6"/>
                </a:solidFill>
                <a:highlight>
                  <a:srgbClr val="2B2B2B"/>
                </a:highlight>
                <a:latin typeface="Courier New"/>
                <a:ea typeface="Courier New"/>
                <a:cs typeface="Courier New"/>
                <a:sym typeface="Courier New"/>
              </a:rPr>
              <a:t>moneda </a:t>
            </a:r>
            <a:r>
              <a:rPr lang="es" sz="1400">
                <a:solidFill>
                  <a:srgbClr val="CC7832"/>
                </a:solidFill>
                <a:highlight>
                  <a:srgbClr val="2B2B2B"/>
                </a:highlight>
                <a:latin typeface="Courier New"/>
                <a:ea typeface="Courier New"/>
                <a:cs typeface="Courier New"/>
                <a:sym typeface="Courier New"/>
              </a:rPr>
              <a:t>in </a:t>
            </a:r>
            <a:r>
              <a:rPr lang="es" sz="1400">
                <a:solidFill>
                  <a:srgbClr val="A9B7C6"/>
                </a:solidFill>
                <a:highlight>
                  <a:srgbClr val="2B2B2B"/>
                </a:highlight>
                <a:latin typeface="Courier New"/>
                <a:ea typeface="Courier New"/>
                <a:cs typeface="Courier New"/>
                <a:sym typeface="Courier New"/>
              </a:rPr>
              <a:t>sist_monetario:</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a:t>
            </a:r>
            <a:r>
              <a:rPr lang="es" sz="1400">
                <a:solidFill>
                  <a:srgbClr val="CC7832"/>
                </a:solidFill>
                <a:highlight>
                  <a:srgbClr val="2B2B2B"/>
                </a:highlight>
                <a:latin typeface="Courier New"/>
                <a:ea typeface="Courier New"/>
                <a:cs typeface="Courier New"/>
                <a:sym typeface="Courier New"/>
              </a:rPr>
              <a:t>if </a:t>
            </a:r>
            <a:r>
              <a:rPr lang="es" sz="1400">
                <a:solidFill>
                  <a:srgbClr val="A9B7C6"/>
                </a:solidFill>
                <a:highlight>
                  <a:srgbClr val="2B2B2B"/>
                </a:highlight>
                <a:latin typeface="Courier New"/>
                <a:ea typeface="Courier New"/>
                <a:cs typeface="Courier New"/>
                <a:sym typeface="Courier New"/>
              </a:rPr>
              <a:t>moneda &gt; i:</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a:t>
            </a:r>
            <a:r>
              <a:rPr lang="es" sz="1400">
                <a:solidFill>
                  <a:srgbClr val="CC7832"/>
                </a:solidFill>
                <a:highlight>
                  <a:srgbClr val="2B2B2B"/>
                </a:highlight>
                <a:latin typeface="Courier New"/>
                <a:ea typeface="Courier New"/>
                <a:cs typeface="Courier New"/>
                <a:sym typeface="Courier New"/>
              </a:rPr>
              <a:t>continue</a:t>
            </a:r>
            <a:endParaRPr sz="1400">
              <a:solidFill>
                <a:srgbClr val="CC7832"/>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CC7832"/>
                </a:solidFill>
                <a:highlight>
                  <a:srgbClr val="2B2B2B"/>
                </a:highlight>
                <a:latin typeface="Courier New"/>
                <a:ea typeface="Courier New"/>
                <a:cs typeface="Courier New"/>
                <a:sym typeface="Courier New"/>
              </a:rPr>
              <a:t>           </a:t>
            </a:r>
            <a:r>
              <a:rPr lang="es" sz="1400">
                <a:solidFill>
                  <a:srgbClr val="A9B7C6"/>
                </a:solidFill>
                <a:highlight>
                  <a:srgbClr val="2B2B2B"/>
                </a:highlight>
                <a:latin typeface="Courier New"/>
                <a:ea typeface="Courier New"/>
                <a:cs typeface="Courier New"/>
                <a:sym typeface="Courier New"/>
              </a:rPr>
              <a:t>cantidad = </a:t>
            </a:r>
            <a:r>
              <a:rPr lang="es" sz="1400">
                <a:solidFill>
                  <a:srgbClr val="6897BB"/>
                </a:solidFill>
                <a:highlight>
                  <a:srgbClr val="2B2B2B"/>
                </a:highlight>
                <a:latin typeface="Courier New"/>
                <a:ea typeface="Courier New"/>
                <a:cs typeface="Courier New"/>
                <a:sym typeface="Courier New"/>
              </a:rPr>
              <a:t>1 </a:t>
            </a:r>
            <a:r>
              <a:rPr lang="es" sz="1400">
                <a:solidFill>
                  <a:srgbClr val="A9B7C6"/>
                </a:solidFill>
                <a:highlight>
                  <a:srgbClr val="2B2B2B"/>
                </a:highlight>
                <a:latin typeface="Courier New"/>
                <a:ea typeface="Courier New"/>
                <a:cs typeface="Courier New"/>
                <a:sym typeface="Courier New"/>
              </a:rPr>
              <a:t>+ cant[i - moneda]</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a:t>
            </a:r>
            <a:r>
              <a:rPr lang="es" sz="1400">
                <a:solidFill>
                  <a:srgbClr val="CC7832"/>
                </a:solidFill>
                <a:highlight>
                  <a:srgbClr val="2B2B2B"/>
                </a:highlight>
                <a:latin typeface="Courier New"/>
                <a:ea typeface="Courier New"/>
                <a:cs typeface="Courier New"/>
                <a:sym typeface="Courier New"/>
              </a:rPr>
              <a:t>if </a:t>
            </a:r>
            <a:r>
              <a:rPr lang="es" sz="1400">
                <a:solidFill>
                  <a:srgbClr val="A9B7C6"/>
                </a:solidFill>
                <a:highlight>
                  <a:srgbClr val="2B2B2B"/>
                </a:highlight>
                <a:latin typeface="Courier New"/>
                <a:ea typeface="Courier New"/>
                <a:cs typeface="Courier New"/>
                <a:sym typeface="Courier New"/>
              </a:rPr>
              <a:t>cantidad &lt; minimo:</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minimo = cantidad</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s" sz="1400">
                <a:solidFill>
                  <a:srgbClr val="A9B7C6"/>
                </a:solidFill>
                <a:highlight>
                  <a:srgbClr val="2B2B2B"/>
                </a:highlight>
                <a:latin typeface="Courier New"/>
                <a:ea typeface="Courier New"/>
                <a:cs typeface="Courier New"/>
                <a:sym typeface="Courier New"/>
              </a:rPr>
              <a:t>       cant[i] = minimo</a:t>
            </a:r>
            <a:endParaRPr sz="1400">
              <a:solidFill>
                <a:srgbClr val="A9B7C6"/>
              </a:solidFill>
              <a:highlight>
                <a:srgbClr val="2B2B2B"/>
              </a:highlight>
              <a:latin typeface="Courier New"/>
              <a:ea typeface="Courier New"/>
              <a:cs typeface="Courier New"/>
              <a:sym typeface="Courier New"/>
            </a:endParaRPr>
          </a:p>
          <a:p>
            <a:pPr indent="457200" lvl="0" marL="0" rtl="0" algn="l">
              <a:spcBef>
                <a:spcPts val="0"/>
              </a:spcBef>
              <a:spcAft>
                <a:spcPts val="0"/>
              </a:spcAft>
              <a:buNone/>
            </a:pPr>
            <a:r>
              <a:rPr lang="es" sz="1400">
                <a:solidFill>
                  <a:srgbClr val="A9B7C6"/>
                </a:solidFill>
                <a:highlight>
                  <a:srgbClr val="2B2B2B"/>
                </a:highlight>
                <a:latin typeface="Courier New"/>
                <a:ea typeface="Courier New"/>
                <a:cs typeface="Courier New"/>
                <a:sym typeface="Courier New"/>
              </a:rPr>
              <a:t>   </a:t>
            </a:r>
            <a:r>
              <a:rPr lang="es" sz="1400">
                <a:solidFill>
                  <a:srgbClr val="CC7832"/>
                </a:solidFill>
                <a:highlight>
                  <a:srgbClr val="2B2B2B"/>
                </a:highlight>
                <a:latin typeface="Courier New"/>
                <a:ea typeface="Courier New"/>
                <a:cs typeface="Courier New"/>
                <a:sym typeface="Courier New"/>
              </a:rPr>
              <a:t>return </a:t>
            </a:r>
            <a:r>
              <a:rPr lang="es" sz="1400">
                <a:solidFill>
                  <a:srgbClr val="A9B7C6"/>
                </a:solidFill>
                <a:highlight>
                  <a:srgbClr val="2B2B2B"/>
                </a:highlight>
                <a:latin typeface="Courier New"/>
                <a:ea typeface="Courier New"/>
                <a:cs typeface="Courier New"/>
                <a:sym typeface="Courier New"/>
              </a:rPr>
              <a:t>cant[dinero]</a:t>
            </a:r>
            <a:endParaRPr sz="24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Priviusly en Algoritmos II</a:t>
            </a:r>
            <a:endParaRPr/>
          </a:p>
        </p:txBody>
      </p:sp>
      <p:sp>
        <p:nvSpPr>
          <p:cNvPr id="98" name="Google Shape;98;p19"/>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 el objetivo de conectar materias anteriores, podemos tratar de encontrar algún algoritmo visto que sea de Programación Dinámica.</a:t>
            </a:r>
            <a:endParaRPr/>
          </a:p>
          <a:p>
            <a:pPr indent="0" lvl="0" marL="0" rtl="0" algn="l">
              <a:spcBef>
                <a:spcPts val="1600"/>
              </a:spcBef>
              <a:spcAft>
                <a:spcPts val="0"/>
              </a:spcAft>
              <a:buNone/>
            </a:pPr>
            <a:r>
              <a:rPr lang="es"/>
              <a:t>¿Existe</a:t>
            </a:r>
            <a:r>
              <a:rPr lang="es"/>
              <a:t> alguno?</a:t>
            </a:r>
            <a:endParaRPr/>
          </a:p>
          <a:p>
            <a:pPr indent="0" lvl="0" marL="0" rtl="0" algn="l">
              <a:spcBef>
                <a:spcPts val="1600"/>
              </a:spcBef>
              <a:spcAft>
                <a:spcPts val="0"/>
              </a:spcAft>
              <a:buNone/>
            </a:pPr>
            <a:r>
              <a:rPr lang="es"/>
              <a:t>Pista: nos ayuda a encontrar caminos mínimos</a:t>
            </a:r>
            <a:endParaRPr/>
          </a:p>
          <a:p>
            <a:pPr indent="0" lvl="0" marL="0" rtl="0" algn="l">
              <a:spcBef>
                <a:spcPts val="1600"/>
              </a:spcBef>
              <a:spcAft>
                <a:spcPts val="0"/>
              </a:spcAft>
              <a:buNone/>
            </a:pPr>
            <a:r>
              <a:rPr lang="es"/>
              <a:t>¿Cómo</a:t>
            </a:r>
            <a:r>
              <a:rPr lang="es"/>
              <a:t> que Djisktra? Ya vimos que es Greedy</a:t>
            </a:r>
            <a:endParaRPr/>
          </a:p>
          <a:p>
            <a:pPr indent="0" lvl="0" marL="0" rtl="0" algn="l">
              <a:spcBef>
                <a:spcPts val="1600"/>
              </a:spcBef>
              <a:spcAft>
                <a:spcPts val="1600"/>
              </a:spcAft>
              <a:buNone/>
            </a:pPr>
            <a:r>
              <a:rPr lang="es"/>
              <a:t>Es el Algoritmo de Bellman-Ford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Bellman-Ford</a:t>
            </a:r>
            <a:endParaRPr/>
          </a:p>
        </p:txBody>
      </p:sp>
      <p:sp>
        <p:nvSpPr>
          <p:cNvPr id="104" name="Google Shape;104;p2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a:t>
            </a:r>
            <a:r>
              <a:rPr lang="es"/>
              <a:t>ermite resolver el problema del Camino Mínimo desde un vértice, </a:t>
            </a:r>
            <a:r>
              <a:rPr lang="es"/>
              <a:t>para grafos dirigidos,</a:t>
            </a:r>
            <a:r>
              <a:rPr lang="es"/>
              <a:t> en casos en que haya presencia de aristas negativas mientras no hayan ciclos negativos.</a:t>
            </a:r>
            <a:endParaRPr/>
          </a:p>
          <a:p>
            <a:pPr indent="0" lvl="0" marL="0" rtl="0" algn="l">
              <a:spcBef>
                <a:spcPts val="1600"/>
              </a:spcBef>
              <a:spcAft>
                <a:spcPts val="1600"/>
              </a:spcAft>
              <a:buNone/>
            </a:pPr>
            <a:r>
              <a:rPr lang="es"/>
              <a:t>¿Por</a:t>
            </a:r>
            <a:r>
              <a:rPr lang="es"/>
              <a:t> qué no resuelve si hay un ciclo negativo?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Bellman-Ford: Idea</a:t>
            </a:r>
            <a:endParaRPr/>
          </a:p>
        </p:txBody>
      </p:sp>
      <p:sp>
        <p:nvSpPr>
          <p:cNvPr id="110" name="Google Shape;110;p21"/>
          <p:cNvSpPr txBox="1"/>
          <p:nvPr>
            <p:ph idx="1" type="body"/>
          </p:nvPr>
        </p:nvSpPr>
        <p:spPr>
          <a:xfrm>
            <a:off x="311700" y="1171600"/>
            <a:ext cx="8520600" cy="373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Inicializar todos los vértices en infinito y padres en None. El origen lo ponemos a distancia 0. </a:t>
            </a:r>
            <a:endParaRPr/>
          </a:p>
          <a:p>
            <a:pPr indent="-342900" lvl="0" marL="457200" rtl="0" algn="l">
              <a:spcBef>
                <a:spcPts val="0"/>
              </a:spcBef>
              <a:spcAft>
                <a:spcPts val="0"/>
              </a:spcAft>
              <a:buSzPts val="1800"/>
              <a:buChar char="●"/>
            </a:pPr>
            <a:r>
              <a:rPr lang="es"/>
              <a:t>Iterando V veces, sobre TODAS las aristas y se busca la posibilidad de actualizar los pesos, buscando mejorar el camino mínimo. La diferencia con Dijkstra es que un camino descubierto puede mejorar gracias a las aristas negativas.</a:t>
            </a:r>
            <a:endParaRPr/>
          </a:p>
          <a:p>
            <a:pPr indent="-342900" lvl="0" marL="457200" rtl="0" algn="l">
              <a:spcBef>
                <a:spcPts val="0"/>
              </a:spcBef>
              <a:spcAft>
                <a:spcPts val="0"/>
              </a:spcAft>
              <a:buSzPts val="1800"/>
              <a:buChar char="●"/>
            </a:pPr>
            <a:r>
              <a:rPr lang="es"/>
              <a:t>Una vez finalizadas las V iteraciones, se verifica si aún se actualizan los pesos: en ese caso estamos ante un ciclo negativo.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Bellman-Ford: ¿es de PD?</a:t>
            </a:r>
            <a:endParaRPr/>
          </a:p>
        </p:txBody>
      </p:sp>
      <p:sp>
        <p:nvSpPr>
          <p:cNvPr id="116" name="Google Shape;116;p22"/>
          <p:cNvSpPr txBox="1"/>
          <p:nvPr>
            <p:ph idx="1" type="body"/>
          </p:nvPr>
        </p:nvSpPr>
        <p:spPr>
          <a:xfrm>
            <a:off x="311700" y="1171600"/>
            <a:ext cx="8520600" cy="373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El algoritmo de Dijkstra es Greedy ya que toma su decisión en base a una regla greedy: visitar siempre el próximo vértice más cercano.</a:t>
            </a:r>
            <a:endParaRPr/>
          </a:p>
          <a:p>
            <a:pPr indent="-342900" lvl="0" marL="457200" rtl="0" algn="l">
              <a:spcBef>
                <a:spcPts val="0"/>
              </a:spcBef>
              <a:spcAft>
                <a:spcPts val="0"/>
              </a:spcAft>
              <a:buSzPts val="1800"/>
              <a:buChar char="●"/>
            </a:pPr>
            <a:r>
              <a:rPr lang="es"/>
              <a:t>No funciona en casos de aristas negativas ya que </a:t>
            </a:r>
            <a:r>
              <a:rPr lang="es"/>
              <a:t>implicaría</a:t>
            </a:r>
            <a:r>
              <a:rPr lang="es"/>
              <a:t> cambiar un camino mínimo ya decidido, poder mejorar una solución ya calculada.</a:t>
            </a:r>
            <a:endParaRPr/>
          </a:p>
          <a:p>
            <a:pPr indent="-342900" lvl="0" marL="457200" rtl="0" algn="l">
              <a:spcBef>
                <a:spcPts val="0"/>
              </a:spcBef>
              <a:spcAft>
                <a:spcPts val="0"/>
              </a:spcAft>
              <a:buSzPts val="1800"/>
              <a:buChar char="●"/>
            </a:pPr>
            <a:r>
              <a:rPr lang="es"/>
              <a:t>Bellman-Ford considera la existencia de aristas negativas, sabiendo que puede llegar a tener que cambiar los caminos mínimos.</a:t>
            </a:r>
            <a:endParaRPr/>
          </a:p>
          <a:p>
            <a:pPr indent="-342900" lvl="0" marL="457200" rtl="0" algn="l">
              <a:spcBef>
                <a:spcPts val="0"/>
              </a:spcBef>
              <a:spcAft>
                <a:spcPts val="0"/>
              </a:spcAft>
              <a:buSzPts val="1800"/>
              <a:buChar char="●"/>
            </a:pPr>
            <a:r>
              <a:rPr lang="es"/>
              <a:t>Para analizarlo de forma ordenada, plantea la forma de los sub-problemas como: encontrar el camino mínimo sabiendo que solamente podemos pasar por N vértices.</a:t>
            </a:r>
            <a:endParaRPr/>
          </a:p>
          <a:p>
            <a:pPr indent="-342900" lvl="0" marL="457200" rtl="0" algn="l">
              <a:spcBef>
                <a:spcPts val="0"/>
              </a:spcBef>
              <a:spcAft>
                <a:spcPts val="0"/>
              </a:spcAft>
              <a:buSzPts val="1800"/>
              <a:buChar char="●"/>
            </a:pPr>
            <a:r>
              <a:rPr lang="es"/>
              <a:t>Resuelve el problema iterativamente desde N=0 hasta N= #vértices.</a:t>
            </a:r>
            <a:endParaRPr/>
          </a:p>
          <a:p>
            <a:pPr indent="-342900" lvl="0" marL="457200" rtl="0" algn="l">
              <a:spcBef>
                <a:spcPts val="0"/>
              </a:spcBef>
              <a:spcAft>
                <a:spcPts val="0"/>
              </a:spcAft>
              <a:buSzPts val="1800"/>
              <a:buChar char="●"/>
            </a:pPr>
            <a:r>
              <a:rPr lang="es"/>
              <a:t>Ningún camino óptimo puede atravesar más de V vértices.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Bellman-Ford: Código</a:t>
            </a:r>
            <a:endParaRPr/>
          </a:p>
        </p:txBody>
      </p:sp>
      <p:sp>
        <p:nvSpPr>
          <p:cNvPr id="122" name="Google Shape;122;p2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s" sz="2000">
                <a:latin typeface="Consolas"/>
                <a:ea typeface="Consolas"/>
                <a:cs typeface="Consolas"/>
                <a:sym typeface="Consolas"/>
              </a:rPr>
              <a:t>def obtener_aristas(grafo):</a:t>
            </a:r>
            <a:endParaRPr sz="2000">
              <a:latin typeface="Consolas"/>
              <a:ea typeface="Consolas"/>
              <a:cs typeface="Consolas"/>
              <a:sym typeface="Consolas"/>
            </a:endParaRPr>
          </a:p>
          <a:p>
            <a:pPr indent="457200" lvl="0" marL="0" rtl="0" algn="l">
              <a:spcBef>
                <a:spcPts val="0"/>
              </a:spcBef>
              <a:spcAft>
                <a:spcPts val="0"/>
              </a:spcAft>
              <a:buNone/>
            </a:pPr>
            <a:r>
              <a:rPr lang="es" sz="2000">
                <a:latin typeface="Consolas"/>
                <a:ea typeface="Consolas"/>
                <a:cs typeface="Consolas"/>
                <a:sym typeface="Consolas"/>
              </a:rPr>
              <a:t>	resul = []</a:t>
            </a:r>
            <a:endParaRPr sz="2000">
              <a:latin typeface="Consolas"/>
              <a:ea typeface="Consolas"/>
              <a:cs typeface="Consolas"/>
              <a:sym typeface="Consolas"/>
            </a:endParaRPr>
          </a:p>
          <a:p>
            <a:pPr indent="457200" lvl="0" marL="0" rtl="0" algn="l">
              <a:spcBef>
                <a:spcPts val="0"/>
              </a:spcBef>
              <a:spcAft>
                <a:spcPts val="0"/>
              </a:spcAft>
              <a:buNone/>
            </a:pPr>
            <a:r>
              <a:rPr lang="es" sz="2000">
                <a:latin typeface="Consolas"/>
                <a:ea typeface="Consolas"/>
                <a:cs typeface="Consolas"/>
                <a:sym typeface="Consolas"/>
              </a:rPr>
              <a:t>	for v in grafo:</a:t>
            </a:r>
            <a:endParaRPr sz="2000">
              <a:latin typeface="Consolas"/>
              <a:ea typeface="Consolas"/>
              <a:cs typeface="Consolas"/>
              <a:sym typeface="Consolas"/>
            </a:endParaRPr>
          </a:p>
          <a:p>
            <a:pPr indent="457200" lvl="0" marL="0" rtl="0" algn="l">
              <a:spcBef>
                <a:spcPts val="0"/>
              </a:spcBef>
              <a:spcAft>
                <a:spcPts val="0"/>
              </a:spcAft>
              <a:buNone/>
            </a:pPr>
            <a:r>
              <a:rPr lang="es" sz="2000">
                <a:latin typeface="Consolas"/>
                <a:ea typeface="Consolas"/>
                <a:cs typeface="Consolas"/>
                <a:sym typeface="Consolas"/>
              </a:rPr>
              <a:t>		for w in grafo.adyacentes(v):</a:t>
            </a:r>
            <a:endParaRPr sz="2000">
              <a:latin typeface="Consolas"/>
              <a:ea typeface="Consolas"/>
              <a:cs typeface="Consolas"/>
              <a:sym typeface="Consolas"/>
            </a:endParaRPr>
          </a:p>
          <a:p>
            <a:pPr indent="457200" lvl="0" marL="0" rtl="0" algn="l">
              <a:spcBef>
                <a:spcPts val="0"/>
              </a:spcBef>
              <a:spcAft>
                <a:spcPts val="0"/>
              </a:spcAft>
              <a:buNone/>
            </a:pPr>
            <a:r>
              <a:rPr lang="es" sz="2000">
                <a:latin typeface="Consolas"/>
                <a:ea typeface="Consolas"/>
                <a:cs typeface="Consolas"/>
                <a:sym typeface="Consolas"/>
              </a:rPr>
              <a:t>			resul.append((v, w, grafo.peso_arista(v, w)))</a:t>
            </a:r>
            <a:endParaRPr sz="2000">
              <a:latin typeface="Consolas"/>
              <a:ea typeface="Consolas"/>
              <a:cs typeface="Consolas"/>
              <a:sym typeface="Consolas"/>
            </a:endParaRPr>
          </a:p>
          <a:p>
            <a:pPr indent="457200" lvl="0" marL="0" rtl="0" algn="l">
              <a:spcBef>
                <a:spcPts val="0"/>
              </a:spcBef>
              <a:spcAft>
                <a:spcPts val="0"/>
              </a:spcAft>
              <a:buNone/>
            </a:pPr>
            <a:r>
              <a:rPr lang="es" sz="2000">
                <a:latin typeface="Consolas"/>
                <a:ea typeface="Consolas"/>
                <a:cs typeface="Consolas"/>
                <a:sym typeface="Consolas"/>
              </a:rPr>
              <a:t>	return resul</a:t>
            </a:r>
            <a:endParaRPr sz="2000">
              <a:latin typeface="Consolas"/>
              <a:ea typeface="Consolas"/>
              <a:cs typeface="Consolas"/>
              <a:sym typeface="Consolas"/>
            </a:endParaRPr>
          </a:p>
          <a:p>
            <a:pPr indent="457200" lvl="0" marL="0" rtl="0" algn="l">
              <a:spcBef>
                <a:spcPts val="0"/>
              </a:spcBef>
              <a:spcAft>
                <a:spcPts val="0"/>
              </a:spcAft>
              <a:buNone/>
            </a:pPr>
            <a:r>
              <a:t/>
            </a:r>
            <a:endParaRPr sz="2000">
              <a:latin typeface="Consolas"/>
              <a:ea typeface="Consolas"/>
              <a:cs typeface="Consolas"/>
              <a:sym typeface="Consolas"/>
            </a:endParaRPr>
          </a:p>
          <a:p>
            <a:pPr indent="457200" lvl="0" marL="0" rtl="0" algn="l">
              <a:spcBef>
                <a:spcPts val="0"/>
              </a:spcBef>
              <a:spcAft>
                <a:spcPts val="0"/>
              </a:spcAft>
              <a:buClr>
                <a:schemeClr val="dk1"/>
              </a:buClr>
              <a:buSzPts val="1100"/>
              <a:buFont typeface="Arial"/>
              <a:buNone/>
            </a:pPr>
            <a:r>
              <a:t/>
            </a:r>
            <a:endParaRPr sz="2000">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64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Bellman-Ford: Código</a:t>
            </a:r>
            <a:endParaRPr/>
          </a:p>
        </p:txBody>
      </p:sp>
      <p:sp>
        <p:nvSpPr>
          <p:cNvPr id="128" name="Google Shape;128;p24"/>
          <p:cNvSpPr txBox="1"/>
          <p:nvPr>
            <p:ph idx="1" type="body"/>
          </p:nvPr>
        </p:nvSpPr>
        <p:spPr>
          <a:xfrm>
            <a:off x="311700" y="638200"/>
            <a:ext cx="8520600" cy="41871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s" sz="1350">
                <a:latin typeface="Consolas"/>
                <a:ea typeface="Consolas"/>
                <a:cs typeface="Consolas"/>
                <a:sym typeface="Consolas"/>
              </a:rPr>
              <a:t>def camino_minimo_bf(grafo, origen):</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distancia = {}</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padre = {}</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for v in grafo:</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distancia[v] = infinito</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distancia[origen] = 0</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padre[origen] = None</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aristas = obtener_aristas(grafo)</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for i in range(len(grafo)):</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for v, w, peso in aristas:</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if distancia[v] + peso &lt; distancia[w]:</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padre[w] = v</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distancia[w] = distancia[v] + peso</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for v, w, peso in aristas:</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if distancia[v] + peso &lt; distancia[w]:</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return None # Hay un ciclo negativo (lanzar excep)</a:t>
            </a:r>
            <a:endParaRPr sz="1350">
              <a:latin typeface="Consolas"/>
              <a:ea typeface="Consolas"/>
              <a:cs typeface="Consolas"/>
              <a:sym typeface="Consolas"/>
            </a:endParaRPr>
          </a:p>
          <a:p>
            <a:pPr indent="457200" lvl="0" marL="0" rtl="0" algn="l">
              <a:spcBef>
                <a:spcPts val="0"/>
              </a:spcBef>
              <a:spcAft>
                <a:spcPts val="0"/>
              </a:spcAft>
              <a:buNone/>
            </a:pPr>
            <a:r>
              <a:rPr lang="es" sz="1350">
                <a:latin typeface="Consolas"/>
                <a:ea typeface="Consolas"/>
                <a:cs typeface="Consolas"/>
                <a:sym typeface="Consolas"/>
              </a:rPr>
              <a:t>	return padre, distancia</a:t>
            </a:r>
            <a:endParaRPr sz="135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Bellman-Ford: Bibliografía</a:t>
            </a:r>
            <a:endParaRPr/>
          </a:p>
        </p:txBody>
      </p:sp>
      <p:sp>
        <p:nvSpPr>
          <p:cNvPr id="134" name="Google Shape;134;p25"/>
          <p:cNvSpPr txBox="1"/>
          <p:nvPr>
            <p:ph idx="1" type="body"/>
          </p:nvPr>
        </p:nvSpPr>
        <p:spPr>
          <a:xfrm>
            <a:off x="311700" y="1171600"/>
            <a:ext cx="8520600" cy="38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Pueden consultar este algoritmo y su construcción en detalle en la sección 6.8 del Libro Algorithm Design de Kleinberg y Tardos.</a:t>
            </a:r>
            <a:endParaRPr/>
          </a:p>
          <a:p>
            <a:pPr indent="0" lvl="0" marL="0" rtl="0" algn="l">
              <a:spcBef>
                <a:spcPts val="1600"/>
              </a:spcBef>
              <a:spcAft>
                <a:spcPts val="1600"/>
              </a:spcAft>
              <a:buNone/>
            </a:pPr>
            <a:r>
              <a:rPr lang="es"/>
              <a:t>Es tema de Algoritmos y Estructuras de Datos, ac</a:t>
            </a:r>
            <a:r>
              <a:rPr lang="es"/>
              <a:t>á nos centramos en ver que aplica a esta técnica.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Algoritmo de Floyd-Warshall</a:t>
            </a:r>
            <a:endParaRPr/>
          </a:p>
        </p:txBody>
      </p:sp>
      <p:sp>
        <p:nvSpPr>
          <p:cNvPr id="140" name="Google Shape;140;p2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Permite resolver el problema del Camino Mínimo, para grafos dirigidos, en casos en que haya presencia de aristas negativas mientras no hayan ciclos negativos.</a:t>
            </a:r>
            <a:endParaRPr/>
          </a:p>
          <a:p>
            <a:pPr indent="0" lvl="0" marL="0" rtl="0" algn="l">
              <a:spcBef>
                <a:spcPts val="1600"/>
              </a:spcBef>
              <a:spcAft>
                <a:spcPts val="0"/>
              </a:spcAft>
              <a:buNone/>
            </a:pPr>
            <a:r>
              <a:rPr lang="es"/>
              <a:t>¿Qué</a:t>
            </a:r>
            <a:r>
              <a:rPr lang="es"/>
              <a:t> tiene de distinto?</a:t>
            </a:r>
            <a:endParaRPr/>
          </a:p>
          <a:p>
            <a:pPr indent="0" lvl="0" marL="0" rtl="0" algn="l">
              <a:spcBef>
                <a:spcPts val="1600"/>
              </a:spcBef>
              <a:spcAft>
                <a:spcPts val="0"/>
              </a:spcAft>
              <a:buNone/>
            </a:pPr>
            <a:r>
              <a:rPr lang="es"/>
              <a:t>Lo resuelve para todo origen y todo destino, es decir, de cualquier vértice a cualquier otro vértice</a:t>
            </a:r>
            <a:endParaRPr/>
          </a:p>
          <a:p>
            <a:pPr indent="0" lvl="0" marL="0" rtl="0" algn="l">
              <a:spcBef>
                <a:spcPts val="1600"/>
              </a:spcBef>
              <a:spcAft>
                <a:spcPts val="1600"/>
              </a:spcAft>
              <a:buNone/>
            </a:pPr>
            <a:r>
              <a:rPr lang="es"/>
              <a:t>También usa Programación Dinámica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Edición o Alineamiento de Secuencias</a:t>
            </a:r>
            <a:endParaRPr sz="2800"/>
          </a:p>
        </p:txBody>
      </p:sp>
      <p:pic>
        <p:nvPicPr>
          <p:cNvPr id="146" name="Google Shape;146;p27"/>
          <p:cNvPicPr preferRelativeResize="0"/>
          <p:nvPr/>
        </p:nvPicPr>
        <p:blipFill>
          <a:blip r:embed="rId3">
            <a:alphaModFix/>
          </a:blip>
          <a:stretch>
            <a:fillRect/>
          </a:stretch>
        </p:blipFill>
        <p:spPr>
          <a:xfrm>
            <a:off x="0" y="982029"/>
            <a:ext cx="9144000" cy="2434442"/>
          </a:xfrm>
          <a:prstGeom prst="rect">
            <a:avLst/>
          </a:prstGeom>
          <a:noFill/>
          <a:ln>
            <a:noFill/>
          </a:ln>
        </p:spPr>
      </p:pic>
      <p:pic>
        <p:nvPicPr>
          <p:cNvPr id="147" name="Google Shape;147;p27"/>
          <p:cNvPicPr preferRelativeResize="0"/>
          <p:nvPr/>
        </p:nvPicPr>
        <p:blipFill>
          <a:blip r:embed="rId4">
            <a:alphaModFix/>
          </a:blip>
          <a:stretch>
            <a:fillRect/>
          </a:stretch>
        </p:blipFill>
        <p:spPr>
          <a:xfrm>
            <a:off x="89650" y="1533985"/>
            <a:ext cx="3494350" cy="3480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Alerta</a:t>
            </a:r>
            <a:endParaRPr/>
          </a:p>
        </p:txBody>
      </p:sp>
      <p:sp>
        <p:nvSpPr>
          <p:cNvPr id="153" name="Google Shape;153;p28"/>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Esta secci</a:t>
            </a:r>
            <a:r>
              <a:rPr lang="es"/>
              <a:t>ón puede dar altos niveles de cringe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800"/>
              <a:t>Distancia de Edición</a:t>
            </a:r>
            <a:endParaRPr/>
          </a:p>
        </p:txBody>
      </p:sp>
      <p:sp>
        <p:nvSpPr>
          <p:cNvPr id="159" name="Google Shape;159;p29"/>
          <p:cNvSpPr txBox="1"/>
          <p:nvPr>
            <p:ph idx="1" type="body"/>
          </p:nvPr>
        </p:nvSpPr>
        <p:spPr>
          <a:xfrm>
            <a:off x="311700" y="1171600"/>
            <a:ext cx="8520600" cy="390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700"/>
              <a:t>Ali</a:t>
            </a:r>
            <a:r>
              <a:rPr i="1" lang="es" sz="3700"/>
              <a:t>mias</a:t>
            </a:r>
            <a:r>
              <a:rPr lang="es" sz="3700"/>
              <a:t>miento</a:t>
            </a:r>
            <a:endParaRPr sz="3700"/>
          </a:p>
          <a:p>
            <a:pPr indent="0" lvl="0" marL="0" rtl="0" algn="l">
              <a:spcBef>
                <a:spcPts val="1600"/>
              </a:spcBef>
              <a:spcAft>
                <a:spcPts val="0"/>
              </a:spcAft>
              <a:buNone/>
            </a:pPr>
            <a:r>
              <a:rPr lang="es" sz="3700"/>
              <a:t>Ali</a:t>
            </a:r>
            <a:r>
              <a:rPr b="1" lang="es" sz="3700"/>
              <a:t>ne</a:t>
            </a:r>
            <a:r>
              <a:rPr lang="es" sz="3700"/>
              <a:t>a</a:t>
            </a:r>
            <a:r>
              <a:rPr b="1" lang="es" sz="3700"/>
              <a:t>-</a:t>
            </a:r>
            <a:r>
              <a:rPr lang="es" sz="3700"/>
              <a:t>miento</a:t>
            </a:r>
            <a:endParaRPr sz="3700"/>
          </a:p>
          <a:p>
            <a:pPr indent="0" lvl="0" marL="0" rtl="0" algn="l">
              <a:spcBef>
                <a:spcPts val="1600"/>
              </a:spcBef>
              <a:spcAft>
                <a:spcPts val="0"/>
              </a:spcAft>
              <a:buNone/>
            </a:pPr>
            <a:r>
              <a:rPr lang="es"/>
              <a:t>Algunas ediciones de la primera palabra dan como resultado la segunda palabra. En este caso, se requiere reemplazar unas letras, agregar algunas y suprimir otras.</a:t>
            </a:r>
            <a:endParaRPr/>
          </a:p>
          <a:p>
            <a:pPr indent="0" lvl="0" marL="0" rtl="0" algn="l">
              <a:spcBef>
                <a:spcPts val="1600"/>
              </a:spcBef>
              <a:spcAft>
                <a:spcPts val="1600"/>
              </a:spcAft>
              <a:buNone/>
            </a:pPr>
            <a:r>
              <a:rPr lang="es"/>
              <a:t>¿Cuál</a:t>
            </a:r>
            <a:r>
              <a:rPr lang="es"/>
              <a:t> será la mejor manera de ali</a:t>
            </a:r>
            <a:r>
              <a:rPr lang="es"/>
              <a:t>e</a:t>
            </a:r>
            <a:r>
              <a:rPr lang="es"/>
              <a:t>nar dos cadenas?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Edición</a:t>
            </a:r>
            <a:endParaRPr/>
          </a:p>
        </p:txBody>
      </p:sp>
      <p:sp>
        <p:nvSpPr>
          <p:cNvPr id="165" name="Google Shape;165;p30"/>
          <p:cNvSpPr txBox="1"/>
          <p:nvPr>
            <p:ph idx="1" type="body"/>
          </p:nvPr>
        </p:nvSpPr>
        <p:spPr>
          <a:xfrm>
            <a:off x="311700" y="1171600"/>
            <a:ext cx="8520600" cy="390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700"/>
              <a:t>Ali</a:t>
            </a:r>
            <a:r>
              <a:rPr i="1" lang="es" sz="3700"/>
              <a:t>mias</a:t>
            </a:r>
            <a:r>
              <a:rPr lang="es" sz="3700"/>
              <a:t>miento</a:t>
            </a:r>
            <a:endParaRPr sz="3700"/>
          </a:p>
          <a:p>
            <a:pPr indent="0" lvl="0" marL="0" rtl="0" algn="l">
              <a:spcBef>
                <a:spcPts val="1600"/>
              </a:spcBef>
              <a:spcAft>
                <a:spcPts val="0"/>
              </a:spcAft>
              <a:buNone/>
            </a:pPr>
            <a:r>
              <a:rPr lang="es" sz="3700"/>
              <a:t>Ali</a:t>
            </a:r>
            <a:r>
              <a:rPr b="1" lang="es" sz="3700"/>
              <a:t>ne</a:t>
            </a:r>
            <a:r>
              <a:rPr lang="es" sz="3700"/>
              <a:t>a</a:t>
            </a:r>
            <a:r>
              <a:rPr b="1" lang="es" sz="3700"/>
              <a:t>-</a:t>
            </a:r>
            <a:r>
              <a:rPr lang="es" sz="3700"/>
              <a:t>miento</a:t>
            </a:r>
            <a:endParaRPr sz="3700"/>
          </a:p>
          <a:p>
            <a:pPr indent="0" lvl="0" marL="0" rtl="0" algn="l">
              <a:spcBef>
                <a:spcPts val="1600"/>
              </a:spcBef>
              <a:spcAft>
                <a:spcPts val="0"/>
              </a:spcAft>
              <a:buClr>
                <a:schemeClr val="dk1"/>
              </a:buClr>
              <a:buSzPts val="1100"/>
              <a:buFont typeface="Arial"/>
              <a:buNone/>
            </a:pPr>
            <a:r>
              <a:rPr lang="es"/>
              <a:t>Algunas ediciones de la primera palabra dan como resultado la segunda palabra. En este caso, se requiere reemplazar unas letras, y suprimir otras.</a:t>
            </a:r>
            <a:endParaRPr/>
          </a:p>
          <a:p>
            <a:pPr indent="0" lvl="0" marL="0" rtl="0" algn="l">
              <a:spcBef>
                <a:spcPts val="1600"/>
              </a:spcBef>
              <a:spcAft>
                <a:spcPts val="1600"/>
              </a:spcAft>
              <a:buNone/>
            </a:pPr>
            <a:r>
              <a:rPr lang="es"/>
              <a:t>¿Cuál será la mejor manera de </a:t>
            </a:r>
            <a:r>
              <a:rPr lang="es" strike="sngStrike"/>
              <a:t>alienar</a:t>
            </a:r>
            <a:r>
              <a:rPr lang="es"/>
              <a:t> alinear</a:t>
            </a:r>
            <a:r>
              <a:rPr lang="es"/>
              <a:t> dos cadenas?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31"/>
          <p:cNvPicPr preferRelativeResize="0"/>
          <p:nvPr/>
        </p:nvPicPr>
        <p:blipFill>
          <a:blip r:embed="rId3">
            <a:alphaModFix/>
          </a:blip>
          <a:stretch>
            <a:fillRect/>
          </a:stretch>
        </p:blipFill>
        <p:spPr>
          <a:xfrm>
            <a:off x="2959825" y="1562900"/>
            <a:ext cx="3734660" cy="3397200"/>
          </a:xfrm>
          <a:prstGeom prst="rect">
            <a:avLst/>
          </a:prstGeom>
          <a:noFill/>
          <a:ln>
            <a:noFill/>
          </a:ln>
        </p:spPr>
      </p:pic>
      <p:sp>
        <p:nvSpPr>
          <p:cNvPr id="171" name="Google Shape;171;p31"/>
          <p:cNvSpPr txBox="1"/>
          <p:nvPr>
            <p:ph idx="1" type="body"/>
          </p:nvPr>
        </p:nvSpPr>
        <p:spPr>
          <a:xfrm>
            <a:off x="311700" y="1171600"/>
            <a:ext cx="8520600" cy="890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Se define que el mejor alineamiento entre dos cadenas es aquel que minimice la Distancia de Edison.</a:t>
            </a:r>
            <a:endParaRPr/>
          </a:p>
        </p:txBody>
      </p:sp>
      <p:sp>
        <p:nvSpPr>
          <p:cNvPr id="172" name="Google Shape;172;p3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Edison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Edición</a:t>
            </a:r>
            <a:endParaRPr/>
          </a:p>
        </p:txBody>
      </p:sp>
      <p:sp>
        <p:nvSpPr>
          <p:cNvPr id="178" name="Google Shape;178;p32"/>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define que el mejor alineamiento entre dos cadenas es aquel que minimice la </a:t>
            </a:r>
            <a:r>
              <a:rPr b="1" lang="es"/>
              <a:t>Distancia de Edición</a:t>
            </a:r>
            <a:r>
              <a:rPr lang="es"/>
              <a:t>. El criterio será:</a:t>
            </a:r>
            <a:endParaRPr/>
          </a:p>
          <a:p>
            <a:pPr indent="-342900" lvl="0" marL="457200" rtl="0" algn="l">
              <a:spcBef>
                <a:spcPts val="1600"/>
              </a:spcBef>
              <a:spcAft>
                <a:spcPts val="0"/>
              </a:spcAft>
              <a:buSzPts val="1800"/>
              <a:buChar char="●"/>
            </a:pPr>
            <a:r>
              <a:rPr lang="es"/>
              <a:t>Por cada par de letras que coinciden en el alineamiento, no hay costo</a:t>
            </a:r>
            <a:endParaRPr/>
          </a:p>
          <a:p>
            <a:pPr indent="-342900" lvl="0" marL="457200" rtl="0" algn="l">
              <a:spcBef>
                <a:spcPts val="0"/>
              </a:spcBef>
              <a:spcAft>
                <a:spcPts val="0"/>
              </a:spcAft>
              <a:buSzPts val="1800"/>
              <a:buChar char="●"/>
            </a:pPr>
            <a:r>
              <a:rPr lang="es"/>
              <a:t>Existe la penalidad </a:t>
            </a:r>
            <a:r>
              <a:rPr b="1" lang="es"/>
              <a:t>δ</a:t>
            </a:r>
            <a:r>
              <a:rPr lang="es"/>
              <a:t> que refiere a no alinear las letras. Una vrecha (gap)</a:t>
            </a:r>
            <a:endParaRPr/>
          </a:p>
          <a:p>
            <a:pPr indent="-342900" lvl="0" marL="457200" rtl="0" algn="l">
              <a:spcBef>
                <a:spcPts val="0"/>
              </a:spcBef>
              <a:spcAft>
                <a:spcPts val="0"/>
              </a:spcAft>
              <a:buSzPts val="1800"/>
              <a:buChar char="●"/>
            </a:pPr>
            <a:r>
              <a:rPr lang="es"/>
              <a:t>Por cada par de letras que no </a:t>
            </a:r>
            <a:r>
              <a:rPr lang="es"/>
              <a:t>coinciden</a:t>
            </a:r>
            <a:r>
              <a:rPr lang="es"/>
              <a:t> hay un costo </a:t>
            </a:r>
            <a:r>
              <a:rPr b="1" lang="es"/>
              <a:t>α(xi,yj)</a:t>
            </a:r>
            <a:r>
              <a:rPr lang="es"/>
              <a:t> según la diferencia entre las letras </a:t>
            </a:r>
            <a:r>
              <a:rPr b="1" lang="es"/>
              <a:t>xi</a:t>
            </a:r>
            <a:r>
              <a:rPr lang="es"/>
              <a:t> y </a:t>
            </a:r>
            <a:r>
              <a:rPr b="1" lang="es"/>
              <a:t>yj</a:t>
            </a:r>
            <a:r>
              <a:rPr lang="es"/>
              <a:t>. Por ejemplo, el costo al alinear V y B puede ser bajo, para considerar su parecido y cercanía en el teclado.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Edición</a:t>
            </a:r>
            <a:endParaRPr/>
          </a:p>
        </p:txBody>
      </p:sp>
      <p:sp>
        <p:nvSpPr>
          <p:cNvPr id="184" name="Google Shape;184;p3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define que el mejor alineamiento entre dos cadenas es aquel que minimice la </a:t>
            </a:r>
            <a:r>
              <a:rPr b="1" lang="es"/>
              <a:t>Distancia de Edición</a:t>
            </a:r>
            <a:r>
              <a:rPr lang="es"/>
              <a:t>. El criterio será:</a:t>
            </a:r>
            <a:endParaRPr/>
          </a:p>
          <a:p>
            <a:pPr indent="-342900" lvl="0" marL="457200" rtl="0" algn="l">
              <a:spcBef>
                <a:spcPts val="1600"/>
              </a:spcBef>
              <a:spcAft>
                <a:spcPts val="0"/>
              </a:spcAft>
              <a:buSzPts val="1800"/>
              <a:buChar char="●"/>
            </a:pPr>
            <a:r>
              <a:rPr lang="es"/>
              <a:t>Por cada par de letras que coinciden en el alineamiento, no hay costo</a:t>
            </a:r>
            <a:endParaRPr/>
          </a:p>
          <a:p>
            <a:pPr indent="-342900" lvl="0" marL="457200" rtl="0" algn="l">
              <a:spcBef>
                <a:spcPts val="0"/>
              </a:spcBef>
              <a:spcAft>
                <a:spcPts val="0"/>
              </a:spcAft>
              <a:buSzPts val="1800"/>
              <a:buChar char="●"/>
            </a:pPr>
            <a:r>
              <a:rPr lang="es"/>
              <a:t>Existe la penalidad </a:t>
            </a:r>
            <a:r>
              <a:rPr b="1" lang="es"/>
              <a:t>δ</a:t>
            </a:r>
            <a:r>
              <a:rPr lang="es"/>
              <a:t> que refiere a no alinear las letras. Una brecha (gap)</a:t>
            </a:r>
            <a:endParaRPr/>
          </a:p>
          <a:p>
            <a:pPr indent="-342900" lvl="0" marL="457200" rtl="0" algn="l">
              <a:spcBef>
                <a:spcPts val="0"/>
              </a:spcBef>
              <a:spcAft>
                <a:spcPts val="0"/>
              </a:spcAft>
              <a:buSzPts val="1800"/>
              <a:buChar char="●"/>
            </a:pPr>
            <a:r>
              <a:rPr lang="es"/>
              <a:t>Por cada par de letras que no coinciden hay un costo </a:t>
            </a:r>
            <a:r>
              <a:rPr b="1" lang="es"/>
              <a:t>α(xi,yj)</a:t>
            </a:r>
            <a:r>
              <a:rPr lang="es"/>
              <a:t> según la diferencia entre las letras </a:t>
            </a:r>
            <a:r>
              <a:rPr b="1" lang="es"/>
              <a:t>xi</a:t>
            </a:r>
            <a:r>
              <a:rPr lang="es"/>
              <a:t> y </a:t>
            </a:r>
            <a:r>
              <a:rPr b="1" lang="es"/>
              <a:t>yj</a:t>
            </a:r>
            <a:r>
              <a:rPr lang="es"/>
              <a:t>. Por ejemplo, el costo al alinear V y B puede ser bajo, para considerar su parecido y cercanía en el teclado.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Edición</a:t>
            </a:r>
            <a:endParaRPr/>
          </a:p>
        </p:txBody>
      </p:sp>
      <p:sp>
        <p:nvSpPr>
          <p:cNvPr id="190" name="Google Shape;190;p3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 define que el mejor alineamiento entre dos cadenas es aquel que minimice la </a:t>
            </a:r>
            <a:r>
              <a:rPr b="1" lang="es"/>
              <a:t>Distancia de Edición</a:t>
            </a:r>
            <a:r>
              <a:rPr lang="es"/>
              <a:t>. El criterio será:</a:t>
            </a:r>
            <a:endParaRPr/>
          </a:p>
          <a:p>
            <a:pPr indent="-342900" lvl="0" marL="457200" rtl="0" algn="l">
              <a:spcBef>
                <a:spcPts val="1600"/>
              </a:spcBef>
              <a:spcAft>
                <a:spcPts val="0"/>
              </a:spcAft>
              <a:buSzPts val="1800"/>
              <a:buChar char="●"/>
            </a:pPr>
            <a:r>
              <a:rPr lang="es"/>
              <a:t>Por cada par de letras que coinciden en el alineamiento, no hay costo</a:t>
            </a:r>
            <a:endParaRPr/>
          </a:p>
          <a:p>
            <a:pPr indent="-342900" lvl="0" marL="457200" rtl="0" algn="l">
              <a:spcBef>
                <a:spcPts val="0"/>
              </a:spcBef>
              <a:spcAft>
                <a:spcPts val="0"/>
              </a:spcAft>
              <a:buSzPts val="1800"/>
              <a:buChar char="●"/>
            </a:pPr>
            <a:r>
              <a:rPr lang="es"/>
              <a:t>Existe la penalidad </a:t>
            </a:r>
            <a:r>
              <a:rPr b="1" lang="es"/>
              <a:t>δ</a:t>
            </a:r>
            <a:r>
              <a:rPr lang="es"/>
              <a:t> que refiere a no alinear las letras. Una brecha (gap)</a:t>
            </a:r>
            <a:endParaRPr/>
          </a:p>
          <a:p>
            <a:pPr indent="-342900" lvl="0" marL="457200" rtl="0" algn="l">
              <a:spcBef>
                <a:spcPts val="0"/>
              </a:spcBef>
              <a:spcAft>
                <a:spcPts val="0"/>
              </a:spcAft>
              <a:buSzPts val="1800"/>
              <a:buChar char="●"/>
            </a:pPr>
            <a:r>
              <a:rPr lang="es"/>
              <a:t>Por cada par de letras que no coinciden hay un costo </a:t>
            </a:r>
            <a:r>
              <a:rPr b="1" lang="es"/>
              <a:t>α(xi,yj)</a:t>
            </a:r>
            <a:r>
              <a:rPr lang="es"/>
              <a:t> según la diferencia entre las letras </a:t>
            </a:r>
            <a:r>
              <a:rPr b="1" lang="es"/>
              <a:t>xi</a:t>
            </a:r>
            <a:r>
              <a:rPr lang="es"/>
              <a:t> y </a:t>
            </a:r>
            <a:r>
              <a:rPr b="1" lang="es"/>
              <a:t>yj</a:t>
            </a:r>
            <a:r>
              <a:rPr lang="es"/>
              <a:t>. Por ejemplo, el costo al alinear V y B puede ser bajo, para considerar su parecido y cercanía en el teclado.</a:t>
            </a:r>
            <a:endParaRPr/>
          </a:p>
          <a:p>
            <a:pPr indent="-342900" lvl="0" marL="457200" rtl="0" algn="l">
              <a:spcBef>
                <a:spcPts val="0"/>
              </a:spcBef>
              <a:spcAft>
                <a:spcPts val="0"/>
              </a:spcAft>
              <a:buSzPts val="1800"/>
              <a:buChar char="●"/>
            </a:pPr>
            <a:r>
              <a:rPr lang="es"/>
              <a:t>El costo total del </a:t>
            </a:r>
            <a:r>
              <a:rPr lang="es"/>
              <a:t>alineamiento</a:t>
            </a:r>
            <a:r>
              <a:rPr lang="es"/>
              <a:t> seleccionado es la suma total de todos los costos pagados por brechas y por costo de reemplazo (cambiar letras)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Distancia de Edición: Ejemplo</a:t>
            </a:r>
            <a:endParaRPr/>
          </a:p>
        </p:txBody>
      </p:sp>
      <p:sp>
        <p:nvSpPr>
          <p:cNvPr id="196" name="Google Shape;196;p35"/>
          <p:cNvSpPr txBox="1"/>
          <p:nvPr>
            <p:ph idx="1" type="body"/>
          </p:nvPr>
        </p:nvSpPr>
        <p:spPr>
          <a:xfrm>
            <a:off x="311700" y="1171600"/>
            <a:ext cx="8520600" cy="390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200">
                <a:latin typeface="Consolas"/>
                <a:ea typeface="Consolas"/>
                <a:cs typeface="Consolas"/>
                <a:sym typeface="Consolas"/>
              </a:rPr>
              <a:t>ocurrencia y occurrancia</a:t>
            </a:r>
            <a:endParaRPr sz="3200">
              <a:latin typeface="Consolas"/>
              <a:ea typeface="Consolas"/>
              <a:cs typeface="Consolas"/>
              <a:sym typeface="Consolas"/>
            </a:endParaRPr>
          </a:p>
          <a:p>
            <a:pPr indent="0" lvl="0" marL="0" marR="0" rtl="0" algn="l">
              <a:lnSpc>
                <a:spcPct val="100000"/>
              </a:lnSpc>
              <a:spcBef>
                <a:spcPts val="1600"/>
              </a:spcBef>
              <a:spcAft>
                <a:spcPts val="0"/>
              </a:spcAft>
              <a:buNone/>
            </a:pPr>
            <a:r>
              <a:rPr lang="es" sz="3200">
                <a:latin typeface="Consolas"/>
                <a:ea typeface="Consolas"/>
                <a:cs typeface="Consolas"/>
                <a:sym typeface="Consolas"/>
              </a:rPr>
              <a:t>oc-urr</a:t>
            </a:r>
            <a:r>
              <a:rPr b="1" lang="es" sz="3200">
                <a:latin typeface="Consolas"/>
                <a:ea typeface="Consolas"/>
                <a:cs typeface="Consolas"/>
                <a:sym typeface="Consolas"/>
              </a:rPr>
              <a:t>e</a:t>
            </a:r>
            <a:r>
              <a:rPr lang="es" sz="3200">
                <a:latin typeface="Consolas"/>
                <a:ea typeface="Consolas"/>
                <a:cs typeface="Consolas"/>
                <a:sym typeface="Consolas"/>
              </a:rPr>
              <a:t>ncia</a:t>
            </a:r>
            <a:br>
              <a:rPr lang="es" sz="3200">
                <a:latin typeface="Consolas"/>
                <a:ea typeface="Consolas"/>
                <a:cs typeface="Consolas"/>
                <a:sym typeface="Consolas"/>
              </a:rPr>
            </a:br>
            <a:r>
              <a:rPr lang="es" sz="3200">
                <a:latin typeface="Consolas"/>
                <a:ea typeface="Consolas"/>
                <a:cs typeface="Consolas"/>
                <a:sym typeface="Consolas"/>
              </a:rPr>
              <a:t>occurr</a:t>
            </a:r>
            <a:r>
              <a:rPr b="1" lang="es" sz="3200">
                <a:latin typeface="Consolas"/>
                <a:ea typeface="Consolas"/>
                <a:cs typeface="Consolas"/>
                <a:sym typeface="Consolas"/>
              </a:rPr>
              <a:t>a</a:t>
            </a:r>
            <a:r>
              <a:rPr lang="es" sz="3200">
                <a:latin typeface="Consolas"/>
                <a:ea typeface="Consolas"/>
                <a:cs typeface="Consolas"/>
                <a:sym typeface="Consolas"/>
              </a:rPr>
              <a:t>ncia</a:t>
            </a:r>
            <a:endParaRPr sz="3200">
              <a:latin typeface="Consolas"/>
              <a:ea typeface="Consolas"/>
              <a:cs typeface="Consolas"/>
              <a:sym typeface="Consolas"/>
            </a:endParaRPr>
          </a:p>
          <a:p>
            <a:pPr indent="0" lvl="0" marL="0" marR="0" rtl="0" algn="l">
              <a:lnSpc>
                <a:spcPct val="100000"/>
              </a:lnSpc>
              <a:spcBef>
                <a:spcPts val="1600"/>
              </a:spcBef>
              <a:spcAft>
                <a:spcPts val="0"/>
              </a:spcAft>
              <a:buNone/>
            </a:pPr>
            <a:r>
              <a:t/>
            </a:r>
            <a:endParaRPr>
              <a:latin typeface="Consolas"/>
              <a:ea typeface="Consolas"/>
              <a:cs typeface="Consolas"/>
              <a:sym typeface="Consolas"/>
            </a:endParaRPr>
          </a:p>
          <a:p>
            <a:pPr indent="0" lvl="0" marL="0" rtl="0" algn="l">
              <a:lnSpc>
                <a:spcPct val="100000"/>
              </a:lnSpc>
              <a:spcBef>
                <a:spcPts val="1600"/>
              </a:spcBef>
              <a:spcAft>
                <a:spcPts val="0"/>
              </a:spcAft>
              <a:buClr>
                <a:schemeClr val="dk1"/>
              </a:buClr>
              <a:buSzPts val="1100"/>
              <a:buFont typeface="Arial"/>
              <a:buNone/>
            </a:pPr>
            <a:r>
              <a:rPr lang="es" sz="3200">
                <a:latin typeface="Consolas"/>
                <a:ea typeface="Consolas"/>
                <a:cs typeface="Consolas"/>
                <a:sym typeface="Consolas"/>
              </a:rPr>
              <a:t>oc-urre-ncia</a:t>
            </a:r>
            <a:endParaRPr>
              <a:latin typeface="Consolas"/>
              <a:ea typeface="Consolas"/>
              <a:cs typeface="Consolas"/>
              <a:sym typeface="Consolas"/>
            </a:endParaRPr>
          </a:p>
          <a:p>
            <a:pPr indent="0" lvl="0" marL="0" marR="0" rtl="0" algn="l">
              <a:lnSpc>
                <a:spcPct val="100000"/>
              </a:lnSpc>
              <a:spcBef>
                <a:spcPts val="1600"/>
              </a:spcBef>
              <a:spcAft>
                <a:spcPts val="1600"/>
              </a:spcAft>
              <a:buNone/>
            </a:pPr>
            <a:r>
              <a:rPr lang="es" sz="3200">
                <a:latin typeface="Consolas"/>
                <a:ea typeface="Consolas"/>
                <a:cs typeface="Consolas"/>
                <a:sym typeface="Consolas"/>
              </a:rPr>
              <a:t>occurr-ancia</a:t>
            </a:r>
            <a:endParaRPr sz="3200"/>
          </a:p>
        </p:txBody>
      </p:sp>
      <p:pic>
        <p:nvPicPr>
          <p:cNvPr id="197" name="Google Shape;197;p35"/>
          <p:cNvPicPr preferRelativeResize="0"/>
          <p:nvPr/>
        </p:nvPicPr>
        <p:blipFill>
          <a:blip r:embed="rId3">
            <a:alphaModFix/>
          </a:blip>
          <a:stretch>
            <a:fillRect/>
          </a:stretch>
        </p:blipFill>
        <p:spPr>
          <a:xfrm>
            <a:off x="6171126" y="813700"/>
            <a:ext cx="2661175" cy="402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200">
                <a:latin typeface="Consolas"/>
                <a:ea typeface="Consolas"/>
                <a:cs typeface="Consolas"/>
                <a:sym typeface="Consolas"/>
              </a:rPr>
              <a:t>ocurrencia</a:t>
            </a:r>
            <a:endParaRPr sz="3200">
              <a:latin typeface="Consolas"/>
              <a:ea typeface="Consolas"/>
              <a:cs typeface="Consolas"/>
              <a:sym typeface="Consolas"/>
            </a:endParaRPr>
          </a:p>
          <a:p>
            <a:pPr indent="0" lvl="0" marL="0" rtl="0" algn="l">
              <a:spcBef>
                <a:spcPts val="1600"/>
              </a:spcBef>
              <a:spcAft>
                <a:spcPts val="1600"/>
              </a:spcAft>
              <a:buClr>
                <a:schemeClr val="dk1"/>
              </a:buClr>
              <a:buSzPts val="1100"/>
              <a:buFont typeface="Arial"/>
              <a:buNone/>
            </a:pPr>
            <a:r>
              <a:rPr lang="es" sz="3200">
                <a:latin typeface="Consolas"/>
                <a:ea typeface="Consolas"/>
                <a:cs typeface="Consolas"/>
                <a:sym typeface="Consolas"/>
              </a:rPr>
              <a:t>occurrancie</a:t>
            </a:r>
            <a:endParaRPr sz="3200">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Calcular la </a:t>
            </a:r>
            <a:r>
              <a:rPr lang="es" sz="2800"/>
              <a:t>Distancia de Edición entre dos cadenas</a:t>
            </a:r>
            <a:endParaRPr/>
          </a:p>
        </p:txBody>
      </p:sp>
      <p:sp>
        <p:nvSpPr>
          <p:cNvPr id="209" name="Google Shape;209;p37"/>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Calcular </a:t>
            </a:r>
            <a:r>
              <a:rPr lang="es"/>
              <a:t>la </a:t>
            </a:r>
            <a:r>
              <a:rPr b="1" lang="es"/>
              <a:t>Distancia de Edición</a:t>
            </a:r>
            <a:r>
              <a:rPr lang="es"/>
              <a:t> </a:t>
            </a:r>
            <a:r>
              <a:rPr lang="es"/>
              <a:t>significa</a:t>
            </a:r>
            <a:r>
              <a:rPr lang="es"/>
              <a:t> encontrar el alineamiento óptimo, tal que se minimice el valor de la distancia de edición, es decir, minimizar la sumatoria de costos de brechas y de reemplazos.</a:t>
            </a:r>
            <a:endParaRPr/>
          </a:p>
          <a:p>
            <a:pPr indent="0" lvl="0" marL="0" rtl="0" algn="l">
              <a:spcBef>
                <a:spcPts val="1600"/>
              </a:spcBef>
              <a:spcAft>
                <a:spcPts val="0"/>
              </a:spcAft>
              <a:buNone/>
            </a:pPr>
            <a:r>
              <a:rPr lang="es"/>
              <a:t>Sería fácil calcular ese valor si supiéramos el mejor alineamiento.</a:t>
            </a:r>
            <a:endParaRPr/>
          </a:p>
          <a:p>
            <a:pPr indent="0" lvl="0" marL="0" rtl="0" algn="l">
              <a:spcBef>
                <a:spcPts val="1600"/>
              </a:spcBef>
              <a:spcAft>
                <a:spcPts val="1600"/>
              </a:spcAft>
              <a:buNone/>
            </a:pPr>
            <a:r>
              <a:rPr lang="es"/>
              <a:t>El tema es que hay que encontrar dicho alineamiento.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Calcular la Distancia de Edición entre dos cadenas</a:t>
            </a:r>
            <a:endParaRPr/>
          </a:p>
        </p:txBody>
      </p:sp>
      <p:sp>
        <p:nvSpPr>
          <p:cNvPr id="215" name="Google Shape;215;p38"/>
          <p:cNvSpPr txBox="1"/>
          <p:nvPr>
            <p:ph idx="1" type="body"/>
          </p:nvPr>
        </p:nvSpPr>
        <p:spPr>
          <a:xfrm>
            <a:off x="311700" y="1019200"/>
            <a:ext cx="8520600" cy="3890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700"/>
              <a:t>Podemos pensar, arbitrariamente, que el algoritmo trata las cadenas de atrás hacia adelante. Por lo tanto, podemos evaluar cómo se verían las distintas opciones de solución:</a:t>
            </a:r>
            <a:endParaRPr sz="1700"/>
          </a:p>
          <a:p>
            <a:pPr indent="-336550" lvl="0" marL="457200" rtl="0" algn="l">
              <a:lnSpc>
                <a:spcPct val="100000"/>
              </a:lnSpc>
              <a:spcBef>
                <a:spcPts val="1600"/>
              </a:spcBef>
              <a:spcAft>
                <a:spcPts val="0"/>
              </a:spcAft>
              <a:buSzPts val="1700"/>
              <a:buChar char="●"/>
            </a:pPr>
            <a:r>
              <a:rPr lang="es" sz="1700"/>
              <a:t>Si el </a:t>
            </a:r>
            <a:r>
              <a:rPr lang="es" sz="1700"/>
              <a:t>último carácter de ambas cadenas coincide, entonces no hay costo. Luego, hay que</a:t>
            </a:r>
            <a:r>
              <a:rPr lang="es" sz="1700"/>
              <a:t> calcular una solución óptima, utilizando un carácter menos de cada cadena.</a:t>
            </a:r>
            <a:endParaRPr sz="1700"/>
          </a:p>
          <a:p>
            <a:pPr indent="0" lvl="0" marL="0" rtl="0" algn="l">
              <a:lnSpc>
                <a:spcPct val="100000"/>
              </a:lnSpc>
              <a:spcBef>
                <a:spcPts val="1600"/>
              </a:spcBef>
              <a:spcAft>
                <a:spcPts val="0"/>
              </a:spcAft>
              <a:buNone/>
            </a:pPr>
            <a:r>
              <a:rPr lang="es" sz="1700"/>
              <a:t>Ejemplo I: alinear oros y lobos tiene el mismo costo que alinear oro y lobo</a:t>
            </a:r>
            <a:endParaRPr sz="1700"/>
          </a:p>
          <a:p>
            <a:pPr indent="-336550" lvl="0" marL="457200" rtl="0" algn="l">
              <a:lnSpc>
                <a:spcPct val="100000"/>
              </a:lnSpc>
              <a:spcBef>
                <a:spcPts val="1600"/>
              </a:spcBef>
              <a:spcAft>
                <a:spcPts val="0"/>
              </a:spcAft>
              <a:buSzPts val="1700"/>
              <a:buChar char="●"/>
            </a:pPr>
            <a:r>
              <a:rPr lang="es" sz="1700"/>
              <a:t>Caso contrario, decidir realizar un reemplazo de costo </a:t>
            </a:r>
            <a:r>
              <a:rPr b="1" lang="es" sz="1700"/>
              <a:t>α(xi,yj)</a:t>
            </a:r>
            <a:r>
              <a:rPr lang="es" sz="1700"/>
              <a:t>. Luego, se deberá calcular una solución óptima, utilizando un carácter menos de cada cadena.</a:t>
            </a:r>
            <a:endParaRPr sz="1700"/>
          </a:p>
          <a:p>
            <a:pPr indent="0" lvl="0" marL="0" rtl="0" algn="l">
              <a:lnSpc>
                <a:spcPct val="100000"/>
              </a:lnSpc>
              <a:spcBef>
                <a:spcPts val="1600"/>
              </a:spcBef>
              <a:spcAft>
                <a:spcPts val="0"/>
              </a:spcAft>
              <a:buNone/>
            </a:pPr>
            <a:r>
              <a:rPr lang="es" sz="1700"/>
              <a:t>Ejemplo II: alinear caso y casa. Se paga el costo de reemplazo entre o y a, luego se calcula el alineamiento óptimo con un carácter menos de cada cadena: cas y cas</a:t>
            </a:r>
            <a:endParaRPr sz="1700"/>
          </a:p>
          <a:p>
            <a:pPr indent="0" lvl="0" marL="0" rtl="0" algn="l">
              <a:lnSpc>
                <a:spcPct val="100000"/>
              </a:lnSpc>
              <a:spcBef>
                <a:spcPts val="1600"/>
              </a:spcBef>
              <a:spcAft>
                <a:spcPts val="1600"/>
              </a:spcAft>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Calcular la Distancia de Edición entre dos cadenas</a:t>
            </a:r>
            <a:endParaRPr/>
          </a:p>
        </p:txBody>
      </p:sp>
      <p:sp>
        <p:nvSpPr>
          <p:cNvPr id="221" name="Google Shape;221;p39"/>
          <p:cNvSpPr txBox="1"/>
          <p:nvPr>
            <p:ph idx="1" type="body"/>
          </p:nvPr>
        </p:nvSpPr>
        <p:spPr>
          <a:xfrm>
            <a:off x="311700" y="1171600"/>
            <a:ext cx="8520600" cy="37392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s" sz="1700"/>
              <a:t>Podríamos introducir una brecha en alguna de las dos cadenas. Dependiendo de en qué cadena se introduce la brecha, se deberá luego calcular la correspondiente solución óptima considerando los caracteres correctos de cada cadena.</a:t>
            </a:r>
            <a:endParaRPr sz="1700"/>
          </a:p>
          <a:p>
            <a:pPr indent="0" lvl="0" marL="0" rtl="0" algn="l">
              <a:lnSpc>
                <a:spcPct val="100000"/>
              </a:lnSpc>
              <a:spcBef>
                <a:spcPts val="1600"/>
              </a:spcBef>
              <a:spcAft>
                <a:spcPts val="0"/>
              </a:spcAft>
              <a:buNone/>
            </a:pPr>
            <a:r>
              <a:rPr lang="es" sz="1700"/>
              <a:t>Ejemplo III: alinear casa y cases ( </a:t>
            </a:r>
            <a:r>
              <a:rPr b="1" lang="es" sz="1700"/>
              <a:t>casa- con cases</a:t>
            </a:r>
            <a:r>
              <a:rPr lang="es" sz="1700"/>
              <a:t> )</a:t>
            </a:r>
            <a:endParaRPr sz="1700"/>
          </a:p>
          <a:p>
            <a:pPr indent="0" lvl="0" marL="0" rtl="0" algn="l">
              <a:lnSpc>
                <a:spcPct val="100000"/>
              </a:lnSpc>
              <a:spcBef>
                <a:spcPts val="1600"/>
              </a:spcBef>
              <a:spcAft>
                <a:spcPts val="0"/>
              </a:spcAft>
              <a:buNone/>
            </a:pPr>
            <a:r>
              <a:rPr lang="es" sz="1700"/>
              <a:t>Una opción de brecha podría ser dejar una brecha en la palabra casa (</a:t>
            </a:r>
            <a:r>
              <a:rPr b="1" lang="es" sz="1700"/>
              <a:t>alinear - con s</a:t>
            </a:r>
            <a:r>
              <a:rPr lang="es" sz="1700"/>
              <a:t>) y luego calcular el alineamiento óptimo entre casa y case.</a:t>
            </a:r>
            <a:endParaRPr sz="1700"/>
          </a:p>
          <a:p>
            <a:pPr indent="-336550" lvl="0" marL="457200" rtl="0" algn="l">
              <a:lnSpc>
                <a:spcPct val="100000"/>
              </a:lnSpc>
              <a:spcBef>
                <a:spcPts val="1600"/>
              </a:spcBef>
              <a:spcAft>
                <a:spcPts val="0"/>
              </a:spcAft>
              <a:buSzPts val="1700"/>
              <a:buChar char="●"/>
            </a:pPr>
            <a:r>
              <a:rPr lang="es" sz="1700"/>
              <a:t>en ese caso, hay que considerar el costo de la brecha, y calcular el alineamiento óptimo entre la totalidad de la primera cadena, y los caracteres de la segunda cadena excepto el último,</a:t>
            </a:r>
            <a:endParaRPr sz="1700"/>
          </a:p>
          <a:p>
            <a:pPr indent="0" lvl="0" marL="0" rtl="0" algn="l">
              <a:lnSpc>
                <a:spcPct val="100000"/>
              </a:lnSpc>
              <a:spcBef>
                <a:spcPts val="1600"/>
              </a:spcBef>
              <a:spcAft>
                <a:spcPts val="1600"/>
              </a:spcAft>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Calcular la Distancia de Edición entre dos cadenas</a:t>
            </a:r>
            <a:endParaRPr/>
          </a:p>
        </p:txBody>
      </p:sp>
      <p:sp>
        <p:nvSpPr>
          <p:cNvPr id="227" name="Google Shape;227;p40"/>
          <p:cNvSpPr txBox="1"/>
          <p:nvPr>
            <p:ph idx="1" type="body"/>
          </p:nvPr>
        </p:nvSpPr>
        <p:spPr>
          <a:xfrm>
            <a:off x="311700" y="1171600"/>
            <a:ext cx="8520600" cy="37392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s" sz="1700"/>
              <a:t>Podríamos introducir una brecha en alguna de las dos cadenas. Dependiendo de en qué cadena se introduce la brecha, se deberá luego calcular la correspondiente solución óptima considerando los caracteres correctos de cada cadena.</a:t>
            </a:r>
            <a:endParaRPr sz="1700"/>
          </a:p>
          <a:p>
            <a:pPr indent="0" lvl="0" marL="0" rtl="0" algn="l">
              <a:lnSpc>
                <a:spcPct val="100000"/>
              </a:lnSpc>
              <a:spcBef>
                <a:spcPts val="1600"/>
              </a:spcBef>
              <a:spcAft>
                <a:spcPts val="0"/>
              </a:spcAft>
              <a:buNone/>
            </a:pPr>
            <a:r>
              <a:rPr lang="es" sz="1700"/>
              <a:t>Ejemplo IV: alinear bates y bata ( </a:t>
            </a:r>
            <a:r>
              <a:rPr b="1" lang="es" sz="1700"/>
              <a:t>bates con bata-</a:t>
            </a:r>
            <a:r>
              <a:rPr lang="es" sz="1700"/>
              <a:t> ).</a:t>
            </a:r>
            <a:endParaRPr sz="1700"/>
          </a:p>
          <a:p>
            <a:pPr indent="0" lvl="0" marL="0" rtl="0" algn="l">
              <a:lnSpc>
                <a:spcPct val="100000"/>
              </a:lnSpc>
              <a:spcBef>
                <a:spcPts val="1600"/>
              </a:spcBef>
              <a:spcAft>
                <a:spcPts val="0"/>
              </a:spcAft>
              <a:buNone/>
            </a:pPr>
            <a:r>
              <a:rPr lang="es" sz="1700"/>
              <a:t>Una opción de brecha podría ser dejar una brecha en la palabra bata (</a:t>
            </a:r>
            <a:r>
              <a:rPr b="1" lang="es" sz="1700"/>
              <a:t>alinear - con s</a:t>
            </a:r>
            <a:r>
              <a:rPr lang="es" sz="1700"/>
              <a:t>) y luego calcular el alineamiento óptimo entre bate y bata.</a:t>
            </a:r>
            <a:endParaRPr sz="1700"/>
          </a:p>
          <a:p>
            <a:pPr indent="-336550" lvl="0" marL="457200" rtl="0" algn="l">
              <a:lnSpc>
                <a:spcPct val="100000"/>
              </a:lnSpc>
              <a:spcBef>
                <a:spcPts val="1600"/>
              </a:spcBef>
              <a:spcAft>
                <a:spcPts val="0"/>
              </a:spcAft>
              <a:buSzPts val="1700"/>
              <a:buChar char="●"/>
            </a:pPr>
            <a:r>
              <a:rPr lang="es" sz="1700"/>
              <a:t>en ese caso, hay que considerar el costo de la brecha, y calcular el alineamiento óptimo entre la primera cadena menos un caracter, y todos los caracteres de la segunda cadena.</a:t>
            </a:r>
            <a:endParaRPr sz="1700"/>
          </a:p>
          <a:p>
            <a:pPr indent="0" lvl="0" marL="0" rtl="0" algn="l">
              <a:lnSpc>
                <a:spcPct val="100000"/>
              </a:lnSpc>
              <a:spcBef>
                <a:spcPts val="1600"/>
              </a:spcBef>
              <a:spcAft>
                <a:spcPts val="1600"/>
              </a:spcAft>
              <a:buNone/>
            </a:pPr>
            <a:r>
              <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800"/>
              <a:t>Calcular la Distancia de Edición entre dos cadenas</a:t>
            </a:r>
            <a:endParaRPr/>
          </a:p>
        </p:txBody>
      </p:sp>
      <p:sp>
        <p:nvSpPr>
          <p:cNvPr id="233" name="Google Shape;233;p41"/>
          <p:cNvSpPr txBox="1"/>
          <p:nvPr>
            <p:ph idx="1" type="body"/>
          </p:nvPr>
        </p:nvSpPr>
        <p:spPr>
          <a:xfrm>
            <a:off x="311700" y="1171600"/>
            <a:ext cx="8520600" cy="3739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700"/>
              <a:t>Resumen: existen 4 opciones</a:t>
            </a:r>
            <a:endParaRPr sz="1700"/>
          </a:p>
          <a:p>
            <a:pPr indent="-336550" lvl="0" marL="457200" rtl="0" algn="l">
              <a:lnSpc>
                <a:spcPct val="115000"/>
              </a:lnSpc>
              <a:spcBef>
                <a:spcPts val="1600"/>
              </a:spcBef>
              <a:spcAft>
                <a:spcPts val="0"/>
              </a:spcAft>
              <a:buSzPts val="1700"/>
              <a:buChar char="●"/>
            </a:pPr>
            <a:r>
              <a:rPr lang="es" sz="1700"/>
              <a:t>Los caracteres coinciden: habrá que calcular la solución </a:t>
            </a:r>
            <a:r>
              <a:rPr lang="es" sz="1700"/>
              <a:t>óptima</a:t>
            </a:r>
            <a:r>
              <a:rPr lang="es" sz="1700"/>
              <a:t> para un problema definido como: </a:t>
            </a:r>
            <a:r>
              <a:rPr b="1" lang="es" sz="1700"/>
              <a:t>i</a:t>
            </a:r>
            <a:r>
              <a:rPr b="1" lang="es" sz="1700"/>
              <a:t>-1 en cadena X y j-1 en cadena Y</a:t>
            </a:r>
            <a:r>
              <a:rPr lang="es" sz="1700"/>
              <a:t>.</a:t>
            </a:r>
            <a:endParaRPr sz="1700"/>
          </a:p>
          <a:p>
            <a:pPr indent="-336550" lvl="0" marL="457200" rtl="0" algn="l">
              <a:lnSpc>
                <a:spcPct val="115000"/>
              </a:lnSpc>
              <a:spcBef>
                <a:spcPts val="0"/>
              </a:spcBef>
              <a:spcAft>
                <a:spcPts val="0"/>
              </a:spcAft>
              <a:buSzPts val="1700"/>
              <a:buChar char="●"/>
            </a:pPr>
            <a:r>
              <a:rPr lang="es" sz="1700"/>
              <a:t>Reemplazar caracteres</a:t>
            </a:r>
            <a:r>
              <a:rPr lang="es" sz="1700"/>
              <a:t>: sumar un costo y calcular la solución óptima para un problema definido como</a:t>
            </a:r>
            <a:r>
              <a:rPr lang="es" sz="1700"/>
              <a:t>: </a:t>
            </a:r>
            <a:r>
              <a:rPr b="1" lang="es" sz="1700"/>
              <a:t>i-1 en cadena X y j-1 en cadena Y</a:t>
            </a:r>
            <a:r>
              <a:rPr lang="es" sz="1700"/>
              <a:t>.</a:t>
            </a:r>
            <a:endParaRPr sz="1700"/>
          </a:p>
          <a:p>
            <a:pPr indent="-336550" lvl="0" marL="457200" rtl="0" algn="l">
              <a:lnSpc>
                <a:spcPct val="115000"/>
              </a:lnSpc>
              <a:spcBef>
                <a:spcPts val="0"/>
              </a:spcBef>
              <a:spcAft>
                <a:spcPts val="0"/>
              </a:spcAft>
              <a:buSzPts val="1700"/>
              <a:buChar char="●"/>
            </a:pPr>
            <a:r>
              <a:rPr lang="es" sz="1700"/>
              <a:t>Brecha en la primera cadena: </a:t>
            </a:r>
            <a:r>
              <a:rPr lang="es" sz="1700"/>
              <a:t>sumar un costo de brecha y calcular la solución óptima para un problema definido como: </a:t>
            </a:r>
            <a:r>
              <a:rPr b="1" lang="es" sz="1700"/>
              <a:t>i</a:t>
            </a:r>
            <a:r>
              <a:rPr b="1" lang="es" sz="1700"/>
              <a:t> en cadena X y j-1 en cadena Y</a:t>
            </a:r>
            <a:r>
              <a:rPr lang="es" sz="1700"/>
              <a:t>.</a:t>
            </a:r>
            <a:endParaRPr sz="1700"/>
          </a:p>
          <a:p>
            <a:pPr indent="-336550" lvl="0" marL="457200" rtl="0" algn="l">
              <a:lnSpc>
                <a:spcPct val="115000"/>
              </a:lnSpc>
              <a:spcBef>
                <a:spcPts val="0"/>
              </a:spcBef>
              <a:spcAft>
                <a:spcPts val="0"/>
              </a:spcAft>
              <a:buSzPts val="1700"/>
              <a:buChar char="●"/>
            </a:pPr>
            <a:r>
              <a:rPr lang="es" sz="1700"/>
              <a:t>Brecha en la segunda cadena</a:t>
            </a:r>
            <a:r>
              <a:rPr lang="es" sz="1700"/>
              <a:t>: </a:t>
            </a:r>
            <a:r>
              <a:rPr lang="es" sz="1700"/>
              <a:t>sumar un costo de brecha y calcular la solución óptima para un problema definido como: </a:t>
            </a:r>
            <a:r>
              <a:rPr b="1" lang="es" sz="1700"/>
              <a:t>i-1 en cadena X y j en cadena Y</a:t>
            </a:r>
            <a:r>
              <a:rPr lang="es" sz="1700"/>
              <a:t>.</a:t>
            </a:r>
            <a:endParaRPr sz="1700"/>
          </a:p>
          <a:p>
            <a:pPr indent="0" lvl="0" marL="0" rtl="0" algn="l">
              <a:lnSpc>
                <a:spcPct val="115000"/>
              </a:lnSpc>
              <a:spcBef>
                <a:spcPts val="1600"/>
              </a:spcBef>
              <a:spcAft>
                <a:spcPts val="1600"/>
              </a:spcAft>
              <a:buClr>
                <a:schemeClr val="dk1"/>
              </a:buClr>
              <a:buSzPts val="1100"/>
              <a:buFont typeface="Arial"/>
              <a:buNone/>
            </a:pPr>
            <a:r>
              <a:rPr lang="es" sz="1700"/>
              <a:t>Los sub-problemas se definen por el número de caracteres de la cadena X que se pueden utilizar y el número de caracteres de la cadena Y que se pueden utilizar.</a:t>
            </a:r>
            <a:endParaRPr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800"/>
              <a:t>Distancia de Edición</a:t>
            </a:r>
            <a:endParaRPr/>
          </a:p>
        </p:txBody>
      </p:sp>
      <p:pic>
        <p:nvPicPr>
          <p:cNvPr id="239" name="Google Shape;239;p42"/>
          <p:cNvPicPr preferRelativeResize="0"/>
          <p:nvPr/>
        </p:nvPicPr>
        <p:blipFill>
          <a:blip r:embed="rId3">
            <a:alphaModFix/>
          </a:blip>
          <a:stretch>
            <a:fillRect/>
          </a:stretch>
        </p:blipFill>
        <p:spPr>
          <a:xfrm>
            <a:off x="210825" y="3184038"/>
            <a:ext cx="2257425" cy="409575"/>
          </a:xfrm>
          <a:prstGeom prst="rect">
            <a:avLst/>
          </a:prstGeom>
          <a:noFill/>
          <a:ln>
            <a:noFill/>
          </a:ln>
        </p:spPr>
      </p:pic>
      <p:pic>
        <p:nvPicPr>
          <p:cNvPr id="240" name="Google Shape;240;p42"/>
          <p:cNvPicPr preferRelativeResize="0"/>
          <p:nvPr/>
        </p:nvPicPr>
        <p:blipFill>
          <a:blip r:embed="rId4">
            <a:alphaModFix/>
          </a:blip>
          <a:stretch>
            <a:fillRect/>
          </a:stretch>
        </p:blipFill>
        <p:spPr>
          <a:xfrm>
            <a:off x="5410200" y="2411625"/>
            <a:ext cx="3286125" cy="523875"/>
          </a:xfrm>
          <a:prstGeom prst="rect">
            <a:avLst/>
          </a:prstGeom>
          <a:noFill/>
          <a:ln cap="flat" cmpd="sng" w="9525">
            <a:solidFill>
              <a:srgbClr val="FF0000"/>
            </a:solidFill>
            <a:prstDash val="solid"/>
            <a:round/>
            <a:headEnd len="sm" w="sm" type="none"/>
            <a:tailEnd len="sm" w="sm" type="none"/>
          </a:ln>
        </p:spPr>
      </p:pic>
      <p:pic>
        <p:nvPicPr>
          <p:cNvPr id="241" name="Google Shape;241;p42"/>
          <p:cNvPicPr preferRelativeResize="0"/>
          <p:nvPr/>
        </p:nvPicPr>
        <p:blipFill>
          <a:blip r:embed="rId5">
            <a:alphaModFix/>
          </a:blip>
          <a:stretch>
            <a:fillRect/>
          </a:stretch>
        </p:blipFill>
        <p:spPr>
          <a:xfrm>
            <a:off x="5848350" y="1268200"/>
            <a:ext cx="2409825" cy="476250"/>
          </a:xfrm>
          <a:prstGeom prst="rect">
            <a:avLst/>
          </a:prstGeom>
          <a:noFill/>
          <a:ln cap="flat" cmpd="sng" w="9525">
            <a:solidFill>
              <a:srgbClr val="FF0000"/>
            </a:solidFill>
            <a:prstDash val="solid"/>
            <a:round/>
            <a:headEnd len="sm" w="sm" type="none"/>
            <a:tailEnd len="sm" w="sm" type="none"/>
          </a:ln>
        </p:spPr>
      </p:pic>
      <p:cxnSp>
        <p:nvCxnSpPr>
          <p:cNvPr id="242" name="Google Shape;242;p42"/>
          <p:cNvCxnSpPr>
            <a:stCxn id="239" idx="3"/>
            <a:endCxn id="240" idx="1"/>
          </p:cNvCxnSpPr>
          <p:nvPr/>
        </p:nvCxnSpPr>
        <p:spPr>
          <a:xfrm flipH="1" rot="10800000">
            <a:off x="2468250" y="2673625"/>
            <a:ext cx="2942100" cy="715200"/>
          </a:xfrm>
          <a:prstGeom prst="straightConnector1">
            <a:avLst/>
          </a:prstGeom>
          <a:noFill/>
          <a:ln cap="flat" cmpd="sng" w="9525">
            <a:solidFill>
              <a:schemeClr val="dk2"/>
            </a:solidFill>
            <a:prstDash val="solid"/>
            <a:round/>
            <a:headEnd len="med" w="med" type="none"/>
            <a:tailEnd len="med" w="med" type="none"/>
          </a:ln>
        </p:spPr>
      </p:cxnSp>
      <p:cxnSp>
        <p:nvCxnSpPr>
          <p:cNvPr id="243" name="Google Shape;243;p42"/>
          <p:cNvCxnSpPr>
            <a:stCxn id="239" idx="3"/>
            <a:endCxn id="244" idx="1"/>
          </p:cNvCxnSpPr>
          <p:nvPr/>
        </p:nvCxnSpPr>
        <p:spPr>
          <a:xfrm>
            <a:off x="2468250" y="3388825"/>
            <a:ext cx="3737100" cy="312900"/>
          </a:xfrm>
          <a:prstGeom prst="straightConnector1">
            <a:avLst/>
          </a:prstGeom>
          <a:noFill/>
          <a:ln cap="flat" cmpd="sng" w="9525">
            <a:solidFill>
              <a:schemeClr val="dk2"/>
            </a:solidFill>
            <a:prstDash val="solid"/>
            <a:round/>
            <a:headEnd len="med" w="med" type="none"/>
            <a:tailEnd len="med" w="med" type="none"/>
          </a:ln>
        </p:spPr>
      </p:cxnSp>
      <p:cxnSp>
        <p:nvCxnSpPr>
          <p:cNvPr id="245" name="Google Shape;245;p42"/>
          <p:cNvCxnSpPr>
            <a:stCxn id="239" idx="3"/>
            <a:endCxn id="246" idx="1"/>
          </p:cNvCxnSpPr>
          <p:nvPr/>
        </p:nvCxnSpPr>
        <p:spPr>
          <a:xfrm>
            <a:off x="2468250" y="3388825"/>
            <a:ext cx="3599700" cy="1067100"/>
          </a:xfrm>
          <a:prstGeom prst="straightConnector1">
            <a:avLst/>
          </a:prstGeom>
          <a:noFill/>
          <a:ln cap="flat" cmpd="sng" w="9525">
            <a:solidFill>
              <a:schemeClr val="dk2"/>
            </a:solidFill>
            <a:prstDash val="solid"/>
            <a:round/>
            <a:headEnd len="med" w="med" type="none"/>
            <a:tailEnd len="med" w="med" type="none"/>
          </a:ln>
        </p:spPr>
      </p:cxnSp>
      <p:pic>
        <p:nvPicPr>
          <p:cNvPr id="246" name="Google Shape;246;p42"/>
          <p:cNvPicPr preferRelativeResize="0"/>
          <p:nvPr/>
        </p:nvPicPr>
        <p:blipFill>
          <a:blip r:embed="rId6">
            <a:alphaModFix/>
          </a:blip>
          <a:stretch>
            <a:fillRect/>
          </a:stretch>
        </p:blipFill>
        <p:spPr>
          <a:xfrm>
            <a:off x="6067875" y="4155950"/>
            <a:ext cx="2438400" cy="600075"/>
          </a:xfrm>
          <a:prstGeom prst="rect">
            <a:avLst/>
          </a:prstGeom>
          <a:noFill/>
          <a:ln cap="flat" cmpd="sng" w="9525">
            <a:solidFill>
              <a:srgbClr val="FF0000"/>
            </a:solidFill>
            <a:prstDash val="solid"/>
            <a:round/>
            <a:headEnd len="sm" w="sm" type="none"/>
            <a:tailEnd len="sm" w="sm" type="none"/>
          </a:ln>
        </p:spPr>
      </p:pic>
      <p:pic>
        <p:nvPicPr>
          <p:cNvPr id="244" name="Google Shape;244;p42"/>
          <p:cNvPicPr preferRelativeResize="0"/>
          <p:nvPr/>
        </p:nvPicPr>
        <p:blipFill>
          <a:blip r:embed="rId7">
            <a:alphaModFix/>
          </a:blip>
          <a:stretch>
            <a:fillRect/>
          </a:stretch>
        </p:blipFill>
        <p:spPr>
          <a:xfrm>
            <a:off x="6205350" y="3467200"/>
            <a:ext cx="2163450" cy="469182"/>
          </a:xfrm>
          <a:prstGeom prst="rect">
            <a:avLst/>
          </a:prstGeom>
          <a:noFill/>
          <a:ln cap="flat" cmpd="sng" w="9525">
            <a:solidFill>
              <a:srgbClr val="FF0000"/>
            </a:solidFill>
            <a:prstDash val="solid"/>
            <a:round/>
            <a:headEnd len="sm" w="sm" type="none"/>
            <a:tailEnd len="sm" w="sm" type="none"/>
          </a:ln>
        </p:spPr>
      </p:pic>
      <p:sp>
        <p:nvSpPr>
          <p:cNvPr id="247" name="Google Shape;247;p42"/>
          <p:cNvSpPr txBox="1"/>
          <p:nvPr/>
        </p:nvSpPr>
        <p:spPr>
          <a:xfrm>
            <a:off x="2564850" y="1268188"/>
            <a:ext cx="5323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latin typeface="Proxima Nova"/>
                <a:ea typeface="Proxima Nova"/>
                <a:cs typeface="Proxima Nova"/>
                <a:sym typeface="Proxima Nova"/>
              </a:rPr>
              <a:t>si son caracteres iguales:</a:t>
            </a:r>
            <a:endParaRPr sz="20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Seguimiento!</a:t>
            </a:r>
            <a:endParaRPr/>
          </a:p>
        </p:txBody>
      </p:sp>
      <p:sp>
        <p:nvSpPr>
          <p:cNvPr id="253" name="Google Shape;253;p43"/>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Subset-Sum</a:t>
            </a:r>
            <a:endParaRPr/>
          </a:p>
        </p:txBody>
      </p:sp>
      <p:sp>
        <p:nvSpPr>
          <p:cNvPr id="259" name="Google Shape;259;p4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000"/>
              <a:t>Tenemos un conjunto de números v</a:t>
            </a:r>
            <a:r>
              <a:rPr baseline="-25000" lang="es" sz="2000"/>
              <a:t>1</a:t>
            </a:r>
            <a:r>
              <a:rPr lang="es" sz="2000"/>
              <a:t>, v</a:t>
            </a:r>
            <a:r>
              <a:rPr baseline="-25000" lang="es" sz="2000"/>
              <a:t>2</a:t>
            </a:r>
            <a:r>
              <a:rPr lang="es" sz="2000"/>
              <a:t>, … v</a:t>
            </a:r>
            <a:r>
              <a:rPr baseline="-25000" lang="es" sz="2000"/>
              <a:t>n</a:t>
            </a:r>
            <a:r>
              <a:rPr lang="es" sz="2000"/>
              <a:t>, y queremos obtener un subconjunto de todos esos números cuya suma sea igual a un valor V, o bien aproximar lo mayor posible a ese valor V, </a:t>
            </a:r>
            <a:endParaRPr sz="2000"/>
          </a:p>
          <a:p>
            <a:pPr indent="0" lvl="0" marL="0" rtl="0" algn="l">
              <a:spcBef>
                <a:spcPts val="1600"/>
              </a:spcBef>
              <a:spcAft>
                <a:spcPts val="0"/>
              </a:spcAft>
              <a:buClr>
                <a:schemeClr val="dk1"/>
              </a:buClr>
              <a:buSzPts val="1100"/>
              <a:buFont typeface="Arial"/>
              <a:buNone/>
            </a:pPr>
            <a:r>
              <a:rPr lang="es" sz="2000"/>
              <a:t>sin pasarse.</a:t>
            </a:r>
            <a:endParaRPr sz="2000"/>
          </a:p>
          <a:p>
            <a:pPr indent="0" lvl="0" marL="0" rtl="0" algn="l">
              <a:spcBef>
                <a:spcPts val="1600"/>
              </a:spcBef>
              <a:spcAft>
                <a:spcPts val="0"/>
              </a:spcAft>
              <a:buClr>
                <a:schemeClr val="dk1"/>
              </a:buClr>
              <a:buSzPts val="1100"/>
              <a:buFont typeface="Arial"/>
              <a:buNone/>
            </a:pPr>
            <a:r>
              <a:t/>
            </a:r>
            <a:endParaRPr sz="2000"/>
          </a:p>
          <a:p>
            <a:pPr indent="0" lvl="0" marL="0" rtl="0" algn="l">
              <a:spcBef>
                <a:spcPts val="1600"/>
              </a:spcBef>
              <a:spcAft>
                <a:spcPts val="0"/>
              </a:spcAft>
              <a:buClr>
                <a:schemeClr val="dk1"/>
              </a:buClr>
              <a:buSzPts val="1100"/>
              <a:buFont typeface="Arial"/>
              <a:buNone/>
            </a:pPr>
            <a:r>
              <a:rPr lang="es" sz="2000"/>
              <a:t>En definitiva quisiéramos maximizar la suma de los</a:t>
            </a:r>
            <a:endParaRPr sz="2000"/>
          </a:p>
          <a:p>
            <a:pPr indent="0" lvl="0" marL="0" rtl="0" algn="l">
              <a:spcBef>
                <a:spcPts val="1600"/>
              </a:spcBef>
              <a:spcAft>
                <a:spcPts val="1600"/>
              </a:spcAft>
              <a:buClr>
                <a:schemeClr val="dk1"/>
              </a:buClr>
              <a:buSzPts val="1100"/>
              <a:buFont typeface="Arial"/>
              <a:buNone/>
            </a:pPr>
            <a:r>
              <a:rPr lang="es" sz="2000"/>
              <a:t>elementos del subconjunto sin exceder el valor V.</a:t>
            </a:r>
            <a:endParaRPr sz="2000"/>
          </a:p>
        </p:txBody>
      </p:sp>
      <p:pic>
        <p:nvPicPr>
          <p:cNvPr id="260" name="Google Shape;260;p44"/>
          <p:cNvPicPr preferRelativeResize="0"/>
          <p:nvPr/>
        </p:nvPicPr>
        <p:blipFill>
          <a:blip r:embed="rId3">
            <a:alphaModFix/>
          </a:blip>
          <a:stretch>
            <a:fillRect/>
          </a:stretch>
        </p:blipFill>
        <p:spPr>
          <a:xfrm>
            <a:off x="6382375" y="1924763"/>
            <a:ext cx="2449925" cy="310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Subset-Sum</a:t>
            </a:r>
            <a:endParaRPr/>
          </a:p>
        </p:txBody>
      </p:sp>
      <p:pic>
        <p:nvPicPr>
          <p:cNvPr id="266" name="Google Shape;266;p45" title="set numeros.png"/>
          <p:cNvPicPr preferRelativeResize="0"/>
          <p:nvPr/>
        </p:nvPicPr>
        <p:blipFill>
          <a:blip r:embed="rId3">
            <a:alphaModFix/>
          </a:blip>
          <a:stretch>
            <a:fillRect/>
          </a:stretch>
        </p:blipFill>
        <p:spPr>
          <a:xfrm>
            <a:off x="219750" y="1323775"/>
            <a:ext cx="4579500" cy="1092600"/>
          </a:xfrm>
          <a:prstGeom prst="roundRect">
            <a:avLst>
              <a:gd fmla="val 21685" name="adj"/>
            </a:avLst>
          </a:prstGeom>
          <a:noFill/>
          <a:ln>
            <a:noFill/>
          </a:ln>
        </p:spPr>
      </p:pic>
      <p:sp>
        <p:nvSpPr>
          <p:cNvPr id="267" name="Google Shape;267;p45"/>
          <p:cNvSpPr txBox="1"/>
          <p:nvPr/>
        </p:nvSpPr>
        <p:spPr>
          <a:xfrm>
            <a:off x="219750" y="2836850"/>
            <a:ext cx="8520600" cy="1193100"/>
          </a:xfrm>
          <a:prstGeom prst="rect">
            <a:avLst/>
          </a:prstGeom>
          <a:noFill/>
          <a:ln>
            <a:noFill/>
          </a:ln>
        </p:spPr>
        <p:txBody>
          <a:bodyPr anchorCtr="0" anchor="ctr"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Proxima Nova"/>
              <a:buChar char="-"/>
            </a:pPr>
            <a:r>
              <a:rPr lang="es" sz="2000">
                <a:solidFill>
                  <a:schemeClr val="dk1"/>
                </a:solidFill>
                <a:latin typeface="Proxima Nova"/>
                <a:ea typeface="Proxima Nova"/>
                <a:cs typeface="Proxima Nova"/>
                <a:sym typeface="Proxima Nova"/>
              </a:rPr>
              <a:t>¿Como lo plantearon por BT? ¿Cuales eran las decisiones y sus opciones?</a:t>
            </a:r>
            <a:endParaRPr sz="2000">
              <a:solidFill>
                <a:schemeClr val="dk1"/>
              </a:solidFill>
              <a:latin typeface="Proxima Nova"/>
              <a:ea typeface="Proxima Nova"/>
              <a:cs typeface="Proxima Nova"/>
              <a:sym typeface="Proxima Nova"/>
            </a:endParaRPr>
          </a:p>
        </p:txBody>
      </p:sp>
      <p:sp>
        <p:nvSpPr>
          <p:cNvPr id="268" name="Google Shape;268;p45"/>
          <p:cNvSpPr txBox="1"/>
          <p:nvPr>
            <p:ph idx="1" type="body"/>
          </p:nvPr>
        </p:nvSpPr>
        <p:spPr>
          <a:xfrm>
            <a:off x="4931400" y="985100"/>
            <a:ext cx="3900900" cy="165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000"/>
              <a:t>Queremos un subconjunto tal que sume la cantidad pedida V.</a:t>
            </a:r>
            <a:endParaRPr sz="2000"/>
          </a:p>
          <a:p>
            <a:pPr indent="0" lvl="0" marL="0" rtl="0" algn="l">
              <a:spcBef>
                <a:spcPts val="1600"/>
              </a:spcBef>
              <a:spcAft>
                <a:spcPts val="1600"/>
              </a:spcAft>
              <a:buClr>
                <a:schemeClr val="dk1"/>
              </a:buClr>
              <a:buSzPts val="1100"/>
              <a:buFont typeface="Arial"/>
              <a:buNone/>
            </a:pPr>
            <a:r>
              <a:rPr lang="es" sz="2000"/>
              <a:t>Vamos a tratar de acercarnos inferiormente (sin pasarnos) </a:t>
            </a:r>
            <a:endParaRPr sz="2000"/>
          </a:p>
        </p:txBody>
      </p:sp>
      <p:sp>
        <p:nvSpPr>
          <p:cNvPr id="269" name="Google Shape;269;p45"/>
          <p:cNvSpPr txBox="1"/>
          <p:nvPr/>
        </p:nvSpPr>
        <p:spPr>
          <a:xfrm>
            <a:off x="639950" y="3718375"/>
            <a:ext cx="7207800" cy="1193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None/>
            </a:pPr>
            <a:r>
              <a:rPr lang="es" sz="2000">
                <a:solidFill>
                  <a:schemeClr val="dk1"/>
                </a:solidFill>
                <a:latin typeface="Proxima Nova"/>
                <a:ea typeface="Proxima Nova"/>
                <a:cs typeface="Proxima Nova"/>
                <a:sym typeface="Proxima Nova"/>
              </a:rPr>
              <a:t>Por cada elemento de la lista original: determinamos si es que </a:t>
            </a:r>
            <a:r>
              <a:rPr b="1" lang="es" sz="2000">
                <a:solidFill>
                  <a:schemeClr val="dk1"/>
                </a:solidFill>
                <a:latin typeface="Proxima Nova"/>
                <a:ea typeface="Proxima Nova"/>
                <a:cs typeface="Proxima Nova"/>
                <a:sym typeface="Proxima Nova"/>
              </a:rPr>
              <a:t>va o no va</a:t>
            </a:r>
            <a:r>
              <a:rPr lang="es" sz="2000">
                <a:solidFill>
                  <a:schemeClr val="dk1"/>
                </a:solidFill>
                <a:latin typeface="Proxima Nova"/>
                <a:ea typeface="Proxima Nova"/>
                <a:cs typeface="Proxima Nova"/>
                <a:sym typeface="Proxima Nova"/>
              </a:rPr>
              <a:t> en la solución.</a:t>
            </a:r>
            <a:endParaRPr sz="20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Subset-Sum</a:t>
            </a:r>
            <a:endParaRPr/>
          </a:p>
        </p:txBody>
      </p:sp>
      <p:sp>
        <p:nvSpPr>
          <p:cNvPr id="275" name="Google Shape;275;p46"/>
          <p:cNvSpPr txBox="1"/>
          <p:nvPr/>
        </p:nvSpPr>
        <p:spPr>
          <a:xfrm>
            <a:off x="235500" y="1120600"/>
            <a:ext cx="5003400" cy="1900500"/>
          </a:xfrm>
          <a:prstGeom prst="rect">
            <a:avLst/>
          </a:prstGeom>
          <a:noFill/>
          <a:ln>
            <a:noFill/>
          </a:ln>
        </p:spPr>
        <p:txBody>
          <a:bodyPr anchorCtr="0" anchor="ctr"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Proxima Nova"/>
              <a:buChar char="-"/>
            </a:pPr>
            <a:r>
              <a:rPr lang="es" sz="2000">
                <a:solidFill>
                  <a:schemeClr val="dk1"/>
                </a:solidFill>
                <a:latin typeface="Proxima Nova"/>
                <a:ea typeface="Proxima Nova"/>
                <a:cs typeface="Proxima Nova"/>
                <a:sym typeface="Proxima Nova"/>
              </a:rPr>
              <a:t>Si pasamos de tener un problema con n-1 elementos a un con n elementos entonces  la "nueva" decisión o variable a determinar sería: agregamos o no ese último elemento (el n avo). </a:t>
            </a:r>
            <a:endParaRPr sz="2000">
              <a:solidFill>
                <a:schemeClr val="dk1"/>
              </a:solidFill>
              <a:latin typeface="Proxima Nova"/>
              <a:ea typeface="Proxima Nova"/>
              <a:cs typeface="Proxima Nova"/>
              <a:sym typeface="Proxima Nova"/>
            </a:endParaRPr>
          </a:p>
        </p:txBody>
      </p:sp>
      <p:sp>
        <p:nvSpPr>
          <p:cNvPr id="276" name="Google Shape;276;p46"/>
          <p:cNvSpPr/>
          <p:nvPr/>
        </p:nvSpPr>
        <p:spPr>
          <a:xfrm>
            <a:off x="5394500" y="1050550"/>
            <a:ext cx="3375900" cy="2045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pic>
        <p:nvPicPr>
          <p:cNvPr id="277" name="Google Shape;277;p46" title="n y n-1.png"/>
          <p:cNvPicPr preferRelativeResize="0"/>
          <p:nvPr/>
        </p:nvPicPr>
        <p:blipFill>
          <a:blip r:embed="rId3">
            <a:alphaModFix/>
          </a:blip>
          <a:stretch>
            <a:fillRect/>
          </a:stretch>
        </p:blipFill>
        <p:spPr>
          <a:xfrm>
            <a:off x="5623525" y="1277613"/>
            <a:ext cx="2917850" cy="1743375"/>
          </a:xfrm>
          <a:prstGeom prst="rect">
            <a:avLst/>
          </a:prstGeom>
          <a:noFill/>
          <a:ln>
            <a:noFill/>
          </a:ln>
        </p:spPr>
      </p:pic>
      <p:sp>
        <p:nvSpPr>
          <p:cNvPr id="278" name="Google Shape;278;p46"/>
          <p:cNvSpPr txBox="1"/>
          <p:nvPr/>
        </p:nvSpPr>
        <p:spPr>
          <a:xfrm>
            <a:off x="235500" y="3021100"/>
            <a:ext cx="8169000" cy="1900500"/>
          </a:xfrm>
          <a:prstGeom prst="rect">
            <a:avLst/>
          </a:prstGeom>
          <a:noFill/>
          <a:ln>
            <a:noFill/>
          </a:ln>
        </p:spPr>
        <p:txBody>
          <a:bodyPr anchorCtr="0" anchor="ctr"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Proxima Nova"/>
              <a:buChar char="-"/>
            </a:pPr>
            <a:r>
              <a:rPr lang="es" sz="2000">
                <a:solidFill>
                  <a:schemeClr val="dk1"/>
                </a:solidFill>
                <a:latin typeface="Proxima Nova"/>
                <a:ea typeface="Proxima Nova"/>
                <a:cs typeface="Proxima Nova"/>
                <a:sym typeface="Proxima Nova"/>
              </a:rPr>
              <a:t>Para resolver el problema con n elementos ya sabemos que el n avo elemento puede estar o no. Si tomamos un u otra decisión “lo que queda” por definir (para armar la solución) es una instancia más pequeña del problema. </a:t>
            </a:r>
            <a:endParaRPr sz="2000">
              <a:solidFill>
                <a:schemeClr val="dk1"/>
              </a:solidFill>
              <a:latin typeface="Proxima Nova"/>
              <a:ea typeface="Proxima Nova"/>
              <a:cs typeface="Proxima Nova"/>
              <a:sym typeface="Proxima Nov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Subset-Sum</a:t>
            </a:r>
            <a:endParaRPr/>
          </a:p>
        </p:txBody>
      </p:sp>
      <p:sp>
        <p:nvSpPr>
          <p:cNvPr id="284" name="Google Shape;284;p47"/>
          <p:cNvSpPr txBox="1"/>
          <p:nvPr/>
        </p:nvSpPr>
        <p:spPr>
          <a:xfrm>
            <a:off x="235500" y="1120600"/>
            <a:ext cx="6184200" cy="9834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None/>
            </a:pPr>
            <a:r>
              <a:rPr lang="es" sz="2000">
                <a:solidFill>
                  <a:schemeClr val="dk1"/>
                </a:solidFill>
                <a:latin typeface="Proxima Nova"/>
                <a:ea typeface="Proxima Nova"/>
                <a:cs typeface="Proxima Nova"/>
                <a:sym typeface="Proxima Nova"/>
              </a:rPr>
              <a:t>Veamos con un ejemplo pequeño a qué subproblema nos refiere tomar esa última decisión</a:t>
            </a:r>
            <a:endParaRPr sz="2000">
              <a:solidFill>
                <a:schemeClr val="dk1"/>
              </a:solidFill>
              <a:latin typeface="Proxima Nova"/>
              <a:ea typeface="Proxima Nova"/>
              <a:cs typeface="Proxima Nova"/>
              <a:sym typeface="Proxima Nova"/>
            </a:endParaRPr>
          </a:p>
        </p:txBody>
      </p:sp>
      <p:sp>
        <p:nvSpPr>
          <p:cNvPr id="285" name="Google Shape;285;p47"/>
          <p:cNvSpPr txBox="1"/>
          <p:nvPr/>
        </p:nvSpPr>
        <p:spPr>
          <a:xfrm>
            <a:off x="483375" y="2687875"/>
            <a:ext cx="7997400" cy="1983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s" sz="2000">
                <a:solidFill>
                  <a:schemeClr val="dk1"/>
                </a:solidFill>
                <a:latin typeface="Proxima Nova"/>
                <a:ea typeface="Proxima Nova"/>
                <a:cs typeface="Proxima Nova"/>
                <a:sym typeface="Proxima Nova"/>
              </a:rPr>
              <a:t>Los subproblemas según las opciones para la última decisión serían:</a:t>
            </a:r>
            <a:endParaRPr sz="2000">
              <a:solidFill>
                <a:schemeClr val="dk1"/>
              </a:solidFill>
              <a:latin typeface="Proxima Nova"/>
              <a:ea typeface="Proxima Nova"/>
              <a:cs typeface="Proxima Nova"/>
              <a:sym typeface="Proxima Nova"/>
            </a:endParaRPr>
          </a:p>
          <a:p>
            <a:pPr indent="-355600" lvl="0" marL="457200" marR="0" rtl="0" algn="l">
              <a:lnSpc>
                <a:spcPct val="115000"/>
              </a:lnSpc>
              <a:spcBef>
                <a:spcPts val="1600"/>
              </a:spcBef>
              <a:spcAft>
                <a:spcPts val="0"/>
              </a:spcAft>
              <a:buClr>
                <a:schemeClr val="dk1"/>
              </a:buClr>
              <a:buSzPts val="2000"/>
              <a:buFont typeface="Proxima Nova"/>
              <a:buAutoNum type="alphaLcParenR"/>
            </a:pPr>
            <a:r>
              <a:rPr lang="es" sz="2000">
                <a:solidFill>
                  <a:schemeClr val="dk1"/>
                </a:solidFill>
                <a:latin typeface="Proxima Nova"/>
                <a:ea typeface="Proxima Nova"/>
                <a:cs typeface="Proxima Nova"/>
                <a:sym typeface="Proxima Nova"/>
              </a:rPr>
              <a:t>El </a:t>
            </a:r>
            <a:r>
              <a:rPr lang="es" sz="2000">
                <a:solidFill>
                  <a:schemeClr val="dk1"/>
                </a:solidFill>
                <a:latin typeface="Proxima Nova"/>
                <a:ea typeface="Proxima Nova"/>
                <a:cs typeface="Proxima Nova"/>
                <a:sym typeface="Proxima Nova"/>
              </a:rPr>
              <a:t>2do elemento (2)</a:t>
            </a:r>
            <a:r>
              <a:rPr b="1" lang="es" sz="2000">
                <a:solidFill>
                  <a:schemeClr val="dk1"/>
                </a:solidFill>
                <a:latin typeface="Proxima Nova"/>
                <a:ea typeface="Proxima Nova"/>
                <a:cs typeface="Proxima Nova"/>
                <a:sym typeface="Proxima Nova"/>
              </a:rPr>
              <a:t> va en la  solución</a:t>
            </a:r>
            <a:r>
              <a:rPr lang="es" sz="2000">
                <a:solidFill>
                  <a:schemeClr val="dk1"/>
                </a:solidFill>
                <a:latin typeface="Proxima Nova"/>
                <a:ea typeface="Proxima Nova"/>
                <a:cs typeface="Proxima Nova"/>
                <a:sym typeface="Proxima Nova"/>
              </a:rPr>
              <a:t>:  entonces nos queda encontrar un subset de todos los anteriores elementos (n-1) que sumen V - {elemento ya considerado en la solución} = V - 2 = 2</a:t>
            </a:r>
            <a:endParaRPr sz="2000">
              <a:solidFill>
                <a:schemeClr val="dk1"/>
              </a:solidFill>
              <a:latin typeface="Proxima Nova"/>
              <a:ea typeface="Proxima Nova"/>
              <a:cs typeface="Proxima Nova"/>
              <a:sym typeface="Proxima Nova"/>
            </a:endParaRPr>
          </a:p>
          <a:p>
            <a:pPr indent="-355600" lvl="0" marL="457200" marR="0" rtl="0" algn="l">
              <a:lnSpc>
                <a:spcPct val="115000"/>
              </a:lnSpc>
              <a:spcBef>
                <a:spcPts val="0"/>
              </a:spcBef>
              <a:spcAft>
                <a:spcPts val="0"/>
              </a:spcAft>
              <a:buClr>
                <a:schemeClr val="dk1"/>
              </a:buClr>
              <a:buSzPts val="2000"/>
              <a:buFont typeface="Proxima Nova"/>
              <a:buAutoNum type="alphaLcParenR"/>
            </a:pPr>
            <a:r>
              <a:rPr lang="es" sz="2000">
                <a:solidFill>
                  <a:schemeClr val="dk1"/>
                </a:solidFill>
                <a:latin typeface="Proxima Nova"/>
                <a:ea typeface="Proxima Nova"/>
                <a:cs typeface="Proxima Nova"/>
                <a:sym typeface="Proxima Nova"/>
              </a:rPr>
              <a:t>El 2do elemento </a:t>
            </a:r>
            <a:r>
              <a:rPr b="1" lang="es" sz="2000">
                <a:solidFill>
                  <a:schemeClr val="dk1"/>
                </a:solidFill>
                <a:latin typeface="Proxima Nova"/>
                <a:ea typeface="Proxima Nova"/>
                <a:cs typeface="Proxima Nova"/>
                <a:sym typeface="Proxima Nova"/>
              </a:rPr>
              <a:t>no va</a:t>
            </a:r>
            <a:r>
              <a:rPr lang="es" sz="2000">
                <a:solidFill>
                  <a:schemeClr val="dk1"/>
                </a:solidFill>
                <a:latin typeface="Proxima Nova"/>
                <a:ea typeface="Proxima Nova"/>
                <a:cs typeface="Proxima Nova"/>
                <a:sym typeface="Proxima Nova"/>
              </a:rPr>
              <a:t>: tendríamos que encontrar con los anteriores elementos una </a:t>
            </a:r>
            <a:r>
              <a:rPr lang="es" sz="2000">
                <a:solidFill>
                  <a:schemeClr val="dk1"/>
                </a:solidFill>
                <a:latin typeface="Proxima Nova"/>
                <a:ea typeface="Proxima Nova"/>
                <a:cs typeface="Proxima Nova"/>
                <a:sym typeface="Proxima Nova"/>
              </a:rPr>
              <a:t>solución</a:t>
            </a:r>
            <a:r>
              <a:rPr lang="es" sz="2000">
                <a:solidFill>
                  <a:schemeClr val="dk1"/>
                </a:solidFill>
                <a:latin typeface="Proxima Nova"/>
                <a:ea typeface="Proxima Nova"/>
                <a:cs typeface="Proxima Nova"/>
                <a:sym typeface="Proxima Nova"/>
              </a:rPr>
              <a:t> (subset) que sume V. </a:t>
            </a:r>
            <a:endParaRPr sz="2000">
              <a:solidFill>
                <a:schemeClr val="dk1"/>
              </a:solidFill>
              <a:latin typeface="Proxima Nova"/>
              <a:ea typeface="Proxima Nova"/>
              <a:cs typeface="Proxima Nova"/>
              <a:sym typeface="Proxima Nova"/>
            </a:endParaRPr>
          </a:p>
        </p:txBody>
      </p:sp>
      <p:pic>
        <p:nvPicPr>
          <p:cNvPr id="286" name="Google Shape;286;p47" title="ejemplo base.png"/>
          <p:cNvPicPr preferRelativeResize="0"/>
          <p:nvPr/>
        </p:nvPicPr>
        <p:blipFill>
          <a:blip r:embed="rId3">
            <a:alphaModFix/>
          </a:blip>
          <a:stretch>
            <a:fillRect/>
          </a:stretch>
        </p:blipFill>
        <p:spPr>
          <a:xfrm>
            <a:off x="6670513" y="1120602"/>
            <a:ext cx="2031300" cy="983400"/>
          </a:xfrm>
          <a:prstGeom prst="roundRect">
            <a:avLst>
              <a:gd fmla="val 16667" name="adj"/>
            </a:avLst>
          </a:prstGeom>
          <a:noFill/>
          <a:ln>
            <a:noFill/>
          </a:ln>
        </p:spPr>
      </p:pic>
      <p:sp>
        <p:nvSpPr>
          <p:cNvPr id="287" name="Google Shape;287;p47"/>
          <p:cNvSpPr txBox="1"/>
          <p:nvPr/>
        </p:nvSpPr>
        <p:spPr>
          <a:xfrm>
            <a:off x="483375" y="1857150"/>
            <a:ext cx="3274200" cy="714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None/>
            </a:pPr>
            <a:r>
              <a:rPr lang="es" sz="2000">
                <a:solidFill>
                  <a:schemeClr val="dk1"/>
                </a:solidFill>
                <a:latin typeface="Proxima Nova"/>
                <a:ea typeface="Proxima Nova"/>
                <a:cs typeface="Proxima Nova"/>
                <a:sym typeface="Proxima Nova"/>
              </a:rPr>
              <a:t>Problema dado: n=2, V= 4</a:t>
            </a:r>
            <a:endParaRPr sz="2000">
              <a:solidFill>
                <a:schemeClr val="dk1"/>
              </a:solidFill>
              <a:latin typeface="Proxima Nova"/>
              <a:ea typeface="Proxima Nova"/>
              <a:cs typeface="Proxima Nova"/>
              <a:sym typeface="Proxima Nov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Subset-Sum</a:t>
            </a:r>
            <a:endParaRPr/>
          </a:p>
        </p:txBody>
      </p:sp>
      <p:grpSp>
        <p:nvGrpSpPr>
          <p:cNvPr id="293" name="Google Shape;293;p48"/>
          <p:cNvGrpSpPr/>
          <p:nvPr/>
        </p:nvGrpSpPr>
        <p:grpSpPr>
          <a:xfrm>
            <a:off x="350075" y="1194025"/>
            <a:ext cx="8443850" cy="1377725"/>
            <a:chOff x="-259175" y="1235275"/>
            <a:chExt cx="8443850" cy="1377725"/>
          </a:xfrm>
        </p:grpSpPr>
        <p:cxnSp>
          <p:nvCxnSpPr>
            <p:cNvPr id="294" name="Google Shape;294;p48"/>
            <p:cNvCxnSpPr/>
            <p:nvPr/>
          </p:nvCxnSpPr>
          <p:spPr>
            <a:xfrm flipH="1" rot="10800000">
              <a:off x="1887325" y="1494375"/>
              <a:ext cx="889500" cy="432000"/>
            </a:xfrm>
            <a:prstGeom prst="straightConnector1">
              <a:avLst/>
            </a:prstGeom>
            <a:noFill/>
            <a:ln cap="flat" cmpd="sng" w="9525">
              <a:solidFill>
                <a:srgbClr val="00695C"/>
              </a:solidFill>
              <a:prstDash val="solid"/>
              <a:round/>
              <a:headEnd len="med" w="med" type="none"/>
              <a:tailEnd len="med" w="med" type="none"/>
            </a:ln>
          </p:spPr>
        </p:cxnSp>
        <p:cxnSp>
          <p:nvCxnSpPr>
            <p:cNvPr id="295" name="Google Shape;295;p48"/>
            <p:cNvCxnSpPr/>
            <p:nvPr/>
          </p:nvCxnSpPr>
          <p:spPr>
            <a:xfrm>
              <a:off x="1896625" y="1963575"/>
              <a:ext cx="842400" cy="375600"/>
            </a:xfrm>
            <a:prstGeom prst="straightConnector1">
              <a:avLst/>
            </a:prstGeom>
            <a:noFill/>
            <a:ln cap="flat" cmpd="sng" w="9525">
              <a:solidFill>
                <a:srgbClr val="00695C"/>
              </a:solidFill>
              <a:prstDash val="solid"/>
              <a:round/>
              <a:headEnd len="med" w="med" type="none"/>
              <a:tailEnd len="med" w="med" type="none"/>
            </a:ln>
          </p:spPr>
        </p:cxnSp>
        <p:sp>
          <p:nvSpPr>
            <p:cNvPr id="296" name="Google Shape;296;p48"/>
            <p:cNvSpPr txBox="1"/>
            <p:nvPr/>
          </p:nvSpPr>
          <p:spPr>
            <a:xfrm>
              <a:off x="2739025" y="2166600"/>
              <a:ext cx="535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usar el elemento: </a:t>
              </a:r>
              <a:r>
                <a:rPr lang="es" sz="1700">
                  <a:solidFill>
                    <a:schemeClr val="dk1"/>
                  </a:solidFill>
                  <a:latin typeface="Proxima Nova"/>
                  <a:ea typeface="Proxima Nova"/>
                  <a:cs typeface="Proxima Nova"/>
                  <a:sym typeface="Proxima Nova"/>
                </a:rPr>
                <a:t>OPT(n-1, </a:t>
              </a:r>
              <a:r>
                <a:rPr b="1" lang="es" sz="1700">
                  <a:solidFill>
                    <a:schemeClr val="dk1"/>
                  </a:solidFill>
                  <a:latin typeface="Proxima Nova"/>
                  <a:ea typeface="Proxima Nova"/>
                  <a:cs typeface="Proxima Nova"/>
                  <a:sym typeface="Proxima Nova"/>
                </a:rPr>
                <a:t>V-Vi</a:t>
              </a:r>
              <a:r>
                <a:rPr lang="es" sz="1700">
                  <a:solidFill>
                    <a:schemeClr val="dk1"/>
                  </a:solidFill>
                  <a:latin typeface="Proxima Nova"/>
                  <a:ea typeface="Proxima Nova"/>
                  <a:cs typeface="Proxima Nova"/>
                  <a:sym typeface="Proxima Nova"/>
                </a:rPr>
                <a:t>) + </a:t>
              </a:r>
              <a:r>
                <a:rPr b="1" lang="es" sz="1700">
                  <a:solidFill>
                    <a:schemeClr val="dk1"/>
                  </a:solidFill>
                  <a:latin typeface="Proxima Nova"/>
                  <a:ea typeface="Proxima Nova"/>
                  <a:cs typeface="Proxima Nova"/>
                  <a:sym typeface="Proxima Nova"/>
                </a:rPr>
                <a:t>Vi</a:t>
              </a:r>
              <a:endParaRPr b="1" sz="1700">
                <a:latin typeface="Proxima Nova"/>
                <a:ea typeface="Proxima Nova"/>
                <a:cs typeface="Proxima Nova"/>
                <a:sym typeface="Proxima Nova"/>
              </a:endParaRPr>
            </a:p>
          </p:txBody>
        </p:sp>
        <p:sp>
          <p:nvSpPr>
            <p:cNvPr id="297" name="Google Shape;297;p48"/>
            <p:cNvSpPr txBox="1"/>
            <p:nvPr/>
          </p:nvSpPr>
          <p:spPr>
            <a:xfrm>
              <a:off x="2827275" y="1235275"/>
              <a:ext cx="535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latin typeface="Proxima Nova"/>
                  <a:ea typeface="Proxima Nova"/>
                  <a:cs typeface="Proxima Nova"/>
                  <a:sym typeface="Proxima Nova"/>
                </a:rPr>
                <a:t>no usar el elemento: OPT(n-1, </a:t>
              </a:r>
              <a:r>
                <a:rPr b="1" lang="es" sz="1700">
                  <a:latin typeface="Proxima Nova"/>
                  <a:ea typeface="Proxima Nova"/>
                  <a:cs typeface="Proxima Nova"/>
                  <a:sym typeface="Proxima Nova"/>
                </a:rPr>
                <a:t>V</a:t>
              </a:r>
              <a:r>
                <a:rPr lang="es" sz="1700">
                  <a:latin typeface="Proxima Nova"/>
                  <a:ea typeface="Proxima Nova"/>
                  <a:cs typeface="Proxima Nova"/>
                  <a:sym typeface="Proxima Nova"/>
                </a:rPr>
                <a:t>)</a:t>
              </a:r>
              <a:endParaRPr sz="1700">
                <a:latin typeface="Proxima Nova"/>
                <a:ea typeface="Proxima Nova"/>
                <a:cs typeface="Proxima Nova"/>
                <a:sym typeface="Proxima Nova"/>
              </a:endParaRPr>
            </a:p>
          </p:txBody>
        </p:sp>
        <p:sp>
          <p:nvSpPr>
            <p:cNvPr id="298" name="Google Shape;298;p48"/>
            <p:cNvSpPr txBox="1"/>
            <p:nvPr/>
          </p:nvSpPr>
          <p:spPr>
            <a:xfrm>
              <a:off x="-259175" y="1704900"/>
              <a:ext cx="215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latin typeface="Proxima Nova"/>
                  <a:ea typeface="Proxima Nova"/>
                  <a:cs typeface="Proxima Nova"/>
                  <a:sym typeface="Proxima Nova"/>
                </a:rPr>
                <a:t>OPT(n, </a:t>
              </a:r>
              <a:r>
                <a:rPr b="1" lang="es" sz="1800">
                  <a:latin typeface="Proxima Nova"/>
                  <a:ea typeface="Proxima Nova"/>
                  <a:cs typeface="Proxima Nova"/>
                  <a:sym typeface="Proxima Nova"/>
                </a:rPr>
                <a:t>V</a:t>
              </a:r>
              <a:r>
                <a:rPr lang="es" sz="1800">
                  <a:latin typeface="Proxima Nova"/>
                  <a:ea typeface="Proxima Nova"/>
                  <a:cs typeface="Proxima Nova"/>
                  <a:sym typeface="Proxima Nova"/>
                </a:rPr>
                <a:t>) = max</a:t>
              </a:r>
              <a:endParaRPr sz="1800">
                <a:latin typeface="Proxima Nova"/>
                <a:ea typeface="Proxima Nova"/>
                <a:cs typeface="Proxima Nova"/>
                <a:sym typeface="Proxima Nova"/>
              </a:endParaRPr>
            </a:p>
          </p:txBody>
        </p:sp>
      </p:grpSp>
      <p:sp>
        <p:nvSpPr>
          <p:cNvPr id="299" name="Google Shape;299;p48"/>
          <p:cNvSpPr txBox="1"/>
          <p:nvPr>
            <p:ph idx="1" type="body"/>
          </p:nvPr>
        </p:nvSpPr>
        <p:spPr>
          <a:xfrm>
            <a:off x="311700" y="2919000"/>
            <a:ext cx="8520600" cy="195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000"/>
              <a:t>OJO: este último caso siempre y cuando </a:t>
            </a:r>
            <a:r>
              <a:rPr b="1" lang="es" sz="2000"/>
              <a:t>V</a:t>
            </a:r>
            <a:r>
              <a:rPr lang="es" sz="2000"/>
              <a:t> sea mayor o igual a </a:t>
            </a:r>
            <a:r>
              <a:rPr b="1" lang="es" sz="2000"/>
              <a:t>V</a:t>
            </a:r>
            <a:r>
              <a:rPr b="1" baseline="-25000" lang="es" sz="2000"/>
              <a:t>i</a:t>
            </a:r>
            <a:endParaRPr b="1" baseline="-25000" sz="2000"/>
          </a:p>
          <a:p>
            <a:pPr indent="0" lvl="0" marL="0" rtl="0" algn="l">
              <a:spcBef>
                <a:spcPts val="1600"/>
              </a:spcBef>
              <a:spcAft>
                <a:spcPts val="0"/>
              </a:spcAft>
              <a:buNone/>
            </a:pPr>
            <a:r>
              <a:t/>
            </a:r>
            <a:endParaRPr sz="2000"/>
          </a:p>
          <a:p>
            <a:pPr indent="0" lvl="0" marL="0" rtl="0" algn="l">
              <a:spcBef>
                <a:spcPts val="1600"/>
              </a:spcBef>
              <a:spcAft>
                <a:spcPts val="1600"/>
              </a:spcAft>
              <a:buNone/>
            </a:pPr>
            <a:r>
              <a:rPr lang="es" sz="2000"/>
              <a:t>¿Es esta la ecuación de recurrencia?</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Subset-Sum y Problema de la Mochila</a:t>
            </a:r>
            <a:endParaRPr/>
          </a:p>
        </p:txBody>
      </p:sp>
      <p:sp>
        <p:nvSpPr>
          <p:cNvPr id="305" name="Google Shape;305;p49"/>
          <p:cNvSpPr txBox="1"/>
          <p:nvPr>
            <p:ph idx="1" type="body"/>
          </p:nvPr>
        </p:nvSpPr>
        <p:spPr>
          <a:xfrm>
            <a:off x="311700" y="1210975"/>
            <a:ext cx="8520600" cy="378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Ya tenemos resuelto el Problema de la Mochila.</a:t>
            </a:r>
            <a:endParaRPr/>
          </a:p>
          <a:p>
            <a:pPr indent="0" lvl="0" marL="0" rtl="0" algn="l">
              <a:spcBef>
                <a:spcPts val="1600"/>
              </a:spcBef>
              <a:spcAft>
                <a:spcPts val="0"/>
              </a:spcAft>
              <a:buNone/>
            </a:pPr>
            <a:r>
              <a:rPr lang="es"/>
              <a:t>¿Podemos usar el </a:t>
            </a:r>
            <a:r>
              <a:rPr lang="es"/>
              <a:t>Problema de la Mochila para resolver este ejercicio?</a:t>
            </a:r>
            <a:endParaRPr/>
          </a:p>
          <a:p>
            <a:pPr indent="-342900" lvl="0" marL="457200" rtl="0" algn="l">
              <a:spcBef>
                <a:spcPts val="1600"/>
              </a:spcBef>
              <a:spcAft>
                <a:spcPts val="0"/>
              </a:spcAft>
              <a:buSzPts val="1800"/>
              <a:buAutoNum type="arabicPeriod"/>
            </a:pPr>
            <a:r>
              <a:rPr lang="es"/>
              <a:t>Convertir la entrada de este ejercicio en una entrada válida del Problema de la Mochila</a:t>
            </a:r>
            <a:endParaRPr/>
          </a:p>
          <a:p>
            <a:pPr indent="-342900" lvl="0" marL="457200" rtl="0" algn="l">
              <a:spcBef>
                <a:spcPts val="0"/>
              </a:spcBef>
              <a:spcAft>
                <a:spcPts val="0"/>
              </a:spcAft>
              <a:buSzPts val="1800"/>
              <a:buAutoNum type="arabicPeriod"/>
            </a:pPr>
            <a:r>
              <a:rPr lang="es"/>
              <a:t>Usar la solución al Problema de la Mochila</a:t>
            </a:r>
            <a:endParaRPr/>
          </a:p>
          <a:p>
            <a:pPr indent="-342900" lvl="0" marL="457200" rtl="0" algn="l">
              <a:spcBef>
                <a:spcPts val="0"/>
              </a:spcBef>
              <a:spcAft>
                <a:spcPts val="0"/>
              </a:spcAft>
              <a:buSzPts val="1800"/>
              <a:buAutoNum type="arabicPeriod"/>
            </a:pPr>
            <a:r>
              <a:rPr lang="es"/>
              <a:t>Verificar en base a esa solución, la solución de Subset-Sum</a:t>
            </a:r>
            <a:endParaRPr/>
          </a:p>
          <a:p>
            <a:pPr indent="0" lvl="0" marL="0" rtl="0" algn="l">
              <a:spcBef>
                <a:spcPts val="1600"/>
              </a:spcBef>
              <a:spcAft>
                <a:spcPts val="0"/>
              </a:spcAft>
              <a:buNone/>
            </a:pPr>
            <a:r>
              <a:rPr lang="es"/>
              <a:t>Si el Problema de la Mochila encuentra un valor igual a V, resuelto.</a:t>
            </a:r>
            <a:endParaRPr/>
          </a:p>
          <a:p>
            <a:pPr indent="0" lvl="0" marL="0" rtl="0" algn="l">
              <a:spcBef>
                <a:spcPts val="1600"/>
              </a:spcBef>
              <a:spcAft>
                <a:spcPts val="1600"/>
              </a:spcAft>
              <a:buNone/>
            </a:pPr>
            <a:r>
              <a:rPr lang="es"/>
              <a:t>Sino, habrá encontrado el valor más cercano sin superar V.</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Subset-Sum y Problema de la Mochila</a:t>
            </a:r>
            <a:endParaRPr/>
          </a:p>
        </p:txBody>
      </p:sp>
      <p:sp>
        <p:nvSpPr>
          <p:cNvPr id="311" name="Google Shape;311;p50"/>
          <p:cNvSpPr txBox="1"/>
          <p:nvPr>
            <p:ph idx="1" type="body"/>
          </p:nvPr>
        </p:nvSpPr>
        <p:spPr>
          <a:xfrm>
            <a:off x="311700" y="1210975"/>
            <a:ext cx="8520600" cy="378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Ya tenemos resuelto el Problema de la Mochila.</a:t>
            </a:r>
            <a:endParaRPr/>
          </a:p>
          <a:p>
            <a:pPr indent="0" lvl="0" marL="0" rtl="0" algn="l">
              <a:spcBef>
                <a:spcPts val="1600"/>
              </a:spcBef>
              <a:spcAft>
                <a:spcPts val="0"/>
              </a:spcAft>
              <a:buClr>
                <a:schemeClr val="dk1"/>
              </a:buClr>
              <a:buSzPts val="1100"/>
              <a:buFont typeface="Arial"/>
              <a:buNone/>
            </a:pPr>
            <a:r>
              <a:rPr lang="es"/>
              <a:t>¿Podemos usar el Problema de la Mochila para resolver este ejercicio?</a:t>
            </a:r>
            <a:endParaRPr/>
          </a:p>
          <a:p>
            <a:pPr indent="-342900" lvl="0" marL="457200" rtl="0" algn="l">
              <a:spcBef>
                <a:spcPts val="1600"/>
              </a:spcBef>
              <a:spcAft>
                <a:spcPts val="0"/>
              </a:spcAft>
              <a:buSzPts val="1800"/>
              <a:buAutoNum type="arabicPeriod"/>
            </a:pPr>
            <a:r>
              <a:rPr lang="es"/>
              <a:t>Convertir la entrada de este ejercicio en una entrada válida del Problema de la Mochila</a:t>
            </a:r>
            <a:endParaRPr/>
          </a:p>
          <a:p>
            <a:pPr indent="-342900" lvl="0" marL="457200" rtl="0" algn="l">
              <a:spcBef>
                <a:spcPts val="0"/>
              </a:spcBef>
              <a:spcAft>
                <a:spcPts val="0"/>
              </a:spcAft>
              <a:buSzPts val="1800"/>
              <a:buAutoNum type="arabicPeriod"/>
            </a:pPr>
            <a:r>
              <a:rPr lang="es"/>
              <a:t>Usar la solución al Problema de la Mochila</a:t>
            </a:r>
            <a:endParaRPr/>
          </a:p>
          <a:p>
            <a:pPr indent="-342900" lvl="0" marL="457200" rtl="0" algn="l">
              <a:spcBef>
                <a:spcPts val="0"/>
              </a:spcBef>
              <a:spcAft>
                <a:spcPts val="0"/>
              </a:spcAft>
              <a:buSzPts val="1800"/>
              <a:buAutoNum type="arabicPeriod"/>
            </a:pPr>
            <a:r>
              <a:rPr lang="es"/>
              <a:t>Verificar en base a esa solución, la solución de Subset-Sum</a:t>
            </a:r>
            <a:endParaRPr/>
          </a:p>
          <a:p>
            <a:pPr indent="0" lvl="0" marL="0" rtl="0" algn="l">
              <a:spcBef>
                <a:spcPts val="1600"/>
              </a:spcBef>
              <a:spcAft>
                <a:spcPts val="0"/>
              </a:spcAft>
              <a:buClr>
                <a:schemeClr val="dk1"/>
              </a:buClr>
              <a:buSzPts val="1100"/>
              <a:buFont typeface="Arial"/>
              <a:buNone/>
            </a:pPr>
            <a:r>
              <a:rPr lang="es"/>
              <a:t>Si el Problema de la Mochila encuentra un valor igual a V, resuelto.</a:t>
            </a:r>
            <a:endParaRPr/>
          </a:p>
          <a:p>
            <a:pPr indent="0" lvl="0" marL="0" rtl="0" algn="l">
              <a:spcBef>
                <a:spcPts val="1600"/>
              </a:spcBef>
              <a:spcAft>
                <a:spcPts val="0"/>
              </a:spcAft>
              <a:buClr>
                <a:schemeClr val="dk1"/>
              </a:buClr>
              <a:buSzPts val="1100"/>
              <a:buFont typeface="Arial"/>
              <a:buNone/>
            </a:pPr>
            <a:r>
              <a:rPr lang="es"/>
              <a:t>Sino, habrá encontrado el valor más cercano sin superar V.</a:t>
            </a:r>
            <a:endParaRPr/>
          </a:p>
          <a:p>
            <a:pPr indent="0" lvl="0" marL="0" rtl="0" algn="l">
              <a:spcBef>
                <a:spcPts val="1600"/>
              </a:spcBef>
              <a:spcAft>
                <a:spcPts val="1600"/>
              </a:spcAft>
              <a:buNone/>
            </a:pPr>
            <a:r>
              <a:t/>
            </a:r>
            <a:endParaRPr/>
          </a:p>
        </p:txBody>
      </p:sp>
      <p:sp>
        <p:nvSpPr>
          <p:cNvPr id="312" name="Google Shape;312;p50"/>
          <p:cNvSpPr txBox="1"/>
          <p:nvPr/>
        </p:nvSpPr>
        <p:spPr>
          <a:xfrm>
            <a:off x="1722815" y="2539902"/>
            <a:ext cx="690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es" sz="2000">
                <a:solidFill>
                  <a:schemeClr val="dk1"/>
                </a:solidFill>
                <a:latin typeface="Proxima Nova"/>
                <a:ea typeface="Proxima Nova"/>
                <a:cs typeface="Proxima Nova"/>
                <a:sym typeface="Proxima Nova"/>
              </a:rPr>
              <a:t>O(n)</a:t>
            </a:r>
            <a:endParaRPr b="1">
              <a:latin typeface="Old Standard TT"/>
              <a:ea typeface="Old Standard TT"/>
              <a:cs typeface="Old Standard TT"/>
              <a:sym typeface="Old Standard TT"/>
            </a:endParaRPr>
          </a:p>
        </p:txBody>
      </p:sp>
      <p:sp>
        <p:nvSpPr>
          <p:cNvPr id="313" name="Google Shape;313;p50"/>
          <p:cNvSpPr txBox="1"/>
          <p:nvPr/>
        </p:nvSpPr>
        <p:spPr>
          <a:xfrm>
            <a:off x="5160400" y="2854675"/>
            <a:ext cx="1335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es" sz="2000">
                <a:solidFill>
                  <a:schemeClr val="dk1"/>
                </a:solidFill>
                <a:latin typeface="Proxima Nova"/>
                <a:ea typeface="Proxima Nova"/>
                <a:cs typeface="Proxima Nova"/>
                <a:sym typeface="Proxima Nova"/>
              </a:rPr>
              <a:t>O(n.2^m)</a:t>
            </a:r>
            <a:endParaRPr b="1">
              <a:latin typeface="Old Standard TT"/>
              <a:ea typeface="Old Standard TT"/>
              <a:cs typeface="Old Standard TT"/>
              <a:sym typeface="Old Standard TT"/>
            </a:endParaRPr>
          </a:p>
        </p:txBody>
      </p:sp>
      <p:sp>
        <p:nvSpPr>
          <p:cNvPr id="314" name="Google Shape;314;p50"/>
          <p:cNvSpPr txBox="1"/>
          <p:nvPr/>
        </p:nvSpPr>
        <p:spPr>
          <a:xfrm>
            <a:off x="6799400" y="3158625"/>
            <a:ext cx="690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b="1" lang="es" sz="2000">
                <a:solidFill>
                  <a:schemeClr val="dk1"/>
                </a:solidFill>
                <a:latin typeface="Proxima Nova"/>
                <a:ea typeface="Proxima Nova"/>
                <a:cs typeface="Proxima Nova"/>
                <a:sym typeface="Proxima Nova"/>
              </a:rPr>
              <a:t>O(1)</a:t>
            </a:r>
            <a:endParaRPr b="1">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Tú a Londres y yo a California</a:t>
            </a:r>
            <a:endParaRPr/>
          </a:p>
        </p:txBody>
      </p:sp>
      <p:pic>
        <p:nvPicPr>
          <p:cNvPr id="320" name="Google Shape;320;p51"/>
          <p:cNvPicPr preferRelativeResize="0"/>
          <p:nvPr/>
        </p:nvPicPr>
        <p:blipFill>
          <a:blip r:embed="rId3">
            <a:alphaModFix/>
          </a:blip>
          <a:stretch>
            <a:fillRect/>
          </a:stretch>
        </p:blipFill>
        <p:spPr>
          <a:xfrm>
            <a:off x="932050" y="1058225"/>
            <a:ext cx="2835356" cy="3780475"/>
          </a:xfrm>
          <a:prstGeom prst="rect">
            <a:avLst/>
          </a:prstGeom>
          <a:noFill/>
          <a:ln>
            <a:noFill/>
          </a:ln>
        </p:spPr>
      </p:pic>
      <p:pic>
        <p:nvPicPr>
          <p:cNvPr id="321" name="Google Shape;321;p51"/>
          <p:cNvPicPr preferRelativeResize="0"/>
          <p:nvPr/>
        </p:nvPicPr>
        <p:blipFill>
          <a:blip r:embed="rId4">
            <a:alphaModFix/>
          </a:blip>
          <a:stretch>
            <a:fillRect/>
          </a:stretch>
        </p:blipFill>
        <p:spPr>
          <a:xfrm>
            <a:off x="4616475" y="1210625"/>
            <a:ext cx="4375125" cy="2463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a:t>
            </a:r>
            <a:r>
              <a:rPr lang="es"/>
              <a:t>Tú a Londres y yo a California</a:t>
            </a:r>
            <a:endParaRPr/>
          </a:p>
        </p:txBody>
      </p:sp>
      <p:sp>
        <p:nvSpPr>
          <p:cNvPr id="327" name="Google Shape;327;p52"/>
          <p:cNvSpPr txBox="1"/>
          <p:nvPr>
            <p:ph idx="1" type="body"/>
          </p:nvPr>
        </p:nvSpPr>
        <p:spPr>
          <a:xfrm>
            <a:off x="311700" y="1171600"/>
            <a:ext cx="8520600" cy="358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Manejamos un negocio que atiende clientes en Londres y en California.</a:t>
            </a:r>
            <a:endParaRPr/>
          </a:p>
          <a:p>
            <a:pPr indent="0" lvl="0" marL="0" rtl="0" algn="l">
              <a:spcBef>
                <a:spcPts val="1600"/>
              </a:spcBef>
              <a:spcAft>
                <a:spcPts val="0"/>
              </a:spcAft>
              <a:buNone/>
            </a:pPr>
            <a:r>
              <a:rPr lang="es"/>
              <a:t>Nos interesa cada mes decidir si operar en una u otra ciudad. Los costos de operación para cada mes pueden variar y son dados: L</a:t>
            </a:r>
            <a:r>
              <a:rPr baseline="-25000" lang="es"/>
              <a:t>i</a:t>
            </a:r>
            <a:r>
              <a:rPr lang="es"/>
              <a:t> y C</a:t>
            </a:r>
            <a:r>
              <a:rPr baseline="-25000" lang="es"/>
              <a:t>i</a:t>
            </a:r>
            <a:r>
              <a:rPr lang="es"/>
              <a:t> para todo n.</a:t>
            </a:r>
            <a:endParaRPr/>
          </a:p>
          <a:p>
            <a:pPr indent="0" lvl="0" marL="0" rtl="0" algn="l">
              <a:spcBef>
                <a:spcPts val="1600"/>
              </a:spcBef>
              <a:spcAft>
                <a:spcPts val="0"/>
              </a:spcAft>
              <a:buNone/>
            </a:pPr>
            <a:r>
              <a:rPr lang="es"/>
              <a:t>Naturalmente, si en un mes operamos en una ciudad, y al siguiente en una distinta, habrá un costo fijo M por la mudanza.</a:t>
            </a:r>
            <a:endParaRPr/>
          </a:p>
          <a:p>
            <a:pPr indent="0" lvl="0" marL="0" rtl="0" algn="l">
              <a:spcBef>
                <a:spcPts val="1600"/>
              </a:spcBef>
              <a:spcAft>
                <a:spcPts val="1600"/>
              </a:spcAft>
              <a:buNone/>
            </a:pPr>
            <a:r>
              <a:rPr lang="es"/>
              <a:t>Dados los costos de operación en Londres (</a:t>
            </a:r>
            <a:r>
              <a:rPr i="1" lang="es"/>
              <a:t>L</a:t>
            </a:r>
            <a:r>
              <a:rPr lang="es"/>
              <a:t>) y California </a:t>
            </a:r>
            <a:r>
              <a:rPr lang="es"/>
              <a:t>(</a:t>
            </a:r>
            <a:r>
              <a:rPr i="1" lang="es"/>
              <a:t>C</a:t>
            </a:r>
            <a:r>
              <a:rPr lang="es"/>
              <a:t>), indicar la secuencia de las n localizaciones en las que operar durante n meses, sabiendo que queremos minimizar los costos de operación. Se puede empezar en cualquier ciudad.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Tú a Londres y yo a California</a:t>
            </a:r>
            <a:endParaRPr/>
          </a:p>
        </p:txBody>
      </p:sp>
      <p:sp>
        <p:nvSpPr>
          <p:cNvPr id="333" name="Google Shape;333;p53"/>
          <p:cNvSpPr txBox="1"/>
          <p:nvPr>
            <p:ph idx="1" type="body"/>
          </p:nvPr>
        </p:nvSpPr>
        <p:spPr>
          <a:xfrm>
            <a:off x="139375" y="1171600"/>
            <a:ext cx="8464200" cy="1148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La solución podría por ejemplo lucir como: </a:t>
            </a:r>
            <a:r>
              <a:rPr i="1" lang="es"/>
              <a:t> [California, Londres, Londres]</a:t>
            </a:r>
            <a:r>
              <a:rPr lang="es"/>
              <a:t> </a:t>
            </a:r>
            <a:endParaRPr/>
          </a:p>
          <a:p>
            <a:pPr indent="-342900" lvl="0" marL="457200" rtl="0" algn="l">
              <a:spcBef>
                <a:spcPts val="0"/>
              </a:spcBef>
              <a:spcAft>
                <a:spcPts val="0"/>
              </a:spcAft>
              <a:buSzPts val="1800"/>
              <a:buChar char="-"/>
            </a:pPr>
            <a:r>
              <a:rPr lang="es"/>
              <a:t>Las mudanzas asumidas quedaron implícitamente definidas en la solución por la elección de las locaciones mes a mes.</a:t>
            </a:r>
            <a:endParaRPr/>
          </a:p>
          <a:p>
            <a:pPr indent="0" lvl="0" marL="0" rtl="0" algn="l">
              <a:spcBef>
                <a:spcPts val="1600"/>
              </a:spcBef>
              <a:spcAft>
                <a:spcPts val="1600"/>
              </a:spcAft>
              <a:buNone/>
            </a:pPr>
            <a:r>
              <a:t/>
            </a:r>
            <a:endParaRPr/>
          </a:p>
        </p:txBody>
      </p:sp>
      <p:sp>
        <p:nvSpPr>
          <p:cNvPr id="334" name="Google Shape;334;p53"/>
          <p:cNvSpPr txBox="1"/>
          <p:nvPr/>
        </p:nvSpPr>
        <p:spPr>
          <a:xfrm>
            <a:off x="225350" y="2320000"/>
            <a:ext cx="86979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600"/>
              </a:spcAft>
              <a:buNone/>
            </a:pPr>
            <a:r>
              <a:rPr lang="es" sz="1800">
                <a:solidFill>
                  <a:schemeClr val="dk1"/>
                </a:solidFill>
                <a:latin typeface="Proxima Nova"/>
                <a:ea typeface="Proxima Nova"/>
                <a:cs typeface="Proxima Nova"/>
                <a:sym typeface="Proxima Nova"/>
              </a:rPr>
              <a:t>Concretamente: ¿Cuál es la última decisión que se tomaría para un plan de n meses?</a:t>
            </a:r>
            <a:endParaRPr sz="1800">
              <a:solidFill>
                <a:schemeClr val="dk1"/>
              </a:solidFill>
              <a:latin typeface="Proxima Nova"/>
              <a:ea typeface="Proxima Nova"/>
              <a:cs typeface="Proxima Nova"/>
              <a:sym typeface="Proxima Nova"/>
            </a:endParaRPr>
          </a:p>
        </p:txBody>
      </p:sp>
      <p:sp>
        <p:nvSpPr>
          <p:cNvPr id="335" name="Google Shape;335;p53"/>
          <p:cNvSpPr txBox="1"/>
          <p:nvPr/>
        </p:nvSpPr>
        <p:spPr>
          <a:xfrm>
            <a:off x="623175" y="2684800"/>
            <a:ext cx="77418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600"/>
              </a:spcAft>
              <a:buNone/>
            </a:pPr>
            <a:r>
              <a:rPr i="1" lang="es" sz="1800">
                <a:solidFill>
                  <a:schemeClr val="dk1"/>
                </a:solidFill>
                <a:latin typeface="Proxima Nova"/>
                <a:ea typeface="Proxima Nova"/>
                <a:cs typeface="Proxima Nova"/>
                <a:sym typeface="Proxima Nova"/>
              </a:rPr>
              <a:t>Dónde se lleva a cabo dicho mes: En Londres o en California.</a:t>
            </a:r>
            <a:endParaRPr i="1" sz="1800">
              <a:solidFill>
                <a:schemeClr val="dk1"/>
              </a:solidFill>
              <a:latin typeface="Proxima Nova"/>
              <a:ea typeface="Proxima Nova"/>
              <a:cs typeface="Proxima Nova"/>
              <a:sym typeface="Proxima Nova"/>
            </a:endParaRPr>
          </a:p>
        </p:txBody>
      </p:sp>
      <p:sp>
        <p:nvSpPr>
          <p:cNvPr id="336" name="Google Shape;336;p53"/>
          <p:cNvSpPr txBox="1"/>
          <p:nvPr>
            <p:ph idx="1" type="body"/>
          </p:nvPr>
        </p:nvSpPr>
        <p:spPr>
          <a:xfrm>
            <a:off x="171050" y="3146500"/>
            <a:ext cx="8697900" cy="775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a:t>Si fijé la última decisión a una de las dos opciones (por ejemplo decidir que se termina en Londres) ¿Cómo afecta esto a la mejor solución que “complementaria”? </a:t>
            </a:r>
            <a:endParaRPr/>
          </a:p>
        </p:txBody>
      </p:sp>
      <p:sp>
        <p:nvSpPr>
          <p:cNvPr id="337" name="Google Shape;337;p53"/>
          <p:cNvSpPr txBox="1"/>
          <p:nvPr>
            <p:ph idx="1" type="body"/>
          </p:nvPr>
        </p:nvSpPr>
        <p:spPr>
          <a:xfrm>
            <a:off x="339900" y="3922275"/>
            <a:ext cx="8464200" cy="114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s"/>
              <a:t>Según esta tendré dos opciones: una con un costo adicional  (el de venir de California y mudarme) y la otra no (si vine de Londres). Escojo la mejor. </a:t>
            </a:r>
            <a:endParaRPr i="1"/>
          </a:p>
          <a:p>
            <a:pPr indent="0" lvl="0" marL="0" rtl="0" algn="ctr">
              <a:spcBef>
                <a:spcPts val="1600"/>
              </a:spcBef>
              <a:spcAft>
                <a:spcPts val="1600"/>
              </a:spcAft>
              <a:buNone/>
            </a:pPr>
            <a:r>
              <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Tú a Londres y yo a California</a:t>
            </a:r>
            <a:endParaRPr/>
          </a:p>
        </p:txBody>
      </p:sp>
      <p:sp>
        <p:nvSpPr>
          <p:cNvPr id="343" name="Google Shape;343;p54"/>
          <p:cNvSpPr txBox="1"/>
          <p:nvPr>
            <p:ph idx="1" type="body"/>
          </p:nvPr>
        </p:nvSpPr>
        <p:spPr>
          <a:xfrm>
            <a:off x="159300" y="1171600"/>
            <a:ext cx="8520600" cy="299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Para el mes n, un plan que </a:t>
            </a:r>
            <a:r>
              <a:rPr b="1" lang="es"/>
              <a:t>termina en Londres </a:t>
            </a:r>
            <a:r>
              <a:rPr lang="es"/>
              <a:t>el </a:t>
            </a:r>
            <a:r>
              <a:rPr b="1" lang="es"/>
              <a:t>coste </a:t>
            </a:r>
            <a:r>
              <a:rPr lang="es"/>
              <a:t>óptimo</a:t>
            </a:r>
            <a:r>
              <a:rPr b="1" lang="es"/>
              <a:t> </a:t>
            </a:r>
            <a:r>
              <a:rPr lang="es"/>
              <a:t>podría venir de:</a:t>
            </a:r>
            <a:endParaRPr/>
          </a:p>
          <a:p>
            <a:pPr indent="-342900" lvl="0" marL="457200" rtl="0" algn="l">
              <a:spcBef>
                <a:spcPts val="1600"/>
              </a:spcBef>
              <a:spcAft>
                <a:spcPts val="0"/>
              </a:spcAft>
              <a:buSzPts val="1800"/>
              <a:buAutoNum type="alphaLcParenR"/>
            </a:pPr>
            <a:r>
              <a:rPr lang="es"/>
              <a:t>L</a:t>
            </a:r>
            <a:r>
              <a:rPr baseline="-25000" lang="es"/>
              <a:t>n      </a:t>
            </a:r>
            <a:r>
              <a:rPr lang="es"/>
              <a:t> +    mejor costo para</a:t>
            </a:r>
            <a:r>
              <a:rPr b="1" lang="es"/>
              <a:t> llegar hasta</a:t>
            </a:r>
            <a:r>
              <a:rPr lang="es"/>
              <a:t> el </a:t>
            </a:r>
            <a:r>
              <a:rPr b="1" lang="es"/>
              <a:t>mes n-1 en Londres</a:t>
            </a:r>
            <a:r>
              <a:rPr lang="es"/>
              <a:t>.</a:t>
            </a:r>
            <a:endParaRPr/>
          </a:p>
          <a:p>
            <a:pPr indent="-342900" lvl="0" marL="457200" rtl="0" algn="l">
              <a:spcBef>
                <a:spcPts val="0"/>
              </a:spcBef>
              <a:spcAft>
                <a:spcPts val="0"/>
              </a:spcAft>
              <a:buSzPts val="1800"/>
              <a:buAutoNum type="alphaLcParenR"/>
            </a:pPr>
            <a:r>
              <a:rPr lang="es"/>
              <a:t>L</a:t>
            </a:r>
            <a:r>
              <a:rPr baseline="-25000" lang="es"/>
              <a:t>n</a:t>
            </a:r>
            <a:r>
              <a:rPr lang="es"/>
              <a:t> + M + mejor costo para </a:t>
            </a:r>
            <a:r>
              <a:rPr b="1" lang="es"/>
              <a:t>llegar hasta</a:t>
            </a:r>
            <a:r>
              <a:rPr lang="es"/>
              <a:t> el </a:t>
            </a:r>
            <a:r>
              <a:rPr b="1" lang="es"/>
              <a:t>mes n-1 en California</a:t>
            </a:r>
            <a:r>
              <a:rPr lang="es"/>
              <a:t>.</a:t>
            </a:r>
            <a:endParaRPr/>
          </a:p>
          <a:p>
            <a:pPr indent="0" lvl="0" marL="0" rtl="0" algn="l">
              <a:spcBef>
                <a:spcPts val="1600"/>
              </a:spcBef>
              <a:spcAft>
                <a:spcPts val="0"/>
              </a:spcAft>
              <a:buNone/>
            </a:pPr>
            <a:r>
              <a:rPr lang="es"/>
              <a:t>Para un mes n, un plan que </a:t>
            </a:r>
            <a:r>
              <a:rPr b="1" lang="es"/>
              <a:t>termina en California </a:t>
            </a:r>
            <a:r>
              <a:rPr lang="es"/>
              <a:t>el </a:t>
            </a:r>
            <a:r>
              <a:rPr b="1" lang="es"/>
              <a:t>coste </a:t>
            </a:r>
            <a:r>
              <a:rPr lang="es"/>
              <a:t>óptimo podría venir de:</a:t>
            </a:r>
            <a:endParaRPr/>
          </a:p>
          <a:p>
            <a:pPr indent="-342900" lvl="0" marL="457200" rtl="0" algn="l">
              <a:spcBef>
                <a:spcPts val="1600"/>
              </a:spcBef>
              <a:spcAft>
                <a:spcPts val="0"/>
              </a:spcAft>
              <a:buSzPts val="1800"/>
              <a:buAutoNum type="alphaLcParenR"/>
            </a:pPr>
            <a:r>
              <a:rPr lang="es"/>
              <a:t>C</a:t>
            </a:r>
            <a:r>
              <a:rPr baseline="-25000" lang="es"/>
              <a:t>n</a:t>
            </a:r>
            <a:r>
              <a:rPr lang="es"/>
              <a:t>    +     mejor costo para</a:t>
            </a:r>
            <a:r>
              <a:rPr b="1" lang="es"/>
              <a:t> llegar hasta</a:t>
            </a:r>
            <a:r>
              <a:rPr lang="es"/>
              <a:t> el </a:t>
            </a:r>
            <a:r>
              <a:rPr b="1" lang="es"/>
              <a:t>mes n-1 en California</a:t>
            </a:r>
            <a:endParaRPr/>
          </a:p>
          <a:p>
            <a:pPr indent="-342900" lvl="0" marL="457200" rtl="0" algn="l">
              <a:spcBef>
                <a:spcPts val="0"/>
              </a:spcBef>
              <a:spcAft>
                <a:spcPts val="0"/>
              </a:spcAft>
              <a:buSzPts val="1800"/>
              <a:buAutoNum type="alphaLcParenR"/>
            </a:pPr>
            <a:r>
              <a:rPr lang="es"/>
              <a:t>C</a:t>
            </a:r>
            <a:r>
              <a:rPr baseline="-25000" lang="es"/>
              <a:t>n</a:t>
            </a:r>
            <a:r>
              <a:rPr lang="es"/>
              <a:t> + M + mejor costo para</a:t>
            </a:r>
            <a:r>
              <a:rPr b="1" lang="es"/>
              <a:t> llegar hasta</a:t>
            </a:r>
            <a:r>
              <a:rPr lang="es"/>
              <a:t> el </a:t>
            </a:r>
            <a:r>
              <a:rPr b="1" lang="es"/>
              <a:t>mes n-1 en Londres</a:t>
            </a:r>
            <a:endParaRPr/>
          </a:p>
        </p:txBody>
      </p:sp>
      <p:sp>
        <p:nvSpPr>
          <p:cNvPr id="344" name="Google Shape;344;p54"/>
          <p:cNvSpPr/>
          <p:nvPr/>
        </p:nvSpPr>
        <p:spPr>
          <a:xfrm>
            <a:off x="7118700" y="1633950"/>
            <a:ext cx="1905900" cy="861600"/>
          </a:xfrm>
          <a:prstGeom prst="rect">
            <a:avLst/>
          </a:prstGeom>
          <a:solidFill>
            <a:srgbClr val="D378FF">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Proxima Nova"/>
                <a:ea typeface="Proxima Nova"/>
                <a:cs typeface="Proxima Nova"/>
                <a:sym typeface="Proxima Nova"/>
              </a:rPr>
              <a:t>Obviamente se </a:t>
            </a:r>
            <a:r>
              <a:rPr lang="es">
                <a:latin typeface="Proxima Nova"/>
                <a:ea typeface="Proxima Nova"/>
                <a:cs typeface="Proxima Nova"/>
                <a:sym typeface="Proxima Nova"/>
              </a:rPr>
              <a:t>escoge</a:t>
            </a:r>
            <a:r>
              <a:rPr lang="es">
                <a:latin typeface="Proxima Nova"/>
                <a:ea typeface="Proxima Nova"/>
                <a:cs typeface="Proxima Nova"/>
                <a:sym typeface="Proxima Nova"/>
              </a:rPr>
              <a:t> </a:t>
            </a:r>
            <a:r>
              <a:rPr lang="es">
                <a:solidFill>
                  <a:schemeClr val="dk1"/>
                </a:solidFill>
                <a:latin typeface="Proxima Nova"/>
                <a:ea typeface="Proxima Nova"/>
                <a:cs typeface="Proxima Nova"/>
                <a:sym typeface="Proxima Nova"/>
              </a:rPr>
              <a:t>la</a:t>
            </a:r>
            <a:r>
              <a:rPr lang="es">
                <a:latin typeface="Proxima Nova"/>
                <a:ea typeface="Proxima Nova"/>
                <a:cs typeface="Proxima Nova"/>
                <a:sym typeface="Proxima Nova"/>
              </a:rPr>
              <a:t> </a:t>
            </a:r>
            <a:r>
              <a:rPr lang="es">
                <a:latin typeface="Proxima Nova"/>
                <a:ea typeface="Proxima Nova"/>
                <a:cs typeface="Proxima Nova"/>
                <a:sym typeface="Proxima Nova"/>
              </a:rPr>
              <a:t>opción</a:t>
            </a:r>
            <a:r>
              <a:rPr lang="es">
                <a:latin typeface="Proxima Nova"/>
                <a:ea typeface="Proxima Nova"/>
                <a:cs typeface="Proxima Nova"/>
                <a:sym typeface="Proxima Nova"/>
              </a:rPr>
              <a:t> que salga más barata </a:t>
            </a:r>
            <a:endParaRPr>
              <a:latin typeface="Proxima Nova"/>
              <a:ea typeface="Proxima Nova"/>
              <a:cs typeface="Proxima Nova"/>
              <a:sym typeface="Proxima Nova"/>
            </a:endParaRPr>
          </a:p>
        </p:txBody>
      </p:sp>
      <p:sp>
        <p:nvSpPr>
          <p:cNvPr id="345" name="Google Shape;345;p54"/>
          <p:cNvSpPr/>
          <p:nvPr/>
        </p:nvSpPr>
        <p:spPr>
          <a:xfrm>
            <a:off x="7118700" y="2913150"/>
            <a:ext cx="1905900" cy="861600"/>
          </a:xfrm>
          <a:prstGeom prst="rect">
            <a:avLst/>
          </a:prstGeom>
          <a:solidFill>
            <a:srgbClr val="D378FF">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a:latin typeface="Proxima Nova"/>
                <a:ea typeface="Proxima Nova"/>
                <a:cs typeface="Proxima Nova"/>
                <a:sym typeface="Proxima Nova"/>
              </a:rPr>
              <a:t>Obviamente se </a:t>
            </a:r>
            <a:r>
              <a:rPr lang="es">
                <a:latin typeface="Proxima Nova"/>
                <a:ea typeface="Proxima Nova"/>
                <a:cs typeface="Proxima Nova"/>
                <a:sym typeface="Proxima Nova"/>
              </a:rPr>
              <a:t>escoge</a:t>
            </a:r>
            <a:r>
              <a:rPr lang="es">
                <a:latin typeface="Proxima Nova"/>
                <a:ea typeface="Proxima Nova"/>
                <a:cs typeface="Proxima Nova"/>
                <a:sym typeface="Proxima Nova"/>
              </a:rPr>
              <a:t> </a:t>
            </a:r>
            <a:r>
              <a:rPr lang="es">
                <a:solidFill>
                  <a:schemeClr val="dk1"/>
                </a:solidFill>
                <a:latin typeface="Proxima Nova"/>
                <a:ea typeface="Proxima Nova"/>
                <a:cs typeface="Proxima Nova"/>
                <a:sym typeface="Proxima Nova"/>
              </a:rPr>
              <a:t>la</a:t>
            </a:r>
            <a:r>
              <a:rPr lang="es">
                <a:latin typeface="Proxima Nova"/>
                <a:ea typeface="Proxima Nova"/>
                <a:cs typeface="Proxima Nova"/>
                <a:sym typeface="Proxima Nova"/>
              </a:rPr>
              <a:t> opción que salga más barata </a:t>
            </a:r>
            <a:endParaRPr>
              <a:latin typeface="Proxima Nova"/>
              <a:ea typeface="Proxima Nova"/>
              <a:cs typeface="Proxima Nova"/>
              <a:sym typeface="Proxima Nova"/>
            </a:endParaRPr>
          </a:p>
        </p:txBody>
      </p:sp>
      <p:sp>
        <p:nvSpPr>
          <p:cNvPr id="346" name="Google Shape;346;p54"/>
          <p:cNvSpPr txBox="1"/>
          <p:nvPr>
            <p:ph idx="1" type="body"/>
          </p:nvPr>
        </p:nvSpPr>
        <p:spPr>
          <a:xfrm>
            <a:off x="159300" y="3862675"/>
            <a:ext cx="8802000" cy="1148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Mediante estos dos problemas con soluciones (opt) más visibles trazables encontraremos la solución al problema general: </a:t>
            </a:r>
            <a:r>
              <a:rPr lang="es"/>
              <a:t>terminando</a:t>
            </a:r>
            <a:r>
              <a:rPr lang="es"/>
              <a:t> en cualquiera de las dos ciudades.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Ejercicio: Tú a Londres y yo a California</a:t>
            </a:r>
            <a:endParaRPr/>
          </a:p>
        </p:txBody>
      </p:sp>
      <p:sp>
        <p:nvSpPr>
          <p:cNvPr id="352" name="Google Shape;352;p55"/>
          <p:cNvSpPr txBox="1"/>
          <p:nvPr>
            <p:ph idx="1" type="body"/>
          </p:nvPr>
        </p:nvSpPr>
        <p:spPr>
          <a:xfrm>
            <a:off x="311700" y="1171600"/>
            <a:ext cx="8520600" cy="31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OPT </a:t>
            </a:r>
            <a:r>
              <a:rPr i="1" lang="es"/>
              <a:t>londres</a:t>
            </a:r>
            <a:r>
              <a:rPr lang="es"/>
              <a:t> [n] = L</a:t>
            </a:r>
            <a:r>
              <a:rPr lang="es"/>
              <a:t>[n]</a:t>
            </a:r>
            <a:r>
              <a:rPr lang="es"/>
              <a:t> + min( OPT </a:t>
            </a:r>
            <a:r>
              <a:rPr i="1" lang="es"/>
              <a:t>londres</a:t>
            </a:r>
            <a:r>
              <a:rPr lang="es"/>
              <a:t> </a:t>
            </a:r>
            <a:r>
              <a:rPr lang="es"/>
              <a:t>[n-1], M + OPT </a:t>
            </a:r>
            <a:r>
              <a:rPr i="1" lang="es"/>
              <a:t>california</a:t>
            </a:r>
            <a:r>
              <a:rPr lang="es"/>
              <a:t> [n-1] </a:t>
            </a:r>
            <a:r>
              <a:rPr lang="es"/>
              <a:t>)</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OPT </a:t>
            </a:r>
            <a:r>
              <a:rPr i="1" lang="es"/>
              <a:t>california</a:t>
            </a:r>
            <a:r>
              <a:rPr lang="es"/>
              <a:t> [n] = C[n] + min( OPT </a:t>
            </a:r>
            <a:r>
              <a:rPr i="1" lang="es"/>
              <a:t>california</a:t>
            </a:r>
            <a:r>
              <a:rPr lang="es"/>
              <a:t> [n-1], M + OPT </a:t>
            </a:r>
            <a:r>
              <a:rPr i="1" lang="es"/>
              <a:t>londres</a:t>
            </a:r>
            <a:r>
              <a:rPr lang="es"/>
              <a:t> [n-1] )</a:t>
            </a:r>
            <a:endParaRPr/>
          </a:p>
          <a:p>
            <a:pPr indent="0" lvl="0" marL="0" rtl="0" algn="l">
              <a:spcBef>
                <a:spcPts val="1600"/>
              </a:spcBef>
              <a:spcAft>
                <a:spcPts val="0"/>
              </a:spcAft>
              <a:buNone/>
            </a:pPr>
            <a:r>
              <a:t/>
            </a:r>
            <a:endParaRPr/>
          </a:p>
          <a:p>
            <a:pPr indent="0" lvl="0" marL="0" rtl="0" algn="l">
              <a:spcBef>
                <a:spcPts val="1600"/>
              </a:spcBef>
              <a:spcAft>
                <a:spcPts val="0"/>
              </a:spcAft>
              <a:buNone/>
            </a:pPr>
            <a:r>
              <a:rPr lang="es"/>
              <a:t>¿Cómo sabemos cuál es el mínimo costo operativo para n meses?</a:t>
            </a:r>
            <a:endParaRPr/>
          </a:p>
          <a:p>
            <a:pPr indent="0" lvl="0" marL="0" rtl="0" algn="l">
              <a:spcBef>
                <a:spcPts val="1600"/>
              </a:spcBef>
              <a:spcAft>
                <a:spcPts val="0"/>
              </a:spcAft>
              <a:buNone/>
            </a:pPr>
            <a:r>
              <a:rPr lang="es"/>
              <a:t>¿Qué estructura se necesita para memorizar la solución?</a:t>
            </a:r>
            <a:endParaRPr/>
          </a:p>
          <a:p>
            <a:pPr indent="0" lvl="0" marL="0" rtl="0" algn="l">
              <a:spcBef>
                <a:spcPts val="1600"/>
              </a:spcBef>
              <a:spcAft>
                <a:spcPts val="1600"/>
              </a:spcAft>
              <a:buClr>
                <a:schemeClr val="dk1"/>
              </a:buClr>
              <a:buSzPts val="1100"/>
              <a:buFont typeface="Arial"/>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