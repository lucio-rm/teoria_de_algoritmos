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Proxima Nova"/>
      <p:regular r:id="rId33"/>
      <p:bold r:id="rId34"/>
      <p:italic r:id="rId35"/>
      <p:boldItalic r:id="rId36"/>
    </p:embeddedFont>
    <p:embeddedFont>
      <p:font typeface="Old Standard TT"/>
      <p:regular r:id="rId37"/>
      <p:bold r:id="rId38"/>
      <p: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roximaNova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ProximaNova-italic.fntdata"/><Relationship Id="rId12" Type="http://schemas.openxmlformats.org/officeDocument/2006/relationships/slide" Target="slides/slide7.xml"/><Relationship Id="rId34" Type="http://schemas.openxmlformats.org/officeDocument/2006/relationships/font" Target="fonts/ProximaNova-bold.fntdata"/><Relationship Id="rId15" Type="http://schemas.openxmlformats.org/officeDocument/2006/relationships/slide" Target="slides/slide10.xml"/><Relationship Id="rId37" Type="http://schemas.openxmlformats.org/officeDocument/2006/relationships/font" Target="fonts/OldStandardTT-regular.fntdata"/><Relationship Id="rId14" Type="http://schemas.openxmlformats.org/officeDocument/2006/relationships/slide" Target="slides/slide9.xml"/><Relationship Id="rId36" Type="http://schemas.openxmlformats.org/officeDocument/2006/relationships/font" Target="fonts/ProximaNova-boldItalic.fntdata"/><Relationship Id="rId17" Type="http://schemas.openxmlformats.org/officeDocument/2006/relationships/slide" Target="slides/slide12.xml"/><Relationship Id="rId39" Type="http://schemas.openxmlformats.org/officeDocument/2006/relationships/font" Target="fonts/OldStandardTT-italic.fntdata"/><Relationship Id="rId16" Type="http://schemas.openxmlformats.org/officeDocument/2006/relationships/slide" Target="slides/slide11.xml"/><Relationship Id="rId38" Type="http://schemas.openxmlformats.org/officeDocument/2006/relationships/font" Target="fonts/OldStandardTT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2c7a43fd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2c7a43fd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699d00c0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699d00c0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924a774eb7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924a774eb7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69997c7d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69997c7d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8d9d377c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8d9d377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69997c7d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69997c7d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69997c7d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569997c7d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69997c7d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69997c7d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69997c7d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69997c7d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69997c7d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569997c7d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69997c7d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569997c7d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69997c7dd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569997c7d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0302f592ab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0302f592a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69b92a8f1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569b92a8f1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0302f592ab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0302f592ab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0302f592ab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0302f592a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97aa58de3f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97aa58de3f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0302f592ab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0302f592ab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0302f592ab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0302f592ab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0302f592ab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0302f592ab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0302f592ab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0302f592ab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0302f592ab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0302f592ab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569b92a8f1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569b92a8f1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569b92a8f1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569b92a8f1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69b92a8f1_5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69b92a8f1_5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dfb0bdd378_2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dfb0bdd378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8325be29a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8325be29a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roxima Nova"/>
              <a:buNone/>
              <a:defRPr sz="4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Proxima Nova"/>
              <a:buNone/>
              <a:defRPr sz="240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Proxima Nova"/>
              <a:buNone/>
              <a:defRPr sz="54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rgbClr val="EFEFE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document/d/12Li9W7FIn_WeJ5fXO8-DqmgNCz0N7ft9vlln__ORslY/edit#heading=h.qzkrm27oc52v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Ejercitación Backtracking y PD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Teoría de Algoritmos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3">
            <a:alphaModFix/>
          </a:blip>
          <a:srcRect b="80" l="0" r="0" t="70"/>
          <a:stretch/>
        </p:blipFill>
        <p:spPr>
          <a:xfrm>
            <a:off x="7060492" y="4349400"/>
            <a:ext cx="2079858" cy="78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Temas del 1er Parcial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71600"/>
            <a:ext cx="8520600" cy="36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División y Conquista (Avanzada)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Algoritmos Greedy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Backtracking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Programación Dinámica</a:t>
            </a:r>
            <a:endParaRPr b="1"/>
          </a:p>
        </p:txBody>
      </p:sp>
      <p:sp>
        <p:nvSpPr>
          <p:cNvPr id="68" name="Google Shape;68;p14"/>
          <p:cNvSpPr txBox="1"/>
          <p:nvPr/>
        </p:nvSpPr>
        <p:spPr>
          <a:xfrm>
            <a:off x="4444075" y="1196575"/>
            <a:ext cx="4723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u="sng">
                <a:solidFill>
                  <a:schemeClr val="hlink"/>
                </a:solidFill>
                <a:latin typeface="Old Standard TT"/>
                <a:ea typeface="Old Standard TT"/>
                <a:cs typeface="Old Standard TT"/>
                <a:sym typeface="Old Standard TT"/>
                <a:hlinkClick r:id="rId3"/>
              </a:rPr>
              <a:t>https://docs.google.com/document/d/12Li9W7FIn_WeJ5fXO8-DqmgNCz0N7ft9vlln__ORslY/edit#heading=h.qzkrm27oc52v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Temas de hoy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71600"/>
            <a:ext cx="8520600" cy="36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Backtracking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Programación Dinámica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Backtracking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Charlemos de VC o DS por BT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/>
        </p:nvSpPr>
        <p:spPr>
          <a:xfrm>
            <a:off x="1353550" y="2563800"/>
            <a:ext cx="458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¿Ideas?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635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-1217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Vamo' a codear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601025"/>
            <a:ext cx="8520600" cy="43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2360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0900" y="2183115"/>
            <a:ext cx="4980691" cy="279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191424"/>
            <a:ext cx="2783050" cy="278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97512" y="152400"/>
            <a:ext cx="4748975" cy="451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52400"/>
            <a:ext cx="8839200" cy="1886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/>
          <p:nvPr/>
        </p:nvSpPr>
        <p:spPr>
          <a:xfrm>
            <a:off x="1464025" y="2658221"/>
            <a:ext cx="489200" cy="1312800"/>
          </a:xfrm>
          <a:custGeom>
            <a:rect b="b" l="l" r="r" t="t"/>
            <a:pathLst>
              <a:path extrusionOk="0" h="52512" w="19568">
                <a:moveTo>
                  <a:pt x="3951" y="2841"/>
                </a:moveTo>
                <a:cubicBezTo>
                  <a:pt x="5921" y="1857"/>
                  <a:pt x="8937" y="-1248"/>
                  <a:pt x="10160" y="583"/>
                </a:cubicBezTo>
                <a:cubicBezTo>
                  <a:pt x="12421" y="3969"/>
                  <a:pt x="436" y="6256"/>
                  <a:pt x="2258" y="9897"/>
                </a:cubicBezTo>
                <a:cubicBezTo>
                  <a:pt x="4199" y="13775"/>
                  <a:pt x="13346" y="3049"/>
                  <a:pt x="14958" y="7075"/>
                </a:cubicBezTo>
                <a:cubicBezTo>
                  <a:pt x="17284" y="12885"/>
                  <a:pt x="1031" y="14766"/>
                  <a:pt x="2258" y="20903"/>
                </a:cubicBezTo>
                <a:cubicBezTo>
                  <a:pt x="2425" y="21738"/>
                  <a:pt x="4036" y="21002"/>
                  <a:pt x="4798" y="20621"/>
                </a:cubicBezTo>
                <a:cubicBezTo>
                  <a:pt x="9003" y="18518"/>
                  <a:pt x="18062" y="11121"/>
                  <a:pt x="18062" y="15823"/>
                </a:cubicBezTo>
                <a:cubicBezTo>
                  <a:pt x="18062" y="21715"/>
                  <a:pt x="8833" y="23149"/>
                  <a:pt x="4233" y="26830"/>
                </a:cubicBezTo>
                <a:cubicBezTo>
                  <a:pt x="2879" y="27914"/>
                  <a:pt x="-380" y="29555"/>
                  <a:pt x="847" y="30781"/>
                </a:cubicBezTo>
                <a:cubicBezTo>
                  <a:pt x="5668" y="35598"/>
                  <a:pt x="14376" y="16926"/>
                  <a:pt x="19191" y="21750"/>
                </a:cubicBezTo>
                <a:cubicBezTo>
                  <a:pt x="20561" y="23123"/>
                  <a:pt x="16995" y="25004"/>
                  <a:pt x="15522" y="26266"/>
                </a:cubicBezTo>
                <a:cubicBezTo>
                  <a:pt x="12093" y="29205"/>
                  <a:pt x="8273" y="31662"/>
                  <a:pt x="4516" y="34168"/>
                </a:cubicBezTo>
                <a:cubicBezTo>
                  <a:pt x="2951" y="35212"/>
                  <a:pt x="0" y="35673"/>
                  <a:pt x="0" y="37555"/>
                </a:cubicBezTo>
                <a:cubicBezTo>
                  <a:pt x="0" y="40749"/>
                  <a:pt x="8304" y="32266"/>
                  <a:pt x="9313" y="35297"/>
                </a:cubicBezTo>
                <a:cubicBezTo>
                  <a:pt x="10387" y="38521"/>
                  <a:pt x="4060" y="39878"/>
                  <a:pt x="2540" y="42917"/>
                </a:cubicBezTo>
                <a:cubicBezTo>
                  <a:pt x="1861" y="44274"/>
                  <a:pt x="6577" y="42042"/>
                  <a:pt x="7056" y="43481"/>
                </a:cubicBezTo>
                <a:cubicBezTo>
                  <a:pt x="7775" y="45642"/>
                  <a:pt x="1212" y="47233"/>
                  <a:pt x="2822" y="48843"/>
                </a:cubicBezTo>
                <a:cubicBezTo>
                  <a:pt x="3453" y="49474"/>
                  <a:pt x="5993" y="49059"/>
                  <a:pt x="5362" y="49690"/>
                </a:cubicBezTo>
                <a:cubicBezTo>
                  <a:pt x="4586" y="50466"/>
                  <a:pt x="2893" y="51736"/>
                  <a:pt x="3669" y="52512"/>
                </a:cubicBezTo>
              </a:path>
            </a:pathLst>
          </a:cu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6" name="Google Shape;116;p22"/>
          <p:cNvSpPr/>
          <p:nvPr/>
        </p:nvSpPr>
        <p:spPr>
          <a:xfrm>
            <a:off x="1524525" y="1392475"/>
            <a:ext cx="1342200" cy="1484450"/>
          </a:xfrm>
          <a:custGeom>
            <a:rect b="b" l="l" r="r" t="t"/>
            <a:pathLst>
              <a:path extrusionOk="0" h="59378" w="53688">
                <a:moveTo>
                  <a:pt x="0" y="12797"/>
                </a:moveTo>
                <a:cubicBezTo>
                  <a:pt x="2842" y="9955"/>
                  <a:pt x="5823" y="7253"/>
                  <a:pt x="8665" y="4411"/>
                </a:cubicBezTo>
                <a:cubicBezTo>
                  <a:pt x="9738" y="3338"/>
                  <a:pt x="11111" y="122"/>
                  <a:pt x="12020" y="1336"/>
                </a:cubicBezTo>
                <a:cubicBezTo>
                  <a:pt x="16716" y="7607"/>
                  <a:pt x="-2947" y="15782"/>
                  <a:pt x="1397" y="22302"/>
                </a:cubicBezTo>
                <a:cubicBezTo>
                  <a:pt x="1968" y="23159"/>
                  <a:pt x="3537" y="22453"/>
                  <a:pt x="4472" y="22022"/>
                </a:cubicBezTo>
                <a:cubicBezTo>
                  <a:pt x="10880" y="19065"/>
                  <a:pt x="14413" y="11952"/>
                  <a:pt x="18729" y="6368"/>
                </a:cubicBezTo>
                <a:cubicBezTo>
                  <a:pt x="20381" y="4230"/>
                  <a:pt x="22698" y="-1663"/>
                  <a:pt x="24320" y="498"/>
                </a:cubicBezTo>
                <a:cubicBezTo>
                  <a:pt x="25772" y="2433"/>
                  <a:pt x="23332" y="5270"/>
                  <a:pt x="22363" y="7486"/>
                </a:cubicBezTo>
                <a:cubicBezTo>
                  <a:pt x="20476" y="11801"/>
                  <a:pt x="18874" y="16387"/>
                  <a:pt x="15933" y="20065"/>
                </a:cubicBezTo>
                <a:cubicBezTo>
                  <a:pt x="14625" y="21700"/>
                  <a:pt x="13618" y="23559"/>
                  <a:pt x="12579" y="25377"/>
                </a:cubicBezTo>
                <a:cubicBezTo>
                  <a:pt x="12124" y="26174"/>
                  <a:pt x="10640" y="28303"/>
                  <a:pt x="11461" y="27893"/>
                </a:cubicBezTo>
                <a:cubicBezTo>
                  <a:pt x="18196" y="24526"/>
                  <a:pt x="20396" y="15544"/>
                  <a:pt x="26276" y="10841"/>
                </a:cubicBezTo>
                <a:cubicBezTo>
                  <a:pt x="27476" y="9881"/>
                  <a:pt x="29789" y="8523"/>
                  <a:pt x="30749" y="9723"/>
                </a:cubicBezTo>
                <a:cubicBezTo>
                  <a:pt x="31949" y="11223"/>
                  <a:pt x="29552" y="13418"/>
                  <a:pt x="28513" y="15034"/>
                </a:cubicBezTo>
                <a:cubicBezTo>
                  <a:pt x="25807" y="19244"/>
                  <a:pt x="23728" y="23826"/>
                  <a:pt x="21245" y="28172"/>
                </a:cubicBezTo>
                <a:cubicBezTo>
                  <a:pt x="20206" y="29990"/>
                  <a:pt x="17846" y="32300"/>
                  <a:pt x="19008" y="34042"/>
                </a:cubicBezTo>
                <a:cubicBezTo>
                  <a:pt x="20147" y="35749"/>
                  <a:pt x="22409" y="31673"/>
                  <a:pt x="23760" y="30129"/>
                </a:cubicBezTo>
                <a:cubicBezTo>
                  <a:pt x="27839" y="25468"/>
                  <a:pt x="31485" y="19999"/>
                  <a:pt x="36899" y="16991"/>
                </a:cubicBezTo>
                <a:cubicBezTo>
                  <a:pt x="38254" y="16238"/>
                  <a:pt x="39572" y="13544"/>
                  <a:pt x="40812" y="14475"/>
                </a:cubicBezTo>
                <a:cubicBezTo>
                  <a:pt x="42204" y="15520"/>
                  <a:pt x="40380" y="18058"/>
                  <a:pt x="39415" y="19506"/>
                </a:cubicBezTo>
                <a:cubicBezTo>
                  <a:pt x="35353" y="25600"/>
                  <a:pt x="30852" y="31399"/>
                  <a:pt x="26276" y="37117"/>
                </a:cubicBezTo>
                <a:cubicBezTo>
                  <a:pt x="24918" y="38814"/>
                  <a:pt x="21951" y="40764"/>
                  <a:pt x="22922" y="42708"/>
                </a:cubicBezTo>
                <a:cubicBezTo>
                  <a:pt x="24278" y="45422"/>
                  <a:pt x="27781" y="38963"/>
                  <a:pt x="29631" y="36558"/>
                </a:cubicBezTo>
                <a:cubicBezTo>
                  <a:pt x="33996" y="30883"/>
                  <a:pt x="37612" y="24445"/>
                  <a:pt x="43049" y="19786"/>
                </a:cubicBezTo>
                <a:cubicBezTo>
                  <a:pt x="44209" y="18792"/>
                  <a:pt x="45372" y="16205"/>
                  <a:pt x="46683" y="16991"/>
                </a:cubicBezTo>
                <a:cubicBezTo>
                  <a:pt x="48528" y="18097"/>
                  <a:pt x="47230" y="21576"/>
                  <a:pt x="46123" y="23420"/>
                </a:cubicBezTo>
                <a:cubicBezTo>
                  <a:pt x="42257" y="29859"/>
                  <a:pt x="37479" y="35753"/>
                  <a:pt x="32426" y="41310"/>
                </a:cubicBezTo>
                <a:cubicBezTo>
                  <a:pt x="29956" y="44027"/>
                  <a:pt x="25106" y="46694"/>
                  <a:pt x="25997" y="50256"/>
                </a:cubicBezTo>
                <a:cubicBezTo>
                  <a:pt x="26757" y="53293"/>
                  <a:pt x="31991" y="47383"/>
                  <a:pt x="33544" y="44665"/>
                </a:cubicBezTo>
                <a:cubicBezTo>
                  <a:pt x="37154" y="38346"/>
                  <a:pt x="42377" y="33041"/>
                  <a:pt x="47521" y="27893"/>
                </a:cubicBezTo>
                <a:cubicBezTo>
                  <a:pt x="48966" y="26447"/>
                  <a:pt x="51667" y="23932"/>
                  <a:pt x="53112" y="25377"/>
                </a:cubicBezTo>
                <a:cubicBezTo>
                  <a:pt x="54999" y="27264"/>
                  <a:pt x="51644" y="30758"/>
                  <a:pt x="49757" y="32645"/>
                </a:cubicBezTo>
                <a:cubicBezTo>
                  <a:pt x="43235" y="39167"/>
                  <a:pt x="36192" y="45208"/>
                  <a:pt x="30190" y="52212"/>
                </a:cubicBezTo>
                <a:cubicBezTo>
                  <a:pt x="28357" y="54351"/>
                  <a:pt x="23094" y="57639"/>
                  <a:pt x="25438" y="59201"/>
                </a:cubicBezTo>
                <a:cubicBezTo>
                  <a:pt x="26449" y="59875"/>
                  <a:pt x="27564" y="58003"/>
                  <a:pt x="28513" y="57244"/>
                </a:cubicBezTo>
                <a:cubicBezTo>
                  <a:pt x="34943" y="52098"/>
                  <a:pt x="39412" y="44777"/>
                  <a:pt x="45844" y="39633"/>
                </a:cubicBezTo>
                <a:cubicBezTo>
                  <a:pt x="47257" y="38503"/>
                  <a:pt x="48637" y="35886"/>
                  <a:pt x="50317" y="36558"/>
                </a:cubicBezTo>
                <a:cubicBezTo>
                  <a:pt x="54573" y="38260"/>
                  <a:pt x="46709" y="45043"/>
                  <a:pt x="44167" y="48858"/>
                </a:cubicBezTo>
              </a:path>
            </a:pathLst>
          </a:cu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7" name="Google Shape;117;p22"/>
          <p:cNvSpPr/>
          <p:nvPr/>
        </p:nvSpPr>
        <p:spPr>
          <a:xfrm>
            <a:off x="1460044" y="2070038"/>
            <a:ext cx="490750" cy="497225"/>
          </a:xfrm>
          <a:custGeom>
            <a:rect b="b" l="l" r="r" t="t"/>
            <a:pathLst>
              <a:path extrusionOk="0" h="19889" w="19630">
                <a:moveTo>
                  <a:pt x="2299" y="1908"/>
                </a:moveTo>
                <a:cubicBezTo>
                  <a:pt x="3568" y="1273"/>
                  <a:pt x="5032" y="-557"/>
                  <a:pt x="6213" y="230"/>
                </a:cubicBezTo>
                <a:cubicBezTo>
                  <a:pt x="8342" y="1649"/>
                  <a:pt x="876" y="4371"/>
                  <a:pt x="2020" y="6660"/>
                </a:cubicBezTo>
                <a:cubicBezTo>
                  <a:pt x="3259" y="9138"/>
                  <a:pt x="7888" y="1905"/>
                  <a:pt x="9847" y="3864"/>
                </a:cubicBezTo>
                <a:cubicBezTo>
                  <a:pt x="13017" y="7034"/>
                  <a:pt x="-3108" y="11163"/>
                  <a:pt x="622" y="13648"/>
                </a:cubicBezTo>
                <a:cubicBezTo>
                  <a:pt x="4057" y="15936"/>
                  <a:pt x="7731" y="9405"/>
                  <a:pt x="11524" y="7778"/>
                </a:cubicBezTo>
                <a:cubicBezTo>
                  <a:pt x="12209" y="7484"/>
                  <a:pt x="13614" y="7047"/>
                  <a:pt x="13760" y="7778"/>
                </a:cubicBezTo>
                <a:cubicBezTo>
                  <a:pt x="14772" y="12832"/>
                  <a:pt x="839" y="15229"/>
                  <a:pt x="3697" y="19519"/>
                </a:cubicBezTo>
                <a:cubicBezTo>
                  <a:pt x="4336" y="20478"/>
                  <a:pt x="6063" y="19273"/>
                  <a:pt x="7051" y="18680"/>
                </a:cubicBezTo>
                <a:cubicBezTo>
                  <a:pt x="10919" y="16357"/>
                  <a:pt x="14482" y="7106"/>
                  <a:pt x="17674" y="10294"/>
                </a:cubicBezTo>
                <a:cubicBezTo>
                  <a:pt x="18362" y="10981"/>
                  <a:pt x="17143" y="12166"/>
                  <a:pt x="16835" y="13089"/>
                </a:cubicBezTo>
                <a:cubicBezTo>
                  <a:pt x="16535" y="13990"/>
                  <a:pt x="19630" y="12698"/>
                  <a:pt x="19630" y="13648"/>
                </a:cubicBezTo>
              </a:path>
            </a:pathLst>
          </a:cu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950" y="884613"/>
            <a:ext cx="2324033" cy="33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2"/>
          <p:cNvSpPr txBox="1"/>
          <p:nvPr>
            <p:ph type="title"/>
          </p:nvPr>
        </p:nvSpPr>
        <p:spPr>
          <a:xfrm>
            <a:off x="235500" y="216425"/>
            <a:ext cx="8520600" cy="6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Coloreo</a:t>
            </a:r>
            <a:endParaRPr sz="1800"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1975" y="593925"/>
            <a:ext cx="5780700" cy="4153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def pintar_colectivos(colectivos, paradas):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    grafo = Grafo(False, vertices_init=colectivos)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    for parada in paradas: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        for i, c1 in enumerate(parada):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            for c2 in parada[i+1:]: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                if not grafo.estan_unidos(c1, c2):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                    grafo.agregar_arista(c1, c2)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    return colorear(grafo)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def colorear(grafo):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	n_colores = 0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    colores = {}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    vertices = grafo.obtener_vertices()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    return colorear_rec(grafo, n_colores, colores, vertices, 0, len(vertices))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0" y="53525"/>
            <a:ext cx="9432900" cy="5090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def colorear_rec(grafo, cant_colores_asig, colores, vertices, i, k_sol_min):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    if cant_colores_asig &gt;= k_sol_min: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        return k_sol_min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    if i == len(vertices):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        return cant_colores_asig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    v = vertices[i]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    for color in range(n+1):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        colores[v] = color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        if not compatible(grafo, v, colores):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            continue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        if color != cant_colores_asignados: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            sol = colorear_rec(grafo, cant_colores_asig, colores, vertices, i+1, k_sol_min)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        else: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            sol = colorear_rec(grafo, cant_colores_asig+1, colores, vertices, i+1, k_sol_min)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        if sol &lt; k_sol_min: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            k_sol_min= sol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    del colores[v]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    return k_sol_min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04725" y="53525"/>
            <a:ext cx="8588100" cy="5090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def compatible(grafo, v, colores):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    for w in grafo.adyacentes(v):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        if w in colores and colores[v] == colores[w]: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            return False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    return True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Programación Dinámica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067431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VII - El problema del Lunático</a:t>
            </a:r>
            <a:endParaRPr/>
          </a:p>
        </p:txBody>
      </p:sp>
      <p:pic>
        <p:nvPicPr>
          <p:cNvPr id="146" name="Google Shape;14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3638" y="1524000"/>
            <a:ext cx="2100675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107425"/>
            <a:ext cx="6738526" cy="3686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VI - El problema de la soga</a:t>
            </a:r>
            <a:endParaRPr/>
          </a:p>
        </p:txBody>
      </p:sp>
      <p:pic>
        <p:nvPicPr>
          <p:cNvPr id="153" name="Google Shape;153;p28"/>
          <p:cNvPicPr preferRelativeResize="0"/>
          <p:nvPr/>
        </p:nvPicPr>
        <p:blipFill rotWithShape="1">
          <a:blip r:embed="rId3">
            <a:alphaModFix/>
          </a:blip>
          <a:srcRect b="40682" l="0" r="0" t="40448"/>
          <a:stretch/>
        </p:blipFill>
        <p:spPr>
          <a:xfrm>
            <a:off x="73125" y="3665427"/>
            <a:ext cx="8839201" cy="61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375" y="1429125"/>
            <a:ext cx="8839200" cy="1921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2600"/>
            <a:ext cx="8839201" cy="32497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29"/>
          <p:cNvCxnSpPr>
            <a:stCxn id="159" idx="1"/>
          </p:cNvCxnSpPr>
          <p:nvPr/>
        </p:nvCxnSpPr>
        <p:spPr>
          <a:xfrm>
            <a:off x="152400" y="3377453"/>
            <a:ext cx="88392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29"/>
          <p:cNvCxnSpPr/>
          <p:nvPr/>
        </p:nvCxnSpPr>
        <p:spPr>
          <a:xfrm>
            <a:off x="1394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29"/>
          <p:cNvCxnSpPr/>
          <p:nvPr/>
        </p:nvCxnSpPr>
        <p:spPr>
          <a:xfrm>
            <a:off x="10538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29"/>
          <p:cNvCxnSpPr/>
          <p:nvPr/>
        </p:nvCxnSpPr>
        <p:spPr>
          <a:xfrm>
            <a:off x="10538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29"/>
          <p:cNvCxnSpPr/>
          <p:nvPr/>
        </p:nvCxnSpPr>
        <p:spPr>
          <a:xfrm>
            <a:off x="19682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29"/>
          <p:cNvCxnSpPr/>
          <p:nvPr/>
        </p:nvCxnSpPr>
        <p:spPr>
          <a:xfrm>
            <a:off x="19682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29"/>
          <p:cNvCxnSpPr/>
          <p:nvPr/>
        </p:nvCxnSpPr>
        <p:spPr>
          <a:xfrm>
            <a:off x="28826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29"/>
          <p:cNvCxnSpPr/>
          <p:nvPr/>
        </p:nvCxnSpPr>
        <p:spPr>
          <a:xfrm>
            <a:off x="28826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29"/>
          <p:cNvCxnSpPr/>
          <p:nvPr/>
        </p:nvCxnSpPr>
        <p:spPr>
          <a:xfrm>
            <a:off x="37970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29"/>
          <p:cNvCxnSpPr/>
          <p:nvPr/>
        </p:nvCxnSpPr>
        <p:spPr>
          <a:xfrm>
            <a:off x="37970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29"/>
          <p:cNvCxnSpPr/>
          <p:nvPr/>
        </p:nvCxnSpPr>
        <p:spPr>
          <a:xfrm>
            <a:off x="47114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29"/>
          <p:cNvCxnSpPr/>
          <p:nvPr/>
        </p:nvCxnSpPr>
        <p:spPr>
          <a:xfrm>
            <a:off x="47114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29"/>
          <p:cNvCxnSpPr/>
          <p:nvPr/>
        </p:nvCxnSpPr>
        <p:spPr>
          <a:xfrm>
            <a:off x="56258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29"/>
          <p:cNvCxnSpPr/>
          <p:nvPr/>
        </p:nvCxnSpPr>
        <p:spPr>
          <a:xfrm>
            <a:off x="56258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29"/>
          <p:cNvCxnSpPr/>
          <p:nvPr/>
        </p:nvCxnSpPr>
        <p:spPr>
          <a:xfrm>
            <a:off x="65402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29"/>
          <p:cNvCxnSpPr/>
          <p:nvPr/>
        </p:nvCxnSpPr>
        <p:spPr>
          <a:xfrm>
            <a:off x="65402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29"/>
          <p:cNvCxnSpPr/>
          <p:nvPr/>
        </p:nvCxnSpPr>
        <p:spPr>
          <a:xfrm>
            <a:off x="74546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29"/>
          <p:cNvCxnSpPr/>
          <p:nvPr/>
        </p:nvCxnSpPr>
        <p:spPr>
          <a:xfrm>
            <a:off x="74546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9"/>
          <p:cNvCxnSpPr/>
          <p:nvPr/>
        </p:nvCxnSpPr>
        <p:spPr>
          <a:xfrm>
            <a:off x="83690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29"/>
          <p:cNvSpPr/>
          <p:nvPr/>
        </p:nvSpPr>
        <p:spPr>
          <a:xfrm>
            <a:off x="2017775" y="3126679"/>
            <a:ext cx="907800" cy="56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80" name="Google Shape;180;p29"/>
          <p:cNvSpPr/>
          <p:nvPr/>
        </p:nvSpPr>
        <p:spPr>
          <a:xfrm>
            <a:off x="2925575" y="3126685"/>
            <a:ext cx="907800" cy="56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81" name="Google Shape;181;p29"/>
          <p:cNvSpPr/>
          <p:nvPr/>
        </p:nvSpPr>
        <p:spPr>
          <a:xfrm>
            <a:off x="3841632" y="3126685"/>
            <a:ext cx="907800" cy="56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82" name="Google Shape;182;p29"/>
          <p:cNvSpPr/>
          <p:nvPr/>
        </p:nvSpPr>
        <p:spPr>
          <a:xfrm>
            <a:off x="4747771" y="3126685"/>
            <a:ext cx="907800" cy="56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83" name="Google Shape;183;p29"/>
          <p:cNvSpPr/>
          <p:nvPr/>
        </p:nvSpPr>
        <p:spPr>
          <a:xfrm>
            <a:off x="5655784" y="3124385"/>
            <a:ext cx="907800" cy="56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84" name="Google Shape;184;p29"/>
          <p:cNvSpPr/>
          <p:nvPr/>
        </p:nvSpPr>
        <p:spPr>
          <a:xfrm>
            <a:off x="6563809" y="3126685"/>
            <a:ext cx="907800" cy="56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85" name="Google Shape;185;p29"/>
          <p:cNvSpPr/>
          <p:nvPr/>
        </p:nvSpPr>
        <p:spPr>
          <a:xfrm>
            <a:off x="7475378" y="3126685"/>
            <a:ext cx="907800" cy="56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86" name="Google Shape;186;p29"/>
          <p:cNvSpPr/>
          <p:nvPr/>
        </p:nvSpPr>
        <p:spPr>
          <a:xfrm>
            <a:off x="8386953" y="3126685"/>
            <a:ext cx="907800" cy="56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87" name="Google Shape;18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839200" cy="192156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9"/>
          <p:cNvSpPr txBox="1"/>
          <p:nvPr>
            <p:ph idx="1" type="body"/>
          </p:nvPr>
        </p:nvSpPr>
        <p:spPr>
          <a:xfrm>
            <a:off x="139425" y="2157475"/>
            <a:ext cx="8520600" cy="25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¿Cómo son mis subproblemas?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2600"/>
            <a:ext cx="8839201" cy="32497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4" name="Google Shape;194;p30"/>
          <p:cNvCxnSpPr>
            <a:stCxn id="193" idx="1"/>
          </p:cNvCxnSpPr>
          <p:nvPr/>
        </p:nvCxnSpPr>
        <p:spPr>
          <a:xfrm>
            <a:off x="152400" y="3377453"/>
            <a:ext cx="88392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30"/>
          <p:cNvCxnSpPr/>
          <p:nvPr/>
        </p:nvCxnSpPr>
        <p:spPr>
          <a:xfrm>
            <a:off x="1394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30"/>
          <p:cNvCxnSpPr/>
          <p:nvPr/>
        </p:nvCxnSpPr>
        <p:spPr>
          <a:xfrm>
            <a:off x="10538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30"/>
          <p:cNvCxnSpPr/>
          <p:nvPr/>
        </p:nvCxnSpPr>
        <p:spPr>
          <a:xfrm>
            <a:off x="10538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30"/>
          <p:cNvCxnSpPr/>
          <p:nvPr/>
        </p:nvCxnSpPr>
        <p:spPr>
          <a:xfrm>
            <a:off x="19682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30"/>
          <p:cNvCxnSpPr/>
          <p:nvPr/>
        </p:nvCxnSpPr>
        <p:spPr>
          <a:xfrm>
            <a:off x="19682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30"/>
          <p:cNvCxnSpPr/>
          <p:nvPr/>
        </p:nvCxnSpPr>
        <p:spPr>
          <a:xfrm>
            <a:off x="28826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30"/>
          <p:cNvCxnSpPr/>
          <p:nvPr/>
        </p:nvCxnSpPr>
        <p:spPr>
          <a:xfrm>
            <a:off x="28826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30"/>
          <p:cNvCxnSpPr/>
          <p:nvPr/>
        </p:nvCxnSpPr>
        <p:spPr>
          <a:xfrm>
            <a:off x="37970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30"/>
          <p:cNvCxnSpPr/>
          <p:nvPr/>
        </p:nvCxnSpPr>
        <p:spPr>
          <a:xfrm>
            <a:off x="37970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30"/>
          <p:cNvCxnSpPr/>
          <p:nvPr/>
        </p:nvCxnSpPr>
        <p:spPr>
          <a:xfrm>
            <a:off x="47114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30"/>
          <p:cNvCxnSpPr/>
          <p:nvPr/>
        </p:nvCxnSpPr>
        <p:spPr>
          <a:xfrm>
            <a:off x="47114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30"/>
          <p:cNvCxnSpPr/>
          <p:nvPr/>
        </p:nvCxnSpPr>
        <p:spPr>
          <a:xfrm>
            <a:off x="56258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30"/>
          <p:cNvCxnSpPr/>
          <p:nvPr/>
        </p:nvCxnSpPr>
        <p:spPr>
          <a:xfrm>
            <a:off x="56258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30"/>
          <p:cNvCxnSpPr/>
          <p:nvPr/>
        </p:nvCxnSpPr>
        <p:spPr>
          <a:xfrm>
            <a:off x="65402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30"/>
          <p:cNvCxnSpPr/>
          <p:nvPr/>
        </p:nvCxnSpPr>
        <p:spPr>
          <a:xfrm>
            <a:off x="65402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30"/>
          <p:cNvCxnSpPr/>
          <p:nvPr/>
        </p:nvCxnSpPr>
        <p:spPr>
          <a:xfrm>
            <a:off x="74546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30"/>
          <p:cNvCxnSpPr/>
          <p:nvPr/>
        </p:nvCxnSpPr>
        <p:spPr>
          <a:xfrm>
            <a:off x="74546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30"/>
          <p:cNvCxnSpPr/>
          <p:nvPr/>
        </p:nvCxnSpPr>
        <p:spPr>
          <a:xfrm>
            <a:off x="8369025" y="3156778"/>
            <a:ext cx="0" cy="4962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" name="Google Shape;213;p30"/>
          <p:cNvSpPr/>
          <p:nvPr/>
        </p:nvSpPr>
        <p:spPr>
          <a:xfrm>
            <a:off x="2017775" y="3126679"/>
            <a:ext cx="907800" cy="56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14" name="Google Shape;214;p30"/>
          <p:cNvSpPr/>
          <p:nvPr/>
        </p:nvSpPr>
        <p:spPr>
          <a:xfrm>
            <a:off x="2925575" y="3126685"/>
            <a:ext cx="907800" cy="56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15" name="Google Shape;215;p30"/>
          <p:cNvSpPr/>
          <p:nvPr/>
        </p:nvSpPr>
        <p:spPr>
          <a:xfrm>
            <a:off x="3841632" y="3126685"/>
            <a:ext cx="907800" cy="56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16" name="Google Shape;216;p30"/>
          <p:cNvSpPr/>
          <p:nvPr/>
        </p:nvSpPr>
        <p:spPr>
          <a:xfrm>
            <a:off x="4747771" y="3126685"/>
            <a:ext cx="907800" cy="56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17" name="Google Shape;217;p30"/>
          <p:cNvSpPr/>
          <p:nvPr/>
        </p:nvSpPr>
        <p:spPr>
          <a:xfrm>
            <a:off x="5655784" y="3124385"/>
            <a:ext cx="907800" cy="56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18" name="Google Shape;218;p30"/>
          <p:cNvSpPr/>
          <p:nvPr/>
        </p:nvSpPr>
        <p:spPr>
          <a:xfrm>
            <a:off x="6563809" y="3126685"/>
            <a:ext cx="907800" cy="56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19" name="Google Shape;219;p30"/>
          <p:cNvSpPr/>
          <p:nvPr/>
        </p:nvSpPr>
        <p:spPr>
          <a:xfrm>
            <a:off x="7475378" y="3126685"/>
            <a:ext cx="907800" cy="56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20" name="Google Shape;220;p30"/>
          <p:cNvSpPr/>
          <p:nvPr/>
        </p:nvSpPr>
        <p:spPr>
          <a:xfrm>
            <a:off x="8386953" y="3126685"/>
            <a:ext cx="907800" cy="56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221" name="Google Shape;22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839200" cy="192156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0"/>
          <p:cNvSpPr txBox="1"/>
          <p:nvPr>
            <p:ph idx="1" type="body"/>
          </p:nvPr>
        </p:nvSpPr>
        <p:spPr>
          <a:xfrm>
            <a:off x="139425" y="2157475"/>
            <a:ext cx="8520600" cy="25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Opt(i) = max (k * Opt(i-k); opt(k) * Opt(i-k); k * (i-k); </a:t>
            </a:r>
            <a:r>
              <a:rPr lang="es"/>
              <a:t>opt(k) * (i-k</a:t>
            </a:r>
            <a:r>
              <a:rPr lang="es"/>
              <a:t>))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921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388" y="2073969"/>
            <a:ext cx="6291800" cy="1884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4111112"/>
            <a:ext cx="876300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1"/>
          <p:cNvSpPr/>
          <p:nvPr/>
        </p:nvSpPr>
        <p:spPr>
          <a:xfrm>
            <a:off x="191100" y="2086075"/>
            <a:ext cx="8800500" cy="277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FONDO ANTI-SPOILERS</a:t>
            </a:r>
            <a:endParaRPr sz="20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Primera parte – ¿A qué problema conocido nos remite?</a:t>
            </a:r>
            <a:endParaRPr/>
          </a:p>
        </p:txBody>
      </p:sp>
      <p:sp>
        <p:nvSpPr>
          <p:cNvPr id="236" name="Google Shape;236;p32"/>
          <p:cNvSpPr txBox="1"/>
          <p:nvPr>
            <p:ph idx="1" type="body"/>
          </p:nvPr>
        </p:nvSpPr>
        <p:spPr>
          <a:xfrm>
            <a:off x="311700" y="1481175"/>
            <a:ext cx="85206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Ayudín:</a:t>
            </a:r>
            <a:endParaRPr/>
          </a:p>
        </p:txBody>
      </p:sp>
      <p:pic>
        <p:nvPicPr>
          <p:cNvPr id="237" name="Google Shape;23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0975" y="1477175"/>
            <a:ext cx="3352124" cy="218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2"/>
          <p:cNvPicPr preferRelativeResize="0"/>
          <p:nvPr/>
        </p:nvPicPr>
        <p:blipFill rotWithShape="1">
          <a:blip r:embed="rId4">
            <a:alphaModFix/>
          </a:blip>
          <a:srcRect b="3079" l="1499" r="1780" t="2465"/>
          <a:stretch/>
        </p:blipFill>
        <p:spPr>
          <a:xfrm>
            <a:off x="1277925" y="1428788"/>
            <a:ext cx="4000501" cy="224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2"/>
          <p:cNvSpPr txBox="1"/>
          <p:nvPr/>
        </p:nvSpPr>
        <p:spPr>
          <a:xfrm>
            <a:off x="984250" y="4064000"/>
            <a:ext cx="457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¿Y cuál es el problema principal?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Cambiemos un poco el ejercicio</a:t>
            </a:r>
            <a:endParaRPr/>
          </a:p>
        </p:txBody>
      </p:sp>
      <p:sp>
        <p:nvSpPr>
          <p:cNvPr id="245" name="Google Shape;245;p3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algún lugar de la calle hay una Embajada con un nivel de seguridad extremo. Si intentamos robar allí, siempre nos atrapan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Supongamos que en la última casa hay una Embajada….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Como el problema es circular, podemos rotar y suponer a la embajada en la posición 0, ¿y ahora?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Teniendo esas dos soluciones, ¿qué nos falta?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Resolución final</a:t>
            </a:r>
            <a:endParaRPr/>
          </a:p>
        </p:txBody>
      </p:sp>
      <p:pic>
        <p:nvPicPr>
          <p:cNvPr id="251" name="Google Shape;25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0625"/>
            <a:ext cx="83820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1751100"/>
            <a:ext cx="8497698" cy="82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Resolución final</a:t>
            </a:r>
            <a:endParaRPr/>
          </a:p>
        </p:txBody>
      </p:sp>
      <p:pic>
        <p:nvPicPr>
          <p:cNvPr id="258" name="Google Shape;25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0625"/>
            <a:ext cx="83820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5"/>
          <p:cNvSpPr txBox="1"/>
          <p:nvPr/>
        </p:nvSpPr>
        <p:spPr>
          <a:xfrm>
            <a:off x="311700" y="2760950"/>
            <a:ext cx="517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Not enough PD 4 U? Versión "más dinámica":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60" name="Google Shape;26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1751100"/>
            <a:ext cx="8497698" cy="82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375050"/>
            <a:ext cx="8661450" cy="61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36" title="Screenshot 2025-09-24 at 2.16.1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2643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37"/>
          <p:cNvPicPr preferRelativeResize="0"/>
          <p:nvPr/>
        </p:nvPicPr>
        <p:blipFill rotWithShape="1">
          <a:blip r:embed="rId3">
            <a:alphaModFix/>
          </a:blip>
          <a:srcRect b="26471" l="0" r="0" t="0"/>
          <a:stretch/>
        </p:blipFill>
        <p:spPr>
          <a:xfrm>
            <a:off x="171300" y="-980075"/>
            <a:ext cx="8839198" cy="226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7"/>
          <p:cNvSpPr txBox="1"/>
          <p:nvPr/>
        </p:nvSpPr>
        <p:spPr>
          <a:xfrm>
            <a:off x="1466875" y="1231800"/>
            <a:ext cx="5416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Problema i: vendo el día i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Opt[k] = max(0, Opt[k-1] + p[k] - p[k-1])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Opt[0] = 0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Opt[1] = 0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for k in range(</a:t>
            </a:r>
            <a:r>
              <a:rPr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</a:t>
            </a:r>
            <a:r>
              <a:rPr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, </a:t>
            </a:r>
            <a:r>
              <a:rPr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n+1</a:t>
            </a:r>
            <a:r>
              <a:rPr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):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	opt[k] = </a:t>
            </a:r>
            <a:r>
              <a:rPr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max(0, Opt[k-1] + p[k] - p[k-1])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38"/>
          <p:cNvPicPr preferRelativeResize="0"/>
          <p:nvPr/>
        </p:nvPicPr>
        <p:blipFill rotWithShape="1">
          <a:blip r:embed="rId3">
            <a:alphaModFix/>
          </a:blip>
          <a:srcRect b="24511" l="0" r="0" t="0"/>
          <a:stretch/>
        </p:blipFill>
        <p:spPr>
          <a:xfrm>
            <a:off x="152400" y="152400"/>
            <a:ext cx="8839201" cy="140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8"/>
          <p:cNvSpPr txBox="1"/>
          <p:nvPr/>
        </p:nvSpPr>
        <p:spPr>
          <a:xfrm>
            <a:off x="561900" y="1970950"/>
            <a:ext cx="842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Vamo a codea'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 llegamos con tiempo… </a:t>
            </a:r>
            <a:endParaRPr/>
          </a:p>
        </p:txBody>
      </p:sp>
      <p:pic>
        <p:nvPicPr>
          <p:cNvPr id="284" name="Google Shape;284;p39" title="Screenshot 2025-09-24 at 2.18.1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0625"/>
            <a:ext cx="8839200" cy="1362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