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Proxima Nova"/>
      <p:regular r:id="rId34"/>
      <p:bold r:id="rId35"/>
      <p:italic r:id="rId36"/>
      <p:boldItalic r:id="rId37"/>
    </p:embeddedFont>
    <p:embeddedFont>
      <p:font typeface="Old Standard TT"/>
      <p:regular r:id="rId38"/>
      <p:bold r:id="rId39"/>
      <p: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ldStandardTT-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roximaNova-bold.fntdata"/><Relationship Id="rId12" Type="http://schemas.openxmlformats.org/officeDocument/2006/relationships/slide" Target="slides/slide7.xml"/><Relationship Id="rId34" Type="http://schemas.openxmlformats.org/officeDocument/2006/relationships/font" Target="fonts/ProximaNova-regular.fntdata"/><Relationship Id="rId15" Type="http://schemas.openxmlformats.org/officeDocument/2006/relationships/slide" Target="slides/slide10.xml"/><Relationship Id="rId37" Type="http://schemas.openxmlformats.org/officeDocument/2006/relationships/font" Target="fonts/ProximaNova-boldItalic.fntdata"/><Relationship Id="rId14" Type="http://schemas.openxmlformats.org/officeDocument/2006/relationships/slide" Target="slides/slide9.xml"/><Relationship Id="rId36" Type="http://schemas.openxmlformats.org/officeDocument/2006/relationships/font" Target="fonts/ProximaNova-italic.fntdata"/><Relationship Id="rId17" Type="http://schemas.openxmlformats.org/officeDocument/2006/relationships/slide" Target="slides/slide12.xml"/><Relationship Id="rId39" Type="http://schemas.openxmlformats.org/officeDocument/2006/relationships/font" Target="fonts/OldStandardTT-bold.fntdata"/><Relationship Id="rId16" Type="http://schemas.openxmlformats.org/officeDocument/2006/relationships/slide" Target="slides/slide11.xml"/><Relationship Id="rId38" Type="http://schemas.openxmlformats.org/officeDocument/2006/relationships/font" Target="fonts/OldStandardT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85e7a7b3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85e7a7b3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5a20fc49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5a20fc49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75b6c5f7b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75b6c5f7b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75b6c5f7b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75b6c5f7b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b3c6be2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b3c6be2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75b6c5f7b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75b6c5f7b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5a20fc49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5a20fc49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a20fc498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a20fc498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a20fc498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a20fc498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5b6c5f7b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75b6c5f7b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a20fc49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a20fc49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5b6c5f7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5b6c5f7b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75b6c5f7b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75b6c5f7b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5a20fc498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5a20fc498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5a20fc498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5a20fc498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a20fc498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a20fc498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5b6c5f7b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75b6c5f7b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75b6c5f7b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75b6c5f7b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a20fc498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a20fc498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b3c6be20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b3c6be20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5a20fc498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5a20fc498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50a747c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550a747c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75b6c5f7b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75b6c5f7b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2fbd41af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52fbd41af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6828c29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6828c29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2fbd41af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52fbd41af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2fbd41a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2fbd41a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0.png"/><Relationship Id="rId5" Type="http://schemas.openxmlformats.org/officeDocument/2006/relationships/image" Target="../media/image9.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26.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8.gif"/><Relationship Id="rId5" Type="http://schemas.openxmlformats.org/officeDocument/2006/relationships/image" Target="../media/image31.png"/><Relationship Id="rId6" Type="http://schemas.openxmlformats.org/officeDocument/2006/relationships/image" Target="../media/image34.png"/><Relationship Id="rId7"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Programación Lineal (/Entera)</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Modelos I: ¿Por qué desapareció?</a:t>
            </a:r>
            <a:endParaRPr/>
          </a:p>
        </p:txBody>
      </p:sp>
      <p:sp>
        <p:nvSpPr>
          <p:cNvPr id="67" name="Google Shape;67;p1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Tiene mucha relevancia en investigación operativa. </a:t>
            </a:r>
            <a:endParaRPr sz="1600"/>
          </a:p>
          <a:p>
            <a:pPr indent="0" lvl="0" marL="0" rtl="0" algn="l">
              <a:spcBef>
                <a:spcPts val="1600"/>
              </a:spcBef>
              <a:spcAft>
                <a:spcPts val="0"/>
              </a:spcAft>
              <a:buNone/>
            </a:pPr>
            <a:r>
              <a:rPr lang="es" sz="1600"/>
              <a:t>Es un tema un tanto de nicho, pero es importante que tengan al menos una noción. </a:t>
            </a:r>
            <a:endParaRPr sz="1600"/>
          </a:p>
          <a:p>
            <a:pPr indent="0" lvl="0" marL="0" rtl="0" algn="l">
              <a:spcBef>
                <a:spcPts val="1600"/>
              </a:spcBef>
              <a:spcAft>
                <a:spcPts val="0"/>
              </a:spcAft>
              <a:buNone/>
            </a:pPr>
            <a:r>
              <a:rPr lang="es" sz="1600"/>
              <a:t>Tiene algunas aplicaciones periféricas en informática (ej: Teoría Algorítmica de Juegos) y es una forma de modelado que nos ayuda a abrir la cabeza.</a:t>
            </a:r>
            <a:endParaRPr sz="1600"/>
          </a:p>
          <a:p>
            <a:pPr indent="0" lvl="0" marL="0" rtl="0" algn="l">
              <a:spcBef>
                <a:spcPts val="1600"/>
              </a:spcBef>
              <a:spcAft>
                <a:spcPts val="1600"/>
              </a:spcAft>
              <a:buNone/>
            </a:pPr>
            <a:r>
              <a:rPr lang="es" sz="1600"/>
              <a:t>Nos permite resolver casi todos los problemas que vemos en la materia, formulando de una manera </a:t>
            </a:r>
            <a:r>
              <a:rPr i="1" lang="es" sz="1600"/>
              <a:t>matem</a:t>
            </a:r>
            <a:r>
              <a:rPr i="1" lang="es" sz="1600"/>
              <a:t>ática</a:t>
            </a:r>
            <a:r>
              <a:rPr lang="es" sz="1600"/>
              <a:t>.</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Programación Lineal</a:t>
            </a:r>
            <a:endParaRPr/>
          </a:p>
        </p:txBody>
      </p:sp>
      <p:sp>
        <p:nvSpPr>
          <p:cNvPr id="73" name="Google Shape;73;p15"/>
          <p:cNvSpPr txBox="1"/>
          <p:nvPr>
            <p:ph idx="1" type="body"/>
          </p:nvPr>
        </p:nvSpPr>
        <p:spPr>
          <a:xfrm>
            <a:off x="311700" y="1128377"/>
            <a:ext cx="8520600" cy="37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una técnica de diseño (matemática) que permite resolver problemas de optimización de un sistema de ecuaciones </a:t>
            </a:r>
            <a:r>
              <a:rPr b="1" lang="es" u="sng"/>
              <a:t>lineal</a:t>
            </a:r>
            <a:r>
              <a:rPr lang="es"/>
              <a:t> en varias variables. </a:t>
            </a:r>
            <a:endParaRPr/>
          </a:p>
          <a:p>
            <a:pPr indent="0" lvl="0" marL="0" rtl="0" algn="l">
              <a:spcBef>
                <a:spcPts val="1600"/>
              </a:spcBef>
              <a:spcAft>
                <a:spcPts val="0"/>
              </a:spcAft>
              <a:buNone/>
            </a:pPr>
            <a:r>
              <a:rPr lang="es"/>
              <a:t>Es decir: </a:t>
            </a:r>
            <a:endParaRPr/>
          </a:p>
          <a:p>
            <a:pPr indent="0" lvl="0" marL="0" rtl="0" algn="l">
              <a:spcBef>
                <a:spcPts val="1600"/>
              </a:spcBef>
              <a:spcAft>
                <a:spcPts val="0"/>
              </a:spcAft>
              <a:buNone/>
            </a:pPr>
            <a:r>
              <a:rPr lang="es"/>
              <a:t>cte</a:t>
            </a:r>
            <a:r>
              <a:rPr baseline="-25000" lang="es"/>
              <a:t>0</a:t>
            </a:r>
            <a:r>
              <a:rPr lang="es"/>
              <a:t> * x</a:t>
            </a:r>
            <a:r>
              <a:rPr baseline="-25000" lang="es"/>
              <a:t>0</a:t>
            </a:r>
            <a:r>
              <a:rPr lang="es"/>
              <a:t> + … + cte</a:t>
            </a:r>
            <a:r>
              <a:rPr baseline="-25000" lang="es"/>
              <a:t>n</a:t>
            </a:r>
            <a:r>
              <a:rPr lang="es"/>
              <a:t> x</a:t>
            </a:r>
            <a:r>
              <a:rPr baseline="-25000" lang="es"/>
              <a:t>n </a:t>
            </a:r>
            <a:r>
              <a:rPr lang="es"/>
              <a:t> &gt;= cte</a:t>
            </a:r>
            <a:endParaRPr/>
          </a:p>
          <a:p>
            <a:pPr indent="0" lvl="0" marL="0" rtl="0" algn="l">
              <a:spcBef>
                <a:spcPts val="1600"/>
              </a:spcBef>
              <a:spcAft>
                <a:spcPts val="0"/>
              </a:spcAft>
              <a:buNone/>
            </a:pPr>
            <a:r>
              <a:rPr lang="es"/>
              <a:t>Y luego maximizar/minimizar una fórmula en particular (salvo que sólo se quiera una solución válida y nada más). </a:t>
            </a:r>
            <a:endParaRPr/>
          </a:p>
          <a:p>
            <a:pPr indent="0" lvl="0" marL="0" rtl="0" algn="l">
              <a:spcBef>
                <a:spcPts val="1600"/>
              </a:spcBef>
              <a:spcAft>
                <a:spcPts val="0"/>
              </a:spcAft>
              <a:buNone/>
            </a:pPr>
            <a:r>
              <a:rPr b="1" lang="es"/>
              <a:t>EVITAR</a:t>
            </a:r>
            <a:r>
              <a:rPr lang="es"/>
              <a:t> x</a:t>
            </a:r>
            <a:r>
              <a:rPr baseline="-25000" lang="es"/>
              <a:t>0</a:t>
            </a:r>
            <a:r>
              <a:rPr lang="es"/>
              <a:t>x</a:t>
            </a:r>
            <a:r>
              <a:rPr baseline="-25000" lang="es"/>
              <a:t>1</a:t>
            </a:r>
            <a:r>
              <a:rPr lang="es"/>
              <a:t> &lt;= 10</a:t>
            </a:r>
            <a:endParaRPr/>
          </a:p>
          <a:p>
            <a:pPr indent="0" lvl="0" marL="0" rtl="0" algn="l">
              <a:spcBef>
                <a:spcPts val="1600"/>
              </a:spcBef>
              <a:spcAft>
                <a:spcPts val="1600"/>
              </a:spcAft>
              <a:buNone/>
            </a:pPr>
            <a:r>
              <a:rPr lang="es"/>
              <a:t>Se usa principalmente en investigación operativa para maximizar ganancias o minimizar costos (y determinar márgenes de mejora, etc..).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Componentes de programación lineal</a:t>
            </a:r>
            <a:endParaRPr/>
          </a:p>
        </p:txBody>
      </p:sp>
      <p:sp>
        <p:nvSpPr>
          <p:cNvPr id="79" name="Google Shape;79;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Variables (primero vemos continuas, pero pueden ser enteras y, en particular, binarias)</a:t>
            </a:r>
            <a:endParaRPr/>
          </a:p>
          <a:p>
            <a:pPr indent="-342900" lvl="0" marL="457200" rtl="0" algn="l">
              <a:spcBef>
                <a:spcPts val="0"/>
              </a:spcBef>
              <a:spcAft>
                <a:spcPts val="0"/>
              </a:spcAft>
              <a:buSzPts val="1800"/>
              <a:buAutoNum type="arabicPeriod"/>
            </a:pPr>
            <a:r>
              <a:rPr lang="es"/>
              <a:t>Ecuaciones e inecuaciones </a:t>
            </a:r>
            <a:r>
              <a:rPr b="1" lang="es"/>
              <a:t>lineales</a:t>
            </a:r>
            <a:r>
              <a:rPr lang="es"/>
              <a:t> que definen restricciones sobre dichas variables: </a:t>
            </a:r>
            <a:endParaRPr/>
          </a:p>
          <a:p>
            <a:pPr indent="0" lvl="0" marL="0" rtl="0" algn="l">
              <a:spcBef>
                <a:spcPts val="1600"/>
              </a:spcBef>
              <a:spcAft>
                <a:spcPts val="0"/>
              </a:spcAft>
              <a:buNone/>
            </a:pPr>
            <a:r>
              <a:t/>
            </a:r>
            <a:endParaRPr/>
          </a:p>
          <a:p>
            <a:pPr indent="-342900" lvl="0" marL="457200" rtl="0" algn="l">
              <a:spcBef>
                <a:spcPts val="1600"/>
              </a:spcBef>
              <a:spcAft>
                <a:spcPts val="0"/>
              </a:spcAft>
              <a:buSzPts val="1800"/>
              <a:buAutoNum type="arabicPeriod"/>
            </a:pPr>
            <a:r>
              <a:rPr lang="es"/>
              <a:t>Buscamos maximizar o minimizar una función objetivo: </a:t>
            </a:r>
            <a:endParaRPr/>
          </a:p>
          <a:p>
            <a:pPr indent="0" lvl="0" marL="457200" rtl="0" algn="l">
              <a:spcBef>
                <a:spcPts val="1600"/>
              </a:spcBef>
              <a:spcAft>
                <a:spcPts val="0"/>
              </a:spcAft>
              <a:buNone/>
            </a:pPr>
            <a:r>
              <a:t/>
            </a:r>
            <a:endParaRPr/>
          </a:p>
          <a:p>
            <a:pPr indent="-342900" lvl="0" marL="457200" rtl="0" algn="l">
              <a:spcBef>
                <a:spcPts val="1600"/>
              </a:spcBef>
              <a:spcAft>
                <a:spcPts val="0"/>
              </a:spcAft>
              <a:buSzPts val="1800"/>
              <a:buAutoNum type="arabicPeriod"/>
            </a:pPr>
            <a:r>
              <a:rPr lang="es"/>
              <a:t>Luego aplicamos un algoritmo que resuelva el modelo lineal (Simplex)</a:t>
            </a:r>
            <a:endParaRPr/>
          </a:p>
          <a:p>
            <a:pPr indent="0" lvl="0" marL="0" rtl="0" algn="l">
              <a:spcBef>
                <a:spcPts val="1600"/>
              </a:spcBef>
              <a:spcAft>
                <a:spcPts val="1600"/>
              </a:spcAft>
              <a:buNone/>
            </a:pPr>
            <a:r>
              <a:t/>
            </a:r>
            <a:endParaRPr/>
          </a:p>
        </p:txBody>
      </p:sp>
      <p:pic>
        <p:nvPicPr>
          <p:cNvPr id="80" name="Google Shape;80;p16"/>
          <p:cNvPicPr preferRelativeResize="0"/>
          <p:nvPr/>
        </p:nvPicPr>
        <p:blipFill>
          <a:blip r:embed="rId3">
            <a:alphaModFix/>
          </a:blip>
          <a:stretch>
            <a:fillRect/>
          </a:stretch>
        </p:blipFill>
        <p:spPr>
          <a:xfrm>
            <a:off x="3478750" y="2296075"/>
            <a:ext cx="1647675" cy="656675"/>
          </a:xfrm>
          <a:prstGeom prst="rect">
            <a:avLst/>
          </a:prstGeom>
          <a:noFill/>
          <a:ln>
            <a:noFill/>
          </a:ln>
        </p:spPr>
      </p:pic>
      <p:pic>
        <p:nvPicPr>
          <p:cNvPr id="81" name="Google Shape;81;p16"/>
          <p:cNvPicPr preferRelativeResize="0"/>
          <p:nvPr/>
        </p:nvPicPr>
        <p:blipFill>
          <a:blip r:embed="rId4">
            <a:alphaModFix/>
          </a:blip>
          <a:stretch>
            <a:fillRect/>
          </a:stretch>
        </p:blipFill>
        <p:spPr>
          <a:xfrm>
            <a:off x="6452825" y="3041838"/>
            <a:ext cx="1792062" cy="65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Aclaraciones</a:t>
            </a:r>
            <a:endParaRPr/>
          </a:p>
        </p:txBody>
      </p:sp>
      <p:sp>
        <p:nvSpPr>
          <p:cNvPr id="87" name="Google Shape;87;p1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Las restricciones van a crear un dominio de soluciones válidas. </a:t>
            </a:r>
            <a:endParaRPr/>
          </a:p>
          <a:p>
            <a:pPr indent="0" lvl="0" marL="0" rtl="0" algn="l">
              <a:spcBef>
                <a:spcPts val="1600"/>
              </a:spcBef>
              <a:spcAft>
                <a:spcPts val="0"/>
              </a:spcAft>
              <a:buNone/>
            </a:pPr>
            <a:r>
              <a:rPr lang="es"/>
              <a:t>¿Siempre van a haber soluciones válidas?</a:t>
            </a:r>
            <a:endParaRPr/>
          </a:p>
          <a:p>
            <a:pPr indent="0" lvl="0" marL="0" rtl="0" algn="l">
              <a:spcBef>
                <a:spcPts val="1600"/>
              </a:spcBef>
              <a:spcAft>
                <a:spcPts val="1600"/>
              </a:spcAft>
              <a:buNone/>
            </a:pPr>
            <a:r>
              <a:rPr lang="es"/>
              <a:t>No necesariamente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108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0</a:t>
            </a:r>
            <a:endParaRPr/>
          </a:p>
        </p:txBody>
      </p:sp>
      <p:sp>
        <p:nvSpPr>
          <p:cNvPr id="93" name="Google Shape;93;p18"/>
          <p:cNvSpPr txBox="1"/>
          <p:nvPr>
            <p:ph idx="1" type="body"/>
          </p:nvPr>
        </p:nvSpPr>
        <p:spPr>
          <a:xfrm>
            <a:off x="311700" y="1171600"/>
            <a:ext cx="8520600" cy="39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Supongamos que ya tenemos </a:t>
            </a:r>
            <a:endParaRPr/>
          </a:p>
          <a:p>
            <a:pPr indent="0" lvl="0" marL="0" rtl="0" algn="l">
              <a:spcBef>
                <a:spcPts val="1600"/>
              </a:spcBef>
              <a:spcAft>
                <a:spcPts val="1600"/>
              </a:spcAft>
              <a:buNone/>
            </a:pPr>
            <a:r>
              <a:rPr lang="es"/>
              <a:t>el sistema de ecuaciones:</a:t>
            </a:r>
            <a:endParaRPr/>
          </a:p>
        </p:txBody>
      </p:sp>
      <p:pic>
        <p:nvPicPr>
          <p:cNvPr id="94" name="Google Shape;94;p18"/>
          <p:cNvPicPr preferRelativeResize="0"/>
          <p:nvPr/>
        </p:nvPicPr>
        <p:blipFill>
          <a:blip r:embed="rId3">
            <a:alphaModFix/>
          </a:blip>
          <a:stretch>
            <a:fillRect/>
          </a:stretch>
        </p:blipFill>
        <p:spPr>
          <a:xfrm>
            <a:off x="408725" y="2540363"/>
            <a:ext cx="1824175" cy="1308650"/>
          </a:xfrm>
          <a:prstGeom prst="rect">
            <a:avLst/>
          </a:prstGeom>
          <a:noFill/>
          <a:ln>
            <a:noFill/>
          </a:ln>
        </p:spPr>
      </p:pic>
      <p:pic>
        <p:nvPicPr>
          <p:cNvPr id="95" name="Google Shape;95;p18"/>
          <p:cNvPicPr preferRelativeResize="0"/>
          <p:nvPr/>
        </p:nvPicPr>
        <p:blipFill>
          <a:blip r:embed="rId4">
            <a:alphaModFix/>
          </a:blip>
          <a:stretch>
            <a:fillRect/>
          </a:stretch>
        </p:blipFill>
        <p:spPr>
          <a:xfrm>
            <a:off x="1389650" y="4294750"/>
            <a:ext cx="1025925" cy="348425"/>
          </a:xfrm>
          <a:prstGeom prst="rect">
            <a:avLst/>
          </a:prstGeom>
          <a:noFill/>
          <a:ln>
            <a:noFill/>
          </a:ln>
        </p:spPr>
      </p:pic>
      <p:sp>
        <p:nvSpPr>
          <p:cNvPr id="96" name="Google Shape;96;p18"/>
          <p:cNvSpPr txBox="1"/>
          <p:nvPr/>
        </p:nvSpPr>
        <p:spPr>
          <a:xfrm>
            <a:off x="809275" y="4268863"/>
            <a:ext cx="6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MAX</a:t>
            </a:r>
            <a:endParaRPr>
              <a:latin typeface="Proxima Nova"/>
              <a:ea typeface="Proxima Nova"/>
              <a:cs typeface="Proxima Nova"/>
              <a:sym typeface="Proxima Nova"/>
            </a:endParaRPr>
          </a:p>
        </p:txBody>
      </p:sp>
      <p:pic>
        <p:nvPicPr>
          <p:cNvPr id="97" name="Google Shape;97;p18"/>
          <p:cNvPicPr preferRelativeResize="0"/>
          <p:nvPr/>
        </p:nvPicPr>
        <p:blipFill>
          <a:blip r:embed="rId5">
            <a:alphaModFix/>
          </a:blip>
          <a:stretch>
            <a:fillRect/>
          </a:stretch>
        </p:blipFill>
        <p:spPr>
          <a:xfrm>
            <a:off x="3885225" y="296725"/>
            <a:ext cx="3419800" cy="4591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108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0</a:t>
            </a:r>
            <a:endParaRPr/>
          </a:p>
        </p:txBody>
      </p:sp>
      <p:sp>
        <p:nvSpPr>
          <p:cNvPr id="103" name="Google Shape;103;p19"/>
          <p:cNvSpPr txBox="1"/>
          <p:nvPr>
            <p:ph idx="1" type="body"/>
          </p:nvPr>
        </p:nvSpPr>
        <p:spPr>
          <a:xfrm>
            <a:off x="311700" y="1171600"/>
            <a:ext cx="8520600" cy="392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Supongamos que ya tenemos el sistema de ecuaciones:</a:t>
            </a:r>
            <a:endParaRPr/>
          </a:p>
        </p:txBody>
      </p:sp>
      <p:pic>
        <p:nvPicPr>
          <p:cNvPr id="104" name="Google Shape;104;p19"/>
          <p:cNvPicPr preferRelativeResize="0"/>
          <p:nvPr/>
        </p:nvPicPr>
        <p:blipFill>
          <a:blip r:embed="rId3">
            <a:alphaModFix/>
          </a:blip>
          <a:stretch>
            <a:fillRect/>
          </a:stretch>
        </p:blipFill>
        <p:spPr>
          <a:xfrm>
            <a:off x="408725" y="1674625"/>
            <a:ext cx="1824175" cy="1308650"/>
          </a:xfrm>
          <a:prstGeom prst="rect">
            <a:avLst/>
          </a:prstGeom>
          <a:noFill/>
          <a:ln>
            <a:noFill/>
          </a:ln>
        </p:spPr>
      </p:pic>
      <p:pic>
        <p:nvPicPr>
          <p:cNvPr id="105" name="Google Shape;105;p19"/>
          <p:cNvPicPr preferRelativeResize="0"/>
          <p:nvPr/>
        </p:nvPicPr>
        <p:blipFill>
          <a:blip r:embed="rId4">
            <a:alphaModFix/>
          </a:blip>
          <a:stretch>
            <a:fillRect/>
          </a:stretch>
        </p:blipFill>
        <p:spPr>
          <a:xfrm>
            <a:off x="1206975" y="3659725"/>
            <a:ext cx="1025925" cy="348425"/>
          </a:xfrm>
          <a:prstGeom prst="rect">
            <a:avLst/>
          </a:prstGeom>
          <a:noFill/>
          <a:ln>
            <a:noFill/>
          </a:ln>
        </p:spPr>
      </p:pic>
      <p:sp>
        <p:nvSpPr>
          <p:cNvPr id="106" name="Google Shape;106;p19"/>
          <p:cNvSpPr txBox="1"/>
          <p:nvPr/>
        </p:nvSpPr>
        <p:spPr>
          <a:xfrm>
            <a:off x="626600" y="3633838"/>
            <a:ext cx="6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MAX</a:t>
            </a:r>
            <a:endParaRPr>
              <a:latin typeface="Proxima Nova"/>
              <a:ea typeface="Proxima Nova"/>
              <a:cs typeface="Proxima Nova"/>
              <a:sym typeface="Proxima Nova"/>
            </a:endParaRPr>
          </a:p>
        </p:txBody>
      </p:sp>
      <p:pic>
        <p:nvPicPr>
          <p:cNvPr id="107" name="Google Shape;107;p19"/>
          <p:cNvPicPr preferRelativeResize="0"/>
          <p:nvPr/>
        </p:nvPicPr>
        <p:blipFill>
          <a:blip r:embed="rId5">
            <a:alphaModFix/>
          </a:blip>
          <a:stretch>
            <a:fillRect/>
          </a:stretch>
        </p:blipFill>
        <p:spPr>
          <a:xfrm>
            <a:off x="2595125" y="2011225"/>
            <a:ext cx="2219620" cy="2979875"/>
          </a:xfrm>
          <a:prstGeom prst="rect">
            <a:avLst/>
          </a:prstGeom>
          <a:noFill/>
          <a:ln>
            <a:noFill/>
          </a:ln>
        </p:spPr>
      </p:pic>
      <p:pic>
        <p:nvPicPr>
          <p:cNvPr id="108" name="Google Shape;108;p19"/>
          <p:cNvPicPr preferRelativeResize="0"/>
          <p:nvPr/>
        </p:nvPicPr>
        <p:blipFill>
          <a:blip r:embed="rId6">
            <a:alphaModFix/>
          </a:blip>
          <a:stretch>
            <a:fillRect/>
          </a:stretch>
        </p:blipFill>
        <p:spPr>
          <a:xfrm>
            <a:off x="5767850" y="2011225"/>
            <a:ext cx="2161050" cy="2979872"/>
          </a:xfrm>
          <a:prstGeom prst="rect">
            <a:avLst/>
          </a:prstGeom>
          <a:noFill/>
          <a:ln>
            <a:noFill/>
          </a:ln>
        </p:spPr>
      </p:pic>
      <p:sp>
        <p:nvSpPr>
          <p:cNvPr id="109" name="Google Shape;109;p19"/>
          <p:cNvSpPr txBox="1"/>
          <p:nvPr/>
        </p:nvSpPr>
        <p:spPr>
          <a:xfrm>
            <a:off x="6091900" y="699000"/>
            <a:ext cx="3052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En problemas lineales </a:t>
            </a:r>
            <a:r>
              <a:rPr b="1" lang="es">
                <a:latin typeface="Proxima Nova"/>
                <a:ea typeface="Proxima Nova"/>
                <a:cs typeface="Proxima Nova"/>
                <a:sym typeface="Proxima Nova"/>
              </a:rPr>
              <a:t>continuos</a:t>
            </a:r>
            <a:r>
              <a:rPr lang="es">
                <a:latin typeface="Proxima Nova"/>
                <a:ea typeface="Proxima Nova"/>
                <a:cs typeface="Proxima Nova"/>
                <a:sym typeface="Proxima Nova"/>
              </a:rPr>
              <a:t> la solución óptima </a:t>
            </a:r>
            <a:r>
              <a:rPr b="1" lang="es" u="sng">
                <a:latin typeface="Proxima Nova"/>
                <a:ea typeface="Proxima Nova"/>
                <a:cs typeface="Proxima Nova"/>
                <a:sym typeface="Proxima Nova"/>
              </a:rPr>
              <a:t>siempre</a:t>
            </a:r>
            <a:r>
              <a:rPr b="1" lang="es">
                <a:latin typeface="Proxima Nova"/>
                <a:ea typeface="Proxima Nova"/>
                <a:cs typeface="Proxima Nova"/>
                <a:sym typeface="Proxima Nova"/>
              </a:rPr>
              <a:t> </a:t>
            </a:r>
            <a:r>
              <a:rPr lang="es">
                <a:latin typeface="Proxima Nova"/>
                <a:ea typeface="Proxima Nova"/>
                <a:cs typeface="Proxima Nova"/>
                <a:sym typeface="Proxima Nova"/>
              </a:rPr>
              <a:t>va a estar en algún vértice (puede estar en otro punto, pero en un vértice va a estar sí o sí)</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1</a:t>
            </a:r>
            <a:endParaRPr/>
          </a:p>
        </p:txBody>
      </p:sp>
      <p:sp>
        <p:nvSpPr>
          <p:cNvPr id="115" name="Google Shape;115;p20"/>
          <p:cNvSpPr txBox="1"/>
          <p:nvPr>
            <p:ph idx="1" type="body"/>
          </p:nvPr>
        </p:nvSpPr>
        <p:spPr>
          <a:xfrm>
            <a:off x="311700" y="1171600"/>
            <a:ext cx="8520600" cy="2056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Tenemos una empresa TeoAlgoSoft que vende 2 comestibles por kilo: </a:t>
            </a:r>
            <a:r>
              <a:rPr b="1" lang="es"/>
              <a:t>x</a:t>
            </a:r>
            <a:r>
              <a:rPr lang="es"/>
              <a:t> e </a:t>
            </a:r>
            <a:r>
              <a:rPr b="1" lang="es"/>
              <a:t>y</a:t>
            </a:r>
            <a:r>
              <a:rPr lang="es"/>
              <a:t>. Por cuestiones normativas (Argentina, no lo entenderías) no podemos vender </a:t>
            </a:r>
            <a:r>
              <a:rPr b="1" lang="es"/>
              <a:t>y</a:t>
            </a:r>
            <a:r>
              <a:rPr lang="es"/>
              <a:t> en más kilos que el triple de </a:t>
            </a:r>
            <a:r>
              <a:rPr b="1" lang="es"/>
              <a:t>x</a:t>
            </a:r>
            <a:r>
              <a:rPr lang="es"/>
              <a:t>. Al mismo tiempo, la cantidad de </a:t>
            </a:r>
            <a:r>
              <a:rPr b="1" lang="es"/>
              <a:t>x</a:t>
            </a:r>
            <a:r>
              <a:rPr baseline="-25000" lang="es"/>
              <a:t> </a:t>
            </a:r>
            <a:r>
              <a:rPr lang="es"/>
              <a:t>con el doble de </a:t>
            </a:r>
            <a:r>
              <a:rPr b="1" lang="es"/>
              <a:t>y</a:t>
            </a:r>
            <a:r>
              <a:rPr lang="es"/>
              <a:t> no puede exceder los 14 kgr. ¿Por qué? Vos seguime el ejemplo. Luego, la cantidad de kilos que exceda </a:t>
            </a:r>
            <a:r>
              <a:rPr b="1" lang="es"/>
              <a:t>x</a:t>
            </a:r>
            <a:r>
              <a:rPr lang="es"/>
              <a:t> a </a:t>
            </a:r>
            <a:r>
              <a:rPr b="1" lang="es"/>
              <a:t>y</a:t>
            </a:r>
            <a:r>
              <a:rPr baseline="-25000" lang="es"/>
              <a:t> </a:t>
            </a:r>
            <a:r>
              <a:rPr lang="es"/>
              <a:t>no puede ser mayor a 2kgr. La ganancia del día puede verse por $5/kgr del producto </a:t>
            </a:r>
            <a:r>
              <a:rPr b="1" lang="es"/>
              <a:t>x</a:t>
            </a:r>
            <a:r>
              <a:rPr baseline="-25000" lang="es"/>
              <a:t> </a:t>
            </a:r>
            <a:r>
              <a:rPr lang="es"/>
              <a:t>+ $3/kgr del producto </a:t>
            </a:r>
            <a:r>
              <a:rPr b="1" lang="es"/>
              <a:t>y</a:t>
            </a:r>
            <a:r>
              <a:rPr lang="es"/>
              <a:t>.</a:t>
            </a:r>
            <a:endParaRPr/>
          </a:p>
        </p:txBody>
      </p:sp>
      <p:pic>
        <p:nvPicPr>
          <p:cNvPr id="116" name="Google Shape;116;p20"/>
          <p:cNvPicPr preferRelativeResize="0"/>
          <p:nvPr/>
        </p:nvPicPr>
        <p:blipFill>
          <a:blip r:embed="rId3">
            <a:alphaModFix/>
          </a:blip>
          <a:stretch>
            <a:fillRect/>
          </a:stretch>
        </p:blipFill>
        <p:spPr>
          <a:xfrm>
            <a:off x="374578" y="3341475"/>
            <a:ext cx="1263400" cy="357575"/>
          </a:xfrm>
          <a:prstGeom prst="rect">
            <a:avLst/>
          </a:prstGeom>
          <a:noFill/>
          <a:ln>
            <a:noFill/>
          </a:ln>
        </p:spPr>
      </p:pic>
      <p:pic>
        <p:nvPicPr>
          <p:cNvPr id="117" name="Google Shape;117;p20"/>
          <p:cNvPicPr preferRelativeResize="0"/>
          <p:nvPr/>
        </p:nvPicPr>
        <p:blipFill>
          <a:blip r:embed="rId4">
            <a:alphaModFix/>
          </a:blip>
          <a:stretch>
            <a:fillRect/>
          </a:stretch>
        </p:blipFill>
        <p:spPr>
          <a:xfrm>
            <a:off x="2227225" y="3341475"/>
            <a:ext cx="1109725" cy="355950"/>
          </a:xfrm>
          <a:prstGeom prst="rect">
            <a:avLst/>
          </a:prstGeom>
          <a:noFill/>
          <a:ln>
            <a:noFill/>
          </a:ln>
        </p:spPr>
      </p:pic>
      <p:pic>
        <p:nvPicPr>
          <p:cNvPr id="118" name="Google Shape;118;p20"/>
          <p:cNvPicPr preferRelativeResize="0"/>
          <p:nvPr/>
        </p:nvPicPr>
        <p:blipFill>
          <a:blip r:embed="rId5">
            <a:alphaModFix/>
          </a:blip>
          <a:stretch>
            <a:fillRect/>
          </a:stretch>
        </p:blipFill>
        <p:spPr>
          <a:xfrm>
            <a:off x="4128578" y="3341475"/>
            <a:ext cx="1109715" cy="357575"/>
          </a:xfrm>
          <a:prstGeom prst="rect">
            <a:avLst/>
          </a:prstGeom>
          <a:noFill/>
          <a:ln>
            <a:noFill/>
          </a:ln>
        </p:spPr>
      </p:pic>
      <p:pic>
        <p:nvPicPr>
          <p:cNvPr id="119" name="Google Shape;119;p20"/>
          <p:cNvPicPr preferRelativeResize="0"/>
          <p:nvPr/>
        </p:nvPicPr>
        <p:blipFill>
          <a:blip r:embed="rId6">
            <a:alphaModFix/>
          </a:blip>
          <a:stretch>
            <a:fillRect/>
          </a:stretch>
        </p:blipFill>
        <p:spPr>
          <a:xfrm>
            <a:off x="2060061" y="4215125"/>
            <a:ext cx="1444053" cy="357575"/>
          </a:xfrm>
          <a:prstGeom prst="rect">
            <a:avLst/>
          </a:prstGeom>
          <a:noFill/>
          <a:ln>
            <a:noFill/>
          </a:ln>
        </p:spPr>
      </p:pic>
      <p:sp>
        <p:nvSpPr>
          <p:cNvPr id="120" name="Google Shape;120;p20"/>
          <p:cNvSpPr txBox="1"/>
          <p:nvPr/>
        </p:nvSpPr>
        <p:spPr>
          <a:xfrm>
            <a:off x="3070586" y="4193800"/>
            <a:ext cx="241500" cy="4002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Old Standard TT"/>
                <a:ea typeface="Old Standard TT"/>
                <a:cs typeface="Old Standard TT"/>
                <a:sym typeface="Old Standard TT"/>
              </a:rPr>
              <a:t>3</a:t>
            </a:r>
            <a:endParaRPr>
              <a:solidFill>
                <a:schemeClr val="dk1"/>
              </a:solidFill>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Graficamos el área</a:t>
            </a:r>
            <a:endParaRPr/>
          </a:p>
        </p:txBody>
      </p:sp>
      <p:pic>
        <p:nvPicPr>
          <p:cNvPr id="126" name="Google Shape;126;p21"/>
          <p:cNvPicPr preferRelativeResize="0"/>
          <p:nvPr/>
        </p:nvPicPr>
        <p:blipFill>
          <a:blip r:embed="rId3">
            <a:alphaModFix/>
          </a:blip>
          <a:stretch>
            <a:fillRect/>
          </a:stretch>
        </p:blipFill>
        <p:spPr>
          <a:xfrm>
            <a:off x="1993978" y="982025"/>
            <a:ext cx="5156043" cy="37804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¿y si el dominio no está acotado?</a:t>
            </a:r>
            <a:endParaRPr/>
          </a:p>
        </p:txBody>
      </p:sp>
      <p:pic>
        <p:nvPicPr>
          <p:cNvPr id="137" name="Google Shape;137;p23"/>
          <p:cNvPicPr preferRelativeResize="0"/>
          <p:nvPr/>
        </p:nvPicPr>
        <p:blipFill>
          <a:blip r:embed="rId3">
            <a:alphaModFix/>
          </a:blip>
          <a:stretch>
            <a:fillRect/>
          </a:stretch>
        </p:blipFill>
        <p:spPr>
          <a:xfrm>
            <a:off x="1902548" y="1194001"/>
            <a:ext cx="4468351" cy="327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2</a:t>
            </a:r>
            <a:endParaRPr/>
          </a:p>
        </p:txBody>
      </p:sp>
      <p:sp>
        <p:nvSpPr>
          <p:cNvPr id="143" name="Google Shape;143;p24"/>
          <p:cNvSpPr txBox="1"/>
          <p:nvPr>
            <p:ph idx="1" type="body"/>
          </p:nvPr>
        </p:nvSpPr>
        <p:spPr>
          <a:xfrm>
            <a:off x="311700" y="1171600"/>
            <a:ext cx="8520600" cy="33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Nuestra empresa cereales tiene que cumplir con un pedido de al menos 100 kgr del producto estrella de la empresa para el final de la semana, para ser vendido en diferentes supermercados. Para elaborar el producto necesita de amaranto y frutos secos (misma cantidad de cada uno). Para esto contamos con dos proveedores: </a:t>
            </a:r>
            <a:endParaRPr/>
          </a:p>
          <a:p>
            <a:pPr indent="-342900" lvl="0" marL="457200" rtl="0" algn="l">
              <a:spcBef>
                <a:spcPts val="1600"/>
              </a:spcBef>
              <a:spcAft>
                <a:spcPts val="0"/>
              </a:spcAft>
              <a:buSzPts val="1800"/>
              <a:buChar char="●"/>
            </a:pPr>
            <a:r>
              <a:rPr lang="es"/>
              <a:t>Valle Patagua: nos vende a $1 el kilo de amaranto (máximo 40kgr)</a:t>
            </a:r>
            <a:endParaRPr/>
          </a:p>
          <a:p>
            <a:pPr indent="-342900" lvl="0" marL="457200" rtl="0" algn="l">
              <a:spcBef>
                <a:spcPts val="0"/>
              </a:spcBef>
              <a:spcAft>
                <a:spcPts val="0"/>
              </a:spcAft>
              <a:buSzPts val="1800"/>
              <a:buChar char="●"/>
            </a:pPr>
            <a:r>
              <a:rPr lang="es"/>
              <a:t>Salud Sustentable: nos vende cajas de 2 kgr de </a:t>
            </a:r>
            <a:r>
              <a:rPr lang="es"/>
              <a:t>amaranto</a:t>
            </a:r>
            <a:r>
              <a:rPr lang="es"/>
              <a:t> y 5 kgr de frutos secos por $6 (máximo 30 cajas) → </a:t>
            </a:r>
            <a:r>
              <a:rPr lang="es" sz="1200"/>
              <a:t>vamos a suponer inicialmente que se puede pedir proporción</a:t>
            </a:r>
            <a:r>
              <a:rPr lang="es"/>
              <a:t>.</a:t>
            </a:r>
            <a:endParaRPr/>
          </a:p>
          <a:p>
            <a:pPr indent="0" lvl="0" marL="0" rtl="0" algn="l">
              <a:spcBef>
                <a:spcPts val="1600"/>
              </a:spcBef>
              <a:spcAft>
                <a:spcPts val="1600"/>
              </a:spcAft>
              <a:buNone/>
            </a:pPr>
            <a:r>
              <a:rPr lang="es"/>
              <a:t>¿Modelo para minimizar los costos?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Modelo ej 2</a:t>
            </a:r>
            <a:endParaRPr/>
          </a:p>
        </p:txBody>
      </p:sp>
      <p:pic>
        <p:nvPicPr>
          <p:cNvPr id="149" name="Google Shape;149;p25"/>
          <p:cNvPicPr preferRelativeResize="0"/>
          <p:nvPr/>
        </p:nvPicPr>
        <p:blipFill>
          <a:blip r:embed="rId3">
            <a:alphaModFix/>
          </a:blip>
          <a:stretch>
            <a:fillRect/>
          </a:stretch>
        </p:blipFill>
        <p:spPr>
          <a:xfrm>
            <a:off x="805547" y="1266500"/>
            <a:ext cx="1735054" cy="657650"/>
          </a:xfrm>
          <a:prstGeom prst="rect">
            <a:avLst/>
          </a:prstGeom>
          <a:noFill/>
          <a:ln>
            <a:noFill/>
          </a:ln>
        </p:spPr>
      </p:pic>
      <p:pic>
        <p:nvPicPr>
          <p:cNvPr id="150" name="Google Shape;150;p25"/>
          <p:cNvPicPr preferRelativeResize="0"/>
          <p:nvPr/>
        </p:nvPicPr>
        <p:blipFill>
          <a:blip r:embed="rId4">
            <a:alphaModFix/>
          </a:blip>
          <a:stretch>
            <a:fillRect/>
          </a:stretch>
        </p:blipFill>
        <p:spPr>
          <a:xfrm>
            <a:off x="3086800" y="1294887"/>
            <a:ext cx="1735050" cy="600888"/>
          </a:xfrm>
          <a:prstGeom prst="rect">
            <a:avLst/>
          </a:prstGeom>
          <a:noFill/>
          <a:ln>
            <a:noFill/>
          </a:ln>
        </p:spPr>
      </p:pic>
      <p:pic>
        <p:nvPicPr>
          <p:cNvPr id="151" name="Google Shape;151;p25"/>
          <p:cNvPicPr preferRelativeResize="0"/>
          <p:nvPr/>
        </p:nvPicPr>
        <p:blipFill>
          <a:blip r:embed="rId5">
            <a:alphaModFix/>
          </a:blip>
          <a:stretch>
            <a:fillRect/>
          </a:stretch>
        </p:blipFill>
        <p:spPr>
          <a:xfrm>
            <a:off x="2984175" y="2321912"/>
            <a:ext cx="2480063" cy="499675"/>
          </a:xfrm>
          <a:prstGeom prst="rect">
            <a:avLst/>
          </a:prstGeom>
          <a:noFill/>
          <a:ln>
            <a:noFill/>
          </a:ln>
        </p:spPr>
      </p:pic>
      <p:pic>
        <p:nvPicPr>
          <p:cNvPr id="152" name="Google Shape;152;p25"/>
          <p:cNvPicPr preferRelativeResize="0"/>
          <p:nvPr/>
        </p:nvPicPr>
        <p:blipFill>
          <a:blip r:embed="rId6">
            <a:alphaModFix/>
          </a:blip>
          <a:stretch>
            <a:fillRect/>
          </a:stretch>
        </p:blipFill>
        <p:spPr>
          <a:xfrm>
            <a:off x="759013" y="2291575"/>
            <a:ext cx="1828125" cy="560350"/>
          </a:xfrm>
          <a:prstGeom prst="rect">
            <a:avLst/>
          </a:prstGeom>
          <a:noFill/>
          <a:ln>
            <a:noFill/>
          </a:ln>
        </p:spPr>
      </p:pic>
      <p:pic>
        <p:nvPicPr>
          <p:cNvPr id="153" name="Google Shape;153;p25"/>
          <p:cNvPicPr preferRelativeResize="0"/>
          <p:nvPr/>
        </p:nvPicPr>
        <p:blipFill>
          <a:blip r:embed="rId7">
            <a:alphaModFix/>
          </a:blip>
          <a:stretch>
            <a:fillRect/>
          </a:stretch>
        </p:blipFill>
        <p:spPr>
          <a:xfrm>
            <a:off x="805549" y="3219352"/>
            <a:ext cx="4598225" cy="49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Programación Lineal Entera</a:t>
            </a:r>
            <a:endParaRPr/>
          </a:p>
        </p:txBody>
      </p:sp>
      <p:sp>
        <p:nvSpPr>
          <p:cNvPr id="164" name="Google Shape;164;p27"/>
          <p:cNvSpPr txBox="1"/>
          <p:nvPr>
            <p:ph idx="1" type="body"/>
          </p:nvPr>
        </p:nvSpPr>
        <p:spPr>
          <a:xfrm>
            <a:off x="311700" y="1171600"/>
            <a:ext cx="8520600" cy="1143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Hay casos donde las variables sólo pueden tomar valores enteros. Hay que indicar eso, y puede cambiar drásticamente la solución → El algoritmo para buscar la solución es diferente!</a:t>
            </a:r>
            <a:endParaRPr/>
          </a:p>
        </p:txBody>
      </p:sp>
      <p:pic>
        <p:nvPicPr>
          <p:cNvPr id="165" name="Google Shape;165;p27"/>
          <p:cNvPicPr preferRelativeResize="0"/>
          <p:nvPr/>
        </p:nvPicPr>
        <p:blipFill>
          <a:blip r:embed="rId3">
            <a:alphaModFix/>
          </a:blip>
          <a:stretch>
            <a:fillRect/>
          </a:stretch>
        </p:blipFill>
        <p:spPr>
          <a:xfrm>
            <a:off x="4432127" y="2083025"/>
            <a:ext cx="2732026" cy="2003149"/>
          </a:xfrm>
          <a:prstGeom prst="rect">
            <a:avLst/>
          </a:prstGeom>
          <a:noFill/>
          <a:ln>
            <a:noFill/>
          </a:ln>
        </p:spPr>
      </p:pic>
      <p:sp>
        <p:nvSpPr>
          <p:cNvPr id="166" name="Google Shape;166;p27"/>
          <p:cNvSpPr txBox="1"/>
          <p:nvPr/>
        </p:nvSpPr>
        <p:spPr>
          <a:xfrm>
            <a:off x="786050" y="3562850"/>
            <a:ext cx="243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FF0000"/>
                </a:solidFill>
                <a:latin typeface="Proxima Nova"/>
                <a:ea typeface="Proxima Nova"/>
                <a:cs typeface="Proxima Nova"/>
                <a:sym typeface="Proxima Nova"/>
              </a:rPr>
              <a:t>Volvamos a ver el ejemplo 2</a:t>
            </a:r>
            <a:endParaRPr>
              <a:solidFill>
                <a:srgbClr val="FF0000"/>
              </a:solidFill>
              <a:latin typeface="Proxima Nova"/>
              <a:ea typeface="Proxima Nova"/>
              <a:cs typeface="Proxima Nova"/>
              <a:sym typeface="Proxima Nova"/>
            </a:endParaRPr>
          </a:p>
        </p:txBody>
      </p:sp>
      <p:sp>
        <p:nvSpPr>
          <p:cNvPr id="167" name="Google Shape;167;p27"/>
          <p:cNvSpPr txBox="1"/>
          <p:nvPr/>
        </p:nvSpPr>
        <p:spPr>
          <a:xfrm>
            <a:off x="4220750" y="4366000"/>
            <a:ext cx="4921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Ahora no necesariamente la solución va a estar en un vértice… ¿por qué?</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Utilidad de PLE</a:t>
            </a:r>
            <a:endParaRPr/>
          </a:p>
        </p:txBody>
      </p:sp>
      <p:sp>
        <p:nvSpPr>
          <p:cNvPr id="173" name="Google Shape;173;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Aparte de lo obvio, nos permite tener "Variables booleanas/binarias" → Variables que valgan únicamente 0 o 1 → Sirven para problemas de decisión.</a:t>
            </a:r>
            <a:endParaRPr/>
          </a:p>
          <a:p>
            <a:pPr indent="0" lvl="0" marL="0" rtl="0" algn="l">
              <a:spcBef>
                <a:spcPts val="1600"/>
              </a:spcBef>
              <a:spcAft>
                <a:spcPts val="0"/>
              </a:spcAft>
              <a:buNone/>
            </a:pPr>
            <a:r>
              <a:rPr lang="es"/>
              <a:t>Ojo, cuidado con mantener que las ecuaciones sean lineales!</a:t>
            </a:r>
            <a:endParaRPr/>
          </a:p>
          <a:p>
            <a:pPr indent="0" lvl="0" marL="0" rtl="0" algn="l">
              <a:spcBef>
                <a:spcPts val="1600"/>
              </a:spcBef>
              <a:spcAft>
                <a:spcPts val="1600"/>
              </a:spcAft>
              <a:buNone/>
            </a:pPr>
            <a:r>
              <a:rPr lang="es"/>
              <a:t>No podemos hacer x</a:t>
            </a:r>
            <a:r>
              <a:rPr baseline="-25000" lang="es"/>
              <a:t>1</a:t>
            </a:r>
            <a:r>
              <a:rPr lang="es"/>
              <a:t>y</a:t>
            </a:r>
            <a:r>
              <a:rPr baseline="-25000" lang="es"/>
              <a:t>1</a:t>
            </a:r>
            <a:r>
              <a:rPr lang="e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con variables binarias</a:t>
            </a:r>
            <a:endParaRPr/>
          </a:p>
        </p:txBody>
      </p:sp>
      <p:sp>
        <p:nvSpPr>
          <p:cNvPr id="179" name="Google Shape;179;p29"/>
          <p:cNvSpPr txBox="1"/>
          <p:nvPr>
            <p:ph idx="1" type="body"/>
          </p:nvPr>
        </p:nvSpPr>
        <p:spPr>
          <a:xfrm>
            <a:off x="311700" y="1171600"/>
            <a:ext cx="8520600" cy="11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Tenemos que decidir si lanzamos diferentes productos (tenemos 6). Se deben lanzar al menos 3. Cada producto tiene un determinado costo o ganancia (y tenemos un presupuesto): </a:t>
            </a:r>
            <a:endParaRPr/>
          </a:p>
          <a:p>
            <a:pPr indent="0" lvl="0" marL="0" rtl="0" algn="l">
              <a:spcBef>
                <a:spcPts val="1600"/>
              </a:spcBef>
              <a:spcAft>
                <a:spcPts val="1600"/>
              </a:spcAft>
              <a:buNone/>
            </a:pPr>
            <a:r>
              <a:t/>
            </a:r>
            <a:endParaRPr/>
          </a:p>
        </p:txBody>
      </p:sp>
      <p:pic>
        <p:nvPicPr>
          <p:cNvPr id="180" name="Google Shape;180;p29"/>
          <p:cNvPicPr preferRelativeResize="0"/>
          <p:nvPr/>
        </p:nvPicPr>
        <p:blipFill>
          <a:blip r:embed="rId3">
            <a:alphaModFix/>
          </a:blip>
          <a:stretch>
            <a:fillRect/>
          </a:stretch>
        </p:blipFill>
        <p:spPr>
          <a:xfrm>
            <a:off x="2981325" y="2459200"/>
            <a:ext cx="3181350" cy="2343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Nuevas restricciones</a:t>
            </a:r>
            <a:endParaRPr/>
          </a:p>
        </p:txBody>
      </p:sp>
      <p:sp>
        <p:nvSpPr>
          <p:cNvPr id="186" name="Google Shape;186;p30"/>
          <p:cNvSpPr txBox="1"/>
          <p:nvPr>
            <p:ph idx="1" type="body"/>
          </p:nvPr>
        </p:nvSpPr>
        <p:spPr>
          <a:xfrm>
            <a:off x="311700" y="1171600"/>
            <a:ext cx="8719200" cy="8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lanzamos el producto 5 o 6, debemos lanzar el 1 si o si. ¿Cómo lo representamos?</a:t>
            </a:r>
            <a:endParaRPr/>
          </a:p>
          <a:p>
            <a:pPr indent="0" lvl="0" marL="0" rtl="0" algn="l">
              <a:spcBef>
                <a:spcPts val="1600"/>
              </a:spcBef>
              <a:spcAft>
                <a:spcPts val="1600"/>
              </a:spcAft>
              <a:buNone/>
            </a:pPr>
            <a:r>
              <a:t/>
            </a:r>
            <a:endParaRPr/>
          </a:p>
        </p:txBody>
      </p:sp>
      <p:pic>
        <p:nvPicPr>
          <p:cNvPr id="187" name="Google Shape;187;p30"/>
          <p:cNvPicPr preferRelativeResize="0"/>
          <p:nvPr/>
        </p:nvPicPr>
        <p:blipFill>
          <a:blip r:embed="rId3">
            <a:alphaModFix/>
          </a:blip>
          <a:stretch>
            <a:fillRect/>
          </a:stretch>
        </p:blipFill>
        <p:spPr>
          <a:xfrm>
            <a:off x="3969213" y="1666100"/>
            <a:ext cx="1205575" cy="984150"/>
          </a:xfrm>
          <a:prstGeom prst="rect">
            <a:avLst/>
          </a:prstGeom>
          <a:noFill/>
          <a:ln>
            <a:noFill/>
          </a:ln>
        </p:spPr>
      </p:pic>
      <p:sp>
        <p:nvSpPr>
          <p:cNvPr id="188" name="Google Shape;188;p30"/>
          <p:cNvSpPr txBox="1"/>
          <p:nvPr>
            <p:ph idx="1" type="body"/>
          </p:nvPr>
        </p:nvSpPr>
        <p:spPr>
          <a:xfrm>
            <a:off x="311700" y="2543200"/>
            <a:ext cx="8719200" cy="8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se lanzan juntos los productos 3 y 4, se ahorran $100. ¿Cómo lo representamos?</a:t>
            </a:r>
            <a:endParaRPr/>
          </a:p>
          <a:p>
            <a:pPr indent="0" lvl="0" marL="0" rtl="0" algn="l">
              <a:spcBef>
                <a:spcPts val="1600"/>
              </a:spcBef>
              <a:spcAft>
                <a:spcPts val="1600"/>
              </a:spcAft>
              <a:buNone/>
            </a:pPr>
            <a:r>
              <a:t/>
            </a:r>
            <a:endParaRPr/>
          </a:p>
        </p:txBody>
      </p:sp>
      <p:pic>
        <p:nvPicPr>
          <p:cNvPr id="189" name="Google Shape;189;p30"/>
          <p:cNvPicPr preferRelativeResize="0"/>
          <p:nvPr/>
        </p:nvPicPr>
        <p:blipFill>
          <a:blip r:embed="rId4">
            <a:alphaModFix/>
          </a:blip>
          <a:stretch>
            <a:fillRect/>
          </a:stretch>
        </p:blipFill>
        <p:spPr>
          <a:xfrm>
            <a:off x="596675" y="3020300"/>
            <a:ext cx="1748161" cy="984150"/>
          </a:xfrm>
          <a:prstGeom prst="rect">
            <a:avLst/>
          </a:prstGeom>
          <a:noFill/>
          <a:ln>
            <a:noFill/>
          </a:ln>
        </p:spPr>
      </p:pic>
      <p:pic>
        <p:nvPicPr>
          <p:cNvPr id="190" name="Google Shape;190;p30"/>
          <p:cNvPicPr preferRelativeResize="0"/>
          <p:nvPr/>
        </p:nvPicPr>
        <p:blipFill>
          <a:blip r:embed="rId5">
            <a:alphaModFix/>
          </a:blip>
          <a:stretch>
            <a:fillRect/>
          </a:stretch>
        </p:blipFill>
        <p:spPr>
          <a:xfrm>
            <a:off x="5063825" y="3205775"/>
            <a:ext cx="3249960" cy="613200"/>
          </a:xfrm>
          <a:prstGeom prst="rect">
            <a:avLst/>
          </a:prstGeom>
          <a:noFill/>
          <a:ln>
            <a:noFill/>
          </a:ln>
        </p:spPr>
      </p:pic>
      <p:pic>
        <p:nvPicPr>
          <p:cNvPr id="191" name="Google Shape;191;p30"/>
          <p:cNvPicPr preferRelativeResize="0"/>
          <p:nvPr/>
        </p:nvPicPr>
        <p:blipFill>
          <a:blip r:embed="rId6">
            <a:alphaModFix/>
          </a:blip>
          <a:stretch>
            <a:fillRect/>
          </a:stretch>
        </p:blipFill>
        <p:spPr>
          <a:xfrm>
            <a:off x="5422650" y="4351075"/>
            <a:ext cx="2853869" cy="537500"/>
          </a:xfrm>
          <a:prstGeom prst="rect">
            <a:avLst/>
          </a:prstGeom>
          <a:noFill/>
          <a:ln>
            <a:noFill/>
          </a:ln>
        </p:spPr>
      </p:pic>
      <p:sp>
        <p:nvSpPr>
          <p:cNvPr id="192" name="Google Shape;192;p30"/>
          <p:cNvSpPr/>
          <p:nvPr/>
        </p:nvSpPr>
        <p:spPr>
          <a:xfrm>
            <a:off x="2830275" y="3354425"/>
            <a:ext cx="1748100" cy="315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equivalente a…</a:t>
            </a:r>
            <a:endParaRPr/>
          </a:p>
        </p:txBody>
      </p:sp>
      <p:sp>
        <p:nvSpPr>
          <p:cNvPr id="193" name="Google Shape;193;p30"/>
          <p:cNvSpPr txBox="1"/>
          <p:nvPr/>
        </p:nvSpPr>
        <p:spPr>
          <a:xfrm>
            <a:off x="311700" y="4374500"/>
            <a:ext cx="4921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No es necesario forzar a que se vuelva 1 (lo va a hacer la función objetivo), pero si quisiéramos → </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Truquitos de generalización</a:t>
            </a:r>
            <a:endParaRPr/>
          </a:p>
        </p:txBody>
      </p:sp>
      <p:sp>
        <p:nvSpPr>
          <p:cNvPr id="199" name="Google Shape;199;p3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 de n variables: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And de n variables: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s"/>
              <a:t>(En ambos casos n es una constante para el modelo)</a:t>
            </a:r>
            <a:endParaRPr/>
          </a:p>
        </p:txBody>
      </p:sp>
      <p:pic>
        <p:nvPicPr>
          <p:cNvPr id="200" name="Google Shape;200;p31"/>
          <p:cNvPicPr preferRelativeResize="0"/>
          <p:nvPr/>
        </p:nvPicPr>
        <p:blipFill>
          <a:blip r:embed="rId3">
            <a:alphaModFix/>
          </a:blip>
          <a:stretch>
            <a:fillRect/>
          </a:stretch>
        </p:blipFill>
        <p:spPr>
          <a:xfrm>
            <a:off x="2582538" y="992350"/>
            <a:ext cx="2454925" cy="876750"/>
          </a:xfrm>
          <a:prstGeom prst="rect">
            <a:avLst/>
          </a:prstGeom>
          <a:noFill/>
          <a:ln>
            <a:noFill/>
          </a:ln>
        </p:spPr>
      </p:pic>
      <p:pic>
        <p:nvPicPr>
          <p:cNvPr id="201" name="Google Shape;201;p31"/>
          <p:cNvPicPr preferRelativeResize="0"/>
          <p:nvPr/>
        </p:nvPicPr>
        <p:blipFill>
          <a:blip r:embed="rId4">
            <a:alphaModFix/>
          </a:blip>
          <a:stretch>
            <a:fillRect/>
          </a:stretch>
        </p:blipFill>
        <p:spPr>
          <a:xfrm>
            <a:off x="2582562" y="2068900"/>
            <a:ext cx="3744238" cy="87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Resolvamos el problema de la mochila con PL!</a:t>
            </a:r>
            <a:endParaRPr/>
          </a:p>
        </p:txBody>
      </p:sp>
      <p:pic>
        <p:nvPicPr>
          <p:cNvPr id="207" name="Google Shape;207;p32"/>
          <p:cNvPicPr preferRelativeResize="0"/>
          <p:nvPr/>
        </p:nvPicPr>
        <p:blipFill>
          <a:blip r:embed="rId3">
            <a:alphaModFix/>
          </a:blip>
          <a:stretch>
            <a:fillRect/>
          </a:stretch>
        </p:blipFill>
        <p:spPr>
          <a:xfrm>
            <a:off x="2681763" y="1058225"/>
            <a:ext cx="3780475" cy="3780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Resolvamos el problema de la mochila con PL!</a:t>
            </a:r>
            <a:endParaRPr/>
          </a:p>
        </p:txBody>
      </p:sp>
      <p:sp>
        <p:nvSpPr>
          <p:cNvPr id="213" name="Google Shape;213;p3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Tenemos un conjunto de elementos a guardar en una mochila, cada uno con un valor v</a:t>
            </a:r>
            <a:r>
              <a:rPr baseline="-25000" lang="es"/>
              <a:t>i</a:t>
            </a:r>
            <a:r>
              <a:rPr lang="es"/>
              <a:t> y peso w</a:t>
            </a:r>
            <a:r>
              <a:rPr baseline="-25000" lang="es"/>
              <a:t>i</a:t>
            </a:r>
            <a:r>
              <a:rPr lang="es"/>
              <a:t>, no podemos excedernos en peso W. Obtener el máximo valor que podemos guardar en la mochila. (nota: w</a:t>
            </a:r>
            <a:r>
              <a:rPr baseline="-25000" lang="es"/>
              <a:t>i</a:t>
            </a:r>
            <a:r>
              <a:rPr lang="es"/>
              <a:t> y v</a:t>
            </a:r>
            <a:r>
              <a:rPr baseline="-25000" lang="es"/>
              <a:t>i</a:t>
            </a:r>
            <a:r>
              <a:rPr lang="es"/>
              <a:t> son constantes, no variables)</a:t>
            </a:r>
            <a:endParaRPr/>
          </a:p>
          <a:p>
            <a:pPr indent="0" lvl="0" marL="0" rtl="0" algn="l">
              <a:spcBef>
                <a:spcPts val="1600"/>
              </a:spcBef>
              <a:spcAft>
                <a:spcPts val="0"/>
              </a:spcAft>
              <a:buNone/>
            </a:pPr>
            <a:r>
              <a:rPr lang="es"/>
              <a:t>Y</a:t>
            </a:r>
            <a:r>
              <a:rPr baseline="-25000" lang="es"/>
              <a:t>i </a:t>
            </a:r>
            <a:r>
              <a:rPr lang="es"/>
              <a:t>variables binarias. </a:t>
            </a:r>
            <a:endParaRPr/>
          </a:p>
          <a:p>
            <a:pPr indent="0" lvl="0" marL="0" rtl="0" algn="l">
              <a:spcBef>
                <a:spcPts val="1600"/>
              </a:spcBef>
              <a:spcAft>
                <a:spcPts val="0"/>
              </a:spcAft>
              <a:buNone/>
            </a:pPr>
            <a:r>
              <a:rPr lang="es"/>
              <a:t>∑ w</a:t>
            </a:r>
            <a:r>
              <a:rPr baseline="-25000" lang="es"/>
              <a:t>i</a:t>
            </a:r>
            <a:r>
              <a:rPr lang="es"/>
              <a:t> Y</a:t>
            </a:r>
            <a:r>
              <a:rPr baseline="-25000" lang="es"/>
              <a:t>i</a:t>
            </a:r>
            <a:r>
              <a:rPr lang="es"/>
              <a:t> &lt;= W</a:t>
            </a:r>
            <a:endParaRPr/>
          </a:p>
          <a:p>
            <a:pPr indent="0" lvl="0" marL="0" rtl="0" algn="l">
              <a:spcBef>
                <a:spcPts val="1600"/>
              </a:spcBef>
              <a:spcAft>
                <a:spcPts val="1600"/>
              </a:spcAft>
              <a:buNone/>
            </a:pPr>
            <a:r>
              <a:rPr lang="es"/>
              <a:t>MAX ∑ v</a:t>
            </a:r>
            <a:r>
              <a:rPr baseline="-25000" lang="es"/>
              <a:t>i</a:t>
            </a:r>
            <a:r>
              <a:rPr lang="es"/>
              <a:t> Y</a:t>
            </a:r>
            <a:r>
              <a:rPr baseline="-25000" lang="es"/>
              <a:t>i</a:t>
            </a:r>
            <a:endParaRPr baseline="-2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Aclaraci</a:t>
            </a:r>
            <a:r>
              <a:rPr lang="es"/>
              <a:t>ón necesaria</a:t>
            </a:r>
            <a:endParaRPr/>
          </a:p>
        </p:txBody>
      </p:sp>
      <p:sp>
        <p:nvSpPr>
          <p:cNvPr id="224" name="Google Shape;224;p35"/>
          <p:cNvSpPr txBox="1"/>
          <p:nvPr>
            <p:ph idx="1" type="body"/>
          </p:nvPr>
        </p:nvSpPr>
        <p:spPr>
          <a:xfrm>
            <a:off x="311700" y="1171600"/>
            <a:ext cx="8676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Cuando evaluamos, lo que nos interesa es el modelo de programaci</a:t>
            </a:r>
            <a:r>
              <a:rPr lang="es"/>
              <a:t>ón lineal/entera. Nunca les pedimos código (ni nos interesa), y mucho menos algo relacionado a una librería específica.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Coloreo en Grafos</a:t>
            </a:r>
            <a:endParaRPr/>
          </a:p>
        </p:txBody>
      </p:sp>
      <p:sp>
        <p:nvSpPr>
          <p:cNvPr id="230" name="Google Shape;230;p36"/>
          <p:cNvSpPr txBox="1"/>
          <p:nvPr>
            <p:ph idx="1" type="body"/>
          </p:nvPr>
        </p:nvSpPr>
        <p:spPr>
          <a:xfrm>
            <a:off x="186825" y="1153738"/>
            <a:ext cx="8520600" cy="9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podemos modelar el problema para encontrar una asignación de colores?</a:t>
            </a:r>
            <a:endParaRPr/>
          </a:p>
          <a:p>
            <a:pPr indent="0" lvl="0" marL="0" rtl="0" algn="l">
              <a:spcBef>
                <a:spcPts val="1600"/>
              </a:spcBef>
              <a:spcAft>
                <a:spcPts val="0"/>
              </a:spcAft>
              <a:buNone/>
            </a:pPr>
            <a:r>
              <a:rPr lang="es"/>
              <a:t>Discutamos un rato. </a:t>
            </a:r>
            <a:endParaRPr/>
          </a:p>
          <a:p>
            <a:pPr indent="0" lvl="0" marL="0" rtl="0" algn="l">
              <a:spcBef>
                <a:spcPts val="1600"/>
              </a:spcBef>
              <a:spcAft>
                <a:spcPts val="1600"/>
              </a:spcAft>
              <a:buNone/>
            </a:pPr>
            <a:r>
              <a:t/>
            </a:r>
            <a:endParaRPr/>
          </a:p>
        </p:txBody>
      </p:sp>
      <p:pic>
        <p:nvPicPr>
          <p:cNvPr id="231" name="Google Shape;231;p36"/>
          <p:cNvPicPr preferRelativeResize="0"/>
          <p:nvPr/>
        </p:nvPicPr>
        <p:blipFill>
          <a:blip r:embed="rId3">
            <a:alphaModFix/>
          </a:blip>
          <a:stretch>
            <a:fillRect/>
          </a:stretch>
        </p:blipFill>
        <p:spPr>
          <a:xfrm>
            <a:off x="186825" y="2627750"/>
            <a:ext cx="1385318" cy="551300"/>
          </a:xfrm>
          <a:prstGeom prst="rect">
            <a:avLst/>
          </a:prstGeom>
          <a:noFill/>
          <a:ln>
            <a:noFill/>
          </a:ln>
        </p:spPr>
      </p:pic>
      <p:pic>
        <p:nvPicPr>
          <p:cNvPr id="232" name="Google Shape;232;p36"/>
          <p:cNvPicPr preferRelativeResize="0"/>
          <p:nvPr/>
        </p:nvPicPr>
        <p:blipFill>
          <a:blip r:embed="rId4">
            <a:alphaModFix/>
          </a:blip>
          <a:stretch>
            <a:fillRect/>
          </a:stretch>
        </p:blipFill>
        <p:spPr>
          <a:xfrm>
            <a:off x="3743225" y="2596800"/>
            <a:ext cx="2482958" cy="613200"/>
          </a:xfrm>
          <a:prstGeom prst="rect">
            <a:avLst/>
          </a:prstGeom>
          <a:noFill/>
          <a:ln>
            <a:noFill/>
          </a:ln>
        </p:spPr>
      </p:pic>
      <p:pic>
        <p:nvPicPr>
          <p:cNvPr id="233" name="Google Shape;233;p36"/>
          <p:cNvPicPr preferRelativeResize="0"/>
          <p:nvPr/>
        </p:nvPicPr>
        <p:blipFill>
          <a:blip r:embed="rId5">
            <a:alphaModFix/>
          </a:blip>
          <a:stretch>
            <a:fillRect/>
          </a:stretch>
        </p:blipFill>
        <p:spPr>
          <a:xfrm>
            <a:off x="186825" y="4070250"/>
            <a:ext cx="2848383" cy="551300"/>
          </a:xfrm>
          <a:prstGeom prst="rect">
            <a:avLst/>
          </a:prstGeom>
          <a:noFill/>
          <a:ln>
            <a:noFill/>
          </a:ln>
        </p:spPr>
      </p:pic>
      <p:pic>
        <p:nvPicPr>
          <p:cNvPr id="234" name="Google Shape;234;p36"/>
          <p:cNvPicPr preferRelativeResize="0"/>
          <p:nvPr/>
        </p:nvPicPr>
        <p:blipFill rotWithShape="1">
          <a:blip r:embed="rId6">
            <a:alphaModFix/>
          </a:blip>
          <a:srcRect b="13210" l="-5197" r="0" t="-13210"/>
          <a:stretch/>
        </p:blipFill>
        <p:spPr>
          <a:xfrm>
            <a:off x="3255575" y="4175600"/>
            <a:ext cx="5924976" cy="431100"/>
          </a:xfrm>
          <a:prstGeom prst="rect">
            <a:avLst/>
          </a:prstGeom>
          <a:noFill/>
          <a:ln>
            <a:noFill/>
          </a:ln>
        </p:spPr>
      </p:pic>
      <p:sp>
        <p:nvSpPr>
          <p:cNvPr id="235" name="Google Shape;235;p36"/>
          <p:cNvSpPr txBox="1"/>
          <p:nvPr/>
        </p:nvSpPr>
        <p:spPr>
          <a:xfrm>
            <a:off x="186825" y="2196650"/>
            <a:ext cx="1676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latin typeface="Proxima Nova"/>
                <a:ea typeface="Proxima Nova"/>
                <a:cs typeface="Proxima Nova"/>
                <a:sym typeface="Proxima Nova"/>
              </a:rPr>
              <a:t>¿Variables?</a:t>
            </a:r>
            <a:endParaRPr sz="1600">
              <a:latin typeface="Proxima Nova"/>
              <a:ea typeface="Proxima Nova"/>
              <a:cs typeface="Proxima Nova"/>
              <a:sym typeface="Proxima Nova"/>
            </a:endParaRPr>
          </a:p>
        </p:txBody>
      </p:sp>
      <p:sp>
        <p:nvSpPr>
          <p:cNvPr id="236" name="Google Shape;236;p36"/>
          <p:cNvSpPr txBox="1"/>
          <p:nvPr/>
        </p:nvSpPr>
        <p:spPr>
          <a:xfrm>
            <a:off x="3330075" y="2196650"/>
            <a:ext cx="496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latin typeface="Proxima Nova"/>
                <a:ea typeface="Proxima Nova"/>
                <a:cs typeface="Proxima Nova"/>
                <a:sym typeface="Proxima Nova"/>
              </a:rPr>
              <a:t>¿Cómo hacemos que un país tenga un sólo color?</a:t>
            </a:r>
            <a:endParaRPr sz="1600">
              <a:latin typeface="Proxima Nova"/>
              <a:ea typeface="Proxima Nova"/>
              <a:cs typeface="Proxima Nova"/>
              <a:sym typeface="Proxima Nova"/>
            </a:endParaRPr>
          </a:p>
        </p:txBody>
      </p:sp>
      <p:sp>
        <p:nvSpPr>
          <p:cNvPr id="237" name="Google Shape;237;p36"/>
          <p:cNvSpPr txBox="1"/>
          <p:nvPr/>
        </p:nvSpPr>
        <p:spPr>
          <a:xfrm>
            <a:off x="186825" y="3293250"/>
            <a:ext cx="496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latin typeface="Proxima Nova"/>
                <a:ea typeface="Proxima Nova"/>
                <a:cs typeface="Proxima Nova"/>
                <a:sym typeface="Proxima Nova"/>
              </a:rPr>
              <a:t>¿Cómo hacemos que dos adyacentes no tengan ambos el color rojo?</a:t>
            </a:r>
            <a:endParaRPr sz="1600">
              <a:latin typeface="Proxima Nova"/>
              <a:ea typeface="Proxima Nova"/>
              <a:cs typeface="Proxima Nova"/>
              <a:sym typeface="Proxima Nova"/>
            </a:endParaRPr>
          </a:p>
        </p:txBody>
      </p:sp>
      <p:sp>
        <p:nvSpPr>
          <p:cNvPr id="238" name="Google Shape;238;p36"/>
          <p:cNvSpPr txBox="1"/>
          <p:nvPr/>
        </p:nvSpPr>
        <p:spPr>
          <a:xfrm>
            <a:off x="4873050" y="3293250"/>
            <a:ext cx="496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latin typeface="Proxima Nova"/>
                <a:ea typeface="Proxima Nova"/>
                <a:cs typeface="Proxima Nova"/>
                <a:sym typeface="Proxima Nova"/>
              </a:rPr>
              <a:t>¿Cómo hacemos que todos los adyacentes no</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coincidan en color?</a:t>
            </a:r>
            <a:endParaRPr sz="16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a:t>
            </a:r>
            <a:r>
              <a:rPr lang="es"/>
              <a:t>é problema tiene esto? </a:t>
            </a:r>
            <a:endParaRPr/>
          </a:p>
        </p:txBody>
      </p:sp>
      <p:pic>
        <p:nvPicPr>
          <p:cNvPr id="244" name="Google Shape;244;p37"/>
          <p:cNvPicPr preferRelativeResize="0"/>
          <p:nvPr/>
        </p:nvPicPr>
        <p:blipFill rotWithShape="1">
          <a:blip r:embed="rId3">
            <a:alphaModFix/>
          </a:blip>
          <a:srcRect b="13210" l="-5197" r="0" t="-13210"/>
          <a:stretch/>
        </p:blipFill>
        <p:spPr>
          <a:xfrm>
            <a:off x="1180875" y="1296975"/>
            <a:ext cx="5924976" cy="431100"/>
          </a:xfrm>
          <a:prstGeom prst="rect">
            <a:avLst/>
          </a:prstGeom>
          <a:noFill/>
          <a:ln>
            <a:noFill/>
          </a:ln>
        </p:spPr>
      </p:pic>
      <p:sp>
        <p:nvSpPr>
          <p:cNvPr id="245" name="Google Shape;245;p37"/>
          <p:cNvSpPr txBox="1"/>
          <p:nvPr/>
        </p:nvSpPr>
        <p:spPr>
          <a:xfrm>
            <a:off x="1858575" y="1919100"/>
            <a:ext cx="4979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Proxima Nova"/>
                <a:ea typeface="Proxima Nova"/>
                <a:cs typeface="Proxima Nova"/>
                <a:sym typeface="Proxima Nova"/>
              </a:rPr>
              <a:t>La cantidad de inecuaciones depende de la cantidad de aristas… sería mejor si la podemos hacer depender de la cantidad de vértices, ¿no?</a:t>
            </a:r>
            <a:endParaRPr sz="1600">
              <a:solidFill>
                <a:schemeClr val="dk1"/>
              </a:solidFill>
              <a:latin typeface="Proxima Nova"/>
              <a:ea typeface="Proxima Nova"/>
              <a:cs typeface="Proxima Nova"/>
              <a:sym typeface="Proxima Nova"/>
            </a:endParaRPr>
          </a:p>
        </p:txBody>
      </p:sp>
      <p:sp>
        <p:nvSpPr>
          <p:cNvPr id="246" name="Google Shape;246;p37"/>
          <p:cNvSpPr txBox="1"/>
          <p:nvPr/>
        </p:nvSpPr>
        <p:spPr>
          <a:xfrm>
            <a:off x="1858575" y="3795775"/>
            <a:ext cx="4979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Proxima Nova"/>
                <a:ea typeface="Proxima Nova"/>
                <a:cs typeface="Proxima Nova"/>
                <a:sym typeface="Proxima Nova"/>
              </a:rPr>
              <a:t>Lo vemos la clase que viene, piensen si se les ocurre alguna forma. </a:t>
            </a:r>
            <a:endParaRPr sz="16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parcial</a:t>
            </a:r>
            <a:endParaRPr/>
          </a:p>
        </p:txBody>
      </p:sp>
      <p:pic>
        <p:nvPicPr>
          <p:cNvPr id="252" name="Google Shape;252;p38" title="Screenshot 2026-08-06 at 1.05.37 PM.png"/>
          <p:cNvPicPr preferRelativeResize="0"/>
          <p:nvPr/>
        </p:nvPicPr>
        <p:blipFill>
          <a:blip r:embed="rId3">
            <a:alphaModFix/>
          </a:blip>
          <a:stretch>
            <a:fillRect/>
          </a:stretch>
        </p:blipFill>
        <p:spPr>
          <a:xfrm>
            <a:off x="0" y="1219200"/>
            <a:ext cx="9144000" cy="13143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Memes post parcial</a:t>
            </a:r>
            <a:endParaRPr/>
          </a:p>
        </p:txBody>
      </p:sp>
      <p:pic>
        <p:nvPicPr>
          <p:cNvPr id="258" name="Google Shape;258;p39"/>
          <p:cNvPicPr preferRelativeResize="0"/>
          <p:nvPr/>
        </p:nvPicPr>
        <p:blipFill>
          <a:blip r:embed="rId3">
            <a:alphaModFix/>
          </a:blip>
          <a:stretch>
            <a:fillRect/>
          </a:stretch>
        </p:blipFill>
        <p:spPr>
          <a:xfrm>
            <a:off x="148000" y="1124175"/>
            <a:ext cx="4811725" cy="3086375"/>
          </a:xfrm>
          <a:prstGeom prst="rect">
            <a:avLst/>
          </a:prstGeom>
          <a:noFill/>
          <a:ln>
            <a:noFill/>
          </a:ln>
        </p:spPr>
      </p:pic>
      <p:pic>
        <p:nvPicPr>
          <p:cNvPr id="259" name="Google Shape;259;p39"/>
          <p:cNvPicPr preferRelativeResize="0"/>
          <p:nvPr/>
        </p:nvPicPr>
        <p:blipFill>
          <a:blip r:embed="rId4">
            <a:alphaModFix/>
          </a:blip>
          <a:stretch>
            <a:fillRect/>
          </a:stretch>
        </p:blipFill>
        <p:spPr>
          <a:xfrm>
            <a:off x="5146750" y="133575"/>
            <a:ext cx="2270850" cy="1730500"/>
          </a:xfrm>
          <a:prstGeom prst="rect">
            <a:avLst/>
          </a:prstGeom>
          <a:noFill/>
          <a:ln>
            <a:noFill/>
          </a:ln>
        </p:spPr>
      </p:pic>
      <p:pic>
        <p:nvPicPr>
          <p:cNvPr id="260" name="Google Shape;260;p39"/>
          <p:cNvPicPr preferRelativeResize="0"/>
          <p:nvPr/>
        </p:nvPicPr>
        <p:blipFill>
          <a:blip r:embed="rId5">
            <a:alphaModFix/>
          </a:blip>
          <a:stretch>
            <a:fillRect/>
          </a:stretch>
        </p:blipFill>
        <p:spPr>
          <a:xfrm>
            <a:off x="5146750" y="2083375"/>
            <a:ext cx="3955550" cy="2518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40"/>
          <p:cNvSpPr txBox="1"/>
          <p:nvPr>
            <p:ph idx="1" type="body"/>
          </p:nvPr>
        </p:nvSpPr>
        <p:spPr>
          <a:xfrm>
            <a:off x="311700" y="1171600"/>
            <a:ext cx="4926900" cy="12315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s" sz="1400"/>
              <a:t>Aprobación por ejercicio: </a:t>
            </a:r>
            <a:endParaRPr sz="1400"/>
          </a:p>
          <a:p>
            <a:pPr indent="-317500" lvl="1" marL="914400" rtl="0" algn="l">
              <a:lnSpc>
                <a:spcPct val="100000"/>
              </a:lnSpc>
              <a:spcBef>
                <a:spcPts val="0"/>
              </a:spcBef>
              <a:spcAft>
                <a:spcPts val="0"/>
              </a:spcAft>
              <a:buSzPts val="1400"/>
              <a:buChar char="○"/>
            </a:pPr>
            <a:r>
              <a:rPr lang="es" sz="1400"/>
              <a:t>D&amp;C: 4</a:t>
            </a:r>
            <a:r>
              <a:rPr lang="es"/>
              <a:t>5</a:t>
            </a:r>
            <a:r>
              <a:rPr lang="es" sz="1400"/>
              <a:t>%</a:t>
            </a:r>
            <a:endParaRPr/>
          </a:p>
          <a:p>
            <a:pPr indent="-317500" lvl="1" marL="914400" rtl="0" algn="l">
              <a:lnSpc>
                <a:spcPct val="100000"/>
              </a:lnSpc>
              <a:spcBef>
                <a:spcPts val="0"/>
              </a:spcBef>
              <a:spcAft>
                <a:spcPts val="0"/>
              </a:spcAft>
              <a:buSzPts val="1400"/>
              <a:buChar char="○"/>
            </a:pPr>
            <a:r>
              <a:rPr lang="es" sz="1400"/>
              <a:t>Greedy</a:t>
            </a:r>
            <a:r>
              <a:rPr lang="es"/>
              <a:t>: 65%</a:t>
            </a:r>
            <a:endParaRPr/>
          </a:p>
          <a:p>
            <a:pPr indent="-317500" lvl="1" marL="914400" rtl="0" algn="l">
              <a:lnSpc>
                <a:spcPct val="100000"/>
              </a:lnSpc>
              <a:spcBef>
                <a:spcPts val="0"/>
              </a:spcBef>
              <a:spcAft>
                <a:spcPts val="0"/>
              </a:spcAft>
              <a:buSzPts val="1400"/>
              <a:buChar char="○"/>
            </a:pPr>
            <a:r>
              <a:rPr lang="es" sz="1400"/>
              <a:t>BT: 6</a:t>
            </a:r>
            <a:r>
              <a:rPr lang="es"/>
              <a:t>2</a:t>
            </a:r>
            <a:r>
              <a:rPr lang="es" sz="1400"/>
              <a:t>%</a:t>
            </a:r>
            <a:endParaRPr/>
          </a:p>
          <a:p>
            <a:pPr indent="-317500" lvl="1" marL="914400" rtl="0" algn="l">
              <a:lnSpc>
                <a:spcPct val="100000"/>
              </a:lnSpc>
              <a:spcBef>
                <a:spcPts val="0"/>
              </a:spcBef>
              <a:spcAft>
                <a:spcPts val="0"/>
              </a:spcAft>
              <a:buSzPts val="1400"/>
              <a:buChar char="○"/>
            </a:pPr>
            <a:r>
              <a:rPr lang="es" sz="1400"/>
              <a:t>PD: 2</a:t>
            </a:r>
            <a:r>
              <a:rPr lang="es"/>
              <a:t>7</a:t>
            </a:r>
            <a:r>
              <a:rPr lang="es" sz="1400"/>
              <a:t>%</a:t>
            </a:r>
            <a:endParaRPr sz="1400"/>
          </a:p>
        </p:txBody>
      </p:sp>
      <p:sp>
        <p:nvSpPr>
          <p:cNvPr id="266" name="Google Shape;266;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Algunos numeritos del examen</a:t>
            </a:r>
            <a:endParaRPr/>
          </a:p>
        </p:txBody>
      </p:sp>
      <p:sp>
        <p:nvSpPr>
          <p:cNvPr id="267" name="Google Shape;267;p40"/>
          <p:cNvSpPr txBox="1"/>
          <p:nvPr/>
        </p:nvSpPr>
        <p:spPr>
          <a:xfrm>
            <a:off x="309584" y="2273511"/>
            <a:ext cx="66822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Si nos centramos en quienes hicieron el ejercicio:</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D&amp;C: 64%</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Greedy: 74%</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BT: 69%</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PD: 47%</a:t>
            </a:r>
            <a:endParaRPr>
              <a:solidFill>
                <a:schemeClr val="dk1"/>
              </a:solidFill>
              <a:latin typeface="Proxima Nova"/>
              <a:ea typeface="Proxima Nova"/>
              <a:cs typeface="Proxima Nova"/>
              <a:sym typeface="Proxima Nova"/>
            </a:endParaRPr>
          </a:p>
        </p:txBody>
      </p:sp>
      <p:sp>
        <p:nvSpPr>
          <p:cNvPr id="268" name="Google Shape;268;p40"/>
          <p:cNvSpPr txBox="1"/>
          <p:nvPr/>
        </p:nvSpPr>
        <p:spPr>
          <a:xfrm>
            <a:off x="304648" y="3387050"/>
            <a:ext cx="38229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Y el estado general: </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Con 0 ejercicios aprobados: 11%</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Con 1: 24%</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Con 2: 31%</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Con 3: 24%</a:t>
            </a:r>
            <a:endParaRPr>
              <a:solidFill>
                <a:schemeClr val="dk1"/>
              </a:solidFill>
              <a:latin typeface="Proxima Nova"/>
              <a:ea typeface="Proxima Nova"/>
              <a:cs typeface="Proxima Nova"/>
              <a:sym typeface="Proxima Nova"/>
            </a:endParaRPr>
          </a:p>
          <a:p>
            <a:pPr indent="-317500" lvl="1" marL="914400" rtl="0" algn="l">
              <a:spcBef>
                <a:spcPts val="0"/>
              </a:spcBef>
              <a:spcAft>
                <a:spcPts val="0"/>
              </a:spcAft>
              <a:buClr>
                <a:schemeClr val="dk1"/>
              </a:buClr>
              <a:buSzPts val="1400"/>
              <a:buFont typeface="Proxima Nova"/>
              <a:buChar char="○"/>
            </a:pPr>
            <a:r>
              <a:rPr lang="es">
                <a:solidFill>
                  <a:schemeClr val="dk1"/>
                </a:solidFill>
                <a:latin typeface="Proxima Nova"/>
                <a:ea typeface="Proxima Nova"/>
                <a:cs typeface="Proxima Nova"/>
                <a:sym typeface="Proxima Nova"/>
              </a:rPr>
              <a:t>Con 4: 10%</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s">
                <a:solidFill>
                  <a:schemeClr val="dk1"/>
                </a:solidFill>
                <a:latin typeface="Proxima Nova"/>
                <a:ea typeface="Proxima Nova"/>
                <a:cs typeface="Proxima Nova"/>
                <a:sym typeface="Proxima Nova"/>
              </a:rPr>
              <a:t>	→ ⅔ aprobaron al menos 2 ejercicios</a:t>
            </a:r>
            <a:endParaRPr>
              <a:solidFill>
                <a:schemeClr val="dk1"/>
              </a:solidFill>
              <a:latin typeface="Proxima Nova"/>
              <a:ea typeface="Proxima Nova"/>
              <a:cs typeface="Proxima Nova"/>
              <a:sym typeface="Proxima Nova"/>
            </a:endParaRPr>
          </a:p>
        </p:txBody>
      </p:sp>
      <p:sp>
        <p:nvSpPr>
          <p:cNvPr id="269" name="Google Shape;269;p40"/>
          <p:cNvSpPr txBox="1"/>
          <p:nvPr>
            <p:ph idx="1" type="body"/>
          </p:nvPr>
        </p:nvSpPr>
        <p:spPr>
          <a:xfrm>
            <a:off x="4774850" y="1171600"/>
            <a:ext cx="3098700" cy="1231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400"/>
              <a:t>Dato, si se aprobara </a:t>
            </a:r>
            <a:r>
              <a:rPr i="1" lang="es" sz="1400"/>
              <a:t>el examen</a:t>
            </a:r>
            <a:r>
              <a:rPr lang="es" sz="1400"/>
              <a:t> y no por tema (ej con 2 "bien" y 1 al menos regular), habría aprobado el 44%</a:t>
            </a:r>
            <a:endParaRPr sz="1400"/>
          </a:p>
        </p:txBody>
      </p:sp>
      <p:pic>
        <p:nvPicPr>
          <p:cNvPr id="270" name="Google Shape;270;p40"/>
          <p:cNvPicPr preferRelativeResize="0"/>
          <p:nvPr/>
        </p:nvPicPr>
        <p:blipFill>
          <a:blip r:embed="rId3">
            <a:alphaModFix/>
          </a:blip>
          <a:stretch>
            <a:fillRect/>
          </a:stretch>
        </p:blipFill>
        <p:spPr>
          <a:xfrm>
            <a:off x="4514600" y="3188200"/>
            <a:ext cx="3404625" cy="1741375"/>
          </a:xfrm>
          <a:prstGeom prst="rect">
            <a:avLst/>
          </a:prstGeom>
          <a:noFill/>
          <a:ln>
            <a:noFill/>
          </a:ln>
        </p:spPr>
      </p:pic>
      <p:cxnSp>
        <p:nvCxnSpPr>
          <p:cNvPr id="271" name="Google Shape;271;p40"/>
          <p:cNvCxnSpPr/>
          <p:nvPr/>
        </p:nvCxnSpPr>
        <p:spPr>
          <a:xfrm flipH="1" rot="10800000">
            <a:off x="2287775" y="4679450"/>
            <a:ext cx="2223900" cy="8100"/>
          </a:xfrm>
          <a:prstGeom prst="straightConnector1">
            <a:avLst/>
          </a:prstGeom>
          <a:noFill/>
          <a:ln cap="flat" cmpd="sng" w="9525">
            <a:solidFill>
              <a:schemeClr val="dk2"/>
            </a:solidFill>
            <a:prstDash val="solid"/>
            <a:round/>
            <a:headEnd len="med" w="med" type="none"/>
            <a:tailEnd len="med" w="med" type="triangle"/>
          </a:ln>
        </p:spPr>
      </p:cxnSp>
      <p:pic>
        <p:nvPicPr>
          <p:cNvPr id="272" name="Google Shape;272;p40" title="anigif_sub-buzz-698-1710145259-2.gif"/>
          <p:cNvPicPr preferRelativeResize="0"/>
          <p:nvPr/>
        </p:nvPicPr>
        <p:blipFill>
          <a:blip r:embed="rId4">
            <a:alphaModFix/>
          </a:blip>
          <a:stretch>
            <a:fillRect/>
          </a:stretch>
        </p:blipFill>
        <p:spPr>
          <a:xfrm>
            <a:off x="4514600" y="2971458"/>
            <a:ext cx="2223900" cy="2059166"/>
          </a:xfrm>
          <a:prstGeom prst="rect">
            <a:avLst/>
          </a:prstGeom>
          <a:noFill/>
          <a:ln>
            <a:noFill/>
          </a:ln>
        </p:spPr>
      </p:pic>
      <p:cxnSp>
        <p:nvCxnSpPr>
          <p:cNvPr id="273" name="Google Shape;273;p40"/>
          <p:cNvCxnSpPr/>
          <p:nvPr/>
        </p:nvCxnSpPr>
        <p:spPr>
          <a:xfrm flipH="1" rot="10800000">
            <a:off x="2287775" y="4450850"/>
            <a:ext cx="2223900" cy="8100"/>
          </a:xfrm>
          <a:prstGeom prst="straightConnector1">
            <a:avLst/>
          </a:prstGeom>
          <a:noFill/>
          <a:ln cap="flat" cmpd="sng" w="9525">
            <a:solidFill>
              <a:schemeClr val="dk2"/>
            </a:solidFill>
            <a:prstDash val="solid"/>
            <a:round/>
            <a:headEnd len="med" w="med" type="none"/>
            <a:tailEnd len="med" w="med" type="triangle"/>
          </a:ln>
        </p:spPr>
      </p:cxnSp>
      <p:pic>
        <p:nvPicPr>
          <p:cNvPr id="274" name="Google Shape;274;p40"/>
          <p:cNvPicPr preferRelativeResize="0"/>
          <p:nvPr/>
        </p:nvPicPr>
        <p:blipFill>
          <a:blip r:embed="rId5">
            <a:alphaModFix/>
          </a:blip>
          <a:stretch>
            <a:fillRect/>
          </a:stretch>
        </p:blipFill>
        <p:spPr>
          <a:xfrm>
            <a:off x="4511675" y="3112000"/>
            <a:ext cx="2884226" cy="1893975"/>
          </a:xfrm>
          <a:prstGeom prst="rect">
            <a:avLst/>
          </a:prstGeom>
          <a:noFill/>
          <a:ln>
            <a:noFill/>
          </a:ln>
        </p:spPr>
      </p:pic>
      <p:cxnSp>
        <p:nvCxnSpPr>
          <p:cNvPr id="275" name="Google Shape;275;p40"/>
          <p:cNvCxnSpPr/>
          <p:nvPr/>
        </p:nvCxnSpPr>
        <p:spPr>
          <a:xfrm flipH="1" rot="10800000">
            <a:off x="2287775" y="4222250"/>
            <a:ext cx="2223900" cy="8100"/>
          </a:xfrm>
          <a:prstGeom prst="straightConnector1">
            <a:avLst/>
          </a:prstGeom>
          <a:noFill/>
          <a:ln cap="flat" cmpd="sng" w="9525">
            <a:solidFill>
              <a:schemeClr val="dk2"/>
            </a:solidFill>
            <a:prstDash val="solid"/>
            <a:round/>
            <a:headEnd len="med" w="med" type="none"/>
            <a:tailEnd len="med" w="med" type="triangle"/>
          </a:ln>
        </p:spPr>
      </p:cxnSp>
      <p:pic>
        <p:nvPicPr>
          <p:cNvPr id="276" name="Google Shape;276;p40"/>
          <p:cNvPicPr preferRelativeResize="0"/>
          <p:nvPr/>
        </p:nvPicPr>
        <p:blipFill>
          <a:blip r:embed="rId6">
            <a:alphaModFix/>
          </a:blip>
          <a:stretch>
            <a:fillRect/>
          </a:stretch>
        </p:blipFill>
        <p:spPr>
          <a:xfrm>
            <a:off x="4514602" y="3346626"/>
            <a:ext cx="1747000" cy="1659351"/>
          </a:xfrm>
          <a:prstGeom prst="rect">
            <a:avLst/>
          </a:prstGeom>
          <a:noFill/>
          <a:ln>
            <a:noFill/>
          </a:ln>
        </p:spPr>
      </p:pic>
      <p:cxnSp>
        <p:nvCxnSpPr>
          <p:cNvPr id="277" name="Google Shape;277;p40"/>
          <p:cNvCxnSpPr/>
          <p:nvPr/>
        </p:nvCxnSpPr>
        <p:spPr>
          <a:xfrm flipH="1" rot="10800000">
            <a:off x="2287775" y="4018910"/>
            <a:ext cx="2223900" cy="8100"/>
          </a:xfrm>
          <a:prstGeom prst="straightConnector1">
            <a:avLst/>
          </a:prstGeom>
          <a:noFill/>
          <a:ln cap="flat" cmpd="sng" w="9525">
            <a:solidFill>
              <a:schemeClr val="dk2"/>
            </a:solidFill>
            <a:prstDash val="solid"/>
            <a:round/>
            <a:headEnd len="med" w="med" type="none"/>
            <a:tailEnd len="med" w="med" type="triangle"/>
          </a:ln>
        </p:spPr>
      </p:cxnSp>
      <p:pic>
        <p:nvPicPr>
          <p:cNvPr id="278" name="Google Shape;278;p40"/>
          <p:cNvPicPr preferRelativeResize="0"/>
          <p:nvPr/>
        </p:nvPicPr>
        <p:blipFill>
          <a:blip r:embed="rId7">
            <a:alphaModFix/>
          </a:blip>
          <a:stretch>
            <a:fillRect/>
          </a:stretch>
        </p:blipFill>
        <p:spPr>
          <a:xfrm>
            <a:off x="4520913" y="3289360"/>
            <a:ext cx="2949948" cy="1659350"/>
          </a:xfrm>
          <a:prstGeom prst="rect">
            <a:avLst/>
          </a:prstGeom>
          <a:noFill/>
          <a:ln>
            <a:noFill/>
          </a:ln>
        </p:spPr>
      </p:pic>
      <p:cxnSp>
        <p:nvCxnSpPr>
          <p:cNvPr id="279" name="Google Shape;279;p40"/>
          <p:cNvCxnSpPr/>
          <p:nvPr/>
        </p:nvCxnSpPr>
        <p:spPr>
          <a:xfrm flipH="1" rot="10800000">
            <a:off x="3862715" y="3797510"/>
            <a:ext cx="658800" cy="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