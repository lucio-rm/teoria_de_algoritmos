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Proxima Nova"/>
      <p:regular r:id="rId56"/>
      <p:bold r:id="rId57"/>
      <p:italic r:id="rId58"/>
      <p:boldItalic r:id="rId59"/>
    </p:embeddedFont>
    <p:embeddedFont>
      <p:font typeface="Old Standard TT"/>
      <p:regular r:id="rId60"/>
      <p:bold r:id="rId61"/>
      <p: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ldStandardTT-italic.fntdata"/><Relationship Id="rId61" Type="http://schemas.openxmlformats.org/officeDocument/2006/relationships/font" Target="fonts/OldStandardTT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ldStandardT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ProximaNova-bold.fntdata"/><Relationship Id="rId12" Type="http://schemas.openxmlformats.org/officeDocument/2006/relationships/slide" Target="slides/slide7.xml"/><Relationship Id="rId56" Type="http://schemas.openxmlformats.org/officeDocument/2006/relationships/font" Target="fonts/ProximaNova-regular.fntdata"/><Relationship Id="rId15" Type="http://schemas.openxmlformats.org/officeDocument/2006/relationships/slide" Target="slides/slide10.xml"/><Relationship Id="rId59" Type="http://schemas.openxmlformats.org/officeDocument/2006/relationships/font" Target="fonts/ProximaNova-boldItalic.fntdata"/><Relationship Id="rId14" Type="http://schemas.openxmlformats.org/officeDocument/2006/relationships/slide" Target="slides/slide9.xml"/><Relationship Id="rId58" Type="http://schemas.openxmlformats.org/officeDocument/2006/relationships/font" Target="fonts/ProximaNova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9b03970d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9b03970d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a20fc49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a20fc49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7d81140bb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7d81140bb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d3c85533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d3c85533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cccd925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cccd925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f2bb9a6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7f2bb9a6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701c557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701c557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cccd9251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7cccd925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d95a687d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d95a687d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cccd9251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7cccd9251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85da3895d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85da3895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7cccd9251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7cccd9251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cccd9251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cccd9251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cccd9251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cccd9251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cccd9251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cccd9251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cccd9251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cccd9251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eb5052b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eb5052b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eb5052b0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ceb5052b0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eb5052b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eb5052b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ceb5052b0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ceb5052b0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eb5052b0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ceb5052b0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ceb5052b0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ceb5052b0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eb5052b0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ceb5052b0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701c5574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701c5574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701c5574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701c5574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701c5574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701c5574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701c5574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701c5574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701c5574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701c5574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701c5574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5701c5574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701c5574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701c5574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7cccd92515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7cccd92515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9096dbc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9096dbc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7cccd9251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7cccd9251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801c3b34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801c3b34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805b0ae2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805b0ae2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805b0ae27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805b0ae2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80f3a700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80f3a700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80f3a7009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80f3a7009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80f3a7009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80f3a7009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80f3a7009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80f3a7009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80f3a7009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80f3a7009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80f3a7009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80f3a7009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80f3a7009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280f3a7009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80f3a7009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80f3a7009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801c3b34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801c3b34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d3d55cbd4d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d3d55cbd4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d3d55cbd4d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d3d55cbd4d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d3d55cbd4d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d3d55cbd4d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89da53b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689da53b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89da53b3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689da53b3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roxima Nova"/>
              <a:buNone/>
              <a:defRPr sz="42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Proxima Nova"/>
              <a:buNone/>
              <a:defRPr sz="2400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roxima Nova"/>
              <a:buChar char="●"/>
              <a:defRPr sz="14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Proxima Nova"/>
              <a:buNone/>
              <a:defRPr sz="5400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rgbClr val="EFEF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Relationship Id="rId8" Type="http://schemas.openxmlformats.org/officeDocument/2006/relationships/image" Target="../media/image3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2.png"/><Relationship Id="rId4" Type="http://schemas.openxmlformats.org/officeDocument/2006/relationships/image" Target="../media/image56.png"/><Relationship Id="rId5" Type="http://schemas.openxmlformats.org/officeDocument/2006/relationships/image" Target="../media/image44.png"/><Relationship Id="rId6" Type="http://schemas.openxmlformats.org/officeDocument/2006/relationships/image" Target="../media/image4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png"/><Relationship Id="rId4" Type="http://schemas.openxmlformats.org/officeDocument/2006/relationships/image" Target="../media/image54.png"/><Relationship Id="rId5" Type="http://schemas.openxmlformats.org/officeDocument/2006/relationships/image" Target="../media/image48.png"/><Relationship Id="rId6" Type="http://schemas.openxmlformats.org/officeDocument/2006/relationships/image" Target="../media/image5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Relationship Id="rId6" Type="http://schemas.openxmlformats.org/officeDocument/2006/relationships/image" Target="../media/image62.png"/><Relationship Id="rId7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9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8.png"/><Relationship Id="rId4" Type="http://schemas.openxmlformats.org/officeDocument/2006/relationships/image" Target="../media/image61.png"/><Relationship Id="rId5" Type="http://schemas.openxmlformats.org/officeDocument/2006/relationships/image" Target="../media/image5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Relationship Id="rId4" Type="http://schemas.openxmlformats.org/officeDocument/2006/relationships/image" Target="../media/image63.png"/><Relationship Id="rId5" Type="http://schemas.openxmlformats.org/officeDocument/2006/relationships/image" Target="../media/image6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0.png"/><Relationship Id="rId4" Type="http://schemas.openxmlformats.org/officeDocument/2006/relationships/image" Target="../media/image7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0.png"/><Relationship Id="rId4" Type="http://schemas.openxmlformats.org/officeDocument/2006/relationships/image" Target="../media/image74.gif"/><Relationship Id="rId5" Type="http://schemas.openxmlformats.org/officeDocument/2006/relationships/image" Target="../media/image69.png"/><Relationship Id="rId6" Type="http://schemas.openxmlformats.org/officeDocument/2006/relationships/image" Target="../media/image67.png"/><Relationship Id="rId7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Continuaci</a:t>
            </a:r>
            <a:r>
              <a:rPr lang="es"/>
              <a:t>ón</a:t>
            </a:r>
            <a:r>
              <a:rPr lang="es"/>
              <a:t> de Programación Lineal y Método Simplex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Teoría de Algoritmos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80" l="0" r="0" t="70"/>
          <a:stretch/>
        </p:blipFill>
        <p:spPr>
          <a:xfrm>
            <a:off x="7060492" y="4349400"/>
            <a:ext cx="2079858" cy="78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Programación Lineal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Recordamos qué es…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Independent Set por PLE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350" y="1346525"/>
            <a:ext cx="4973300" cy="298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¿Primera idea?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57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9600" y="1182012"/>
            <a:ext cx="1189701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1925" y="1259304"/>
            <a:ext cx="831075" cy="35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001163"/>
            <a:ext cx="474345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5315525" y="2279300"/>
            <a:ext cx="38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¿Esto es suficiente?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52400" y="3397475"/>
            <a:ext cx="493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Problema… ¿cuántas restricciones trae?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¿Podemos reducirlas?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Independent Set por PLE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45720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300" y="1820225"/>
            <a:ext cx="40005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907900"/>
            <a:ext cx="59436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29600" y="1182012"/>
            <a:ext cx="1189701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19300" y="3250800"/>
            <a:ext cx="1397741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41925" y="1259304"/>
            <a:ext cx="831075" cy="35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7"/>
          <p:cNvCxnSpPr/>
          <p:nvPr/>
        </p:nvCxnSpPr>
        <p:spPr>
          <a:xfrm>
            <a:off x="159300" y="2172650"/>
            <a:ext cx="40005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7"/>
          <p:cNvSpPr txBox="1"/>
          <p:nvPr/>
        </p:nvSpPr>
        <p:spPr>
          <a:xfrm>
            <a:off x="4613700" y="1972550"/>
            <a:ext cx="148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¿Problema?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613700" y="2353550"/>
            <a:ext cx="20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El truco de la </a:t>
            </a:r>
            <a:r>
              <a:rPr b="1" lang="es">
                <a:latin typeface="Proxima Nova"/>
                <a:ea typeface="Proxima Nova"/>
                <a:cs typeface="Proxima Nova"/>
                <a:sym typeface="Proxima Nova"/>
              </a:rPr>
              <a:t>Big-M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!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Vayamos más tranqui: ¿problema del cambio por PL?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476400"/>
            <a:ext cx="8520600" cy="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</a:t>
            </a:r>
            <a:r>
              <a:rPr baseline="-25000" lang="es"/>
              <a:t>i</a:t>
            </a:r>
            <a:r>
              <a:rPr lang="es"/>
              <a:t>: valor de la moneda de denominación i (constante)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C: Cambio al que queremos llegar (constante)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M</a:t>
            </a:r>
            <a:r>
              <a:rPr baseline="-25000" lang="es"/>
              <a:t>i</a:t>
            </a:r>
            <a:r>
              <a:rPr lang="es"/>
              <a:t>: cantidad de monedas de denominación </a:t>
            </a:r>
            <a:r>
              <a:rPr i="1" lang="es"/>
              <a:t>i</a:t>
            </a:r>
            <a:r>
              <a:rPr lang="es"/>
              <a:t> que usamos para el cambio.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3214000"/>
            <a:ext cx="25527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700" y="3299440"/>
            <a:ext cx="177165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Volvamos al problema de coloreo…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277100" y="2571750"/>
            <a:ext cx="8520600" cy="9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As</a:t>
            </a:r>
            <a:r>
              <a:rPr lang="es"/>
              <a:t>í, tenemos países * colores * adyacencias cantidad de inecuaciones, queremos reducir a tener países * colores al menos. </a:t>
            </a:r>
            <a:endParaRPr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000" y="1253275"/>
            <a:ext cx="1385318" cy="5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1150" y="1222325"/>
            <a:ext cx="2482958" cy="6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5">
            <a:alphaModFix/>
          </a:blip>
          <a:srcRect b="13210" l="-5197" r="0" t="-13210"/>
          <a:stretch/>
        </p:blipFill>
        <p:spPr>
          <a:xfrm>
            <a:off x="377000" y="1951125"/>
            <a:ext cx="5924976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Screenshot 2025-05-04 at 7.09.09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579450"/>
            <a:ext cx="2904075" cy="88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248900" y="3790950"/>
            <a:ext cx="13854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¿Problema?</a:t>
            </a:r>
            <a:endParaRPr/>
          </a:p>
        </p:txBody>
      </p:sp>
      <p:cxnSp>
        <p:nvCxnSpPr>
          <p:cNvPr id="118" name="Google Shape;118;p19"/>
          <p:cNvCxnSpPr/>
          <p:nvPr/>
        </p:nvCxnSpPr>
        <p:spPr>
          <a:xfrm>
            <a:off x="311700" y="3947188"/>
            <a:ext cx="2904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9" name="Google Shape;119;p19" title="Screenshot 2025-05-04 at 7.10.51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9900" y="3649495"/>
            <a:ext cx="4087900" cy="7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Problema del Viajante por PLE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171600"/>
            <a:ext cx="8520600" cy="72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A</a:t>
            </a:r>
            <a:r>
              <a:rPr lang="es"/>
              <a:t>gregamos virtualmente las aristas faltantes con peso F = "infinito" (= sumatoria de todas las aristas existentes + 1)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Vamos a construir nuestras variables Y</a:t>
            </a:r>
            <a:r>
              <a:rPr baseline="-25000" lang="es"/>
              <a:t>i,j</a:t>
            </a:r>
            <a:r>
              <a:rPr lang="es"/>
              <a:t> = 1 si usamos la arista i → j (0 sino).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∑</a:t>
            </a:r>
            <a:r>
              <a:rPr baseline="-25000" lang="es"/>
              <a:t>j</a:t>
            </a:r>
            <a:r>
              <a:rPr lang="es"/>
              <a:t> Y</a:t>
            </a:r>
            <a:r>
              <a:rPr baseline="-25000" lang="es"/>
              <a:t>i,j</a:t>
            </a:r>
            <a:r>
              <a:rPr lang="es"/>
              <a:t> = 1 → de todos salgo; ∑</a:t>
            </a:r>
            <a:r>
              <a:rPr baseline="-25000" lang="es"/>
              <a:t>i</a:t>
            </a:r>
            <a:r>
              <a:rPr lang="es"/>
              <a:t> Y</a:t>
            </a:r>
            <a:r>
              <a:rPr baseline="-25000" lang="es"/>
              <a:t>i,j</a:t>
            </a:r>
            <a:r>
              <a:rPr lang="es"/>
              <a:t> = 1 → a todos entro.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Evidentemente queremos minimizar ∑</a:t>
            </a:r>
            <a:r>
              <a:rPr baseline="-25000" lang="es"/>
              <a:t>i</a:t>
            </a:r>
            <a:r>
              <a:rPr lang="es"/>
              <a:t>∑</a:t>
            </a:r>
            <a:r>
              <a:rPr baseline="-25000" lang="es"/>
              <a:t>j</a:t>
            </a:r>
            <a:r>
              <a:rPr lang="es"/>
              <a:t> peso(i, j) Y</a:t>
            </a:r>
            <a:r>
              <a:rPr baseline="-25000" lang="es"/>
              <a:t>i,j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Esto sólo no sirve, ¿por qué?</a:t>
            </a:r>
            <a:endParaRPr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8275" y="2835150"/>
            <a:ext cx="2163025" cy="211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Agregamos más restricciones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171600"/>
            <a:ext cx="8520600" cy="4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Agregamos: p</a:t>
            </a:r>
            <a:r>
              <a:rPr baseline="-25000" lang="es"/>
              <a:t>i</a:t>
            </a:r>
            <a:r>
              <a:rPr lang="es"/>
              <a:t>: número de secuencia en la cual visito a la ciudad i</a:t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1700" y="1821550"/>
            <a:ext cx="4800600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Resolvamos el problema del TP1 (2026C1) con PL</a:t>
            </a:r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578" y="1210625"/>
            <a:ext cx="6720845" cy="37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Resolvamos el problema del TP1 con PL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haciéndonos preguntas: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hacemos que cada equipo quede en un "slot"/orden determinado?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Una vez obtenido el orden, necesitamos obtener el momento en el que termina de analizarse cada equipo </a:t>
            </a:r>
            <a:r>
              <a:rPr i="1" lang="es"/>
              <a:t>i</a:t>
            </a:r>
            <a:r>
              <a:rPr lang="es"/>
              <a:t> → Necesitamos considerar quiénes se analizaron antes!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Una vez que sé quiénes se analizaron antes → ¿cuándo termina de analizarse el equipo </a:t>
            </a:r>
            <a:r>
              <a:rPr i="1" lang="es"/>
              <a:t>i</a:t>
            </a:r>
            <a:r>
              <a:rPr lang="es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Modelado cuándo termina cada equipo, ¿qué tenemos que hacer?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Determinar que cada equipo tenga un orden</a:t>
            </a:r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654925"/>
            <a:ext cx="6096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7838" y="2384650"/>
            <a:ext cx="2152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0663" y="2384650"/>
            <a:ext cx="20955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Necesitamos saber quiénes se analizan antes de cada equipo!</a:t>
            </a:r>
            <a:endParaRPr/>
          </a:p>
        </p:txBody>
      </p:sp>
      <p:pic>
        <p:nvPicPr>
          <p:cNvPr id="159" name="Google Shape;15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3725" y="1503950"/>
            <a:ext cx="5076550" cy="136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/>
          <p:cNvPicPr preferRelativeResize="0"/>
          <p:nvPr/>
        </p:nvPicPr>
        <p:blipFill rotWithShape="1">
          <a:blip r:embed="rId4">
            <a:alphaModFix/>
          </a:blip>
          <a:srcRect b="0" l="1672" r="0" t="0"/>
          <a:stretch/>
        </p:blipFill>
        <p:spPr>
          <a:xfrm>
            <a:off x="2008313" y="2958875"/>
            <a:ext cx="5127374" cy="11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4113" y="2873450"/>
            <a:ext cx="4715775" cy="18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5"/>
          <p:cNvSpPr txBox="1"/>
          <p:nvPr/>
        </p:nvSpPr>
        <p:spPr>
          <a:xfrm>
            <a:off x="6273300" y="2383800"/>
            <a:ext cx="287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p</a:t>
            </a:r>
            <a:r>
              <a:rPr baseline="-25000" lang="es">
                <a:latin typeface="Old Standard TT"/>
                <a:ea typeface="Old Standard TT"/>
                <a:cs typeface="Old Standard TT"/>
                <a:sym typeface="Old Standard TT"/>
              </a:rPr>
              <a:t>cr7 </a:t>
            </a: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 = 5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p</a:t>
            </a:r>
            <a:r>
              <a:rPr baseline="-25000" lang="es">
                <a:latin typeface="Old Standard TT"/>
                <a:ea typeface="Old Standard TT"/>
                <a:cs typeface="Old Standard TT"/>
                <a:sym typeface="Old Standard TT"/>
              </a:rPr>
              <a:t>jurgen </a:t>
            </a: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= 3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Z</a:t>
            </a:r>
            <a:r>
              <a:rPr baseline="-25000" lang="es">
                <a:latin typeface="Old Standard TT"/>
                <a:ea typeface="Old Standard TT"/>
                <a:cs typeface="Old Standard TT"/>
                <a:sym typeface="Old Standard TT"/>
              </a:rPr>
              <a:t>cr7,jurgen </a:t>
            </a:r>
            <a:r>
              <a:rPr lang="es">
                <a:latin typeface="Old Standard TT"/>
                <a:ea typeface="Old Standard TT"/>
                <a:cs typeface="Old Standard TT"/>
                <a:sym typeface="Old Standard TT"/>
              </a:rPr>
              <a:t>= 1</a:t>
            </a:r>
            <a:endParaRPr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¿Cuándo se termina de analizar el equipo </a:t>
            </a:r>
            <a:r>
              <a:rPr i="1" lang="es"/>
              <a:t>i</a:t>
            </a:r>
            <a:r>
              <a:rPr lang="es"/>
              <a:t>?</a:t>
            </a:r>
            <a:endParaRPr/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738" y="1666725"/>
            <a:ext cx="3616525" cy="9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171600"/>
            <a:ext cx="8520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El tiempo demorado es al menos el tiempo de fin del equipo </a:t>
            </a:r>
            <a:r>
              <a:rPr i="1" lang="es"/>
              <a:t>i</a:t>
            </a:r>
            <a:r>
              <a:rPr lang="es"/>
              <a:t>… y cada uno:</a:t>
            </a:r>
            <a:endParaRPr/>
          </a:p>
        </p:txBody>
      </p:sp>
      <p:sp>
        <p:nvSpPr>
          <p:cNvPr id="174" name="Google Shape;174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¿Cuánto demoramos entonces?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11700" y="2467000"/>
            <a:ext cx="8520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Y… ¿qué era lo que buscábamos?</a:t>
            </a:r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7125" y="1765825"/>
            <a:ext cx="1809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7175" y="3157300"/>
            <a:ext cx="10096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resumen</a:t>
            </a:r>
            <a:endParaRPr/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38" y="1058225"/>
            <a:ext cx="2152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063" y="1058225"/>
            <a:ext cx="20955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8"/>
          <p:cNvPicPr preferRelativeResize="0"/>
          <p:nvPr/>
        </p:nvPicPr>
        <p:blipFill rotWithShape="1">
          <a:blip r:embed="rId5">
            <a:alphaModFix/>
          </a:blip>
          <a:srcRect b="0" l="34182" r="33866" t="55225"/>
          <a:stretch/>
        </p:blipFill>
        <p:spPr>
          <a:xfrm>
            <a:off x="5855775" y="1079800"/>
            <a:ext cx="2707775" cy="10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 rotWithShape="1">
          <a:blip r:embed="rId6">
            <a:alphaModFix/>
          </a:blip>
          <a:srcRect b="43525" l="25721" r="25211" t="24150"/>
          <a:stretch/>
        </p:blipFill>
        <p:spPr>
          <a:xfrm>
            <a:off x="347075" y="2417200"/>
            <a:ext cx="3660400" cy="9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9613" y="2425425"/>
            <a:ext cx="3616525" cy="9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18125" y="3944475"/>
            <a:ext cx="18097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73050" y="3982575"/>
            <a:ext cx="100965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Resolvamos el problema del TP1 (2024C1) con PL</a:t>
            </a:r>
            <a:endParaRPr/>
          </a:p>
        </p:txBody>
      </p:sp>
      <p:pic>
        <p:nvPicPr>
          <p:cNvPr id="195" name="Google Shape;19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088" y="1210625"/>
            <a:ext cx="3171825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Resolvamos el problema del TP1 con PL</a:t>
            </a:r>
            <a:endParaRPr/>
          </a:p>
        </p:txBody>
      </p:sp>
      <p:sp>
        <p:nvSpPr>
          <p:cNvPr id="201" name="Google Shape;201;p3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haciéndonos preguntas: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hacemos que cada batalla quede en un "slot"/orden determinado?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Una vez obtenido el orden, necesitamos obtener el momento en el que termina de desarrollarse cada batalla </a:t>
            </a:r>
            <a:r>
              <a:rPr i="1" lang="es"/>
              <a:t>i</a:t>
            </a:r>
            <a:r>
              <a:rPr lang="es"/>
              <a:t> → Necesitamos considerar cuáles se realizaron antes!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Una vez que sé cuáles se desarrollaron antes → ¿cuándo termina de desarrollarse el batalla </a:t>
            </a:r>
            <a:r>
              <a:rPr i="1" lang="es"/>
              <a:t>i</a:t>
            </a:r>
            <a:r>
              <a:rPr lang="es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Modelado cuándo termina cada batalla, ¿qué tenemos que hacer?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Determinar que cada batalla tenga un orden</a:t>
            </a:r>
            <a:endParaRPr/>
          </a:p>
        </p:txBody>
      </p:sp>
      <p:pic>
        <p:nvPicPr>
          <p:cNvPr id="207" name="Google Shape;20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838" y="2384650"/>
            <a:ext cx="2152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0663" y="2384650"/>
            <a:ext cx="20955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6375" y="1548175"/>
            <a:ext cx="61912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2"/>
          <p:cNvPicPr preferRelativeResize="0"/>
          <p:nvPr/>
        </p:nvPicPr>
        <p:blipFill rotWithShape="1">
          <a:blip r:embed="rId3">
            <a:alphaModFix/>
          </a:blip>
          <a:srcRect b="0" l="1672" r="0" t="0"/>
          <a:stretch/>
        </p:blipFill>
        <p:spPr>
          <a:xfrm>
            <a:off x="2008313" y="2958875"/>
            <a:ext cx="5127374" cy="112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4301" y="3265387"/>
            <a:ext cx="1022100" cy="1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14113" y="2873450"/>
            <a:ext cx="4715775" cy="18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Necesitamos saber cuáles se desarrollan antes de cada batalla!</a:t>
            </a:r>
            <a:endParaRPr/>
          </a:p>
        </p:txBody>
      </p:sp>
      <p:pic>
        <p:nvPicPr>
          <p:cNvPr id="218" name="Google Shape;21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33725" y="1503950"/>
            <a:ext cx="5076550" cy="136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2"/>
          <p:cNvSpPr txBox="1"/>
          <p:nvPr/>
        </p:nvSpPr>
        <p:spPr>
          <a:xfrm>
            <a:off x="6273300" y="1977725"/>
            <a:ext cx="287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Ba-Sing-Se 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5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Tribu-Agua-Sur 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= 3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Ba-Sing-Se,</a:t>
            </a:r>
            <a:r>
              <a:rPr baseline="-25000"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Tribu-Agua-Sur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= 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69166" y="1812316"/>
            <a:ext cx="740120" cy="283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¿Cuándo se termina de desarrollar la batalla </a:t>
            </a:r>
            <a:r>
              <a:rPr i="1" lang="es"/>
              <a:t>i</a:t>
            </a:r>
            <a:r>
              <a:rPr lang="es"/>
              <a:t>?</a:t>
            </a:r>
            <a:endParaRPr/>
          </a:p>
        </p:txBody>
      </p:sp>
      <p:pic>
        <p:nvPicPr>
          <p:cNvPr id="226" name="Google Shape;22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1775" y="1739200"/>
            <a:ext cx="3020450" cy="10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Y… ¿qué era lo que buscábamos?</a:t>
            </a:r>
            <a:endParaRPr/>
          </a:p>
        </p:txBody>
      </p:sp>
      <p:pic>
        <p:nvPicPr>
          <p:cNvPr id="232" name="Google Shape;2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112" y="1442475"/>
            <a:ext cx="1909775" cy="8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resumen</a:t>
            </a:r>
            <a:endParaRPr/>
          </a:p>
        </p:txBody>
      </p:sp>
      <p:pic>
        <p:nvPicPr>
          <p:cNvPr id="238" name="Google Shape;2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238" y="1058225"/>
            <a:ext cx="21526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063" y="1058225"/>
            <a:ext cx="20955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5"/>
          <p:cNvPicPr preferRelativeResize="0"/>
          <p:nvPr/>
        </p:nvPicPr>
        <p:blipFill rotWithShape="1">
          <a:blip r:embed="rId5">
            <a:alphaModFix/>
          </a:blip>
          <a:srcRect b="0" l="34182" r="33866" t="55225"/>
          <a:stretch/>
        </p:blipFill>
        <p:spPr>
          <a:xfrm>
            <a:off x="5855775" y="1079800"/>
            <a:ext cx="2707775" cy="10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5"/>
          <p:cNvPicPr preferRelativeResize="0"/>
          <p:nvPr/>
        </p:nvPicPr>
        <p:blipFill rotWithShape="1">
          <a:blip r:embed="rId6">
            <a:alphaModFix/>
          </a:blip>
          <a:srcRect b="43525" l="25721" r="25211" t="24150"/>
          <a:stretch/>
        </p:blipFill>
        <p:spPr>
          <a:xfrm>
            <a:off x="347075" y="2417200"/>
            <a:ext cx="3660400" cy="97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99437" y="2375937"/>
            <a:ext cx="3020450" cy="10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17112" y="3815175"/>
            <a:ext cx="1909775" cy="8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Resolvamos el problema del TP1 (2025C1) con PL</a:t>
            </a:r>
            <a:endParaRPr/>
          </a:p>
        </p:txBody>
      </p:sp>
      <p:pic>
        <p:nvPicPr>
          <p:cNvPr id="249" name="Google Shape;249;p36"/>
          <p:cNvPicPr preferRelativeResize="0"/>
          <p:nvPr/>
        </p:nvPicPr>
        <p:blipFill rotWithShape="1">
          <a:blip r:embed="rId3">
            <a:alphaModFix/>
          </a:blip>
          <a:srcRect b="0" l="38731" r="16122" t="0"/>
          <a:stretch/>
        </p:blipFill>
        <p:spPr>
          <a:xfrm>
            <a:off x="3292612" y="1210625"/>
            <a:ext cx="2558776" cy="378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Resolvamos el problema del TP1 con PL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haciéndonos preguntas: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definimos que uno y sólo un timestamp debe ser asignado a un intervalo?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generamos una asignaci</a:t>
            </a:r>
            <a:r>
              <a:rPr lang="es"/>
              <a:t>ón de cada timestamp a algún intervalo</a:t>
            </a:r>
            <a:r>
              <a:rPr lang="es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¿Cómo definimos que un timestamp </a:t>
            </a:r>
            <a:r>
              <a:rPr i="1" lang="es"/>
              <a:t>puede </a:t>
            </a:r>
            <a:r>
              <a:rPr lang="es"/>
              <a:t>ser asignado a un intervalo?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Una vez modelado todo esto, ¿c</a:t>
            </a:r>
            <a:r>
              <a:rPr lang="es"/>
              <a:t>ómo cerramos?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Definamos variables</a:t>
            </a:r>
            <a:endParaRPr/>
          </a:p>
        </p:txBody>
      </p:sp>
      <p:pic>
        <p:nvPicPr>
          <p:cNvPr id="261" name="Google Shape;261;p38" title="Screenshot 2025-05-04 at 7.20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800" y="1364351"/>
            <a:ext cx="7018400" cy="7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intervalo tiene un timestamp + un timestamp tiene un intervalo</a:t>
            </a:r>
            <a:endParaRPr/>
          </a:p>
        </p:txBody>
      </p:sp>
      <p:pic>
        <p:nvPicPr>
          <p:cNvPr id="267" name="Google Shape;267;p39" title="Screenshot 2025-05-04 at 7.22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750" y="1513200"/>
            <a:ext cx="2971800" cy="335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¿Timestamp puede ser asignado a un intervalo?</a:t>
            </a:r>
            <a:endParaRPr/>
          </a:p>
        </p:txBody>
      </p:sp>
      <p:sp>
        <p:nvSpPr>
          <p:cNvPr id="273" name="Google Shape;273;p40"/>
          <p:cNvSpPr txBox="1"/>
          <p:nvPr>
            <p:ph idx="1" type="body"/>
          </p:nvPr>
        </p:nvSpPr>
        <p:spPr>
          <a:xfrm>
            <a:off x="311700" y="1171600"/>
            <a:ext cx="8520600" cy="8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B</a:t>
            </a:r>
            <a:r>
              <a:rPr lang="es"/>
              <a:t>ásicamente, queremos forzar que si un intervalo </a:t>
            </a:r>
            <a:r>
              <a:rPr i="1" lang="es"/>
              <a:t>i</a:t>
            </a:r>
            <a:r>
              <a:rPr lang="es"/>
              <a:t> no puede ser asignado a un intervalo </a:t>
            </a:r>
            <a:r>
              <a:rPr i="1" lang="es"/>
              <a:t>j</a:t>
            </a:r>
            <a:r>
              <a:rPr lang="es"/>
              <a:t>, entonces </a:t>
            </a:r>
            <a:r>
              <a:rPr i="1" lang="es"/>
              <a:t>Y</a:t>
            </a:r>
            <a:r>
              <a:rPr baseline="-25000" i="1" lang="es"/>
              <a:t>i,j</a:t>
            </a:r>
            <a:r>
              <a:rPr lang="es"/>
              <a:t> valga sí o sí 0. </a:t>
            </a:r>
            <a:endParaRPr/>
          </a:p>
        </p:txBody>
      </p:sp>
      <p:pic>
        <p:nvPicPr>
          <p:cNvPr id="274" name="Google Shape;274;p40" title="Screenshot 2025-05-04 at 7.28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00" y="2118975"/>
            <a:ext cx="5273396" cy="52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 title="Screenshot 2025-05-04 at 7.29.1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88" y="2699302"/>
            <a:ext cx="6091736" cy="52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 title="Screenshot 2025-05-04 at 7.31.17 PM.png"/>
          <p:cNvPicPr preferRelativeResize="0"/>
          <p:nvPr/>
        </p:nvPicPr>
        <p:blipFill rotWithShape="1">
          <a:blip r:embed="rId5">
            <a:alphaModFix/>
          </a:blip>
          <a:srcRect b="19440" l="0" r="0" t="9999"/>
          <a:stretch/>
        </p:blipFill>
        <p:spPr>
          <a:xfrm>
            <a:off x="211325" y="3298486"/>
            <a:ext cx="5273401" cy="38568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0"/>
          <p:cNvSpPr txBox="1"/>
          <p:nvPr/>
        </p:nvSpPr>
        <p:spPr>
          <a:xfrm>
            <a:off x="7079875" y="2118975"/>
            <a:ext cx="14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¿Problema?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8" name="Google Shape;278;p40"/>
          <p:cNvSpPr txBox="1"/>
          <p:nvPr/>
        </p:nvSpPr>
        <p:spPr>
          <a:xfrm>
            <a:off x="7079875" y="3261975"/>
            <a:ext cx="14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¿Problema?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79" name="Google Shape;279;p40"/>
          <p:cNvCxnSpPr>
            <a:stCxn id="274" idx="1"/>
            <a:endCxn id="274" idx="3"/>
          </p:cNvCxnSpPr>
          <p:nvPr/>
        </p:nvCxnSpPr>
        <p:spPr>
          <a:xfrm>
            <a:off x="210900" y="2379387"/>
            <a:ext cx="52734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¿Y ahora como lo juntamos?</a:t>
            </a:r>
            <a:endParaRPr/>
          </a:p>
        </p:txBody>
      </p:sp>
      <p:sp>
        <p:nvSpPr>
          <p:cNvPr id="285" name="Google Shape;285;p4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No es necesario hacer nada porque s</a:t>
            </a:r>
            <a:r>
              <a:rPr lang="es"/>
              <a:t>ólo queremos ver si (y cómo) el sistema es compatible.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resumen</a:t>
            </a:r>
            <a:endParaRPr/>
          </a:p>
        </p:txBody>
      </p:sp>
      <p:pic>
        <p:nvPicPr>
          <p:cNvPr id="291" name="Google Shape;291;p42" title="Screenshot 2025-05-04 at 7.22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5650"/>
            <a:ext cx="2121650" cy="239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2" title="Screenshot 2025-05-04 at 7.29.1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6788" y="1826202"/>
            <a:ext cx="6091736" cy="52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 title="Screenshot 2025-05-04 at 7.31.17 PM.png"/>
          <p:cNvPicPr preferRelativeResize="0"/>
          <p:nvPr/>
        </p:nvPicPr>
        <p:blipFill rotWithShape="1">
          <a:blip r:embed="rId5">
            <a:alphaModFix/>
          </a:blip>
          <a:srcRect b="19440" l="0" r="0" t="9999"/>
          <a:stretch/>
        </p:blipFill>
        <p:spPr>
          <a:xfrm>
            <a:off x="2597225" y="2425386"/>
            <a:ext cx="5273401" cy="385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2" title="Screenshot 2025-05-04 at 7.35.26 PM.png"/>
          <p:cNvPicPr preferRelativeResize="0"/>
          <p:nvPr/>
        </p:nvPicPr>
        <p:blipFill rotWithShape="1">
          <a:blip r:embed="rId6">
            <a:alphaModFix/>
          </a:blip>
          <a:srcRect b="0" l="0" r="0" t="10458"/>
          <a:stretch/>
        </p:blipFill>
        <p:spPr>
          <a:xfrm>
            <a:off x="2810525" y="2939150"/>
            <a:ext cx="4425717" cy="5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Hagamos demo, para que me crean…</a:t>
            </a:r>
            <a:endParaRPr/>
          </a:p>
        </p:txBody>
      </p:sp>
      <p:sp>
        <p:nvSpPr>
          <p:cNvPr id="300" name="Google Shape;300;p43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Metamos intervalo de 5'</a:t>
            </a:r>
            <a:endParaRPr/>
          </a:p>
        </p:txBody>
      </p:sp>
      <p:sp>
        <p:nvSpPr>
          <p:cNvPr id="306" name="Google Shape;306;p4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Hablemos un poco de los algoritmos por detrás</a:t>
            </a:r>
            <a:endParaRPr/>
          </a:p>
        </p:txBody>
      </p:sp>
      <p:sp>
        <p:nvSpPr>
          <p:cNvPr id="312" name="Google Shape;312;p4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Simplex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Branch and Bounds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 Simplex</a:t>
            </a:r>
            <a:endParaRPr/>
          </a:p>
        </p:txBody>
      </p:sp>
      <p:sp>
        <p:nvSpPr>
          <p:cNvPr id="318" name="Google Shape;318;p4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 ser un problema lineal, los óptimos van a estar sí o sí en vértices.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El algoritmo es en sí greedy: busca óptimos locales esperando que sean el óptimo general también.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Complejidad: O(Cantidad de vértices) &lt;= O(2</a:t>
            </a:r>
            <a:r>
              <a:rPr baseline="30000" lang="es"/>
              <a:t>n</a:t>
            </a:r>
            <a:r>
              <a:rPr lang="es"/>
              <a:t>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Caso lineal continuo: se demostró que es O(n</a:t>
            </a:r>
            <a:r>
              <a:rPr baseline="30000" lang="es"/>
              <a:t>9</a:t>
            </a:r>
            <a:r>
              <a:rPr lang="es"/>
              <a:t>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Método Simplex: ejemplo</a:t>
            </a:r>
            <a:endParaRPr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75" y="1257800"/>
            <a:ext cx="1854067" cy="8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3625" y="1353050"/>
            <a:ext cx="2058372" cy="67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0250" y="620338"/>
            <a:ext cx="2231400" cy="2142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7"/>
          <p:cNvSpPr txBox="1"/>
          <p:nvPr/>
        </p:nvSpPr>
        <p:spPr>
          <a:xfrm>
            <a:off x="311700" y="2674275"/>
            <a:ext cx="49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Paso 1: pasamos a igualdades agregando variables de Slack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28" name="Google Shape;328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075" y="3224900"/>
            <a:ext cx="2171576" cy="715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7"/>
          <p:cNvSpPr txBox="1"/>
          <p:nvPr/>
        </p:nvSpPr>
        <p:spPr>
          <a:xfrm>
            <a:off x="3178375" y="3274725"/>
            <a:ext cx="492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Luego lo que haríamos es ir despejando variables para ir obteniendo vértices, paso a paso.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Ejemplo: el (0,0)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ejemplo más completo</a:t>
            </a:r>
            <a:endParaRPr/>
          </a:p>
        </p:txBody>
      </p:sp>
      <p:pic>
        <p:nvPicPr>
          <p:cNvPr id="335" name="Google Shape;33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31375"/>
            <a:ext cx="2071875" cy="16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9625" y="1146788"/>
            <a:ext cx="3973261" cy="167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8"/>
          <p:cNvSpPr/>
          <p:nvPr/>
        </p:nvSpPr>
        <p:spPr>
          <a:xfrm>
            <a:off x="2412900" y="1751525"/>
            <a:ext cx="1033800" cy="46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8"/>
          <p:cNvSpPr txBox="1"/>
          <p:nvPr/>
        </p:nvSpPr>
        <p:spPr>
          <a:xfrm>
            <a:off x="7492500" y="1146800"/>
            <a:ext cx="1598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3 ecuaciones + 5 variables = infinitas soluciones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9" name="Google Shape;339;p48"/>
          <p:cNvSpPr txBox="1"/>
          <p:nvPr/>
        </p:nvSpPr>
        <p:spPr>
          <a:xfrm>
            <a:off x="311700" y="2956250"/>
            <a:ext cx="49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Pasamos de expresión 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algebraica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a expresión matricial: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40" name="Google Shape;34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440500"/>
            <a:ext cx="1936485" cy="148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5825" y="3495050"/>
            <a:ext cx="2364938" cy="1482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8"/>
          <p:cNvSpPr/>
          <p:nvPr/>
        </p:nvSpPr>
        <p:spPr>
          <a:xfrm>
            <a:off x="2412900" y="3860500"/>
            <a:ext cx="1033800" cy="461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 nuestro caso:</a:t>
            </a:r>
            <a:endParaRPr/>
          </a:p>
        </p:txBody>
      </p:sp>
      <p:pic>
        <p:nvPicPr>
          <p:cNvPr id="348" name="Google Shape;34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75" y="2073550"/>
            <a:ext cx="32004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6550" y="1817075"/>
            <a:ext cx="180975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0075" y="2159275"/>
            <a:ext cx="19431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9525" y="4067700"/>
            <a:ext cx="30861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0250" y="103663"/>
            <a:ext cx="3973261" cy="16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Pasos a seguir</a:t>
            </a:r>
            <a:endParaRPr/>
          </a:p>
        </p:txBody>
      </p:sp>
      <p:sp>
        <p:nvSpPr>
          <p:cNvPr id="358" name="Google Shape;358;p50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Vamos a buscar una solución válida, y luego movernos viendo el gradiente.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Inicialmente comenzamos considerando las slacks (Vértice nulo), y vamos "incorporando variables"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Armamos nuestra tabla del método simplex</a:t>
            </a:r>
            <a:endParaRPr/>
          </a:p>
        </p:txBody>
      </p:sp>
      <p:pic>
        <p:nvPicPr>
          <p:cNvPr id="364" name="Google Shape;36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565785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344225"/>
            <a:ext cx="30099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4700" y="3287075"/>
            <a:ext cx="451485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1"/>
          <p:cNvSpPr txBox="1"/>
          <p:nvPr/>
        </p:nvSpPr>
        <p:spPr>
          <a:xfrm>
            <a:off x="4468525" y="4068125"/>
            <a:ext cx="4109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Nos indica que si incorporamos a X</a:t>
            </a:r>
            <a:r>
              <a:rPr baseline="-25000"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o X</a:t>
            </a:r>
            <a:r>
              <a:rPr baseline="-25000"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la situación mejora, con S</a:t>
            </a:r>
            <a:r>
              <a:rPr baseline="-25000"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baseline="-25000"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, S</a:t>
            </a:r>
            <a:r>
              <a:rPr baseline="-25000"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la situación no cambia.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8" name="Google Shape;368;p51"/>
          <p:cNvSpPr txBox="1"/>
          <p:nvPr/>
        </p:nvSpPr>
        <p:spPr>
          <a:xfrm>
            <a:off x="239225" y="3915725"/>
            <a:ext cx="410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Se obtiene de hacer C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fila1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* A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+ C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fila2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* A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+ C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fila3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* A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aseline="-25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9" name="Google Shape;369;p51"/>
          <p:cNvSpPr/>
          <p:nvPr/>
        </p:nvSpPr>
        <p:spPr>
          <a:xfrm>
            <a:off x="1161975" y="3443945"/>
            <a:ext cx="247800" cy="290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Siguiente paso: incorporamos X</a:t>
            </a:r>
            <a:r>
              <a:rPr baseline="-25000" lang="es"/>
              <a:t>1</a:t>
            </a:r>
            <a:endParaRPr baseline="-25000"/>
          </a:p>
        </p:txBody>
      </p:sp>
      <p:sp>
        <p:nvSpPr>
          <p:cNvPr id="375" name="Google Shape;375;p52"/>
          <p:cNvSpPr txBox="1"/>
          <p:nvPr>
            <p:ph idx="1" type="body"/>
          </p:nvPr>
        </p:nvSpPr>
        <p:spPr>
          <a:xfrm>
            <a:off x="311700" y="1019200"/>
            <a:ext cx="8520600" cy="9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 incorporarse en su mínima cantidad según cada fila: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Fila1: 600/2 = 300; Fila2: 600/0 (no contamos); Fila3: 800/2 = 400 → 300 (incorporo en fila 1)</a:t>
            </a:r>
            <a:endParaRPr/>
          </a:p>
        </p:txBody>
      </p:sp>
      <p:pic>
        <p:nvPicPr>
          <p:cNvPr id="376" name="Google Shape;37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47875"/>
            <a:ext cx="56007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52"/>
          <p:cNvSpPr txBox="1"/>
          <p:nvPr/>
        </p:nvSpPr>
        <p:spPr>
          <a:xfrm>
            <a:off x="5871600" y="2650725"/>
            <a:ext cx="32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← Acá divido por el coeficiente de 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aseline="-25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78" name="Google Shape;378;p52"/>
          <p:cNvSpPr txBox="1"/>
          <p:nvPr/>
        </p:nvSpPr>
        <p:spPr>
          <a:xfrm>
            <a:off x="5871600" y="3530775"/>
            <a:ext cx="3161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← Acá opero restando filas, multiplicando por constantes, para que me quede en 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79" name="Google Shape;37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285875"/>
            <a:ext cx="1999177" cy="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03977" y="4285875"/>
            <a:ext cx="2468673" cy="4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2"/>
          <p:cNvSpPr/>
          <p:nvPr/>
        </p:nvSpPr>
        <p:spPr>
          <a:xfrm>
            <a:off x="3570145" y="4365271"/>
            <a:ext cx="302100" cy="2385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2"/>
          <p:cNvSpPr/>
          <p:nvPr/>
        </p:nvSpPr>
        <p:spPr>
          <a:xfrm>
            <a:off x="3874945" y="4365271"/>
            <a:ext cx="302100" cy="238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Incorporamos ahora a X</a:t>
            </a:r>
            <a:r>
              <a:rPr baseline="-25000" lang="es"/>
              <a:t>2</a:t>
            </a:r>
            <a:endParaRPr baseline="-25000"/>
          </a:p>
        </p:txBody>
      </p:sp>
      <p:sp>
        <p:nvSpPr>
          <p:cNvPr id="388" name="Google Shape;388;p53"/>
          <p:cNvSpPr txBox="1"/>
          <p:nvPr>
            <p:ph idx="1" type="body"/>
          </p:nvPr>
        </p:nvSpPr>
        <p:spPr>
          <a:xfrm>
            <a:off x="311700" y="1171600"/>
            <a:ext cx="8520600" cy="9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Puede incorporarse en su mínima cantidad según cada fila: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Fila1: 300/1 = 300; Fila2: 600/4 = 150; Fila3: 200/2 = 100 → 100 (incorporo en fila 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49425"/>
            <a:ext cx="57531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1" y="4094124"/>
            <a:ext cx="31051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3175" y="4056025"/>
            <a:ext cx="356235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3"/>
          <p:cNvSpPr txBox="1"/>
          <p:nvPr/>
        </p:nvSpPr>
        <p:spPr>
          <a:xfrm>
            <a:off x="6178175" y="2393325"/>
            <a:ext cx="276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Óptimo: 8 * 200 + 10 * 100 = 2600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resolvemos cuando el vector nulo no es solución?</a:t>
            </a:r>
            <a:endParaRPr/>
          </a:p>
        </p:txBody>
      </p:sp>
      <p:sp>
        <p:nvSpPr>
          <p:cNvPr id="398" name="Google Shape;398;p54"/>
          <p:cNvSpPr txBox="1"/>
          <p:nvPr>
            <p:ph idx="1" type="body"/>
          </p:nvPr>
        </p:nvSpPr>
        <p:spPr>
          <a:xfrm>
            <a:off x="311700" y="1476400"/>
            <a:ext cx="8520600" cy="10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Ej: X</a:t>
            </a:r>
            <a:r>
              <a:rPr baseline="-25000" lang="es"/>
              <a:t>1 </a:t>
            </a:r>
            <a:r>
              <a:rPr lang="es"/>
              <a:t>&gt;= 2 → X</a:t>
            </a:r>
            <a:r>
              <a:rPr baseline="-25000" lang="es"/>
              <a:t>1</a:t>
            </a:r>
            <a:r>
              <a:rPr lang="es"/>
              <a:t> - S</a:t>
            </a:r>
            <a:r>
              <a:rPr baseline="-25000" lang="es"/>
              <a:t>1</a:t>
            </a:r>
            <a:r>
              <a:rPr lang="es"/>
              <a:t> = 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Esto aún no resuelve. Creamos una variable artificial: </a:t>
            </a:r>
            <a:endParaRPr baseline="-25000"/>
          </a:p>
        </p:txBody>
      </p:sp>
      <p:pic>
        <p:nvPicPr>
          <p:cNvPr id="399" name="Google Shape;399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4700" y="2665000"/>
            <a:ext cx="251460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4"/>
          <p:cNvSpPr txBox="1"/>
          <p:nvPr>
            <p:ph idx="1" type="body"/>
          </p:nvPr>
        </p:nvSpPr>
        <p:spPr>
          <a:xfrm>
            <a:off x="311700" y="3305200"/>
            <a:ext cx="8520600" cy="10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Para asegurarnos que la variable artificial termine valiendo 0, le ponemos un coeficiente muy grande y contrario a lo que queremos lograr:</a:t>
            </a:r>
            <a:endParaRPr baseline="-25000"/>
          </a:p>
        </p:txBody>
      </p:sp>
      <p:pic>
        <p:nvPicPr>
          <p:cNvPr id="401" name="Google Shape;40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601" y="4112800"/>
            <a:ext cx="1921997" cy="4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54"/>
          <p:cNvSpPr txBox="1"/>
          <p:nvPr/>
        </p:nvSpPr>
        <p:spPr>
          <a:xfrm>
            <a:off x="4460675" y="4036600"/>
            <a:ext cx="4580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Nota: si el problema no tiene solución (sistema incompatible) en general termina pasando que una o más variables artificiales toman valor, y así el algoritmo se da cuenta</a:t>
            </a:r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/>
          <p:nvPr/>
        </p:nvSpPr>
        <p:spPr>
          <a:xfrm>
            <a:off x="2130950" y="2496700"/>
            <a:ext cx="4580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Notar que 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podríamos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cambiarlo por dos ecuaciones, con &gt;= y &lt;=, pero se agregarían 2 slacks extra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8" name="Google Shape;408;p5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Otro caso de variables artificiales</a:t>
            </a:r>
            <a:endParaRPr/>
          </a:p>
        </p:txBody>
      </p:sp>
      <p:sp>
        <p:nvSpPr>
          <p:cNvPr id="409" name="Google Shape;409;p55"/>
          <p:cNvSpPr txBox="1"/>
          <p:nvPr>
            <p:ph idx="1" type="body"/>
          </p:nvPr>
        </p:nvSpPr>
        <p:spPr>
          <a:xfrm>
            <a:off x="311700" y="1171600"/>
            <a:ext cx="8520600" cy="47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Si tenemos igualdades: </a:t>
            </a:r>
            <a:endParaRPr/>
          </a:p>
        </p:txBody>
      </p:sp>
      <p:pic>
        <p:nvPicPr>
          <p:cNvPr id="410" name="Google Shape;41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1798300"/>
            <a:ext cx="5181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Otras consideraciones</a:t>
            </a:r>
            <a:endParaRPr/>
          </a:p>
        </p:txBody>
      </p:sp>
      <p:sp>
        <p:nvSpPr>
          <p:cNvPr id="416" name="Google Shape;416;p5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"/>
              <a:t>Si nuestro dominio (poliedro) es abierto y es un problema de máximos, nos va a pasar que todos los Z</a:t>
            </a:r>
            <a:r>
              <a:rPr baseline="-25000" lang="es"/>
              <a:t>i</a:t>
            </a:r>
            <a:r>
              <a:rPr lang="es"/>
              <a:t> van a ser negativos (una variable "entra", pero ninguna "sale"), o bien cada uno de estos vale "infinito" (divido por 0). Nuevamente, no hay solución porque siempre podemos seguir creciendo.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Branch and Bounds</a:t>
            </a:r>
            <a:endParaRPr/>
          </a:p>
        </p:txBody>
      </p:sp>
      <p:sp>
        <p:nvSpPr>
          <p:cNvPr id="422" name="Google Shape;422;p5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 esencialmente backtracking, aplicando branching para ver diferentes alternativas, con bounds (restricciones) como podas. 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Pasos: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Buscamos solución relajada (no consideramos variables enteras)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Sobre la solución relajada, para variables enteras, vemos una variable y volvemos a resolver agregando una restricción: X &lt;= [a] , y otra vez con X &gt;= [a] + 1, y además vemos que valga eso. Ramificamos y resolvemos.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s"/>
              <a:t>Seguir aplicando 2 hasta que todas las variables que deban ser enteras, sean enteras. Vamos quedándonos con la mejor solución cada vez que volvemos.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Ejemplo</a:t>
            </a:r>
            <a:endParaRPr/>
          </a:p>
        </p:txBody>
      </p:sp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1171600"/>
            <a:ext cx="8520600" cy="20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Max z = 3x</a:t>
            </a:r>
            <a:r>
              <a:rPr baseline="-25000" lang="es"/>
              <a:t>1</a:t>
            </a:r>
            <a:r>
              <a:rPr lang="es"/>
              <a:t> + 4x</a:t>
            </a:r>
            <a:r>
              <a:rPr baseline="-25000" lang="es"/>
              <a:t>2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2x</a:t>
            </a:r>
            <a:r>
              <a:rPr baseline="-25000" lang="es"/>
              <a:t>1</a:t>
            </a:r>
            <a:r>
              <a:rPr lang="es"/>
              <a:t> + x</a:t>
            </a:r>
            <a:r>
              <a:rPr baseline="-25000" lang="es"/>
              <a:t>2</a:t>
            </a:r>
            <a:r>
              <a:rPr lang="es"/>
              <a:t> &lt;= 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s"/>
              <a:t>2x</a:t>
            </a:r>
            <a:r>
              <a:rPr baseline="-25000" lang="es"/>
              <a:t>1</a:t>
            </a:r>
            <a:r>
              <a:rPr lang="es"/>
              <a:t> + 3x</a:t>
            </a:r>
            <a:r>
              <a:rPr baseline="-25000" lang="es"/>
              <a:t>2</a:t>
            </a:r>
            <a:r>
              <a:rPr lang="es"/>
              <a:t> &lt;= 9 		→ solución relajada (simplex), x</a:t>
            </a:r>
            <a:r>
              <a:rPr baseline="-25000" lang="es"/>
              <a:t>1</a:t>
            </a:r>
            <a:r>
              <a:rPr lang="es"/>
              <a:t> = 9/4 ; x</a:t>
            </a:r>
            <a:r>
              <a:rPr baseline="-25000" lang="es"/>
              <a:t>2</a:t>
            </a:r>
            <a:r>
              <a:rPr lang="es"/>
              <a:t> = 3/2 (z = 12.75)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"/>
              <a:t>x</a:t>
            </a:r>
            <a:r>
              <a:rPr baseline="-25000" lang="es"/>
              <a:t>1</a:t>
            </a:r>
            <a:r>
              <a:rPr lang="es"/>
              <a:t>, x</a:t>
            </a:r>
            <a:r>
              <a:rPr baseline="-25000" lang="es"/>
              <a:t>2</a:t>
            </a:r>
            <a:r>
              <a:rPr lang="es"/>
              <a:t> &gt;= 0, enteras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Resolvemos ramificando…</a:t>
            </a:r>
            <a:endParaRPr/>
          </a:p>
        </p:txBody>
      </p:sp>
      <p:sp>
        <p:nvSpPr>
          <p:cNvPr id="434" name="Google Shape;434;p59"/>
          <p:cNvSpPr txBox="1"/>
          <p:nvPr/>
        </p:nvSpPr>
        <p:spPr>
          <a:xfrm>
            <a:off x="7535700" y="0"/>
            <a:ext cx="1608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Max z = 3x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+ 4x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6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+ 3x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9 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&gt;= 0, enteras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5" name="Google Shape;435;p59"/>
          <p:cNvSpPr/>
          <p:nvPr/>
        </p:nvSpPr>
        <p:spPr>
          <a:xfrm>
            <a:off x="3742050" y="1100950"/>
            <a:ext cx="16599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9/4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3/2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 = 12.75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6" name="Google Shape;436;p59"/>
          <p:cNvSpPr/>
          <p:nvPr/>
        </p:nvSpPr>
        <p:spPr>
          <a:xfrm>
            <a:off x="1769950" y="2265150"/>
            <a:ext cx="16599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5/3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 = 12.667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37" name="Google Shape;437;p59"/>
          <p:cNvCxnSpPr>
            <a:stCxn id="435" idx="1"/>
            <a:endCxn id="436" idx="0"/>
          </p:cNvCxnSpPr>
          <p:nvPr/>
        </p:nvCxnSpPr>
        <p:spPr>
          <a:xfrm flipH="1">
            <a:off x="2599950" y="1407550"/>
            <a:ext cx="1142100" cy="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8" name="Google Shape;438;p59"/>
          <p:cNvSpPr txBox="1"/>
          <p:nvPr/>
        </p:nvSpPr>
        <p:spPr>
          <a:xfrm>
            <a:off x="2211734" y="1354825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2?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9" name="Google Shape;439;p59"/>
          <p:cNvSpPr/>
          <p:nvPr/>
        </p:nvSpPr>
        <p:spPr>
          <a:xfrm>
            <a:off x="5453354" y="2265150"/>
            <a:ext cx="16599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3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 = 9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40" name="Google Shape;440;p59"/>
          <p:cNvCxnSpPr>
            <a:stCxn id="435" idx="3"/>
            <a:endCxn id="439" idx="0"/>
          </p:cNvCxnSpPr>
          <p:nvPr/>
        </p:nvCxnSpPr>
        <p:spPr>
          <a:xfrm>
            <a:off x="5401950" y="1407550"/>
            <a:ext cx="881400" cy="85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" name="Google Shape;441;p59"/>
          <p:cNvSpPr txBox="1"/>
          <p:nvPr/>
        </p:nvSpPr>
        <p:spPr>
          <a:xfrm>
            <a:off x="5949134" y="1354825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&gt;= 3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3?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2" name="Google Shape;442;p59"/>
          <p:cNvSpPr txBox="1"/>
          <p:nvPr/>
        </p:nvSpPr>
        <p:spPr>
          <a:xfrm>
            <a:off x="7319600" y="2202300"/>
            <a:ext cx="1617000" cy="738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entera 😉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3" name="Google Shape;443;p59"/>
          <p:cNvSpPr/>
          <p:nvPr/>
        </p:nvSpPr>
        <p:spPr>
          <a:xfrm>
            <a:off x="311700" y="3432475"/>
            <a:ext cx="16599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 = 10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4" name="Google Shape;444;p59"/>
          <p:cNvSpPr/>
          <p:nvPr/>
        </p:nvSpPr>
        <p:spPr>
          <a:xfrm>
            <a:off x="3201500" y="3432475"/>
            <a:ext cx="1659900" cy="61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3/2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 = 12.5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45" name="Google Shape;445;p59"/>
          <p:cNvCxnSpPr>
            <a:stCxn id="436" idx="1"/>
            <a:endCxn id="443" idx="0"/>
          </p:cNvCxnSpPr>
          <p:nvPr/>
        </p:nvCxnSpPr>
        <p:spPr>
          <a:xfrm flipH="1">
            <a:off x="1141750" y="2571750"/>
            <a:ext cx="628200" cy="86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59"/>
          <p:cNvCxnSpPr>
            <a:stCxn id="436" idx="3"/>
            <a:endCxn id="444" idx="0"/>
          </p:cNvCxnSpPr>
          <p:nvPr/>
        </p:nvCxnSpPr>
        <p:spPr>
          <a:xfrm>
            <a:off x="3429850" y="2571750"/>
            <a:ext cx="601500" cy="86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" name="Google Shape;447;p59"/>
          <p:cNvSpPr txBox="1"/>
          <p:nvPr/>
        </p:nvSpPr>
        <p:spPr>
          <a:xfrm>
            <a:off x="643909" y="2307150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1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1?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8" name="Google Shape;448;p59"/>
          <p:cNvSpPr txBox="1"/>
          <p:nvPr/>
        </p:nvSpPr>
        <p:spPr>
          <a:xfrm>
            <a:off x="3678709" y="2390750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&gt;= 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2?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9" name="Google Shape;449;p59"/>
          <p:cNvSpPr txBox="1"/>
          <p:nvPr/>
        </p:nvSpPr>
        <p:spPr>
          <a:xfrm>
            <a:off x="333150" y="4231100"/>
            <a:ext cx="1617000" cy="738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entera 😉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0" name="Google Shape;450;p59"/>
          <p:cNvSpPr txBox="1"/>
          <p:nvPr/>
        </p:nvSpPr>
        <p:spPr>
          <a:xfrm>
            <a:off x="4861400" y="3129650"/>
            <a:ext cx="409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¿Por qué no paramos? Porque la función objetivo sigue dando mejor a nuestro óptimo actual!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1" name="Google Shape;451;p59"/>
          <p:cNvSpPr/>
          <p:nvPr/>
        </p:nvSpPr>
        <p:spPr>
          <a:xfrm>
            <a:off x="2211725" y="4348500"/>
            <a:ext cx="1376700" cy="55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0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 = 1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 = 7/3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z = 12.333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2" name="Google Shape;452;p59"/>
          <p:cNvSpPr/>
          <p:nvPr/>
        </p:nvSpPr>
        <p:spPr>
          <a:xfrm>
            <a:off x="4861400" y="4323500"/>
            <a:ext cx="1376700" cy="55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000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 = 2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000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 = 2</a:t>
            </a:r>
            <a:endParaRPr sz="1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latin typeface="Proxima Nova"/>
                <a:ea typeface="Proxima Nova"/>
                <a:cs typeface="Proxima Nova"/>
                <a:sym typeface="Proxima Nova"/>
              </a:rPr>
              <a:t>z = </a:t>
            </a:r>
            <a:r>
              <a:rPr lang="es" sz="800">
                <a:solidFill>
                  <a:srgbClr val="FFFF00"/>
                </a:solidFill>
                <a:latin typeface="Proxima Nova"/>
                <a:ea typeface="Proxima Nova"/>
                <a:cs typeface="Proxima Nova"/>
                <a:sym typeface="Proxima Nova"/>
              </a:rPr>
              <a:t>sistema incompatible</a:t>
            </a:r>
            <a:endParaRPr sz="800">
              <a:solidFill>
                <a:srgbClr val="FFFF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53" name="Google Shape;453;p59"/>
          <p:cNvCxnSpPr>
            <a:stCxn id="444" idx="1"/>
            <a:endCxn id="451" idx="0"/>
          </p:cNvCxnSpPr>
          <p:nvPr/>
        </p:nvCxnSpPr>
        <p:spPr>
          <a:xfrm flipH="1">
            <a:off x="2900000" y="3739075"/>
            <a:ext cx="301500" cy="60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59"/>
          <p:cNvCxnSpPr>
            <a:stCxn id="444" idx="3"/>
            <a:endCxn id="452" idx="0"/>
          </p:cNvCxnSpPr>
          <p:nvPr/>
        </p:nvCxnSpPr>
        <p:spPr>
          <a:xfrm>
            <a:off x="4861400" y="3739075"/>
            <a:ext cx="688500" cy="58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5" name="Google Shape;455;p59"/>
          <p:cNvSpPr txBox="1"/>
          <p:nvPr/>
        </p:nvSpPr>
        <p:spPr>
          <a:xfrm>
            <a:off x="2287934" y="3640825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1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1?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56" name="Google Shape;456;p59"/>
          <p:cNvSpPr txBox="1"/>
          <p:nvPr/>
        </p:nvSpPr>
        <p:spPr>
          <a:xfrm>
            <a:off x="5404059" y="3564625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&gt;= 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2?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Entonces… ¿Hay que seguir? Si, mijo</a:t>
            </a:r>
            <a:endParaRPr/>
          </a:p>
        </p:txBody>
      </p:sp>
      <p:sp>
        <p:nvSpPr>
          <p:cNvPr id="462" name="Google Shape;462;p60"/>
          <p:cNvSpPr/>
          <p:nvPr/>
        </p:nvSpPr>
        <p:spPr>
          <a:xfrm>
            <a:off x="3407300" y="1131650"/>
            <a:ext cx="1486800" cy="66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7/3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 = 12.333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3" name="Google Shape;463;p60"/>
          <p:cNvSpPr txBox="1"/>
          <p:nvPr/>
        </p:nvSpPr>
        <p:spPr>
          <a:xfrm>
            <a:off x="7535700" y="0"/>
            <a:ext cx="16083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Max z = 3x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+ 4x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6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+ 3x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9 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&gt;= 0, enteras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&gt;= 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1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4" name="Google Shape;464;p60"/>
          <p:cNvSpPr/>
          <p:nvPr/>
        </p:nvSpPr>
        <p:spPr>
          <a:xfrm>
            <a:off x="2101625" y="2672100"/>
            <a:ext cx="1486800" cy="66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 = 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Proxima Nova"/>
                <a:ea typeface="Proxima Nova"/>
                <a:cs typeface="Proxima Nova"/>
                <a:sym typeface="Proxima Nova"/>
              </a:rPr>
              <a:t>z = 11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5" name="Google Shape;465;p60"/>
          <p:cNvSpPr/>
          <p:nvPr/>
        </p:nvSpPr>
        <p:spPr>
          <a:xfrm>
            <a:off x="4861400" y="2647100"/>
            <a:ext cx="1486800" cy="666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0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3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z = 12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6" name="Google Shape;466;p60"/>
          <p:cNvSpPr txBox="1"/>
          <p:nvPr/>
        </p:nvSpPr>
        <p:spPr>
          <a:xfrm>
            <a:off x="2287934" y="1495713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&lt;= 2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2?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7" name="Google Shape;467;p60"/>
          <p:cNvSpPr txBox="1"/>
          <p:nvPr/>
        </p:nvSpPr>
        <p:spPr>
          <a:xfrm>
            <a:off x="5339009" y="1532075"/>
            <a:ext cx="87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&gt;= 3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¿qué pasa si x</a:t>
            </a:r>
            <a:r>
              <a:rPr baseline="-25000"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lang="es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3?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8" name="Google Shape;468;p60"/>
          <p:cNvSpPr txBox="1"/>
          <p:nvPr/>
        </p:nvSpPr>
        <p:spPr>
          <a:xfrm>
            <a:off x="2101625" y="3560200"/>
            <a:ext cx="1617000" cy="738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entera 😉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9" name="Google Shape;469;p60"/>
          <p:cNvSpPr txBox="1"/>
          <p:nvPr/>
        </p:nvSpPr>
        <p:spPr>
          <a:xfrm>
            <a:off x="4796300" y="3560200"/>
            <a:ext cx="1617000" cy="738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Solución entera 😉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470" name="Google Shape;470;p60"/>
          <p:cNvCxnSpPr>
            <a:stCxn id="462" idx="1"/>
            <a:endCxn id="464" idx="0"/>
          </p:cNvCxnSpPr>
          <p:nvPr/>
        </p:nvCxnSpPr>
        <p:spPr>
          <a:xfrm flipH="1">
            <a:off x="2845100" y="1464650"/>
            <a:ext cx="562200" cy="12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1" name="Google Shape;471;p60"/>
          <p:cNvCxnSpPr>
            <a:stCxn id="462" idx="3"/>
            <a:endCxn id="465" idx="0"/>
          </p:cNvCxnSpPr>
          <p:nvPr/>
        </p:nvCxnSpPr>
        <p:spPr>
          <a:xfrm>
            <a:off x="4894100" y="1464650"/>
            <a:ext cx="710700" cy="118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2" name="Google Shape;472;p60"/>
          <p:cNvSpPr txBox="1"/>
          <p:nvPr/>
        </p:nvSpPr>
        <p:spPr>
          <a:xfrm>
            <a:off x="6557100" y="2610650"/>
            <a:ext cx="1617000" cy="738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Mejor solución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😎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Memes post parcial</a:t>
            </a:r>
            <a:endParaRPr/>
          </a:p>
        </p:txBody>
      </p:sp>
      <p:sp>
        <p:nvSpPr>
          <p:cNvPr id="478" name="Google Shape;478;p61"/>
          <p:cNvSpPr txBox="1"/>
          <p:nvPr/>
        </p:nvSpPr>
        <p:spPr>
          <a:xfrm>
            <a:off x="311700" y="1322625"/>
            <a:ext cx="58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 sección de memes se encuentra cerrada por tristeza.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2"/>
          <p:cNvSpPr txBox="1"/>
          <p:nvPr>
            <p:ph idx="1" type="body"/>
          </p:nvPr>
        </p:nvSpPr>
        <p:spPr>
          <a:xfrm>
            <a:off x="311700" y="1171600"/>
            <a:ext cx="49269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" sz="1400"/>
              <a:t>Aprobación por ejercicio: </a:t>
            </a:r>
            <a:endParaRPr sz="1400"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D&amp;C: </a:t>
            </a:r>
            <a:r>
              <a:rPr lang="es"/>
              <a:t>7</a:t>
            </a:r>
            <a:r>
              <a:rPr lang="es" sz="1400"/>
              <a:t>%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Greedy</a:t>
            </a:r>
            <a:r>
              <a:rPr lang="es"/>
              <a:t>: 17%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BT: 38%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 sz="1400"/>
              <a:t>PD: 8%</a:t>
            </a:r>
            <a:endParaRPr sz="1400"/>
          </a:p>
        </p:txBody>
      </p:sp>
      <p:sp>
        <p:nvSpPr>
          <p:cNvPr id="484" name="Google Shape;484;p6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Algunos numeritos del examen</a:t>
            </a:r>
            <a:endParaRPr/>
          </a:p>
        </p:txBody>
      </p:sp>
      <p:sp>
        <p:nvSpPr>
          <p:cNvPr id="485" name="Google Shape;485;p62"/>
          <p:cNvSpPr txBox="1"/>
          <p:nvPr/>
        </p:nvSpPr>
        <p:spPr>
          <a:xfrm>
            <a:off x="309584" y="2273511"/>
            <a:ext cx="6682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 nos centramos en quienes hicieron el ejercicio: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D&amp;C: 25%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Greedy: 19%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BT: 47%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PD: 30%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6" name="Google Shape;486;p62"/>
          <p:cNvSpPr txBox="1"/>
          <p:nvPr/>
        </p:nvSpPr>
        <p:spPr>
          <a:xfrm>
            <a:off x="304650" y="3387050"/>
            <a:ext cx="5798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Y el estado general: 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 0 ejercicios aprobados: 51%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 1: 36%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 2: 10%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 3: 2%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s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 4: 1%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87" name="Google Shape;48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600" y="3188200"/>
            <a:ext cx="3404625" cy="1741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62"/>
          <p:cNvCxnSpPr/>
          <p:nvPr/>
        </p:nvCxnSpPr>
        <p:spPr>
          <a:xfrm flipH="1" rot="10800000">
            <a:off x="2287775" y="4679450"/>
            <a:ext cx="2223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89" name="Google Shape;489;p62" title="anigif_sub-buzz-698-1710145259-2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600" y="2971458"/>
            <a:ext cx="2223900" cy="20591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0" name="Google Shape;490;p62"/>
          <p:cNvCxnSpPr/>
          <p:nvPr/>
        </p:nvCxnSpPr>
        <p:spPr>
          <a:xfrm flipH="1" rot="10800000">
            <a:off x="2287775" y="4450850"/>
            <a:ext cx="2223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1" name="Google Shape;491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1675" y="3112000"/>
            <a:ext cx="2884226" cy="1893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2" name="Google Shape;492;p62"/>
          <p:cNvCxnSpPr/>
          <p:nvPr/>
        </p:nvCxnSpPr>
        <p:spPr>
          <a:xfrm flipH="1" rot="10800000">
            <a:off x="2287775" y="4222250"/>
            <a:ext cx="2223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3" name="Google Shape;493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4602" y="3346626"/>
            <a:ext cx="1747000" cy="1659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4" name="Google Shape;494;p62"/>
          <p:cNvCxnSpPr/>
          <p:nvPr/>
        </p:nvCxnSpPr>
        <p:spPr>
          <a:xfrm flipH="1" rot="10800000">
            <a:off x="2287775" y="4018910"/>
            <a:ext cx="2223900" cy="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95" name="Google Shape;495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0913" y="3289360"/>
            <a:ext cx="2949948" cy="1659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6" name="Google Shape;496;p62"/>
          <p:cNvCxnSpPr/>
          <p:nvPr/>
        </p:nvCxnSpPr>
        <p:spPr>
          <a:xfrm flipH="1" rot="10800000">
            <a:off x="3862715" y="3797510"/>
            <a:ext cx="6588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