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Lst>
  <p:sldSz cy="5143500" cx="9144000"/>
  <p:notesSz cx="6858000" cy="9144000"/>
  <p:embeddedFontLst>
    <p:embeddedFont>
      <p:font typeface="Proxima Nova"/>
      <p:regular r:id="rId93"/>
      <p:bold r:id="rId94"/>
      <p:italic r:id="rId95"/>
      <p:boldItalic r:id="rId96"/>
    </p:embeddedFont>
    <p:embeddedFont>
      <p:font typeface="Old Standard TT"/>
      <p:regular r:id="rId97"/>
      <p:bold r:id="rId98"/>
      <p: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CE33B1-1C90-4913-8629-4357D7C973F6}">
  <a:tblStyle styleId="{92CE33B1-1C90-4913-8629-4357D7C973F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font" Target="fonts/ProximaNova-italic.fntdata"/><Relationship Id="rId94" Type="http://schemas.openxmlformats.org/officeDocument/2006/relationships/font" Target="fonts/ProximaNova-bold.fntdata"/><Relationship Id="rId97" Type="http://schemas.openxmlformats.org/officeDocument/2006/relationships/font" Target="fonts/OldStandardTT-regular.fntdata"/><Relationship Id="rId96" Type="http://schemas.openxmlformats.org/officeDocument/2006/relationships/font" Target="fonts/ProximaNova-boldItalic.fntdata"/><Relationship Id="rId11" Type="http://schemas.openxmlformats.org/officeDocument/2006/relationships/slide" Target="slides/slide3.xml"/><Relationship Id="rId99" Type="http://schemas.openxmlformats.org/officeDocument/2006/relationships/font" Target="fonts/OldStandardTT-italic.fntdata"/><Relationship Id="rId10" Type="http://schemas.openxmlformats.org/officeDocument/2006/relationships/slide" Target="slides/slide2.xml"/><Relationship Id="rId98" Type="http://schemas.openxmlformats.org/officeDocument/2006/relationships/font" Target="fonts/OldStandardTT-bold.fntdata"/><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font" Target="fonts/ProximaNova-regular.fntdata"/><Relationship Id="rId92" Type="http://schemas.openxmlformats.org/officeDocument/2006/relationships/slide" Target="slides/slide8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0875a66a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0875a66a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0875a66ac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0875a66a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0875a66ac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0875a66ac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0875a66ac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0875a66ac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0875a66ac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0875a66ac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0875a66ac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0875a66ac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3b7a2b6f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3b7a2b6f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0875a66ac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0875a66ac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0875a66ac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0875a66ac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0875a66ac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0875a66ac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0875a66ac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0875a66ac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0875a66ac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0875a66ac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0875a66ac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0875a66ac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0875a66ac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0875a66ac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e8845e6f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e8845e6f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e8845e6f7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e8845e6f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0875a66ac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0875a66ac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0875a66ac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0875a66acc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0875a66ac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0875a66ac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0875a66acc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0875a66acc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0875a66ac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0875a66ac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0875a66acc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0875a66acc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0875a66ac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0875a66ac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0875a66ac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0875a66ac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0875a66ac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0875a66ac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0875a66acc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0875a66acc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0875a66acc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0875a66acc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0875a66acc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0875a66acc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0875a66acc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0875a66acc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0875a66acc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0875a66acc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0875a66acc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0875a66acc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0875a66ac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0875a66ac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0875a66acc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0875a66acc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0875a66ac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0875a66ac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0875a66acc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0875a66acc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0875a66acc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0875a66acc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0875a66acc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0875a66ac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0875a66acc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0875a66acc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0875a66acc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0875a66acc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0875a66acc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0875a66acc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0875a66acc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0875a66acc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0875a66acc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0875a66acc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0875a66acc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0875a66acc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0875a66acc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0875a66acc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0875a66acc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0875a66acc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0875a66acc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0875a66acc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0875a66acc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0875a66acc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3b7a2b6fa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3b7a2b6fa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3b7a2b6fa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3b7a2b6fa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3b7a2b6fa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3b7a2b6fa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0875a66acc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0875a66acc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0875a66acc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20875a66acc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0875a66acc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0875a66acc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0875a66acc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0875a66acc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0875a66acc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0875a66acc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0875a66acc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0875a66acc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0875a66acc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0875a66acc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0875a66acc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0875a66acc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0875a66acc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0875a66acc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0875a66acc_0_1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0875a66acc_0_1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0875a66acc_0_1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20875a66acc_0_1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0875a66acc_0_1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0875a66acc_0_1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0875a66acc_0_1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20875a66acc_0_1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0875a66acc_0_1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0875a66acc_0_1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0875a66acc_0_1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20875a66acc_0_1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0875a66acc_0_1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20875a66acc_0_1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68cfea0fc4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68cfea0fc4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85be9385c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85be9385c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85be9385cd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85be9385cd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85be9385cd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85be9385cd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85be9385cd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385be9385cd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85be9385cd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85be9385cd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85be9385cd_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85be9385cd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85be9385cd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385be9385cd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df27292a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3df27292a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68cfea0fc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368cfea0fc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68cfea0fc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368cfea0fc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368cfea0fc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368cfea0fc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68cfea0fc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368cfea0fc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68cfea0fc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368cfea0fc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68cfea0fc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368cfea0fc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68cfea0fc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368cfea0fc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368cfea0fc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368cfea0fc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68cfea0fc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368cfea0fc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3" name="Google Shape;73;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0" name="Google Shape;80;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9" name="Google Shape;89;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90" name="Google Shape;90;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3" name="Google Shape;9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 name="Google Shape;96;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04" name="Shape 104"/>
        <p:cNvGrpSpPr/>
        <p:nvPr/>
      </p:nvGrpSpPr>
      <p:grpSpPr>
        <a:xfrm>
          <a:off x="0" y="0"/>
          <a:ext cx="0" cy="0"/>
          <a:chOff x="0" y="0"/>
          <a:chExt cx="0" cy="0"/>
        </a:xfrm>
      </p:grpSpPr>
      <p:sp>
        <p:nvSpPr>
          <p:cNvPr id="105" name="Google Shape;105;p26"/>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26"/>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07" name="Google Shape;107;p26"/>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08" name="Google Shape;108;p26"/>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09" name="Google Shape;10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0" name="Shape 110"/>
        <p:cNvGrpSpPr/>
        <p:nvPr/>
      </p:nvGrpSpPr>
      <p:grpSpPr>
        <a:xfrm>
          <a:off x="0" y="0"/>
          <a:ext cx="0" cy="0"/>
          <a:chOff x="0" y="0"/>
          <a:chExt cx="0" cy="0"/>
        </a:xfrm>
      </p:grpSpPr>
      <p:cxnSp>
        <p:nvCxnSpPr>
          <p:cNvPr id="111" name="Google Shape;111;p27"/>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12" name="Google Shape;112;p27"/>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13" name="Google Shape;113;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4" name="Shape 114"/>
        <p:cNvGrpSpPr/>
        <p:nvPr/>
      </p:nvGrpSpPr>
      <p:grpSpPr>
        <a:xfrm>
          <a:off x="0" y="0"/>
          <a:ext cx="0" cy="0"/>
          <a:chOff x="0" y="0"/>
          <a:chExt cx="0" cy="0"/>
        </a:xfrm>
      </p:grpSpPr>
      <p:sp>
        <p:nvSpPr>
          <p:cNvPr id="115" name="Google Shape;115;p2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 name="Google Shape;117;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118" name="Google Shape;118;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9" name="Shape 119"/>
        <p:cNvGrpSpPr/>
        <p:nvPr/>
      </p:nvGrpSpPr>
      <p:grpSpPr>
        <a:xfrm>
          <a:off x="0" y="0"/>
          <a:ext cx="0" cy="0"/>
          <a:chOff x="0" y="0"/>
          <a:chExt cx="0" cy="0"/>
        </a:xfrm>
      </p:grpSpPr>
      <p:sp>
        <p:nvSpPr>
          <p:cNvPr id="120" name="Google Shape;120;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1" name="Google Shape;121;p29"/>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122" name="Google Shape;122;p29"/>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123" name="Google Shape;123;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6" name="Google Shape;126;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7" name="Shape 127"/>
        <p:cNvGrpSpPr/>
        <p:nvPr/>
      </p:nvGrpSpPr>
      <p:grpSpPr>
        <a:xfrm>
          <a:off x="0" y="0"/>
          <a:ext cx="0" cy="0"/>
          <a:chOff x="0" y="0"/>
          <a:chExt cx="0" cy="0"/>
        </a:xfrm>
      </p:grpSpPr>
      <p:sp>
        <p:nvSpPr>
          <p:cNvPr id="128" name="Google Shape;128;p3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9" name="Google Shape;129;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30" name="Google Shape;130;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31" name="Shape 131"/>
        <p:cNvGrpSpPr/>
        <p:nvPr/>
      </p:nvGrpSpPr>
      <p:grpSpPr>
        <a:xfrm>
          <a:off x="0" y="0"/>
          <a:ext cx="0" cy="0"/>
          <a:chOff x="0" y="0"/>
          <a:chExt cx="0" cy="0"/>
        </a:xfrm>
      </p:grpSpPr>
      <p:sp>
        <p:nvSpPr>
          <p:cNvPr id="132" name="Google Shape;132;p32"/>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133" name="Google Shape;133;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4" name="Shape 134"/>
        <p:cNvGrpSpPr/>
        <p:nvPr/>
      </p:nvGrpSpPr>
      <p:grpSpPr>
        <a:xfrm>
          <a:off x="0" y="0"/>
          <a:ext cx="0" cy="0"/>
          <a:chOff x="0" y="0"/>
          <a:chExt cx="0" cy="0"/>
        </a:xfrm>
      </p:grpSpPr>
      <p:sp>
        <p:nvSpPr>
          <p:cNvPr id="135" name="Google Shape;135;p33"/>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 name="Google Shape;136;p33"/>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137" name="Google Shape;137;p33"/>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138" name="Google Shape;138;p33"/>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9" name="Google Shape;139;p33"/>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140" name="Google Shape;140;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1" name="Shape 141"/>
        <p:cNvGrpSpPr/>
        <p:nvPr/>
      </p:nvGrpSpPr>
      <p:grpSpPr>
        <a:xfrm>
          <a:off x="0" y="0"/>
          <a:ext cx="0" cy="0"/>
          <a:chOff x="0" y="0"/>
          <a:chExt cx="0" cy="0"/>
        </a:xfrm>
      </p:grpSpPr>
      <p:sp>
        <p:nvSpPr>
          <p:cNvPr id="142" name="Google Shape;142;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143" name="Google Shape;14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4" name="Shape 144"/>
        <p:cNvGrpSpPr/>
        <p:nvPr/>
      </p:nvGrpSpPr>
      <p:grpSpPr>
        <a:xfrm>
          <a:off x="0" y="0"/>
          <a:ext cx="0" cy="0"/>
          <a:chOff x="0" y="0"/>
          <a:chExt cx="0" cy="0"/>
        </a:xfrm>
      </p:grpSpPr>
      <p:sp>
        <p:nvSpPr>
          <p:cNvPr id="145" name="Google Shape;145;p35"/>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146" name="Google Shape;146;p35"/>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147" name="Google Shape;147;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8" name="Shape 148"/>
        <p:cNvGrpSpPr/>
        <p:nvPr/>
      </p:nvGrpSpPr>
      <p:grpSpPr>
        <a:xfrm>
          <a:off x="0" y="0"/>
          <a:ext cx="0" cy="0"/>
          <a:chOff x="0" y="0"/>
          <a:chExt cx="0" cy="0"/>
        </a:xfrm>
      </p:grpSpPr>
      <p:sp>
        <p:nvSpPr>
          <p:cNvPr id="149" name="Google Shape;149;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Char char="●"/>
              <a:defRPr sz="1800">
                <a:solidFill>
                  <a:schemeClr val="lt2"/>
                </a:solidFill>
              </a:defRPr>
            </a:lvl1pPr>
            <a:lvl2pPr indent="-317500" lvl="1" marL="914400" rtl="0">
              <a:lnSpc>
                <a:spcPct val="115000"/>
              </a:lnSpc>
              <a:spcBef>
                <a:spcPts val="1600"/>
              </a:spcBef>
              <a:spcAft>
                <a:spcPts val="0"/>
              </a:spcAft>
              <a:buClr>
                <a:schemeClr val="lt2"/>
              </a:buClr>
              <a:buSzPts val="1400"/>
              <a:buChar char="○"/>
              <a:defRPr>
                <a:solidFill>
                  <a:schemeClr val="lt2"/>
                </a:solidFill>
              </a:defRPr>
            </a:lvl2pPr>
            <a:lvl3pPr indent="-317500" lvl="2" marL="1371600" rtl="0">
              <a:lnSpc>
                <a:spcPct val="115000"/>
              </a:lnSpc>
              <a:spcBef>
                <a:spcPts val="1600"/>
              </a:spcBef>
              <a:spcAft>
                <a:spcPts val="0"/>
              </a:spcAft>
              <a:buClr>
                <a:schemeClr val="lt2"/>
              </a:buClr>
              <a:buSzPts val="1400"/>
              <a:buChar char="■"/>
              <a:defRPr>
                <a:solidFill>
                  <a:schemeClr val="lt2"/>
                </a:solidFill>
              </a:defRPr>
            </a:lvl3pPr>
            <a:lvl4pPr indent="-317500" lvl="3" marL="1828800" rtl="0">
              <a:lnSpc>
                <a:spcPct val="115000"/>
              </a:lnSpc>
              <a:spcBef>
                <a:spcPts val="1600"/>
              </a:spcBef>
              <a:spcAft>
                <a:spcPts val="0"/>
              </a:spcAft>
              <a:buClr>
                <a:schemeClr val="lt2"/>
              </a:buClr>
              <a:buSzPts val="1400"/>
              <a:buChar char="●"/>
              <a:defRPr>
                <a:solidFill>
                  <a:schemeClr val="lt2"/>
                </a:solidFill>
              </a:defRPr>
            </a:lvl4pPr>
            <a:lvl5pPr indent="-317500" lvl="4" marL="2286000" rtl="0">
              <a:lnSpc>
                <a:spcPct val="115000"/>
              </a:lnSpc>
              <a:spcBef>
                <a:spcPts val="1600"/>
              </a:spcBef>
              <a:spcAft>
                <a:spcPts val="0"/>
              </a:spcAft>
              <a:buClr>
                <a:schemeClr val="lt2"/>
              </a:buClr>
              <a:buSzPts val="1400"/>
              <a:buChar char="○"/>
              <a:defRPr>
                <a:solidFill>
                  <a:schemeClr val="lt2"/>
                </a:solidFill>
              </a:defRPr>
            </a:lvl5pPr>
            <a:lvl6pPr indent="-317500" lvl="5" marL="2743200" rtl="0">
              <a:lnSpc>
                <a:spcPct val="115000"/>
              </a:lnSpc>
              <a:spcBef>
                <a:spcPts val="1600"/>
              </a:spcBef>
              <a:spcAft>
                <a:spcPts val="0"/>
              </a:spcAft>
              <a:buClr>
                <a:schemeClr val="lt2"/>
              </a:buClr>
              <a:buSzPts val="1400"/>
              <a:buChar char="■"/>
              <a:defRPr>
                <a:solidFill>
                  <a:schemeClr val="lt2"/>
                </a:solidFill>
              </a:defRPr>
            </a:lvl6pPr>
            <a:lvl7pPr indent="-317500" lvl="6" marL="3200400" rtl="0">
              <a:lnSpc>
                <a:spcPct val="115000"/>
              </a:lnSpc>
              <a:spcBef>
                <a:spcPts val="1600"/>
              </a:spcBef>
              <a:spcAft>
                <a:spcPts val="0"/>
              </a:spcAft>
              <a:buClr>
                <a:schemeClr val="lt2"/>
              </a:buClr>
              <a:buSzPts val="1400"/>
              <a:buChar char="●"/>
              <a:defRPr>
                <a:solidFill>
                  <a:schemeClr val="lt2"/>
                </a:solidFill>
              </a:defRPr>
            </a:lvl7pPr>
            <a:lvl8pPr indent="-317500" lvl="7" marL="3657600" rtl="0">
              <a:lnSpc>
                <a:spcPct val="115000"/>
              </a:lnSpc>
              <a:spcBef>
                <a:spcPts val="1600"/>
              </a:spcBef>
              <a:spcAft>
                <a:spcPts val="0"/>
              </a:spcAft>
              <a:buClr>
                <a:schemeClr val="lt2"/>
              </a:buClr>
              <a:buSzPts val="1400"/>
              <a:buChar char="○"/>
              <a:defRPr>
                <a:solidFill>
                  <a:schemeClr val="lt2"/>
                </a:solidFill>
              </a:defRPr>
            </a:lvl8pPr>
            <a:lvl9pPr indent="-317500" lvl="8" marL="4114800" rtl="0">
              <a:lnSpc>
                <a:spcPct val="115000"/>
              </a:lnSpc>
              <a:spcBef>
                <a:spcPts val="1600"/>
              </a:spcBef>
              <a:spcAft>
                <a:spcPts val="1600"/>
              </a:spcAft>
              <a:buClr>
                <a:schemeClr val="lt2"/>
              </a:buClr>
              <a:buSzPts val="1400"/>
              <a:buChar char="■"/>
              <a:defRPr>
                <a:solidFill>
                  <a:schemeClr val="lt2"/>
                </a:solidFill>
              </a:defRPr>
            </a:lvl9pPr>
          </a:lstStyle>
          <a:p/>
        </p:txBody>
      </p:sp>
      <p:sp>
        <p:nvSpPr>
          <p:cNvPr id="58" name="Google Shape;5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defRPr>
            </a:lvl1pPr>
            <a:lvl2pPr lvl="1" rtl="0" algn="r">
              <a:buNone/>
              <a:defRPr sz="1000">
                <a:solidFill>
                  <a:schemeClr val="lt2"/>
                </a:solidFill>
              </a:defRPr>
            </a:lvl2pPr>
            <a:lvl3pPr lvl="2" rtl="0" algn="r">
              <a:buNone/>
              <a:defRPr sz="1000">
                <a:solidFill>
                  <a:schemeClr val="lt2"/>
                </a:solidFill>
              </a:defRPr>
            </a:lvl3pPr>
            <a:lvl4pPr lvl="3" rtl="0" algn="r">
              <a:buNone/>
              <a:defRPr sz="1000">
                <a:solidFill>
                  <a:schemeClr val="lt2"/>
                </a:solidFill>
              </a:defRPr>
            </a:lvl4pPr>
            <a:lvl5pPr lvl="4" rtl="0" algn="r">
              <a:buNone/>
              <a:defRPr sz="1000">
                <a:solidFill>
                  <a:schemeClr val="lt2"/>
                </a:solidFill>
              </a:defRPr>
            </a:lvl5pPr>
            <a:lvl6pPr lvl="5" rtl="0" algn="r">
              <a:buNone/>
              <a:defRPr sz="1000">
                <a:solidFill>
                  <a:schemeClr val="lt2"/>
                </a:solidFill>
              </a:defRPr>
            </a:lvl6pPr>
            <a:lvl7pPr lvl="6" rtl="0" algn="r">
              <a:buNone/>
              <a:defRPr sz="1000">
                <a:solidFill>
                  <a:schemeClr val="lt2"/>
                </a:solidFill>
              </a:defRPr>
            </a:lvl7pPr>
            <a:lvl8pPr lvl="7" rtl="0" algn="r">
              <a:buNone/>
              <a:defRPr sz="1000">
                <a:solidFill>
                  <a:schemeClr val="lt2"/>
                </a:solidFill>
              </a:defRPr>
            </a:lvl8pPr>
            <a:lvl9pPr lvl="8" rtl="0" algn="r">
              <a:buNone/>
              <a:defRPr sz="1000">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100" name="Shape 100"/>
        <p:cNvGrpSpPr/>
        <p:nvPr/>
      </p:nvGrpSpPr>
      <p:grpSpPr>
        <a:xfrm>
          <a:off x="0" y="0"/>
          <a:ext cx="0" cy="0"/>
          <a:chOff x="0" y="0"/>
          <a:chExt cx="0" cy="0"/>
        </a:xfrm>
      </p:grpSpPr>
      <p:sp>
        <p:nvSpPr>
          <p:cNvPr id="101" name="Google Shape;101;p25"/>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102" name="Google Shape;102;p25"/>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103" name="Google Shape;10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3" name="Shape 153"/>
        <p:cNvGrpSpPr/>
        <p:nvPr/>
      </p:nvGrpSpPr>
      <p:grpSpPr>
        <a:xfrm>
          <a:off x="0" y="0"/>
          <a:ext cx="0" cy="0"/>
          <a:chOff x="0" y="0"/>
          <a:chExt cx="0" cy="0"/>
        </a:xfrm>
      </p:grpSpPr>
      <p:sp>
        <p:nvSpPr>
          <p:cNvPr id="154" name="Google Shape;154;p37"/>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Redes de Flujo y Algoritmo de Ford-Fulkerson</a:t>
            </a:r>
            <a:endParaRPr/>
          </a:p>
        </p:txBody>
      </p:sp>
      <p:pic>
        <p:nvPicPr>
          <p:cNvPr id="155" name="Google Shape;155;p37"/>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
        <p:nvSpPr>
          <p:cNvPr id="156" name="Google Shape;156;p37"/>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38"/>
          <p:cNvPicPr preferRelativeResize="0"/>
          <p:nvPr/>
        </p:nvPicPr>
        <p:blipFill>
          <a:blip r:embed="rId3">
            <a:alphaModFix/>
          </a:blip>
          <a:stretch>
            <a:fillRect/>
          </a:stretch>
        </p:blipFill>
        <p:spPr>
          <a:xfrm>
            <a:off x="1202475" y="2036275"/>
            <a:ext cx="1177450" cy="1152925"/>
          </a:xfrm>
          <a:prstGeom prst="rect">
            <a:avLst/>
          </a:prstGeom>
          <a:noFill/>
          <a:ln>
            <a:noFill/>
          </a:ln>
        </p:spPr>
      </p:pic>
      <p:sp>
        <p:nvSpPr>
          <p:cNvPr id="162" name="Google Shape;162;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Lo que ustedes piensan al leer flujo...</a:t>
            </a:r>
            <a:endParaRPr/>
          </a:p>
        </p:txBody>
      </p:sp>
      <p:pic>
        <p:nvPicPr>
          <p:cNvPr id="163" name="Google Shape;163;p38"/>
          <p:cNvPicPr preferRelativeResize="0"/>
          <p:nvPr/>
        </p:nvPicPr>
        <p:blipFill rotWithShape="1">
          <a:blip r:embed="rId4">
            <a:alphaModFix amt="58999"/>
          </a:blip>
          <a:srcRect b="6086" l="0" r="0" t="0"/>
          <a:stretch/>
        </p:blipFill>
        <p:spPr>
          <a:xfrm>
            <a:off x="152400" y="1218450"/>
            <a:ext cx="3810000" cy="3157825"/>
          </a:xfrm>
          <a:prstGeom prst="rect">
            <a:avLst/>
          </a:prstGeom>
          <a:noFill/>
          <a:ln>
            <a:noFill/>
          </a:ln>
        </p:spPr>
      </p:pic>
      <p:pic>
        <p:nvPicPr>
          <p:cNvPr id="164" name="Google Shape;164;p38"/>
          <p:cNvPicPr preferRelativeResize="0"/>
          <p:nvPr/>
        </p:nvPicPr>
        <p:blipFill rotWithShape="1">
          <a:blip r:embed="rId4">
            <a:alphaModFix/>
          </a:blip>
          <a:srcRect b="6086" l="0" r="0" t="0"/>
          <a:stretch/>
        </p:blipFill>
        <p:spPr>
          <a:xfrm>
            <a:off x="152400" y="1218450"/>
            <a:ext cx="3810000" cy="3157825"/>
          </a:xfrm>
          <a:prstGeom prst="rect">
            <a:avLst/>
          </a:prstGeom>
          <a:noFill/>
          <a:ln>
            <a:noFill/>
          </a:ln>
        </p:spPr>
      </p:pic>
      <p:pic>
        <p:nvPicPr>
          <p:cNvPr id="165" name="Google Shape;165;p38"/>
          <p:cNvPicPr preferRelativeResize="0"/>
          <p:nvPr/>
        </p:nvPicPr>
        <p:blipFill>
          <a:blip r:embed="rId5">
            <a:alphaModFix/>
          </a:blip>
          <a:stretch>
            <a:fillRect/>
          </a:stretch>
        </p:blipFill>
        <p:spPr>
          <a:xfrm>
            <a:off x="4114800" y="1210625"/>
            <a:ext cx="4876800" cy="25521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Redes de Flujo</a:t>
            </a:r>
            <a:endParaRPr/>
          </a:p>
        </p:txBody>
      </p:sp>
      <p:sp>
        <p:nvSpPr>
          <p:cNvPr id="171" name="Google Shape;171;p3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800"/>
              <a:t>Podemos modelar con grafos flujos de materiales (ej cloacas, información en redes). </a:t>
            </a:r>
            <a:endParaRPr sz="1800"/>
          </a:p>
          <a:p>
            <a:pPr indent="-342900" lvl="0" marL="457200" rtl="0" algn="l">
              <a:spcBef>
                <a:spcPts val="0"/>
              </a:spcBef>
              <a:spcAft>
                <a:spcPts val="0"/>
              </a:spcAft>
              <a:buSzPts val="1800"/>
              <a:buChar char="-"/>
            </a:pPr>
            <a:r>
              <a:rPr lang="es" sz="1800"/>
              <a:t>El grafo es dirigido.</a:t>
            </a:r>
            <a:endParaRPr sz="1800"/>
          </a:p>
          <a:p>
            <a:pPr indent="-342900" lvl="0" marL="457200" rtl="0" algn="l">
              <a:spcBef>
                <a:spcPts val="0"/>
              </a:spcBef>
              <a:spcAft>
                <a:spcPts val="0"/>
              </a:spcAft>
              <a:buSzPts val="1800"/>
              <a:buChar char="-"/>
            </a:pPr>
            <a:r>
              <a:rPr lang="es" sz="1800"/>
              <a:t>Tenemos una (única) fuente, y un (único) sumidero ( → una única componente débilmente conexa). Fuente: vértice con grado de entrada 0. Sumidero: vértice de grado de salida 0.</a:t>
            </a:r>
            <a:endParaRPr sz="1800"/>
          </a:p>
          <a:p>
            <a:pPr indent="-342900" lvl="0" marL="457200" rtl="0" algn="l">
              <a:spcBef>
                <a:spcPts val="0"/>
              </a:spcBef>
              <a:spcAft>
                <a:spcPts val="0"/>
              </a:spcAft>
              <a:buSzPts val="1800"/>
              <a:buChar char="-"/>
            </a:pPr>
            <a:r>
              <a:rPr lang="es" sz="1800"/>
              <a:t>Cada vértice intermedio simplemente traslada lo que le pasan. No produce ni consume. → Conservación de la materia, energía, carga eléctrica, etc...</a:t>
            </a:r>
            <a:endParaRPr sz="1800"/>
          </a:p>
          <a:p>
            <a:pPr indent="-342900" lvl="0" marL="457200" rtl="0" algn="l">
              <a:spcBef>
                <a:spcPts val="0"/>
              </a:spcBef>
              <a:spcAft>
                <a:spcPts val="0"/>
              </a:spcAft>
              <a:buSzPts val="1800"/>
              <a:buChar char="-"/>
            </a:pPr>
            <a:r>
              <a:rPr lang="es" sz="1800"/>
              <a:t>Cada arista tiene un peso que refleja la capacidad de transporte por esa vía.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Red de Flujo - Ejemplo</a:t>
            </a:r>
            <a:endParaRPr/>
          </a:p>
          <a:p>
            <a:pPr indent="0" lvl="0" marL="0" rtl="0" algn="l">
              <a:spcBef>
                <a:spcPts val="0"/>
              </a:spcBef>
              <a:spcAft>
                <a:spcPts val="0"/>
              </a:spcAft>
              <a:buNone/>
            </a:pPr>
            <a:r>
              <a:t/>
            </a:r>
            <a:endParaRPr/>
          </a:p>
        </p:txBody>
      </p:sp>
      <p:pic>
        <p:nvPicPr>
          <p:cNvPr id="177" name="Google Shape;177;p40"/>
          <p:cNvPicPr preferRelativeResize="0"/>
          <p:nvPr/>
        </p:nvPicPr>
        <p:blipFill>
          <a:blip r:embed="rId3">
            <a:alphaModFix/>
          </a:blip>
          <a:stretch>
            <a:fillRect/>
          </a:stretch>
        </p:blipFill>
        <p:spPr>
          <a:xfrm>
            <a:off x="1082400" y="1210625"/>
            <a:ext cx="6857186" cy="3780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Objetivo</a:t>
            </a:r>
            <a:endParaRPr/>
          </a:p>
        </p:txBody>
      </p:sp>
      <p:sp>
        <p:nvSpPr>
          <p:cNvPr id="183" name="Google Shape;183;p4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Obtener la máxima cantidad de flujo que puede trasladarse de la fuente al sumidero. </a:t>
            </a:r>
            <a:endParaRPr sz="1800"/>
          </a:p>
          <a:p>
            <a:pPr indent="0" lvl="0" marL="0" rtl="0" algn="l">
              <a:spcBef>
                <a:spcPts val="1600"/>
              </a:spcBef>
              <a:spcAft>
                <a:spcPts val="1600"/>
              </a:spcAft>
              <a:buNone/>
            </a:pPr>
            <a:r>
              <a:rPr lang="es" sz="1800"/>
              <a:t>No podemos utilizar más capacidad por ninguna de las aristas.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Red de Flujo - Ejemplo II</a:t>
            </a:r>
            <a:endParaRPr/>
          </a:p>
        </p:txBody>
      </p:sp>
      <p:pic>
        <p:nvPicPr>
          <p:cNvPr id="189" name="Google Shape;189;p42"/>
          <p:cNvPicPr preferRelativeResize="0"/>
          <p:nvPr/>
        </p:nvPicPr>
        <p:blipFill>
          <a:blip r:embed="rId3">
            <a:alphaModFix/>
          </a:blip>
          <a:stretch>
            <a:fillRect/>
          </a:stretch>
        </p:blipFill>
        <p:spPr>
          <a:xfrm>
            <a:off x="2714650" y="1449900"/>
            <a:ext cx="4113450" cy="2243700"/>
          </a:xfrm>
          <a:prstGeom prst="rect">
            <a:avLst/>
          </a:prstGeom>
          <a:noFill/>
          <a:ln>
            <a:noFill/>
          </a:ln>
        </p:spPr>
      </p:pic>
      <p:pic>
        <p:nvPicPr>
          <p:cNvPr id="190" name="Google Shape;190;p42"/>
          <p:cNvPicPr preferRelativeResize="0"/>
          <p:nvPr/>
        </p:nvPicPr>
        <p:blipFill>
          <a:blip r:embed="rId4">
            <a:alphaModFix/>
          </a:blip>
          <a:stretch>
            <a:fillRect/>
          </a:stretch>
        </p:blipFill>
        <p:spPr>
          <a:xfrm>
            <a:off x="2452688" y="1362075"/>
            <a:ext cx="4543425" cy="2724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Red de Flujo - Ejemplo II</a:t>
            </a:r>
            <a:endParaRPr/>
          </a:p>
        </p:txBody>
      </p:sp>
      <p:pic>
        <p:nvPicPr>
          <p:cNvPr id="196" name="Google Shape;196;p43"/>
          <p:cNvPicPr preferRelativeResize="0"/>
          <p:nvPr/>
        </p:nvPicPr>
        <p:blipFill>
          <a:blip r:embed="rId3">
            <a:alphaModFix/>
          </a:blip>
          <a:stretch>
            <a:fillRect/>
          </a:stretch>
        </p:blipFill>
        <p:spPr>
          <a:xfrm>
            <a:off x="2714650" y="1449900"/>
            <a:ext cx="4113450" cy="2243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Restricciones</a:t>
            </a:r>
            <a:endParaRPr/>
          </a:p>
        </p:txBody>
      </p:sp>
      <p:sp>
        <p:nvSpPr>
          <p:cNvPr id="202" name="Google Shape;202;p4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800"/>
              <a:t>No se aceptan bucles</a:t>
            </a:r>
            <a:endParaRPr sz="1800"/>
          </a:p>
          <a:p>
            <a:pPr indent="-342900" lvl="0" marL="457200" rtl="0" algn="l">
              <a:spcBef>
                <a:spcPts val="0"/>
              </a:spcBef>
              <a:spcAft>
                <a:spcPts val="0"/>
              </a:spcAft>
              <a:buSzPts val="1800"/>
              <a:buChar char="-"/>
            </a:pPr>
            <a:r>
              <a:rPr lang="es" sz="1800"/>
              <a:t>No pueden haber ciclos de dos vértices (aristas antiparalelas)</a:t>
            </a:r>
            <a:endParaRPr sz="1800"/>
          </a:p>
          <a:p>
            <a:pPr indent="-342900" lvl="0" marL="457200" rtl="0" algn="l">
              <a:spcBef>
                <a:spcPts val="0"/>
              </a:spcBef>
              <a:spcAft>
                <a:spcPts val="0"/>
              </a:spcAft>
              <a:buSzPts val="1800"/>
              <a:buChar char="-"/>
            </a:pPr>
            <a:r>
              <a:rPr lang="es" sz="1800"/>
              <a:t>Solo hay una fuente</a:t>
            </a:r>
            <a:endParaRPr sz="1800"/>
          </a:p>
          <a:p>
            <a:pPr indent="-342900" lvl="0" marL="457200" rtl="0" algn="l">
              <a:spcBef>
                <a:spcPts val="0"/>
              </a:spcBef>
              <a:spcAft>
                <a:spcPts val="0"/>
              </a:spcAft>
              <a:buSzPts val="1800"/>
              <a:buChar char="-"/>
            </a:pPr>
            <a:r>
              <a:rPr lang="es" sz="1800"/>
              <a:t>Solo hay un sumidero</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¿Qué pasa si no se respeta alguna?</a:t>
            </a:r>
            <a:endParaRPr/>
          </a:p>
          <a:p>
            <a:pPr indent="0" lvl="0" marL="0" rtl="0" algn="l">
              <a:spcBef>
                <a:spcPts val="0"/>
              </a:spcBef>
              <a:spcAft>
                <a:spcPts val="0"/>
              </a:spcAft>
              <a:buNone/>
            </a:pPr>
            <a:r>
              <a:t/>
            </a:r>
            <a:endParaRPr/>
          </a:p>
        </p:txBody>
      </p:sp>
      <p:sp>
        <p:nvSpPr>
          <p:cNvPr id="208" name="Google Shape;208;p4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800"/>
              <a:t>No se aceptan bucles</a:t>
            </a:r>
            <a:endParaRPr sz="1800"/>
          </a:p>
          <a:p>
            <a:pPr indent="-342900" lvl="0" marL="457200" rtl="0" algn="l">
              <a:spcBef>
                <a:spcPts val="0"/>
              </a:spcBef>
              <a:spcAft>
                <a:spcPts val="0"/>
              </a:spcAft>
              <a:buSzPts val="1800"/>
              <a:buChar char="-"/>
            </a:pPr>
            <a:r>
              <a:rPr lang="es" sz="1800"/>
              <a:t>No pueden haber ciclos de dos vértices (aristas antiparalelas)</a:t>
            </a:r>
            <a:endParaRPr sz="1800"/>
          </a:p>
          <a:p>
            <a:pPr indent="-342900" lvl="0" marL="457200" rtl="0" algn="l">
              <a:spcBef>
                <a:spcPts val="0"/>
              </a:spcBef>
              <a:spcAft>
                <a:spcPts val="0"/>
              </a:spcAft>
              <a:buSzPts val="1800"/>
              <a:buChar char="-"/>
            </a:pPr>
            <a:r>
              <a:rPr lang="es" sz="1800"/>
              <a:t>Solo hay una fuente</a:t>
            </a:r>
            <a:endParaRPr sz="1800"/>
          </a:p>
          <a:p>
            <a:pPr indent="-342900" lvl="0" marL="457200" rtl="0" algn="l">
              <a:spcBef>
                <a:spcPts val="0"/>
              </a:spcBef>
              <a:spcAft>
                <a:spcPts val="0"/>
              </a:spcAft>
              <a:buSzPts val="1800"/>
              <a:buChar char="-"/>
            </a:pPr>
            <a:r>
              <a:rPr lang="es" sz="1800"/>
              <a:t>Solo hay un sumidero</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No se aceptan Bucles</a:t>
            </a:r>
            <a:endParaRPr/>
          </a:p>
        </p:txBody>
      </p:sp>
      <p:sp>
        <p:nvSpPr>
          <p:cNvPr id="214" name="Google Shape;214;p4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800"/>
              <a:t>Los sacamos (total no hace nada en la red)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Eliminar Aristas Antiparalelas</a:t>
            </a:r>
            <a:endParaRPr/>
          </a:p>
        </p:txBody>
      </p:sp>
      <p:sp>
        <p:nvSpPr>
          <p:cNvPr id="220" name="Google Shape;220;p47"/>
          <p:cNvSpPr/>
          <p:nvPr/>
        </p:nvSpPr>
        <p:spPr>
          <a:xfrm>
            <a:off x="1646850" y="18419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B</a:t>
            </a:r>
            <a:endParaRPr/>
          </a:p>
        </p:txBody>
      </p:sp>
      <p:sp>
        <p:nvSpPr>
          <p:cNvPr id="221" name="Google Shape;221;p47"/>
          <p:cNvSpPr/>
          <p:nvPr/>
        </p:nvSpPr>
        <p:spPr>
          <a:xfrm>
            <a:off x="1646850" y="29849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A</a:t>
            </a:r>
            <a:endParaRPr/>
          </a:p>
        </p:txBody>
      </p:sp>
      <p:cxnSp>
        <p:nvCxnSpPr>
          <p:cNvPr id="222" name="Google Shape;222;p47"/>
          <p:cNvCxnSpPr>
            <a:stCxn id="221" idx="2"/>
            <a:endCxn id="220" idx="2"/>
          </p:cNvCxnSpPr>
          <p:nvPr/>
        </p:nvCxnSpPr>
        <p:spPr>
          <a:xfrm flipH="1" rot="10800000">
            <a:off x="1646850" y="2111225"/>
            <a:ext cx="600" cy="1143000"/>
          </a:xfrm>
          <a:prstGeom prst="curvedConnector3">
            <a:avLst>
              <a:gd fmla="val -39687500" name="adj1"/>
            </a:avLst>
          </a:prstGeom>
          <a:noFill/>
          <a:ln cap="flat" cmpd="sng" w="9525">
            <a:solidFill>
              <a:schemeClr val="dk2"/>
            </a:solidFill>
            <a:prstDash val="solid"/>
            <a:round/>
            <a:headEnd len="med" w="med" type="none"/>
            <a:tailEnd len="med" w="med" type="stealth"/>
          </a:ln>
        </p:spPr>
      </p:cxnSp>
      <p:cxnSp>
        <p:nvCxnSpPr>
          <p:cNvPr id="223" name="Google Shape;223;p47"/>
          <p:cNvCxnSpPr>
            <a:stCxn id="220" idx="6"/>
            <a:endCxn id="221" idx="6"/>
          </p:cNvCxnSpPr>
          <p:nvPr/>
        </p:nvCxnSpPr>
        <p:spPr>
          <a:xfrm>
            <a:off x="2185350" y="2111225"/>
            <a:ext cx="600" cy="1143000"/>
          </a:xfrm>
          <a:prstGeom prst="curvedConnector3">
            <a:avLst>
              <a:gd fmla="val 39687500" name="adj1"/>
            </a:avLst>
          </a:prstGeom>
          <a:noFill/>
          <a:ln cap="flat" cmpd="sng" w="9525">
            <a:solidFill>
              <a:schemeClr val="dk2"/>
            </a:solidFill>
            <a:prstDash val="solid"/>
            <a:round/>
            <a:headEnd len="med" w="med" type="none"/>
            <a:tailEnd len="med" w="med" type="stealth"/>
          </a:ln>
        </p:spPr>
      </p:cxnSp>
      <p:sp>
        <p:nvSpPr>
          <p:cNvPr id="224" name="Google Shape;224;p47"/>
          <p:cNvSpPr/>
          <p:nvPr/>
        </p:nvSpPr>
        <p:spPr>
          <a:xfrm>
            <a:off x="5228250" y="18419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B</a:t>
            </a:r>
            <a:endParaRPr/>
          </a:p>
        </p:txBody>
      </p:sp>
      <p:sp>
        <p:nvSpPr>
          <p:cNvPr id="225" name="Google Shape;225;p47"/>
          <p:cNvSpPr/>
          <p:nvPr/>
        </p:nvSpPr>
        <p:spPr>
          <a:xfrm>
            <a:off x="5228250" y="29849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A</a:t>
            </a:r>
            <a:endParaRPr/>
          </a:p>
        </p:txBody>
      </p:sp>
      <p:cxnSp>
        <p:nvCxnSpPr>
          <p:cNvPr id="226" name="Google Shape;226;p47"/>
          <p:cNvCxnSpPr>
            <a:stCxn id="225" idx="2"/>
            <a:endCxn id="224" idx="2"/>
          </p:cNvCxnSpPr>
          <p:nvPr/>
        </p:nvCxnSpPr>
        <p:spPr>
          <a:xfrm flipH="1" rot="10800000">
            <a:off x="5228250" y="2111225"/>
            <a:ext cx="600" cy="1143000"/>
          </a:xfrm>
          <a:prstGeom prst="curvedConnector3">
            <a:avLst>
              <a:gd fmla="val -39687500" name="adj1"/>
            </a:avLst>
          </a:prstGeom>
          <a:noFill/>
          <a:ln cap="flat" cmpd="sng" w="9525">
            <a:solidFill>
              <a:schemeClr val="dk2"/>
            </a:solidFill>
            <a:prstDash val="solid"/>
            <a:round/>
            <a:headEnd len="med" w="med" type="none"/>
            <a:tailEnd len="med" w="med" type="stealth"/>
          </a:ln>
        </p:spPr>
      </p:cxnSp>
      <p:sp>
        <p:nvSpPr>
          <p:cNvPr id="227" name="Google Shape;227;p47"/>
          <p:cNvSpPr/>
          <p:nvPr/>
        </p:nvSpPr>
        <p:spPr>
          <a:xfrm>
            <a:off x="6142650" y="23753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C</a:t>
            </a:r>
            <a:endParaRPr/>
          </a:p>
        </p:txBody>
      </p:sp>
      <p:cxnSp>
        <p:nvCxnSpPr>
          <p:cNvPr id="228" name="Google Shape;228;p47"/>
          <p:cNvCxnSpPr>
            <a:stCxn id="224" idx="6"/>
            <a:endCxn id="227" idx="0"/>
          </p:cNvCxnSpPr>
          <p:nvPr/>
        </p:nvCxnSpPr>
        <p:spPr>
          <a:xfrm>
            <a:off x="5766750" y="2111225"/>
            <a:ext cx="645300" cy="264300"/>
          </a:xfrm>
          <a:prstGeom prst="curvedConnector2">
            <a:avLst/>
          </a:prstGeom>
          <a:noFill/>
          <a:ln cap="flat" cmpd="sng" w="9525">
            <a:solidFill>
              <a:schemeClr val="dk2"/>
            </a:solidFill>
            <a:prstDash val="solid"/>
            <a:round/>
            <a:headEnd len="med" w="med" type="none"/>
            <a:tailEnd len="med" w="med" type="stealth"/>
          </a:ln>
        </p:spPr>
      </p:cxnSp>
      <p:cxnSp>
        <p:nvCxnSpPr>
          <p:cNvPr id="229" name="Google Shape;229;p47"/>
          <p:cNvCxnSpPr>
            <a:stCxn id="227" idx="4"/>
            <a:endCxn id="225" idx="6"/>
          </p:cNvCxnSpPr>
          <p:nvPr/>
        </p:nvCxnSpPr>
        <p:spPr>
          <a:xfrm rot="5400000">
            <a:off x="5919150" y="2761625"/>
            <a:ext cx="340500" cy="645000"/>
          </a:xfrm>
          <a:prstGeom prst="curvedConnector2">
            <a:avLst/>
          </a:prstGeom>
          <a:noFill/>
          <a:ln cap="flat" cmpd="sng" w="9525">
            <a:solidFill>
              <a:schemeClr val="dk2"/>
            </a:solidFill>
            <a:prstDash val="solid"/>
            <a:round/>
            <a:headEnd len="med" w="med" type="none"/>
            <a:tailEnd len="med" w="med" type="stealth"/>
          </a:ln>
        </p:spPr>
      </p:cxnSp>
      <p:sp>
        <p:nvSpPr>
          <p:cNvPr id="230" name="Google Shape;230;p47"/>
          <p:cNvSpPr txBox="1"/>
          <p:nvPr/>
        </p:nvSpPr>
        <p:spPr>
          <a:xfrm>
            <a:off x="1100300" y="2622450"/>
            <a:ext cx="41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Old Standard TT"/>
                <a:ea typeface="Old Standard TT"/>
                <a:cs typeface="Old Standard TT"/>
                <a:sym typeface="Old Standard TT"/>
              </a:rPr>
              <a:t>10</a:t>
            </a:r>
            <a:endParaRPr>
              <a:latin typeface="Old Standard TT"/>
              <a:ea typeface="Old Standard TT"/>
              <a:cs typeface="Old Standard TT"/>
              <a:sym typeface="Old Standard TT"/>
            </a:endParaRPr>
          </a:p>
        </p:txBody>
      </p:sp>
      <p:sp>
        <p:nvSpPr>
          <p:cNvPr id="231" name="Google Shape;231;p47"/>
          <p:cNvSpPr txBox="1"/>
          <p:nvPr/>
        </p:nvSpPr>
        <p:spPr>
          <a:xfrm>
            <a:off x="2458500" y="2371650"/>
            <a:ext cx="2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latin typeface="Old Standard TT"/>
                <a:ea typeface="Old Standard TT"/>
                <a:cs typeface="Old Standard TT"/>
                <a:sym typeface="Old Standard TT"/>
              </a:rPr>
              <a:t>8</a:t>
            </a:r>
            <a:endParaRPr b="1">
              <a:latin typeface="Old Standard TT"/>
              <a:ea typeface="Old Standard TT"/>
              <a:cs typeface="Old Standard TT"/>
              <a:sym typeface="Old Standard TT"/>
            </a:endParaRPr>
          </a:p>
        </p:txBody>
      </p:sp>
      <p:sp>
        <p:nvSpPr>
          <p:cNvPr id="232" name="Google Shape;232;p47"/>
          <p:cNvSpPr txBox="1"/>
          <p:nvPr/>
        </p:nvSpPr>
        <p:spPr>
          <a:xfrm>
            <a:off x="4662200" y="2417300"/>
            <a:ext cx="41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Old Standard TT"/>
                <a:ea typeface="Old Standard TT"/>
                <a:cs typeface="Old Standard TT"/>
                <a:sym typeface="Old Standard TT"/>
              </a:rPr>
              <a:t>10</a:t>
            </a:r>
            <a:endParaRPr>
              <a:latin typeface="Old Standard TT"/>
              <a:ea typeface="Old Standard TT"/>
              <a:cs typeface="Old Standard TT"/>
              <a:sym typeface="Old Standard TT"/>
            </a:endParaRPr>
          </a:p>
        </p:txBody>
      </p:sp>
      <p:sp>
        <p:nvSpPr>
          <p:cNvPr id="233" name="Google Shape;233;p47"/>
          <p:cNvSpPr txBox="1"/>
          <p:nvPr/>
        </p:nvSpPr>
        <p:spPr>
          <a:xfrm>
            <a:off x="5934400" y="2112900"/>
            <a:ext cx="2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latin typeface="Old Standard TT"/>
                <a:ea typeface="Old Standard TT"/>
                <a:cs typeface="Old Standard TT"/>
                <a:sym typeface="Old Standard TT"/>
              </a:rPr>
              <a:t>8</a:t>
            </a:r>
            <a:endParaRPr b="1">
              <a:latin typeface="Old Standard TT"/>
              <a:ea typeface="Old Standard TT"/>
              <a:cs typeface="Old Standard TT"/>
              <a:sym typeface="Old Standard TT"/>
            </a:endParaRPr>
          </a:p>
        </p:txBody>
      </p:sp>
      <p:sp>
        <p:nvSpPr>
          <p:cNvPr id="234" name="Google Shape;234;p47"/>
          <p:cNvSpPr txBox="1"/>
          <p:nvPr/>
        </p:nvSpPr>
        <p:spPr>
          <a:xfrm>
            <a:off x="6010600" y="2874900"/>
            <a:ext cx="2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latin typeface="Old Standard TT"/>
                <a:ea typeface="Old Standard TT"/>
                <a:cs typeface="Old Standard TT"/>
                <a:sym typeface="Old Standard TT"/>
              </a:rPr>
              <a:t>8</a:t>
            </a:r>
            <a:endParaRPr b="1">
              <a:latin typeface="Old Standard TT"/>
              <a:ea typeface="Old Standard TT"/>
              <a:cs typeface="Old Standard TT"/>
              <a:sym typeface="Old Standard TT"/>
            </a:endParaRPr>
          </a:p>
        </p:txBody>
      </p:sp>
      <p:sp>
        <p:nvSpPr>
          <p:cNvPr id="235" name="Google Shape;235;p47"/>
          <p:cNvSpPr/>
          <p:nvPr/>
        </p:nvSpPr>
        <p:spPr>
          <a:xfrm>
            <a:off x="3303575" y="2233350"/>
            <a:ext cx="974700" cy="53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tengo más de una fuente...</a:t>
            </a:r>
            <a:endParaRPr/>
          </a:p>
        </p:txBody>
      </p:sp>
      <p:sp>
        <p:nvSpPr>
          <p:cNvPr id="241" name="Google Shape;241;p48"/>
          <p:cNvSpPr/>
          <p:nvPr/>
        </p:nvSpPr>
        <p:spPr>
          <a:xfrm>
            <a:off x="5761650" y="18419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B</a:t>
            </a:r>
            <a:endParaRPr/>
          </a:p>
        </p:txBody>
      </p:sp>
      <p:sp>
        <p:nvSpPr>
          <p:cNvPr id="242" name="Google Shape;242;p48"/>
          <p:cNvSpPr/>
          <p:nvPr/>
        </p:nvSpPr>
        <p:spPr>
          <a:xfrm>
            <a:off x="5761650" y="30714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A</a:t>
            </a:r>
            <a:endParaRPr/>
          </a:p>
        </p:txBody>
      </p:sp>
      <p:cxnSp>
        <p:nvCxnSpPr>
          <p:cNvPr id="243" name="Google Shape;243;p48"/>
          <p:cNvCxnSpPr/>
          <p:nvPr/>
        </p:nvCxnSpPr>
        <p:spPr>
          <a:xfrm flipH="1" rot="10800000">
            <a:off x="6300150" y="2013725"/>
            <a:ext cx="1506300" cy="975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244" name="Google Shape;244;p48"/>
          <p:cNvCxnSpPr>
            <a:stCxn id="242" idx="6"/>
          </p:cNvCxnSpPr>
          <p:nvPr/>
        </p:nvCxnSpPr>
        <p:spPr>
          <a:xfrm flipH="1" rot="10800000">
            <a:off x="6300150" y="2669325"/>
            <a:ext cx="1584600" cy="671400"/>
          </a:xfrm>
          <a:prstGeom prst="curvedConnector3">
            <a:avLst>
              <a:gd fmla="val 50000" name="adj1"/>
            </a:avLst>
          </a:prstGeom>
          <a:noFill/>
          <a:ln cap="flat" cmpd="sng" w="9525">
            <a:solidFill>
              <a:schemeClr val="dk2"/>
            </a:solidFill>
            <a:prstDash val="solid"/>
            <a:round/>
            <a:headEnd len="med" w="med" type="none"/>
            <a:tailEnd len="med" w="med" type="none"/>
          </a:ln>
        </p:spPr>
      </p:cxnSp>
      <p:sp>
        <p:nvSpPr>
          <p:cNvPr id="245" name="Google Shape;245;p48"/>
          <p:cNvSpPr/>
          <p:nvPr/>
        </p:nvSpPr>
        <p:spPr>
          <a:xfrm>
            <a:off x="4694850" y="24515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S</a:t>
            </a:r>
            <a:endParaRPr/>
          </a:p>
        </p:txBody>
      </p:sp>
      <p:cxnSp>
        <p:nvCxnSpPr>
          <p:cNvPr id="246" name="Google Shape;246;p48"/>
          <p:cNvCxnSpPr>
            <a:stCxn id="245" idx="7"/>
            <a:endCxn id="241" idx="2"/>
          </p:cNvCxnSpPr>
          <p:nvPr/>
        </p:nvCxnSpPr>
        <p:spPr>
          <a:xfrm rot="-5400000">
            <a:off x="5248539" y="2017287"/>
            <a:ext cx="419100" cy="607200"/>
          </a:xfrm>
          <a:prstGeom prst="curvedConnector2">
            <a:avLst/>
          </a:prstGeom>
          <a:noFill/>
          <a:ln cap="flat" cmpd="sng" w="9525">
            <a:solidFill>
              <a:schemeClr val="dk2"/>
            </a:solidFill>
            <a:prstDash val="solid"/>
            <a:round/>
            <a:headEnd len="med" w="med" type="none"/>
            <a:tailEnd len="med" w="med" type="stealth"/>
          </a:ln>
        </p:spPr>
      </p:cxnSp>
      <p:cxnSp>
        <p:nvCxnSpPr>
          <p:cNvPr id="247" name="Google Shape;247;p48"/>
          <p:cNvCxnSpPr>
            <a:stCxn id="245" idx="5"/>
            <a:endCxn id="242" idx="2"/>
          </p:cNvCxnSpPr>
          <p:nvPr/>
        </p:nvCxnSpPr>
        <p:spPr>
          <a:xfrm flipH="1" rot="-5400000">
            <a:off x="5243289" y="2822414"/>
            <a:ext cx="429600" cy="607200"/>
          </a:xfrm>
          <a:prstGeom prst="curvedConnector2">
            <a:avLst/>
          </a:prstGeom>
          <a:noFill/>
          <a:ln cap="flat" cmpd="sng" w="9525">
            <a:solidFill>
              <a:schemeClr val="dk2"/>
            </a:solidFill>
            <a:prstDash val="solid"/>
            <a:round/>
            <a:headEnd len="med" w="med" type="none"/>
            <a:tailEnd len="med" w="med" type="stealth"/>
          </a:ln>
        </p:spPr>
      </p:cxnSp>
      <p:sp>
        <p:nvSpPr>
          <p:cNvPr id="248" name="Google Shape;248;p48"/>
          <p:cNvSpPr/>
          <p:nvPr/>
        </p:nvSpPr>
        <p:spPr>
          <a:xfrm>
            <a:off x="961050" y="19181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B</a:t>
            </a:r>
            <a:endParaRPr/>
          </a:p>
        </p:txBody>
      </p:sp>
      <p:sp>
        <p:nvSpPr>
          <p:cNvPr id="249" name="Google Shape;249;p48"/>
          <p:cNvSpPr/>
          <p:nvPr/>
        </p:nvSpPr>
        <p:spPr>
          <a:xfrm>
            <a:off x="961050" y="31476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A</a:t>
            </a:r>
            <a:endParaRPr/>
          </a:p>
        </p:txBody>
      </p:sp>
      <p:cxnSp>
        <p:nvCxnSpPr>
          <p:cNvPr id="250" name="Google Shape;250;p48"/>
          <p:cNvCxnSpPr/>
          <p:nvPr/>
        </p:nvCxnSpPr>
        <p:spPr>
          <a:xfrm flipH="1" rot="10800000">
            <a:off x="1499550" y="2089925"/>
            <a:ext cx="1506300" cy="975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251" name="Google Shape;251;p48"/>
          <p:cNvCxnSpPr>
            <a:stCxn id="249" idx="6"/>
          </p:cNvCxnSpPr>
          <p:nvPr/>
        </p:nvCxnSpPr>
        <p:spPr>
          <a:xfrm flipH="1" rot="10800000">
            <a:off x="1499550" y="2745525"/>
            <a:ext cx="1584600" cy="671400"/>
          </a:xfrm>
          <a:prstGeom prst="curvedConnector3">
            <a:avLst>
              <a:gd fmla="val 50000" name="adj1"/>
            </a:avLst>
          </a:prstGeom>
          <a:noFill/>
          <a:ln cap="flat" cmpd="sng" w="9525">
            <a:solidFill>
              <a:schemeClr val="dk2"/>
            </a:solidFill>
            <a:prstDash val="solid"/>
            <a:round/>
            <a:headEnd len="med" w="med" type="none"/>
            <a:tailEnd len="med" w="med" type="none"/>
          </a:ln>
        </p:spPr>
      </p:cxnSp>
      <p:sp>
        <p:nvSpPr>
          <p:cNvPr id="252" name="Google Shape;252;p48"/>
          <p:cNvSpPr txBox="1"/>
          <p:nvPr/>
        </p:nvSpPr>
        <p:spPr>
          <a:xfrm>
            <a:off x="5154500" y="1862375"/>
            <a:ext cx="4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Old Standard TT"/>
                <a:ea typeface="Old Standard TT"/>
                <a:cs typeface="Old Standard TT"/>
                <a:sym typeface="Old Standard TT"/>
              </a:rPr>
              <a:t>∞</a:t>
            </a:r>
            <a:endParaRPr>
              <a:latin typeface="Old Standard TT"/>
              <a:ea typeface="Old Standard TT"/>
              <a:cs typeface="Old Standard TT"/>
              <a:sym typeface="Old Standard TT"/>
            </a:endParaRPr>
          </a:p>
        </p:txBody>
      </p:sp>
      <p:sp>
        <p:nvSpPr>
          <p:cNvPr id="253" name="Google Shape;253;p48"/>
          <p:cNvSpPr txBox="1"/>
          <p:nvPr/>
        </p:nvSpPr>
        <p:spPr>
          <a:xfrm>
            <a:off x="5154500" y="3233975"/>
            <a:ext cx="4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Old Standard TT"/>
                <a:ea typeface="Old Standard TT"/>
                <a:cs typeface="Old Standard TT"/>
                <a:sym typeface="Old Standard TT"/>
              </a:rPr>
              <a:t>∞</a:t>
            </a:r>
            <a:endParaRPr>
              <a:latin typeface="Old Standard TT"/>
              <a:ea typeface="Old Standard TT"/>
              <a:cs typeface="Old Standard TT"/>
              <a:sym typeface="Old Standard TT"/>
            </a:endParaRPr>
          </a:p>
        </p:txBody>
      </p:sp>
      <p:sp>
        <p:nvSpPr>
          <p:cNvPr id="254" name="Google Shape;254;p48"/>
          <p:cNvSpPr/>
          <p:nvPr/>
        </p:nvSpPr>
        <p:spPr>
          <a:xfrm>
            <a:off x="2821900" y="1831850"/>
            <a:ext cx="1172556" cy="978048"/>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7601900" y="1831850"/>
            <a:ext cx="1172556" cy="978048"/>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p:nvPr/>
        </p:nvSpPr>
        <p:spPr>
          <a:xfrm>
            <a:off x="3720150" y="3147675"/>
            <a:ext cx="974700" cy="53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par>
                                <p:cTn fill="hold" nodeType="with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par>
                                <p:cTn fill="hold" nodeType="with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tengo más de un sumidero...</a:t>
            </a:r>
            <a:endParaRPr/>
          </a:p>
        </p:txBody>
      </p:sp>
      <p:sp>
        <p:nvSpPr>
          <p:cNvPr id="262" name="Google Shape;262;p49"/>
          <p:cNvSpPr/>
          <p:nvPr/>
        </p:nvSpPr>
        <p:spPr>
          <a:xfrm>
            <a:off x="6967188" y="179322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B</a:t>
            </a:r>
            <a:endParaRPr/>
          </a:p>
        </p:txBody>
      </p:sp>
      <p:sp>
        <p:nvSpPr>
          <p:cNvPr id="263" name="Google Shape;263;p49"/>
          <p:cNvSpPr/>
          <p:nvPr/>
        </p:nvSpPr>
        <p:spPr>
          <a:xfrm>
            <a:off x="6967200" y="30407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A</a:t>
            </a:r>
            <a:endParaRPr/>
          </a:p>
        </p:txBody>
      </p:sp>
      <p:cxnSp>
        <p:nvCxnSpPr>
          <p:cNvPr id="264" name="Google Shape;264;p49"/>
          <p:cNvCxnSpPr>
            <a:stCxn id="262" idx="2"/>
            <a:endCxn id="265" idx="0"/>
          </p:cNvCxnSpPr>
          <p:nvPr/>
        </p:nvCxnSpPr>
        <p:spPr>
          <a:xfrm flipH="1">
            <a:off x="6062688" y="2062475"/>
            <a:ext cx="904500" cy="709200"/>
          </a:xfrm>
          <a:prstGeom prst="curvedConnector3">
            <a:avLst>
              <a:gd fmla="val 49914" name="adj1"/>
            </a:avLst>
          </a:prstGeom>
          <a:noFill/>
          <a:ln cap="flat" cmpd="sng" w="9525">
            <a:solidFill>
              <a:schemeClr val="dk2"/>
            </a:solidFill>
            <a:prstDash val="solid"/>
            <a:round/>
            <a:headEnd len="med" w="med" type="stealth"/>
            <a:tailEnd len="med" w="med" type="none"/>
          </a:ln>
        </p:spPr>
      </p:cxnSp>
      <p:cxnSp>
        <p:nvCxnSpPr>
          <p:cNvPr id="266" name="Google Shape;266;p49"/>
          <p:cNvCxnSpPr>
            <a:stCxn id="263" idx="2"/>
            <a:endCxn id="265" idx="0"/>
          </p:cNvCxnSpPr>
          <p:nvPr/>
        </p:nvCxnSpPr>
        <p:spPr>
          <a:xfrm rot="10800000">
            <a:off x="6062700" y="2771525"/>
            <a:ext cx="904500" cy="538500"/>
          </a:xfrm>
          <a:prstGeom prst="curvedConnector3">
            <a:avLst>
              <a:gd fmla="val 49914" name="adj1"/>
            </a:avLst>
          </a:prstGeom>
          <a:noFill/>
          <a:ln cap="flat" cmpd="sng" w="9525">
            <a:solidFill>
              <a:schemeClr val="dk2"/>
            </a:solidFill>
            <a:prstDash val="solid"/>
            <a:round/>
            <a:headEnd len="med" w="med" type="stealth"/>
            <a:tailEnd len="med" w="med" type="none"/>
          </a:ln>
        </p:spPr>
      </p:cxnSp>
      <p:sp>
        <p:nvSpPr>
          <p:cNvPr id="267" name="Google Shape;267;p49"/>
          <p:cNvSpPr/>
          <p:nvPr/>
        </p:nvSpPr>
        <p:spPr>
          <a:xfrm>
            <a:off x="8409175" y="20567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T</a:t>
            </a:r>
            <a:endParaRPr/>
          </a:p>
        </p:txBody>
      </p:sp>
      <p:cxnSp>
        <p:nvCxnSpPr>
          <p:cNvPr id="268" name="Google Shape;268;p49"/>
          <p:cNvCxnSpPr>
            <a:stCxn id="267" idx="1"/>
            <a:endCxn id="262" idx="6"/>
          </p:cNvCxnSpPr>
          <p:nvPr/>
        </p:nvCxnSpPr>
        <p:spPr>
          <a:xfrm flipH="1" rot="5400000">
            <a:off x="7960337" y="1607937"/>
            <a:ext cx="73200" cy="982200"/>
          </a:xfrm>
          <a:prstGeom prst="curvedConnector2">
            <a:avLst/>
          </a:prstGeom>
          <a:noFill/>
          <a:ln cap="flat" cmpd="sng" w="9525">
            <a:solidFill>
              <a:schemeClr val="dk2"/>
            </a:solidFill>
            <a:prstDash val="solid"/>
            <a:round/>
            <a:headEnd len="med" w="med" type="stealth"/>
            <a:tailEnd len="med" w="med" type="none"/>
          </a:ln>
        </p:spPr>
      </p:cxnSp>
      <p:cxnSp>
        <p:nvCxnSpPr>
          <p:cNvPr id="269" name="Google Shape;269;p49"/>
          <p:cNvCxnSpPr>
            <a:stCxn id="267" idx="4"/>
            <a:endCxn id="263" idx="6"/>
          </p:cNvCxnSpPr>
          <p:nvPr/>
        </p:nvCxnSpPr>
        <p:spPr>
          <a:xfrm rot="5400000">
            <a:off x="7734625" y="2366375"/>
            <a:ext cx="714900" cy="1172700"/>
          </a:xfrm>
          <a:prstGeom prst="curvedConnector2">
            <a:avLst/>
          </a:prstGeom>
          <a:noFill/>
          <a:ln cap="flat" cmpd="sng" w="9525">
            <a:solidFill>
              <a:schemeClr val="dk2"/>
            </a:solidFill>
            <a:prstDash val="solid"/>
            <a:round/>
            <a:headEnd len="med" w="med" type="stealth"/>
            <a:tailEnd len="med" w="med" type="none"/>
          </a:ln>
        </p:spPr>
      </p:cxnSp>
      <p:sp>
        <p:nvSpPr>
          <p:cNvPr id="270" name="Google Shape;270;p49"/>
          <p:cNvSpPr/>
          <p:nvPr/>
        </p:nvSpPr>
        <p:spPr>
          <a:xfrm>
            <a:off x="2545650" y="172407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B</a:t>
            </a:r>
            <a:endParaRPr/>
          </a:p>
        </p:txBody>
      </p:sp>
      <p:sp>
        <p:nvSpPr>
          <p:cNvPr id="271" name="Google Shape;271;p49"/>
          <p:cNvSpPr/>
          <p:nvPr/>
        </p:nvSpPr>
        <p:spPr>
          <a:xfrm>
            <a:off x="2545650" y="2928425"/>
            <a:ext cx="538500" cy="538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A</a:t>
            </a:r>
            <a:endParaRPr/>
          </a:p>
        </p:txBody>
      </p:sp>
      <p:cxnSp>
        <p:nvCxnSpPr>
          <p:cNvPr id="272" name="Google Shape;272;p49"/>
          <p:cNvCxnSpPr>
            <a:stCxn id="270" idx="2"/>
            <a:endCxn id="273" idx="0"/>
          </p:cNvCxnSpPr>
          <p:nvPr/>
        </p:nvCxnSpPr>
        <p:spPr>
          <a:xfrm flipH="1">
            <a:off x="1582650" y="1993325"/>
            <a:ext cx="963000" cy="665400"/>
          </a:xfrm>
          <a:prstGeom prst="curvedConnector3">
            <a:avLst>
              <a:gd fmla="val 49918" name="adj1"/>
            </a:avLst>
          </a:prstGeom>
          <a:noFill/>
          <a:ln cap="flat" cmpd="sng" w="9525">
            <a:solidFill>
              <a:schemeClr val="dk2"/>
            </a:solidFill>
            <a:prstDash val="solid"/>
            <a:round/>
            <a:headEnd len="med" w="med" type="stealth"/>
            <a:tailEnd len="med" w="med" type="none"/>
          </a:ln>
        </p:spPr>
      </p:cxnSp>
      <p:cxnSp>
        <p:nvCxnSpPr>
          <p:cNvPr id="274" name="Google Shape;274;p49"/>
          <p:cNvCxnSpPr>
            <a:stCxn id="271" idx="2"/>
            <a:endCxn id="273" idx="0"/>
          </p:cNvCxnSpPr>
          <p:nvPr/>
        </p:nvCxnSpPr>
        <p:spPr>
          <a:xfrm rot="10800000">
            <a:off x="1582650" y="2658575"/>
            <a:ext cx="963000" cy="539100"/>
          </a:xfrm>
          <a:prstGeom prst="curvedConnector3">
            <a:avLst>
              <a:gd fmla="val 49918" name="adj1"/>
            </a:avLst>
          </a:prstGeom>
          <a:noFill/>
          <a:ln cap="flat" cmpd="sng" w="9525">
            <a:solidFill>
              <a:schemeClr val="dk2"/>
            </a:solidFill>
            <a:prstDash val="solid"/>
            <a:round/>
            <a:headEnd len="med" w="med" type="stealth"/>
            <a:tailEnd len="med" w="med" type="none"/>
          </a:ln>
        </p:spPr>
      </p:cxnSp>
      <p:sp>
        <p:nvSpPr>
          <p:cNvPr id="275" name="Google Shape;275;p49"/>
          <p:cNvSpPr txBox="1"/>
          <p:nvPr/>
        </p:nvSpPr>
        <p:spPr>
          <a:xfrm>
            <a:off x="7766375" y="1714725"/>
            <a:ext cx="4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Old Standard TT"/>
                <a:ea typeface="Old Standard TT"/>
                <a:cs typeface="Old Standard TT"/>
                <a:sym typeface="Old Standard TT"/>
              </a:rPr>
              <a:t>∞</a:t>
            </a:r>
            <a:endParaRPr>
              <a:latin typeface="Old Standard TT"/>
              <a:ea typeface="Old Standard TT"/>
              <a:cs typeface="Old Standard TT"/>
              <a:sym typeface="Old Standard TT"/>
            </a:endParaRPr>
          </a:p>
        </p:txBody>
      </p:sp>
      <p:sp>
        <p:nvSpPr>
          <p:cNvPr id="276" name="Google Shape;276;p49"/>
          <p:cNvSpPr txBox="1"/>
          <p:nvPr/>
        </p:nvSpPr>
        <p:spPr>
          <a:xfrm>
            <a:off x="7950725" y="3063625"/>
            <a:ext cx="4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Old Standard TT"/>
                <a:ea typeface="Old Standard TT"/>
                <a:cs typeface="Old Standard TT"/>
                <a:sym typeface="Old Standard TT"/>
              </a:rPr>
              <a:t>∞</a:t>
            </a:r>
            <a:endParaRPr>
              <a:latin typeface="Old Standard TT"/>
              <a:ea typeface="Old Standard TT"/>
              <a:cs typeface="Old Standard TT"/>
              <a:sym typeface="Old Standard TT"/>
            </a:endParaRPr>
          </a:p>
        </p:txBody>
      </p:sp>
      <p:sp>
        <p:nvSpPr>
          <p:cNvPr id="273" name="Google Shape;273;p49"/>
          <p:cNvSpPr/>
          <p:nvPr/>
        </p:nvSpPr>
        <p:spPr>
          <a:xfrm>
            <a:off x="411125" y="2169625"/>
            <a:ext cx="1172556" cy="978048"/>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a:off x="4891138" y="2282550"/>
            <a:ext cx="1172556" cy="978048"/>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3646025" y="2437525"/>
            <a:ext cx="974700" cy="53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par>
                                <p:cTn fill="hold" nodeType="with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Red Residual</a:t>
            </a:r>
            <a:endParaRPr/>
          </a:p>
        </p:txBody>
      </p:sp>
      <p:sp>
        <p:nvSpPr>
          <p:cNvPr id="283" name="Google Shape;283;p50"/>
          <p:cNvSpPr txBox="1"/>
          <p:nvPr>
            <p:ph idx="1" type="body"/>
          </p:nvPr>
        </p:nvSpPr>
        <p:spPr>
          <a:xfrm>
            <a:off x="311700" y="11803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Es el grafo con los mismos vértices, pero tiene como aristas: </a:t>
            </a:r>
            <a:endParaRPr sz="1800"/>
          </a:p>
          <a:p>
            <a:pPr indent="-342900" lvl="0" marL="457200" rtl="0" algn="l">
              <a:spcBef>
                <a:spcPts val="1600"/>
              </a:spcBef>
              <a:spcAft>
                <a:spcPts val="0"/>
              </a:spcAft>
              <a:buSzPts val="1800"/>
              <a:buAutoNum type="arabicPeriod"/>
            </a:pPr>
            <a:r>
              <a:rPr lang="es" sz="1800"/>
              <a:t>Las mismas del original, al que aún les quede capacidad por utilizar. El peso es esa capacidad restante.</a:t>
            </a:r>
            <a:endParaRPr sz="1800"/>
          </a:p>
          <a:p>
            <a:pPr indent="0" lvl="0" marL="0" rtl="0" algn="l">
              <a:spcBef>
                <a:spcPts val="1600"/>
              </a:spcBef>
              <a:spcAft>
                <a:spcPts val="160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Red de Flujo - Ejemplo II</a:t>
            </a:r>
            <a:endParaRPr/>
          </a:p>
        </p:txBody>
      </p:sp>
      <p:pic>
        <p:nvPicPr>
          <p:cNvPr id="289" name="Google Shape;289;p51"/>
          <p:cNvPicPr preferRelativeResize="0"/>
          <p:nvPr/>
        </p:nvPicPr>
        <p:blipFill>
          <a:blip r:embed="rId3">
            <a:alphaModFix/>
          </a:blip>
          <a:stretch>
            <a:fillRect/>
          </a:stretch>
        </p:blipFill>
        <p:spPr>
          <a:xfrm>
            <a:off x="2714650" y="1449900"/>
            <a:ext cx="4113450" cy="2243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Red Residual</a:t>
            </a:r>
            <a:endParaRPr/>
          </a:p>
        </p:txBody>
      </p:sp>
      <p:sp>
        <p:nvSpPr>
          <p:cNvPr id="295" name="Google Shape;295;p52"/>
          <p:cNvSpPr txBox="1"/>
          <p:nvPr>
            <p:ph idx="1" type="body"/>
          </p:nvPr>
        </p:nvSpPr>
        <p:spPr>
          <a:xfrm>
            <a:off x="311700" y="11803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Es el grafo con los mismos vértices, pero tiene como aristas: </a:t>
            </a:r>
            <a:endParaRPr sz="1800"/>
          </a:p>
          <a:p>
            <a:pPr indent="-342900" lvl="0" marL="457200" rtl="0" algn="l">
              <a:spcBef>
                <a:spcPts val="1600"/>
              </a:spcBef>
              <a:spcAft>
                <a:spcPts val="0"/>
              </a:spcAft>
              <a:buSzPts val="1800"/>
              <a:buAutoNum type="arabicPeriod"/>
            </a:pPr>
            <a:r>
              <a:rPr lang="es" sz="1800"/>
              <a:t>Las mismas del original, al que aún les quede capacidad por utilizar. El peso es esa capacidad restante</a:t>
            </a:r>
            <a:endParaRPr sz="1800"/>
          </a:p>
          <a:p>
            <a:pPr indent="-342900" lvl="0" marL="457200" rtl="0" algn="l">
              <a:spcBef>
                <a:spcPts val="0"/>
              </a:spcBef>
              <a:spcAft>
                <a:spcPts val="0"/>
              </a:spcAft>
              <a:buSzPts val="1800"/>
              <a:buAutoNum type="arabicPeriod"/>
            </a:pPr>
            <a:r>
              <a:rPr lang="es" sz="1800"/>
              <a:t>La arista opuesta, con peso la capacidad utilizada. </a:t>
            </a:r>
            <a:endParaRPr sz="1800"/>
          </a:p>
          <a:p>
            <a:pPr indent="-342900" lvl="0" marL="457200" rtl="0" algn="l">
              <a:spcBef>
                <a:spcPts val="0"/>
              </a:spcBef>
              <a:spcAft>
                <a:spcPts val="0"/>
              </a:spcAft>
              <a:buSzPts val="1800"/>
              <a:buAutoNum type="arabicPeriod"/>
            </a:pPr>
            <a:r>
              <a:rPr lang="es" sz="1800"/>
              <a:t>Si alguno de los anteriores es 0, no hay arista.</a:t>
            </a:r>
            <a:endParaRPr sz="1800"/>
          </a:p>
          <a:p>
            <a:pPr indent="0" lvl="0" marL="0" rtl="0" algn="l">
              <a:spcBef>
                <a:spcPts val="1600"/>
              </a:spcBef>
              <a:spcAft>
                <a:spcPts val="0"/>
              </a:spcAft>
              <a:buNone/>
            </a:pPr>
            <a:r>
              <a:rPr lang="es" sz="1800"/>
              <a:t>En el peor de los casos el grafo residual tiene el doble de aristas.</a:t>
            </a:r>
            <a:endParaRPr sz="1800"/>
          </a:p>
          <a:p>
            <a:pPr indent="0" lvl="0" marL="0" rtl="0" algn="l">
              <a:spcBef>
                <a:spcPts val="1600"/>
              </a:spcBef>
              <a:spcAft>
                <a:spcPts val="1600"/>
              </a:spcAft>
              <a:buNone/>
            </a:pPr>
            <a:r>
              <a:rPr lang="es" sz="1800"/>
              <a:t>Un grafo residual es una red de flujo, salvo por las aristas antiparalelas.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Si encontramos un camino de la fuente (s) al sumidero (t) en el grafo residual, entonces encontramos un camino por el que podemos aumentar el flujo. </a:t>
            </a:r>
            <a:endParaRPr sz="1800"/>
          </a:p>
          <a:p>
            <a:pPr indent="0" lvl="0" marL="0" rtl="0" algn="l">
              <a:spcBef>
                <a:spcPts val="1600"/>
              </a:spcBef>
              <a:spcAft>
                <a:spcPts val="1600"/>
              </a:spcAft>
              <a:buNone/>
            </a:pPr>
            <a:r>
              <a:rPr lang="es" sz="1800"/>
              <a:t>Buscamos aumentar el flujo total, pero puede reducirse el que pasa por una arista en particular. </a:t>
            </a:r>
            <a:endParaRPr sz="1800"/>
          </a:p>
        </p:txBody>
      </p:sp>
      <p:sp>
        <p:nvSpPr>
          <p:cNvPr id="301" name="Google Shape;301;p5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Camino de aumento (</a:t>
            </a:r>
            <a:r>
              <a:rPr i="1" lang="es"/>
              <a:t>augmenting path</a:t>
            </a:r>
            <a:r>
              <a:rPr lang="e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307" name="Google Shape;307;p5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Esquema general: </a:t>
            </a:r>
            <a:endParaRPr/>
          </a:p>
          <a:p>
            <a:pPr indent="0" lvl="0" marL="0" rtl="0" algn="l">
              <a:spcBef>
                <a:spcPts val="1600"/>
              </a:spcBef>
              <a:spcAft>
                <a:spcPts val="0"/>
              </a:spcAft>
              <a:buNone/>
            </a:pPr>
            <a:r>
              <a:rPr lang="es" sz="1800">
                <a:latin typeface="Consolas"/>
                <a:ea typeface="Consolas"/>
                <a:cs typeface="Consolas"/>
                <a:sym typeface="Consolas"/>
              </a:rPr>
              <a:t>def flujo(grafo, s, t):</a:t>
            </a:r>
            <a:endParaRPr sz="1800">
              <a:latin typeface="Consolas"/>
              <a:ea typeface="Consolas"/>
              <a:cs typeface="Consolas"/>
              <a:sym typeface="Consolas"/>
            </a:endParaRPr>
          </a:p>
          <a:p>
            <a:pPr indent="0" lvl="0" marL="0" rtl="0" algn="l">
              <a:spcBef>
                <a:spcPts val="0"/>
              </a:spcBef>
              <a:spcAft>
                <a:spcPts val="0"/>
              </a:spcAft>
              <a:buNone/>
            </a:pPr>
            <a:r>
              <a:rPr lang="es" sz="1800">
                <a:latin typeface="Consolas"/>
                <a:ea typeface="Consolas"/>
                <a:cs typeface="Consolas"/>
                <a:sym typeface="Consolas"/>
              </a:rPr>
              <a:t>	inicializamos el flujo por toda arista a 0</a:t>
            </a:r>
            <a:endParaRPr sz="1800">
              <a:latin typeface="Consolas"/>
              <a:ea typeface="Consolas"/>
              <a:cs typeface="Consolas"/>
              <a:sym typeface="Consolas"/>
            </a:endParaRPr>
          </a:p>
          <a:p>
            <a:pPr indent="0" lvl="0" marL="0" rtl="0" algn="l">
              <a:spcBef>
                <a:spcPts val="0"/>
              </a:spcBef>
              <a:spcAft>
                <a:spcPts val="0"/>
              </a:spcAft>
              <a:buNone/>
            </a:pPr>
            <a:r>
              <a:rPr lang="es" sz="1800">
                <a:latin typeface="Consolas"/>
                <a:ea typeface="Consolas"/>
                <a:cs typeface="Consolas"/>
                <a:sym typeface="Consolas"/>
              </a:rPr>
              <a:t>	Mientras haya un camino en la red residual:</a:t>
            </a:r>
            <a:endParaRPr sz="1800">
              <a:latin typeface="Consolas"/>
              <a:ea typeface="Consolas"/>
              <a:cs typeface="Consolas"/>
              <a:sym typeface="Consolas"/>
            </a:endParaRPr>
          </a:p>
          <a:p>
            <a:pPr indent="0" lvl="0" marL="0" rtl="0" algn="l">
              <a:spcBef>
                <a:spcPts val="0"/>
              </a:spcBef>
              <a:spcAft>
                <a:spcPts val="0"/>
              </a:spcAft>
              <a:buNone/>
            </a:pPr>
            <a:r>
              <a:rPr lang="es" sz="1800">
                <a:latin typeface="Consolas"/>
                <a:ea typeface="Consolas"/>
                <a:cs typeface="Consolas"/>
                <a:sym typeface="Consolas"/>
              </a:rPr>
              <a:t>		aumentamos el flujo acorde al camino</a:t>
            </a:r>
            <a:endParaRPr sz="1800">
              <a:latin typeface="Consolas"/>
              <a:ea typeface="Consolas"/>
              <a:cs typeface="Consolas"/>
              <a:sym typeface="Consolas"/>
            </a:endParaRPr>
          </a:p>
          <a:p>
            <a:pPr indent="0" lvl="0" marL="0" rtl="0" algn="l">
              <a:spcBef>
                <a:spcPts val="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¿Cuál es la mejor forma de obtener un camino?</a:t>
            </a:r>
            <a:endParaRPr/>
          </a:p>
        </p:txBody>
      </p:sp>
      <p:sp>
        <p:nvSpPr>
          <p:cNvPr id="313" name="Google Shape;313;p5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Dependiendo de cómo se haga esto, puede no converger el algoritmo!</a:t>
            </a:r>
            <a:endParaRPr/>
          </a:p>
          <a:p>
            <a:pPr indent="-342900" lvl="0" marL="457200" rtl="0" algn="l">
              <a:spcBef>
                <a:spcPts val="0"/>
              </a:spcBef>
              <a:spcAft>
                <a:spcPts val="0"/>
              </a:spcAft>
              <a:buSzPts val="1800"/>
              <a:buChar char="-"/>
            </a:pPr>
            <a:r>
              <a:rPr lang="es"/>
              <a:t>Luego repasamos, pero lo vamos a hacer con un BFS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19" name="Google Shape;319;p56"/>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bl>
          </a:graphicData>
        </a:graphic>
      </p:graphicFrame>
      <p:pic>
        <p:nvPicPr>
          <p:cNvPr id="320" name="Google Shape;320;p56"/>
          <p:cNvPicPr preferRelativeResize="0"/>
          <p:nvPr/>
        </p:nvPicPr>
        <p:blipFill>
          <a:blip r:embed="rId3">
            <a:alphaModFix/>
          </a:blip>
          <a:stretch>
            <a:fillRect/>
          </a:stretch>
        </p:blipFill>
        <p:spPr>
          <a:xfrm>
            <a:off x="152400" y="1210625"/>
            <a:ext cx="4973126" cy="22203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26" name="Google Shape;326;p57"/>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11</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11</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11</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bl>
          </a:graphicData>
        </a:graphic>
      </p:graphicFrame>
      <p:pic>
        <p:nvPicPr>
          <p:cNvPr id="327" name="Google Shape;327;p57"/>
          <p:cNvPicPr preferRelativeResize="0"/>
          <p:nvPr/>
        </p:nvPicPr>
        <p:blipFill>
          <a:blip r:embed="rId3">
            <a:alphaModFix/>
          </a:blip>
          <a:stretch>
            <a:fillRect/>
          </a:stretch>
        </p:blipFill>
        <p:spPr>
          <a:xfrm>
            <a:off x="152400" y="1210625"/>
            <a:ext cx="4973126" cy="222034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33" name="Google Shape;333;p58"/>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bl>
          </a:graphicData>
        </a:graphic>
      </p:graphicFrame>
      <p:pic>
        <p:nvPicPr>
          <p:cNvPr id="334" name="Google Shape;334;p58"/>
          <p:cNvPicPr preferRelativeResize="0"/>
          <p:nvPr/>
        </p:nvPicPr>
        <p:blipFill>
          <a:blip r:embed="rId3">
            <a:alphaModFix/>
          </a:blip>
          <a:stretch>
            <a:fillRect/>
          </a:stretch>
        </p:blipFill>
        <p:spPr>
          <a:xfrm>
            <a:off x="76200" y="1134425"/>
            <a:ext cx="4973126" cy="211969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40" name="Google Shape;340;p59"/>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4</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4</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4</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bl>
          </a:graphicData>
        </a:graphic>
      </p:graphicFrame>
      <p:pic>
        <p:nvPicPr>
          <p:cNvPr id="341" name="Google Shape;341;p59"/>
          <p:cNvPicPr preferRelativeResize="0"/>
          <p:nvPr/>
        </p:nvPicPr>
        <p:blipFill>
          <a:blip r:embed="rId3">
            <a:alphaModFix/>
          </a:blip>
          <a:stretch>
            <a:fillRect/>
          </a:stretch>
        </p:blipFill>
        <p:spPr>
          <a:xfrm>
            <a:off x="76200" y="1134425"/>
            <a:ext cx="4973126" cy="211969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47" name="Google Shape;347;p60"/>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bl>
          </a:graphicData>
        </a:graphic>
      </p:graphicFrame>
      <p:pic>
        <p:nvPicPr>
          <p:cNvPr id="348" name="Google Shape;348;p60"/>
          <p:cNvPicPr preferRelativeResize="0"/>
          <p:nvPr/>
        </p:nvPicPr>
        <p:blipFill>
          <a:blip r:embed="rId3">
            <a:alphaModFix/>
          </a:blip>
          <a:stretch>
            <a:fillRect/>
          </a:stretch>
        </p:blipFill>
        <p:spPr>
          <a:xfrm>
            <a:off x="152400" y="1210625"/>
            <a:ext cx="4973125" cy="211049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54" name="Google Shape;354;p61"/>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11</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18</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11</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7</a:t>
                      </a:r>
                      <a:endParaRPr>
                        <a:solidFill>
                          <a:srgbClr val="FF0000"/>
                        </a:solidFill>
                      </a:endParaRPr>
                    </a:p>
                  </a:txBody>
                  <a:tcPr marT="91425" marB="91425" marR="91425" marL="91425"/>
                </a:tc>
              </a:tr>
            </a:tbl>
          </a:graphicData>
        </a:graphic>
      </p:graphicFrame>
      <p:pic>
        <p:nvPicPr>
          <p:cNvPr id="355" name="Google Shape;355;p61"/>
          <p:cNvPicPr preferRelativeResize="0"/>
          <p:nvPr/>
        </p:nvPicPr>
        <p:blipFill>
          <a:blip r:embed="rId3">
            <a:alphaModFix/>
          </a:blip>
          <a:stretch>
            <a:fillRect/>
          </a:stretch>
        </p:blipFill>
        <p:spPr>
          <a:xfrm>
            <a:off x="152400" y="1210625"/>
            <a:ext cx="4973125" cy="211049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61" name="Google Shape;361;p62"/>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18</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0</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7</a:t>
                      </a:r>
                      <a:endParaRPr/>
                    </a:p>
                  </a:txBody>
                  <a:tcPr marT="91425" marB="91425" marR="91425" marL="91425"/>
                </a:tc>
              </a:tr>
            </a:tbl>
          </a:graphicData>
        </a:graphic>
      </p:graphicFrame>
      <p:pic>
        <p:nvPicPr>
          <p:cNvPr id="362" name="Google Shape;362;p62"/>
          <p:cNvPicPr preferRelativeResize="0"/>
          <p:nvPr/>
        </p:nvPicPr>
        <p:blipFill>
          <a:blip r:embed="rId3">
            <a:alphaModFix/>
          </a:blip>
          <a:stretch>
            <a:fillRect/>
          </a:stretch>
        </p:blipFill>
        <p:spPr>
          <a:xfrm>
            <a:off x="152400" y="1210625"/>
            <a:ext cx="4973126" cy="214153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68" name="Google Shape;368;p63"/>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12</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12</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19</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7</a:t>
                      </a:r>
                      <a:endParaRPr/>
                    </a:p>
                  </a:txBody>
                  <a:tcPr marT="91425" marB="91425" marR="91425" marL="91425"/>
                </a:tc>
              </a:tr>
            </a:tbl>
          </a:graphicData>
        </a:graphic>
      </p:graphicFrame>
      <p:pic>
        <p:nvPicPr>
          <p:cNvPr id="369" name="Google Shape;369;p63"/>
          <p:cNvPicPr preferRelativeResize="0"/>
          <p:nvPr/>
        </p:nvPicPr>
        <p:blipFill>
          <a:blip r:embed="rId3">
            <a:alphaModFix/>
          </a:blip>
          <a:stretch>
            <a:fillRect/>
          </a:stretch>
        </p:blipFill>
        <p:spPr>
          <a:xfrm>
            <a:off x="152400" y="1210625"/>
            <a:ext cx="4973126" cy="214153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75" name="Google Shape;375;p64"/>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19</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7</a:t>
                      </a:r>
                      <a:endParaRPr/>
                    </a:p>
                  </a:txBody>
                  <a:tcPr marT="91425" marB="91425" marR="91425" marL="91425"/>
                </a:tc>
              </a:tr>
            </a:tbl>
          </a:graphicData>
        </a:graphic>
      </p:graphicFrame>
      <p:pic>
        <p:nvPicPr>
          <p:cNvPr id="376" name="Google Shape;376;p64"/>
          <p:cNvPicPr preferRelativeResize="0"/>
          <p:nvPr/>
        </p:nvPicPr>
        <p:blipFill>
          <a:blip r:embed="rId3">
            <a:alphaModFix/>
          </a:blip>
          <a:stretch>
            <a:fillRect/>
          </a:stretch>
        </p:blipFill>
        <p:spPr>
          <a:xfrm>
            <a:off x="152400" y="1210625"/>
            <a:ext cx="4973125" cy="21705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 red original</a:t>
            </a:r>
            <a:endParaRPr/>
          </a:p>
        </p:txBody>
      </p:sp>
      <p:graphicFrame>
        <p:nvGraphicFramePr>
          <p:cNvPr id="382" name="Google Shape;382;p65"/>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19</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7</a:t>
                      </a:r>
                      <a:endParaRPr/>
                    </a:p>
                  </a:txBody>
                  <a:tcPr marT="91425" marB="91425" marR="91425" marL="91425"/>
                </a:tc>
              </a:tr>
            </a:tbl>
          </a:graphicData>
        </a:graphic>
      </p:graphicFrame>
      <p:pic>
        <p:nvPicPr>
          <p:cNvPr id="383" name="Google Shape;383;p65"/>
          <p:cNvPicPr preferRelativeResize="0"/>
          <p:nvPr/>
        </p:nvPicPr>
        <p:blipFill>
          <a:blip r:embed="rId3">
            <a:alphaModFix/>
          </a:blip>
          <a:stretch>
            <a:fillRect/>
          </a:stretch>
        </p:blipFill>
        <p:spPr>
          <a:xfrm>
            <a:off x="152400" y="1210625"/>
            <a:ext cx="4973126" cy="222034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389" name="Google Shape;389;p66"/>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19</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7</a:t>
                      </a:r>
                      <a:endParaRPr/>
                    </a:p>
                  </a:txBody>
                  <a:tcPr marT="91425" marB="91425" marR="91425" marL="91425"/>
                </a:tc>
              </a:tr>
            </a:tbl>
          </a:graphicData>
        </a:graphic>
      </p:graphicFrame>
      <p:pic>
        <p:nvPicPr>
          <p:cNvPr id="390" name="Google Shape;390;p66"/>
          <p:cNvPicPr preferRelativeResize="0"/>
          <p:nvPr/>
        </p:nvPicPr>
        <p:blipFill>
          <a:blip r:embed="rId3">
            <a:alphaModFix/>
          </a:blip>
          <a:stretch>
            <a:fillRect/>
          </a:stretch>
        </p:blipFill>
        <p:spPr>
          <a:xfrm>
            <a:off x="152400" y="1210625"/>
            <a:ext cx="4973125" cy="2170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 más capacidad</a:t>
            </a:r>
            <a:endParaRPr/>
          </a:p>
        </p:txBody>
      </p:sp>
      <p:graphicFrame>
        <p:nvGraphicFramePr>
          <p:cNvPr id="396" name="Google Shape;396;p67"/>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12</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19</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4</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7</a:t>
                      </a:r>
                      <a:endParaRPr/>
                    </a:p>
                  </a:txBody>
                  <a:tcPr marT="91425" marB="91425" marR="91425" marL="91425"/>
                </a:tc>
              </a:tr>
            </a:tbl>
          </a:graphicData>
        </a:graphic>
      </p:graphicFrame>
      <p:pic>
        <p:nvPicPr>
          <p:cNvPr id="397" name="Google Shape;397;p67"/>
          <p:cNvPicPr preferRelativeResize="0"/>
          <p:nvPr/>
        </p:nvPicPr>
        <p:blipFill>
          <a:blip r:embed="rId3">
            <a:alphaModFix/>
          </a:blip>
          <a:stretch>
            <a:fillRect/>
          </a:stretch>
        </p:blipFill>
        <p:spPr>
          <a:xfrm>
            <a:off x="152400" y="1210625"/>
            <a:ext cx="4973126" cy="21144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403" name="Google Shape;403;p68"/>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13</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13</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19</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5</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solidFill>
                            <a:srgbClr val="FF0000"/>
                          </a:solidFill>
                        </a:rPr>
                        <a:t>2</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solidFill>
                            <a:srgbClr val="0000FF"/>
                          </a:solidFill>
                        </a:rPr>
                        <a:t>6</a:t>
                      </a:r>
                      <a:endParaRPr>
                        <a:solidFill>
                          <a:srgbClr val="0000FF"/>
                        </a:solidFill>
                      </a:endParaRPr>
                    </a:p>
                  </a:txBody>
                  <a:tcPr marT="91425" marB="91425" marR="91425" marL="91425"/>
                </a:tc>
              </a:tr>
            </a:tbl>
          </a:graphicData>
        </a:graphic>
      </p:graphicFrame>
      <p:pic>
        <p:nvPicPr>
          <p:cNvPr id="404" name="Google Shape;404;p68"/>
          <p:cNvPicPr preferRelativeResize="0"/>
          <p:nvPr/>
        </p:nvPicPr>
        <p:blipFill>
          <a:blip r:embed="rId3">
            <a:alphaModFix/>
          </a:blip>
          <a:stretch>
            <a:fillRect/>
          </a:stretch>
        </p:blipFill>
        <p:spPr>
          <a:xfrm>
            <a:off x="152400" y="1210625"/>
            <a:ext cx="4973126" cy="21144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graphicFrame>
        <p:nvGraphicFramePr>
          <p:cNvPr id="410" name="Google Shape;410;p69"/>
          <p:cNvGraphicFramePr/>
          <p:nvPr/>
        </p:nvGraphicFramePr>
        <p:xfrm>
          <a:off x="5277925" y="874650"/>
          <a:ext cx="3000000" cy="3000000"/>
        </p:xfrm>
        <a:graphic>
          <a:graphicData uri="http://schemas.openxmlformats.org/drawingml/2006/table">
            <a:tbl>
              <a:tblPr>
                <a:noFill/>
                <a:tableStyleId>{92CE33B1-1C90-4913-8629-4357D7C973F6}</a:tableStyleId>
              </a:tblPr>
              <a:tblGrid>
                <a:gridCol w="1376275"/>
                <a:gridCol w="1376275"/>
              </a:tblGrid>
              <a:tr h="381000">
                <a:tc>
                  <a:txBody>
                    <a:bodyPr/>
                    <a:lstStyle/>
                    <a:p>
                      <a:pPr indent="0" lvl="0" marL="0" rtl="0" algn="l">
                        <a:spcBef>
                          <a:spcPts val="0"/>
                        </a:spcBef>
                        <a:spcAft>
                          <a:spcPts val="0"/>
                        </a:spcAft>
                        <a:buNone/>
                      </a:pPr>
                      <a:r>
                        <a:rPr lang="es"/>
                        <a:t>Arista</a:t>
                      </a:r>
                      <a:endParaRPr/>
                    </a:p>
                  </a:txBody>
                  <a:tcPr marT="91425" marB="91425" marR="91425" marL="91425"/>
                </a:tc>
                <a:tc>
                  <a:txBody>
                    <a:bodyPr/>
                    <a:lstStyle/>
                    <a:p>
                      <a:pPr indent="0" lvl="0" marL="0" rtl="0" algn="l">
                        <a:spcBef>
                          <a:spcPts val="0"/>
                        </a:spcBef>
                        <a:spcAft>
                          <a:spcPts val="0"/>
                        </a:spcAft>
                        <a:buNone/>
                      </a:pPr>
                      <a:r>
                        <a:rPr lang="es"/>
                        <a:t>Flujo</a:t>
                      </a:r>
                      <a:endParaRPr/>
                    </a:p>
                  </a:txBody>
                  <a:tcPr marT="91425" marB="91425" marR="91425" marL="91425"/>
                </a:tc>
              </a:tr>
              <a:tr h="381000">
                <a:tc>
                  <a:txBody>
                    <a:bodyPr/>
                    <a:lstStyle/>
                    <a:p>
                      <a:pPr indent="0" lvl="0" marL="0" rtl="0" algn="l">
                        <a:spcBef>
                          <a:spcPts val="0"/>
                        </a:spcBef>
                        <a:spcAft>
                          <a:spcPts val="0"/>
                        </a:spcAft>
                        <a:buNone/>
                      </a:pPr>
                      <a:r>
                        <a:rPr lang="es"/>
                        <a:t>0, 1</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0, 2</a:t>
                      </a:r>
                      <a:endParaRPr/>
                    </a:p>
                  </a:txBody>
                  <a:tcPr marT="91425" marB="91425" marR="91425" marL="91425"/>
                </a:tc>
                <a:tc>
                  <a:txBody>
                    <a:bodyPr/>
                    <a:lstStyle/>
                    <a:p>
                      <a:pPr indent="0" lvl="0" marL="0" rtl="0" algn="l">
                        <a:spcBef>
                          <a:spcPts val="0"/>
                        </a:spcBef>
                        <a:spcAft>
                          <a:spcPts val="0"/>
                        </a:spcAft>
                        <a:buNone/>
                      </a:pPr>
                      <a:r>
                        <a:rPr lang="es"/>
                        <a:t>13</a:t>
                      </a:r>
                      <a:endParaRPr/>
                    </a:p>
                  </a:txBody>
                  <a:tcPr marT="91425" marB="91425" marR="91425" marL="91425"/>
                </a:tc>
              </a:tr>
              <a:tr h="381000">
                <a:tc>
                  <a:txBody>
                    <a:bodyPr/>
                    <a:lstStyle/>
                    <a:p>
                      <a:pPr indent="0" lvl="0" marL="0" rtl="0" algn="l">
                        <a:spcBef>
                          <a:spcPts val="0"/>
                        </a:spcBef>
                        <a:spcAft>
                          <a:spcPts val="0"/>
                        </a:spcAft>
                        <a:buNone/>
                      </a:pPr>
                      <a:r>
                        <a:rPr lang="es"/>
                        <a:t>1, 3</a:t>
                      </a:r>
                      <a:endParaRPr/>
                    </a:p>
                  </a:txBody>
                  <a:tcPr marT="91425" marB="91425" marR="91425" marL="91425"/>
                </a:tc>
                <a:tc>
                  <a:txBody>
                    <a:bodyPr/>
                    <a:lstStyle/>
                    <a:p>
                      <a:pPr indent="0" lvl="0" marL="0" rtl="0" algn="l">
                        <a:spcBef>
                          <a:spcPts val="0"/>
                        </a:spcBef>
                        <a:spcAft>
                          <a:spcPts val="0"/>
                        </a:spcAft>
                        <a:buNone/>
                      </a:pPr>
                      <a:r>
                        <a:rPr lang="es"/>
                        <a:t>13</a:t>
                      </a:r>
                      <a:endParaRPr/>
                    </a:p>
                  </a:txBody>
                  <a:tcPr marT="91425" marB="91425" marR="91425" marL="91425"/>
                </a:tc>
              </a:tr>
              <a:tr h="381000">
                <a:tc>
                  <a:txBody>
                    <a:bodyPr/>
                    <a:lstStyle/>
                    <a:p>
                      <a:pPr indent="0" lvl="0" marL="0" rtl="0" algn="l">
                        <a:spcBef>
                          <a:spcPts val="0"/>
                        </a:spcBef>
                        <a:spcAft>
                          <a:spcPts val="0"/>
                        </a:spcAft>
                        <a:buNone/>
                      </a:pPr>
                      <a:r>
                        <a:rPr lang="es"/>
                        <a:t>3, 5</a:t>
                      </a:r>
                      <a:endParaRPr/>
                    </a:p>
                  </a:txBody>
                  <a:tcPr marT="91425" marB="91425" marR="91425" marL="91425"/>
                </a:tc>
                <a:tc>
                  <a:txBody>
                    <a:bodyPr/>
                    <a:lstStyle/>
                    <a:p>
                      <a:pPr indent="0" lvl="0" marL="0" rtl="0" algn="l">
                        <a:spcBef>
                          <a:spcPts val="0"/>
                        </a:spcBef>
                        <a:spcAft>
                          <a:spcPts val="0"/>
                        </a:spcAft>
                        <a:buNone/>
                      </a:pPr>
                      <a:r>
                        <a:rPr lang="es"/>
                        <a:t>19</a:t>
                      </a:r>
                      <a:endParaRPr/>
                    </a:p>
                  </a:txBody>
                  <a:tcPr marT="91425" marB="91425" marR="91425" marL="91425"/>
                </a:tc>
              </a:tr>
              <a:tr h="381000">
                <a:tc>
                  <a:txBody>
                    <a:bodyPr/>
                    <a:lstStyle/>
                    <a:p>
                      <a:pPr indent="0" lvl="0" marL="0" rtl="0" algn="l">
                        <a:spcBef>
                          <a:spcPts val="0"/>
                        </a:spcBef>
                        <a:spcAft>
                          <a:spcPts val="0"/>
                        </a:spcAft>
                        <a:buNone/>
                      </a:pPr>
                      <a:r>
                        <a:rPr lang="es"/>
                        <a:t>4, 5</a:t>
                      </a:r>
                      <a:endParaRPr/>
                    </a:p>
                  </a:txBody>
                  <a:tcPr marT="91425" marB="91425" marR="91425" marL="91425"/>
                </a:tc>
                <a:tc>
                  <a:txBody>
                    <a:bodyPr/>
                    <a:lstStyle/>
                    <a:p>
                      <a:pPr indent="0" lvl="0" marL="0" rtl="0" algn="l">
                        <a:spcBef>
                          <a:spcPts val="0"/>
                        </a:spcBef>
                        <a:spcAft>
                          <a:spcPts val="0"/>
                        </a:spcAft>
                        <a:buNone/>
                      </a:pPr>
                      <a:r>
                        <a:rPr lang="es"/>
                        <a:t>5</a:t>
                      </a:r>
                      <a:endParaRPr/>
                    </a:p>
                  </a:txBody>
                  <a:tcPr marT="91425" marB="91425" marR="91425" marL="91425"/>
                </a:tc>
              </a:tr>
              <a:tr h="381000">
                <a:tc>
                  <a:txBody>
                    <a:bodyPr/>
                    <a:lstStyle/>
                    <a:p>
                      <a:pPr indent="0" lvl="0" marL="0" rtl="0" algn="l">
                        <a:spcBef>
                          <a:spcPts val="0"/>
                        </a:spcBef>
                        <a:spcAft>
                          <a:spcPts val="0"/>
                        </a:spcAft>
                        <a:buNone/>
                      </a:pPr>
                      <a:r>
                        <a:rPr lang="es"/>
                        <a:t>2, 4</a:t>
                      </a:r>
                      <a:endParaRPr/>
                    </a:p>
                  </a:txBody>
                  <a:tcPr marT="91425" marB="91425" marR="91425" marL="91425"/>
                </a:tc>
                <a:tc>
                  <a:txBody>
                    <a:bodyPr/>
                    <a:lstStyle/>
                    <a:p>
                      <a:pPr indent="0" lvl="0" marL="0" rtl="0" algn="l">
                        <a:spcBef>
                          <a:spcPts val="0"/>
                        </a:spcBef>
                        <a:spcAft>
                          <a:spcPts val="0"/>
                        </a:spcAft>
                        <a:buNone/>
                      </a:pPr>
                      <a:r>
                        <a:rPr lang="es"/>
                        <a:t>11</a:t>
                      </a:r>
                      <a:endParaRPr/>
                    </a:p>
                  </a:txBody>
                  <a:tcPr marT="91425" marB="91425" marR="91425" marL="91425"/>
                </a:tc>
              </a:tr>
              <a:tr h="381000">
                <a:tc>
                  <a:txBody>
                    <a:bodyPr/>
                    <a:lstStyle/>
                    <a:p>
                      <a:pPr indent="0" lvl="0" marL="0" rtl="0" algn="l">
                        <a:spcBef>
                          <a:spcPts val="0"/>
                        </a:spcBef>
                        <a:spcAft>
                          <a:spcPts val="0"/>
                        </a:spcAft>
                        <a:buNone/>
                      </a:pPr>
                      <a:r>
                        <a:rPr lang="es"/>
                        <a:t>2, 1</a:t>
                      </a:r>
                      <a:endParaRPr/>
                    </a:p>
                  </a:txBody>
                  <a:tcPr marT="91425" marB="91425" marR="91425" marL="91425"/>
                </a:tc>
                <a:tc>
                  <a:txBody>
                    <a:bodyPr/>
                    <a:lstStyle/>
                    <a:p>
                      <a:pPr indent="0" lvl="0" marL="0" rtl="0" algn="l">
                        <a:spcBef>
                          <a:spcPts val="0"/>
                        </a:spcBef>
                        <a:spcAft>
                          <a:spcPts val="0"/>
                        </a:spcAft>
                        <a:buNone/>
                      </a:pPr>
                      <a:r>
                        <a:rPr lang="es"/>
                        <a:t>2</a:t>
                      </a:r>
                      <a:endParaRPr/>
                    </a:p>
                  </a:txBody>
                  <a:tcPr marT="91425" marB="91425" marR="91425" marL="91425"/>
                </a:tc>
              </a:tr>
              <a:tr h="381000">
                <a:tc>
                  <a:txBody>
                    <a:bodyPr/>
                    <a:lstStyle/>
                    <a:p>
                      <a:pPr indent="0" lvl="0" marL="0" rtl="0" algn="l">
                        <a:spcBef>
                          <a:spcPts val="0"/>
                        </a:spcBef>
                        <a:spcAft>
                          <a:spcPts val="0"/>
                        </a:spcAft>
                        <a:buNone/>
                      </a:pPr>
                      <a:r>
                        <a:rPr lang="es"/>
                        <a:t>4, 3</a:t>
                      </a:r>
                      <a:endParaRPr/>
                    </a:p>
                  </a:txBody>
                  <a:tcPr marT="91425" marB="91425" marR="91425" marL="91425"/>
                </a:tc>
                <a:tc>
                  <a:txBody>
                    <a:bodyPr/>
                    <a:lstStyle/>
                    <a:p>
                      <a:pPr indent="0" lvl="0" marL="0" rtl="0" algn="l">
                        <a:spcBef>
                          <a:spcPts val="0"/>
                        </a:spcBef>
                        <a:spcAft>
                          <a:spcPts val="0"/>
                        </a:spcAft>
                        <a:buNone/>
                      </a:pPr>
                      <a:r>
                        <a:rPr lang="es"/>
                        <a:t>6</a:t>
                      </a:r>
                      <a:endParaRPr/>
                    </a:p>
                  </a:txBody>
                  <a:tcPr marT="91425" marB="91425" marR="91425" marL="91425"/>
                </a:tc>
              </a:tr>
            </a:tbl>
          </a:graphicData>
        </a:graphic>
      </p:graphicFrame>
      <p:pic>
        <p:nvPicPr>
          <p:cNvPr id="411" name="Google Shape;411;p69"/>
          <p:cNvPicPr preferRelativeResize="0"/>
          <p:nvPr/>
        </p:nvPicPr>
        <p:blipFill>
          <a:blip r:embed="rId3">
            <a:alphaModFix/>
          </a:blip>
          <a:stretch>
            <a:fillRect/>
          </a:stretch>
        </p:blipFill>
        <p:spPr>
          <a:xfrm>
            <a:off x="152400" y="1210625"/>
            <a:ext cx="4973125" cy="213820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Ford-Fulkerson: Código</a:t>
            </a:r>
            <a:endParaRPr/>
          </a:p>
        </p:txBody>
      </p:sp>
      <p:sp>
        <p:nvSpPr>
          <p:cNvPr id="417" name="Google Shape;417;p7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23" name="Google Shape;423;p71"/>
          <p:cNvSpPr txBox="1"/>
          <p:nvPr>
            <p:ph idx="1" type="body"/>
          </p:nvPr>
        </p:nvSpPr>
        <p:spPr>
          <a:xfrm>
            <a:off x="69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latin typeface="Consolas"/>
                <a:ea typeface="Consolas"/>
                <a:cs typeface="Consolas"/>
                <a:sym typeface="Consolas"/>
              </a:rPr>
              <a:t>def flujo(grafo, s, t):</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200">
                <a:solidFill>
                  <a:srgbClr val="FF0000"/>
                </a:solidFill>
                <a:latin typeface="Consolas"/>
                <a:ea typeface="Consolas"/>
                <a:cs typeface="Consolas"/>
                <a:sym typeface="Consolas"/>
              </a:rPr>
              <a:t>flujo = {}</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200">
                <a:solidFill>
                  <a:srgbClr val="FF0000"/>
                </a:solidFill>
                <a:latin typeface="Consolas"/>
                <a:ea typeface="Consolas"/>
                <a:cs typeface="Consolas"/>
                <a:sym typeface="Consolas"/>
              </a:rPr>
              <a:t>	for v in grafo:</a:t>
            </a:r>
            <a:endParaRPr sz="12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200">
                <a:solidFill>
                  <a:srgbClr val="FF0000"/>
                </a:solidFill>
                <a:latin typeface="Consolas"/>
                <a:ea typeface="Consolas"/>
                <a:cs typeface="Consolas"/>
                <a:sym typeface="Consolas"/>
              </a:rPr>
              <a:t>		for w in grafo.adyacentes(v):</a:t>
            </a:r>
            <a:endParaRPr sz="1200">
              <a:solidFill>
                <a:srgbClr val="FF0000"/>
              </a:solidFill>
              <a:latin typeface="Consolas"/>
              <a:ea typeface="Consolas"/>
              <a:cs typeface="Consolas"/>
              <a:sym typeface="Consolas"/>
            </a:endParaRPr>
          </a:p>
          <a:p>
            <a:pPr indent="0" lvl="0" marL="0" rtl="0" algn="l">
              <a:spcBef>
                <a:spcPts val="0"/>
              </a:spcBef>
              <a:spcAft>
                <a:spcPts val="0"/>
              </a:spcAft>
              <a:buNone/>
            </a:pPr>
            <a:r>
              <a:rPr lang="es" sz="1200">
                <a:solidFill>
                  <a:srgbClr val="FF0000"/>
                </a:solidFill>
                <a:latin typeface="Consolas"/>
                <a:ea typeface="Consolas"/>
                <a:cs typeface="Consolas"/>
                <a:sym typeface="Consolas"/>
              </a:rPr>
              <a:t>			flujo[(v, w)] = 0</a:t>
            </a:r>
            <a:endParaRPr sz="1200">
              <a:solidFill>
                <a:srgbClr val="FF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Mientras haya un camino en la red residual:</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aumentamos el flujo acorde al camino</a:t>
            </a:r>
            <a:endParaRPr sz="1200">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29" name="Google Shape;429;p72"/>
          <p:cNvSpPr txBox="1"/>
          <p:nvPr>
            <p:ph idx="1" type="body"/>
          </p:nvPr>
        </p:nvSpPr>
        <p:spPr>
          <a:xfrm>
            <a:off x="69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latin typeface="Consolas"/>
                <a:ea typeface="Consolas"/>
                <a:cs typeface="Consolas"/>
                <a:sym typeface="Consolas"/>
              </a:rPr>
              <a:t>def flujo(grafo, s, t):</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200">
                <a:solidFill>
                  <a:srgbClr val="000000"/>
                </a:solidFill>
                <a:latin typeface="Consolas"/>
                <a:ea typeface="Consolas"/>
                <a:cs typeface="Consolas"/>
                <a:sym typeface="Consolas"/>
              </a:rPr>
              <a:t>flujo = {}</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v in 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w in grafo.adyacentes(v):</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flujo[(v, w)] = 0</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FF0000"/>
                </a:solidFill>
                <a:latin typeface="Consolas"/>
                <a:ea typeface="Consolas"/>
                <a:cs typeface="Consolas"/>
                <a:sym typeface="Consolas"/>
              </a:rPr>
              <a:t>	</a:t>
            </a:r>
            <a:r>
              <a:rPr lang="es" sz="1100">
                <a:solidFill>
                  <a:srgbClr val="FF0000"/>
                </a:solidFill>
                <a:latin typeface="Consolas"/>
                <a:ea typeface="Consolas"/>
                <a:cs typeface="Consolas"/>
                <a:sym typeface="Consolas"/>
              </a:rPr>
              <a:t>grafo_residual = copiar(grafo)</a:t>
            </a:r>
            <a:endParaRPr sz="1200">
              <a:solidFill>
                <a:srgbClr val="FF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Mientras haya un camino en la red residual:</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aumentamos el flujo acorde al camino</a:t>
            </a:r>
            <a:endParaRPr sz="1200">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35" name="Google Shape;435;p73"/>
          <p:cNvSpPr txBox="1"/>
          <p:nvPr>
            <p:ph idx="1" type="body"/>
          </p:nvPr>
        </p:nvSpPr>
        <p:spPr>
          <a:xfrm>
            <a:off x="69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latin typeface="Consolas"/>
                <a:ea typeface="Consolas"/>
                <a:cs typeface="Consolas"/>
                <a:sym typeface="Consolas"/>
              </a:rPr>
              <a:t>def flujo(grafo, s, t):</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200">
                <a:solidFill>
                  <a:srgbClr val="000000"/>
                </a:solidFill>
                <a:latin typeface="Consolas"/>
                <a:ea typeface="Consolas"/>
                <a:cs typeface="Consolas"/>
                <a:sym typeface="Consolas"/>
              </a:rPr>
              <a:t>flujo = {}</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v in 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w in grafo.adyacentes(v):</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flujo[(v, w)] = 0</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a:t>
            </a:r>
            <a:r>
              <a:rPr lang="es" sz="1100">
                <a:solidFill>
                  <a:srgbClr val="000000"/>
                </a:solidFill>
                <a:latin typeface="Consolas"/>
                <a:ea typeface="Consolas"/>
                <a:cs typeface="Consolas"/>
                <a:sym typeface="Consolas"/>
              </a:rPr>
              <a:t>grafo_residual = copiar(grafo)</a:t>
            </a:r>
            <a:endParaRPr sz="1200">
              <a:solidFill>
                <a:srgbClr val="00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200">
                <a:solidFill>
                  <a:srgbClr val="FF0000"/>
                </a:solidFill>
                <a:latin typeface="Consolas"/>
                <a:ea typeface="Consolas"/>
                <a:cs typeface="Consolas"/>
                <a:sym typeface="Consolas"/>
              </a:rPr>
              <a:t>	</a:t>
            </a:r>
            <a:r>
              <a:rPr lang="es" sz="1100">
                <a:solidFill>
                  <a:srgbClr val="FF0000"/>
                </a:solidFill>
                <a:latin typeface="Consolas"/>
                <a:ea typeface="Consolas"/>
                <a:cs typeface="Consolas"/>
                <a:sym typeface="Consolas"/>
              </a:rPr>
              <a:t>while (camino = obtener_camino(grafo_residual, s, t)) is not None:</a:t>
            </a:r>
            <a:endParaRPr sz="1200">
              <a:solidFill>
                <a:srgbClr val="FF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aumentamos el flujo acorde al camino</a:t>
            </a:r>
            <a:endParaRPr sz="1200">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41" name="Google Shape;441;p74"/>
          <p:cNvSpPr txBox="1"/>
          <p:nvPr>
            <p:ph idx="1" type="body"/>
          </p:nvPr>
        </p:nvSpPr>
        <p:spPr>
          <a:xfrm>
            <a:off x="6900" y="1171600"/>
            <a:ext cx="9087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latin typeface="Consolas"/>
                <a:ea typeface="Consolas"/>
                <a:cs typeface="Consolas"/>
                <a:sym typeface="Consolas"/>
              </a:rPr>
              <a:t>def flujo(grafo, s, t):</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200">
                <a:solidFill>
                  <a:srgbClr val="000000"/>
                </a:solidFill>
                <a:latin typeface="Consolas"/>
                <a:ea typeface="Consolas"/>
                <a:cs typeface="Consolas"/>
                <a:sym typeface="Consolas"/>
              </a:rPr>
              <a:t>flujo = {}</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v in 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w in grafo.adyacentes(v):</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flujo[(v, w)] = 0</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FF0000"/>
                </a:solidFill>
                <a:latin typeface="Consolas"/>
                <a:ea typeface="Consolas"/>
                <a:cs typeface="Consolas"/>
                <a:sym typeface="Consolas"/>
              </a:rPr>
              <a:t>	</a:t>
            </a:r>
            <a:r>
              <a:rPr lang="es" sz="1100">
                <a:solidFill>
                  <a:srgbClr val="000000"/>
                </a:solidFill>
                <a:latin typeface="Consolas"/>
                <a:ea typeface="Consolas"/>
                <a:cs typeface="Consolas"/>
                <a:sym typeface="Consolas"/>
              </a:rPr>
              <a:t>grafo_residual = copiar(grafo)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solidFill>
                  <a:srgbClr val="000000"/>
                </a:solidFill>
                <a:latin typeface="Consolas"/>
                <a:ea typeface="Consolas"/>
                <a:cs typeface="Consolas"/>
                <a:sym typeface="Consolas"/>
              </a:rPr>
              <a:t>while (camino = obtener_camino(grafo_residual, s, t)) is not None:</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solidFill>
                  <a:srgbClr val="FF0000"/>
                </a:solidFill>
                <a:latin typeface="Consolas"/>
                <a:ea typeface="Consolas"/>
                <a:cs typeface="Consolas"/>
                <a:sym typeface="Consolas"/>
              </a:rPr>
              <a:t>capacidad_residual_camino = min_peso(grafo_residual, camino)</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100">
                <a:latin typeface="Consolas"/>
                <a:ea typeface="Consolas"/>
                <a:cs typeface="Consolas"/>
                <a:sym typeface="Consolas"/>
              </a:rPr>
              <a:t>		</a:t>
            </a:r>
            <a:r>
              <a:rPr lang="es" sz="1100">
                <a:solidFill>
                  <a:srgbClr val="FF0000"/>
                </a:solidFill>
                <a:latin typeface="Consolas"/>
                <a:ea typeface="Consolas"/>
                <a:cs typeface="Consolas"/>
                <a:sym typeface="Consolas"/>
              </a:rPr>
              <a:t>for i in range(1, len(camino)):</a:t>
            </a:r>
            <a:endParaRPr sz="11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100">
                <a:latin typeface="Consolas"/>
                <a:ea typeface="Consolas"/>
                <a:cs typeface="Consolas"/>
                <a:sym typeface="Consolas"/>
              </a:rPr>
              <a:t>			if grafo.hay_arista(camino[i-1], camino[i]):</a:t>
            </a:r>
            <a:endParaRPr sz="11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100">
                <a:latin typeface="Consolas"/>
                <a:ea typeface="Consolas"/>
                <a:cs typeface="Consolas"/>
                <a:sym typeface="Consolas"/>
              </a:rPr>
              <a:t>				flujo[(camino[i-1], camino[i])] += capacidad_residual_camino</a:t>
            </a:r>
            <a:endParaRPr sz="11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100">
                <a:latin typeface="Consolas"/>
                <a:ea typeface="Consolas"/>
                <a:cs typeface="Consolas"/>
                <a:sym typeface="Consolas"/>
              </a:rPr>
              <a:t>			else:</a:t>
            </a:r>
            <a:endParaRPr sz="11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100">
                <a:latin typeface="Consolas"/>
                <a:ea typeface="Consolas"/>
                <a:cs typeface="Consolas"/>
                <a:sym typeface="Consolas"/>
              </a:rPr>
              <a:t>				flujo[(camino[i], camino[i-1])] -= capacidad_residual_camino</a:t>
            </a:r>
            <a:endParaRPr sz="11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100">
                <a:latin typeface="Consolas"/>
                <a:ea typeface="Consolas"/>
                <a:cs typeface="Consolas"/>
                <a:sym typeface="Consolas"/>
              </a:rPr>
              <a:t>			actualizar_grafo_residual(grafo_residual, camino[i-1], camino[i], capacidad_residual_camino)</a:t>
            </a:r>
            <a:endParaRPr sz="11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100">
                <a:latin typeface="Consolas"/>
                <a:ea typeface="Consolas"/>
                <a:cs typeface="Consolas"/>
                <a:sym typeface="Consolas"/>
              </a:rPr>
              <a:t>	return flujo</a:t>
            </a:r>
            <a:endParaRPr sz="1200">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47" name="Google Shape;447;p75"/>
          <p:cNvSpPr txBox="1"/>
          <p:nvPr>
            <p:ph idx="1" type="body"/>
          </p:nvPr>
        </p:nvSpPr>
        <p:spPr>
          <a:xfrm>
            <a:off x="6900" y="1171600"/>
            <a:ext cx="9087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latin typeface="Consolas"/>
                <a:ea typeface="Consolas"/>
                <a:cs typeface="Consolas"/>
                <a:sym typeface="Consolas"/>
              </a:rPr>
              <a:t>def flujo(grafo, s, t):</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200">
                <a:solidFill>
                  <a:srgbClr val="000000"/>
                </a:solidFill>
                <a:latin typeface="Consolas"/>
                <a:ea typeface="Consolas"/>
                <a:cs typeface="Consolas"/>
                <a:sym typeface="Consolas"/>
              </a:rPr>
              <a:t>flujo = {}</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v in 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w in grafo.adyacentes(v):</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flujo[(v, w)] = 0</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FF0000"/>
                </a:solidFill>
                <a:latin typeface="Consolas"/>
                <a:ea typeface="Consolas"/>
                <a:cs typeface="Consolas"/>
                <a:sym typeface="Consolas"/>
              </a:rPr>
              <a:t>	</a:t>
            </a:r>
            <a:r>
              <a:rPr lang="es" sz="1100">
                <a:solidFill>
                  <a:srgbClr val="000000"/>
                </a:solidFill>
                <a:latin typeface="Consolas"/>
                <a:ea typeface="Consolas"/>
                <a:cs typeface="Consolas"/>
                <a:sym typeface="Consolas"/>
              </a:rPr>
              <a:t>grafo_residual = copiar(grafo)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solidFill>
                  <a:srgbClr val="000000"/>
                </a:solidFill>
                <a:latin typeface="Consolas"/>
                <a:ea typeface="Consolas"/>
                <a:cs typeface="Consolas"/>
                <a:sym typeface="Consolas"/>
              </a:rPr>
              <a:t>while (camino = obtener_camino(grafo_residual, s, t)) is not None:</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latin typeface="Consolas"/>
                <a:ea typeface="Consolas"/>
                <a:cs typeface="Consolas"/>
                <a:sym typeface="Consolas"/>
              </a:rPr>
              <a:t>capacidad_residual_camino = min_peso(grafo_residual, camino)</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for i in range(1, len(camino)):</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a:t>
            </a:r>
            <a:r>
              <a:rPr lang="es" sz="1100">
                <a:solidFill>
                  <a:srgbClr val="FF0000"/>
                </a:solidFill>
                <a:latin typeface="Consolas"/>
                <a:ea typeface="Consolas"/>
                <a:cs typeface="Consolas"/>
                <a:sym typeface="Consolas"/>
              </a:rPr>
              <a:t>if grafo.hay_arista(camino[i-1], camino[i]):</a:t>
            </a:r>
            <a:endParaRPr sz="1100">
              <a:solidFill>
                <a:srgbClr val="FF0000"/>
              </a:solidFill>
              <a:latin typeface="Consolas"/>
              <a:ea typeface="Consolas"/>
              <a:cs typeface="Consolas"/>
              <a:sym typeface="Consolas"/>
            </a:endParaRPr>
          </a:p>
          <a:p>
            <a:pPr indent="0" lvl="0" marL="0" rtl="0" algn="l">
              <a:spcBef>
                <a:spcPts val="0"/>
              </a:spcBef>
              <a:spcAft>
                <a:spcPts val="0"/>
              </a:spcAft>
              <a:buNone/>
            </a:pPr>
            <a:r>
              <a:rPr lang="es" sz="1100">
                <a:solidFill>
                  <a:srgbClr val="FF0000"/>
                </a:solidFill>
                <a:latin typeface="Consolas"/>
                <a:ea typeface="Consolas"/>
                <a:cs typeface="Consolas"/>
                <a:sym typeface="Consolas"/>
              </a:rPr>
              <a:t>				flujo[(camino[i-1], camino[i])] += capacidad_residual_camino</a:t>
            </a:r>
            <a:endParaRPr sz="1100">
              <a:solidFill>
                <a:srgbClr val="FF0000"/>
              </a:solidFill>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else:</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flujo[(camino[i], camino[i-1])] -= capacidad_residual_camino</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a:t>
            </a:r>
            <a:r>
              <a:rPr lang="es" sz="1100">
                <a:solidFill>
                  <a:srgbClr val="FF0000"/>
                </a:solidFill>
                <a:latin typeface="Consolas"/>
                <a:ea typeface="Consolas"/>
                <a:cs typeface="Consolas"/>
                <a:sym typeface="Consolas"/>
              </a:rPr>
              <a:t>actualizar_grafo_residual(grafo_residual, camino[i-1], camino[i], capacidad_residual_camino)</a:t>
            </a:r>
            <a:endParaRPr sz="1100">
              <a:latin typeface="Consolas"/>
              <a:ea typeface="Consolas"/>
              <a:cs typeface="Consolas"/>
              <a:sym typeface="Consolas"/>
            </a:endParaRPr>
          </a:p>
          <a:p>
            <a:pPr indent="0" lvl="0" marL="0" rtl="0" algn="l">
              <a:spcBef>
                <a:spcPts val="0"/>
              </a:spcBef>
              <a:spcAft>
                <a:spcPts val="0"/>
              </a:spcAft>
              <a:buNone/>
            </a:pPr>
            <a:r>
              <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return flujo</a:t>
            </a:r>
            <a:endParaRPr sz="1200">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53" name="Google Shape;453;p76"/>
          <p:cNvSpPr txBox="1"/>
          <p:nvPr>
            <p:ph idx="1" type="body"/>
          </p:nvPr>
        </p:nvSpPr>
        <p:spPr>
          <a:xfrm>
            <a:off x="6900" y="1171600"/>
            <a:ext cx="9087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latin typeface="Consolas"/>
                <a:ea typeface="Consolas"/>
                <a:cs typeface="Consolas"/>
                <a:sym typeface="Consolas"/>
              </a:rPr>
              <a:t>def flujo(grafo, s, t):</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200">
                <a:solidFill>
                  <a:srgbClr val="000000"/>
                </a:solidFill>
                <a:latin typeface="Consolas"/>
                <a:ea typeface="Consolas"/>
                <a:cs typeface="Consolas"/>
                <a:sym typeface="Consolas"/>
              </a:rPr>
              <a:t>flujo = {}</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v in 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w in grafo.adyacentes(v):</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flujo[(v, w)] = 0</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FF0000"/>
                </a:solidFill>
                <a:latin typeface="Consolas"/>
                <a:ea typeface="Consolas"/>
                <a:cs typeface="Consolas"/>
                <a:sym typeface="Consolas"/>
              </a:rPr>
              <a:t>	</a:t>
            </a:r>
            <a:r>
              <a:rPr lang="es" sz="1100">
                <a:solidFill>
                  <a:srgbClr val="000000"/>
                </a:solidFill>
                <a:latin typeface="Consolas"/>
                <a:ea typeface="Consolas"/>
                <a:cs typeface="Consolas"/>
                <a:sym typeface="Consolas"/>
              </a:rPr>
              <a:t>grafo_residual = copiar(grafo)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solidFill>
                  <a:srgbClr val="000000"/>
                </a:solidFill>
                <a:latin typeface="Consolas"/>
                <a:ea typeface="Consolas"/>
                <a:cs typeface="Consolas"/>
                <a:sym typeface="Consolas"/>
              </a:rPr>
              <a:t>while (camino = obtener_camino(grafo_residual, s, t)) is not None:</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latin typeface="Consolas"/>
                <a:ea typeface="Consolas"/>
                <a:cs typeface="Consolas"/>
                <a:sym typeface="Consolas"/>
              </a:rPr>
              <a:t>capacidad_residual_camino = min_peso(grafo_residual, camino)</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for i in range(1, len(camino)):</a:t>
            </a:r>
            <a:endParaRPr sz="1100">
              <a:latin typeface="Consolas"/>
              <a:ea typeface="Consolas"/>
              <a:cs typeface="Consolas"/>
              <a:sym typeface="Consolas"/>
            </a:endParaRPr>
          </a:p>
          <a:p>
            <a:pPr indent="0" lvl="0" marL="0" rtl="0" algn="l">
              <a:spcBef>
                <a:spcPts val="0"/>
              </a:spcBef>
              <a:spcAft>
                <a:spcPts val="0"/>
              </a:spcAft>
              <a:buNone/>
            </a:pPr>
            <a:r>
              <a:rPr lang="es" sz="1100">
                <a:solidFill>
                  <a:srgbClr val="000000"/>
                </a:solidFill>
                <a:latin typeface="Consolas"/>
                <a:ea typeface="Consolas"/>
                <a:cs typeface="Consolas"/>
                <a:sym typeface="Consolas"/>
              </a:rPr>
              <a:t>			</a:t>
            </a:r>
            <a:r>
              <a:rPr lang="es" sz="1100">
                <a:latin typeface="Consolas"/>
                <a:ea typeface="Consolas"/>
                <a:cs typeface="Consolas"/>
                <a:sym typeface="Consolas"/>
              </a:rPr>
              <a:t>if grafo.hay_arista(camino[i-1], camino[i]):</a:t>
            </a:r>
            <a:endParaRPr sz="1100">
              <a:solidFill>
                <a:srgbClr val="000000"/>
              </a:solidFill>
              <a:latin typeface="Consolas"/>
              <a:ea typeface="Consolas"/>
              <a:cs typeface="Consolas"/>
              <a:sym typeface="Consolas"/>
            </a:endParaRPr>
          </a:p>
          <a:p>
            <a:pPr indent="0" lvl="0" marL="0" rtl="0" algn="l">
              <a:spcBef>
                <a:spcPts val="0"/>
              </a:spcBef>
              <a:spcAft>
                <a:spcPts val="0"/>
              </a:spcAft>
              <a:buNone/>
            </a:pPr>
            <a:r>
              <a:rPr lang="es" sz="1100">
                <a:solidFill>
                  <a:srgbClr val="000000"/>
                </a:solidFill>
                <a:latin typeface="Consolas"/>
                <a:ea typeface="Consolas"/>
                <a:cs typeface="Consolas"/>
                <a:sym typeface="Consolas"/>
              </a:rPr>
              <a:t>				flujo[(camino[i-1], camino[i])] += capacidad_residual_camino</a:t>
            </a:r>
            <a:endParaRPr sz="1100">
              <a:solidFill>
                <a:srgbClr val="000000"/>
              </a:solidFill>
              <a:latin typeface="Consolas"/>
              <a:ea typeface="Consolas"/>
              <a:cs typeface="Consolas"/>
              <a:sym typeface="Consolas"/>
            </a:endParaRPr>
          </a:p>
          <a:p>
            <a:pPr indent="0" lvl="0" marL="0" rtl="0" algn="l">
              <a:spcBef>
                <a:spcPts val="0"/>
              </a:spcBef>
              <a:spcAft>
                <a:spcPts val="0"/>
              </a:spcAft>
              <a:buNone/>
            </a:pPr>
            <a:r>
              <a:rPr lang="es" sz="1100">
                <a:solidFill>
                  <a:srgbClr val="FF0000"/>
                </a:solidFill>
                <a:latin typeface="Consolas"/>
                <a:ea typeface="Consolas"/>
                <a:cs typeface="Consolas"/>
                <a:sym typeface="Consolas"/>
              </a:rPr>
              <a:t>			else:</a:t>
            </a:r>
            <a:endParaRPr sz="1100">
              <a:solidFill>
                <a:srgbClr val="FF0000"/>
              </a:solidFill>
              <a:latin typeface="Consolas"/>
              <a:ea typeface="Consolas"/>
              <a:cs typeface="Consolas"/>
              <a:sym typeface="Consolas"/>
            </a:endParaRPr>
          </a:p>
          <a:p>
            <a:pPr indent="0" lvl="0" marL="0" rtl="0" algn="l">
              <a:spcBef>
                <a:spcPts val="0"/>
              </a:spcBef>
              <a:spcAft>
                <a:spcPts val="0"/>
              </a:spcAft>
              <a:buNone/>
            </a:pPr>
            <a:r>
              <a:rPr lang="es" sz="1100">
                <a:solidFill>
                  <a:srgbClr val="FF0000"/>
                </a:solidFill>
                <a:latin typeface="Consolas"/>
                <a:ea typeface="Consolas"/>
                <a:cs typeface="Consolas"/>
                <a:sym typeface="Consolas"/>
              </a:rPr>
              <a:t>				flujo[(camino[i], camino[i-1])] -= capacidad_residual_camino</a:t>
            </a:r>
            <a:endParaRPr sz="1100">
              <a:solidFill>
                <a:srgbClr val="FF0000"/>
              </a:solidFill>
              <a:latin typeface="Consolas"/>
              <a:ea typeface="Consolas"/>
              <a:cs typeface="Consolas"/>
              <a:sym typeface="Consolas"/>
            </a:endParaRPr>
          </a:p>
          <a:p>
            <a:pPr indent="0" lvl="0" marL="0" rtl="0" algn="l">
              <a:spcBef>
                <a:spcPts val="0"/>
              </a:spcBef>
              <a:spcAft>
                <a:spcPts val="0"/>
              </a:spcAft>
              <a:buNone/>
            </a:pPr>
            <a:r>
              <a:rPr lang="es" sz="1100">
                <a:solidFill>
                  <a:srgbClr val="FF0000"/>
                </a:solidFill>
                <a:latin typeface="Consolas"/>
                <a:ea typeface="Consolas"/>
                <a:cs typeface="Consolas"/>
                <a:sym typeface="Consolas"/>
              </a:rPr>
              <a:t>			actualizar_grafo_residual(grafo_residual, camino[</a:t>
            </a:r>
            <a:r>
              <a:rPr lang="es" sz="1100">
                <a:solidFill>
                  <a:srgbClr val="FF0000"/>
                </a:solidFill>
                <a:latin typeface="Consolas"/>
                <a:ea typeface="Consolas"/>
                <a:cs typeface="Consolas"/>
                <a:sym typeface="Consolas"/>
              </a:rPr>
              <a:t>i-1</a:t>
            </a:r>
            <a:r>
              <a:rPr lang="es" sz="1100">
                <a:solidFill>
                  <a:srgbClr val="FF0000"/>
                </a:solidFill>
                <a:latin typeface="Consolas"/>
                <a:ea typeface="Consolas"/>
                <a:cs typeface="Consolas"/>
                <a:sym typeface="Consolas"/>
              </a:rPr>
              <a:t>], camino[i], capacidad_residual_camino)</a:t>
            </a:r>
            <a:endParaRPr sz="11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return flujo</a:t>
            </a:r>
            <a:endParaRPr sz="1200">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59" name="Google Shape;459;p77"/>
          <p:cNvSpPr txBox="1"/>
          <p:nvPr>
            <p:ph idx="1" type="body"/>
          </p:nvPr>
        </p:nvSpPr>
        <p:spPr>
          <a:xfrm>
            <a:off x="6900" y="1171600"/>
            <a:ext cx="9087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latin typeface="Consolas"/>
                <a:ea typeface="Consolas"/>
                <a:cs typeface="Consolas"/>
                <a:sym typeface="Consolas"/>
              </a:rPr>
              <a:t>def flujo(grafo, s, t):</a:t>
            </a:r>
            <a:endParaRPr sz="1200">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200">
                <a:solidFill>
                  <a:srgbClr val="000000"/>
                </a:solidFill>
                <a:latin typeface="Consolas"/>
                <a:ea typeface="Consolas"/>
                <a:cs typeface="Consolas"/>
                <a:sym typeface="Consolas"/>
              </a:rPr>
              <a:t>flujo = {}</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v in 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for w in grafo.adyacentes(v):</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000000"/>
                </a:solidFill>
                <a:latin typeface="Consolas"/>
                <a:ea typeface="Consolas"/>
                <a:cs typeface="Consolas"/>
                <a:sym typeface="Consolas"/>
              </a:rPr>
              <a:t>			flujo[(v, w)] = 0</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solidFill>
                  <a:srgbClr val="FF0000"/>
                </a:solidFill>
                <a:latin typeface="Consolas"/>
                <a:ea typeface="Consolas"/>
                <a:cs typeface="Consolas"/>
                <a:sym typeface="Consolas"/>
              </a:rPr>
              <a:t>	</a:t>
            </a:r>
            <a:r>
              <a:rPr lang="es" sz="1100">
                <a:solidFill>
                  <a:srgbClr val="000000"/>
                </a:solidFill>
                <a:latin typeface="Consolas"/>
                <a:ea typeface="Consolas"/>
                <a:cs typeface="Consolas"/>
                <a:sym typeface="Consolas"/>
              </a:rPr>
              <a:t>grafo_residual = copiar(grafo)</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solidFill>
                  <a:srgbClr val="000000"/>
                </a:solidFill>
                <a:latin typeface="Consolas"/>
                <a:ea typeface="Consolas"/>
                <a:cs typeface="Consolas"/>
                <a:sym typeface="Consolas"/>
              </a:rPr>
              <a:t>while (camino = obtener_camino(grafo_residual, s, t)) is not None:</a:t>
            </a:r>
            <a:endParaRPr sz="1200">
              <a:solidFill>
                <a:srgbClr val="000000"/>
              </a:solidFill>
              <a:latin typeface="Consolas"/>
              <a:ea typeface="Consolas"/>
              <a:cs typeface="Consolas"/>
              <a:sym typeface="Consolas"/>
            </a:endParaRPr>
          </a:p>
          <a:p>
            <a:pPr indent="0" lvl="0" marL="0" rtl="0" algn="l">
              <a:spcBef>
                <a:spcPts val="0"/>
              </a:spcBef>
              <a:spcAft>
                <a:spcPts val="0"/>
              </a:spcAft>
              <a:buNone/>
            </a:pPr>
            <a:r>
              <a:rPr lang="es" sz="1200">
                <a:latin typeface="Consolas"/>
                <a:ea typeface="Consolas"/>
                <a:cs typeface="Consolas"/>
                <a:sym typeface="Consolas"/>
              </a:rPr>
              <a:t>		</a:t>
            </a:r>
            <a:r>
              <a:rPr lang="es" sz="1100">
                <a:latin typeface="Consolas"/>
                <a:ea typeface="Consolas"/>
                <a:cs typeface="Consolas"/>
                <a:sym typeface="Consolas"/>
              </a:rPr>
              <a:t>capacidad_residual_camino = min_peso(grafo_residual, camino)</a:t>
            </a:r>
            <a:endParaRPr sz="1100">
              <a:latin typeface="Consolas"/>
              <a:ea typeface="Consolas"/>
              <a:cs typeface="Consolas"/>
              <a:sym typeface="Consolas"/>
            </a:endParaRPr>
          </a:p>
          <a:p>
            <a:pPr indent="0" lvl="0" marL="0" rtl="0" algn="l">
              <a:spcBef>
                <a:spcPts val="0"/>
              </a:spcBef>
              <a:spcAft>
                <a:spcPts val="0"/>
              </a:spcAft>
              <a:buNone/>
            </a:pPr>
            <a:r>
              <a:rPr lang="es" sz="1100">
                <a:latin typeface="Consolas"/>
                <a:ea typeface="Consolas"/>
                <a:cs typeface="Consolas"/>
                <a:sym typeface="Consolas"/>
              </a:rPr>
              <a:t>		for i in range(1, len(camino)):</a:t>
            </a:r>
            <a:endParaRPr sz="1100">
              <a:latin typeface="Consolas"/>
              <a:ea typeface="Consolas"/>
              <a:cs typeface="Consolas"/>
              <a:sym typeface="Consolas"/>
            </a:endParaRPr>
          </a:p>
          <a:p>
            <a:pPr indent="0" lvl="0" marL="0" rtl="0" algn="l">
              <a:spcBef>
                <a:spcPts val="0"/>
              </a:spcBef>
              <a:spcAft>
                <a:spcPts val="0"/>
              </a:spcAft>
              <a:buNone/>
            </a:pPr>
            <a:r>
              <a:rPr lang="es" sz="1100">
                <a:solidFill>
                  <a:srgbClr val="000000"/>
                </a:solidFill>
                <a:latin typeface="Consolas"/>
                <a:ea typeface="Consolas"/>
                <a:cs typeface="Consolas"/>
                <a:sym typeface="Consolas"/>
              </a:rPr>
              <a:t>			</a:t>
            </a:r>
            <a:r>
              <a:rPr lang="es" sz="1100">
                <a:latin typeface="Consolas"/>
                <a:ea typeface="Consolas"/>
                <a:cs typeface="Consolas"/>
                <a:sym typeface="Consolas"/>
              </a:rPr>
              <a:t>if grafo.hay_arista(camino[i-1], camino[i]):</a:t>
            </a:r>
            <a:endParaRPr sz="1100">
              <a:solidFill>
                <a:srgbClr val="000000"/>
              </a:solidFill>
              <a:latin typeface="Consolas"/>
              <a:ea typeface="Consolas"/>
              <a:cs typeface="Consolas"/>
              <a:sym typeface="Consolas"/>
            </a:endParaRPr>
          </a:p>
          <a:p>
            <a:pPr indent="0" lvl="0" marL="0" rtl="0" algn="l">
              <a:spcBef>
                <a:spcPts val="0"/>
              </a:spcBef>
              <a:spcAft>
                <a:spcPts val="0"/>
              </a:spcAft>
              <a:buNone/>
            </a:pPr>
            <a:r>
              <a:rPr lang="es" sz="1100">
                <a:solidFill>
                  <a:srgbClr val="000000"/>
                </a:solidFill>
                <a:latin typeface="Consolas"/>
                <a:ea typeface="Consolas"/>
                <a:cs typeface="Consolas"/>
                <a:sym typeface="Consolas"/>
              </a:rPr>
              <a:t>				flujo[(camino[i-1], camino[i])] += capacidad_residual_camino</a:t>
            </a:r>
            <a:endParaRPr sz="1100">
              <a:solidFill>
                <a:srgbClr val="000000"/>
              </a:solidFill>
              <a:latin typeface="Consolas"/>
              <a:ea typeface="Consolas"/>
              <a:cs typeface="Consolas"/>
              <a:sym typeface="Consolas"/>
            </a:endParaRPr>
          </a:p>
          <a:p>
            <a:pPr indent="0" lvl="0" marL="0" rtl="0" algn="l">
              <a:spcBef>
                <a:spcPts val="0"/>
              </a:spcBef>
              <a:spcAft>
                <a:spcPts val="0"/>
              </a:spcAft>
              <a:buNone/>
            </a:pPr>
            <a:r>
              <a:rPr lang="es" sz="1100">
                <a:solidFill>
                  <a:srgbClr val="000000"/>
                </a:solidFill>
                <a:latin typeface="Consolas"/>
                <a:ea typeface="Consolas"/>
                <a:cs typeface="Consolas"/>
                <a:sym typeface="Consolas"/>
              </a:rPr>
              <a:t>			else:</a:t>
            </a:r>
            <a:endParaRPr sz="1100">
              <a:solidFill>
                <a:srgbClr val="000000"/>
              </a:solidFill>
              <a:latin typeface="Consolas"/>
              <a:ea typeface="Consolas"/>
              <a:cs typeface="Consolas"/>
              <a:sym typeface="Consolas"/>
            </a:endParaRPr>
          </a:p>
          <a:p>
            <a:pPr indent="0" lvl="0" marL="0" rtl="0" algn="l">
              <a:spcBef>
                <a:spcPts val="0"/>
              </a:spcBef>
              <a:spcAft>
                <a:spcPts val="0"/>
              </a:spcAft>
              <a:buNone/>
            </a:pPr>
            <a:r>
              <a:rPr lang="es" sz="1100">
                <a:solidFill>
                  <a:srgbClr val="000000"/>
                </a:solidFill>
                <a:latin typeface="Consolas"/>
                <a:ea typeface="Consolas"/>
                <a:cs typeface="Consolas"/>
                <a:sym typeface="Consolas"/>
              </a:rPr>
              <a:t>				flujo[(camino[i], camino[i-1])] -= capacidad_residual_camino</a:t>
            </a:r>
            <a:endParaRPr sz="1100">
              <a:solidFill>
                <a:srgbClr val="000000"/>
              </a:solidFill>
              <a:latin typeface="Consolas"/>
              <a:ea typeface="Consolas"/>
              <a:cs typeface="Consolas"/>
              <a:sym typeface="Consolas"/>
            </a:endParaRPr>
          </a:p>
          <a:p>
            <a:pPr indent="0" lvl="0" marL="0" rtl="0" algn="l">
              <a:spcBef>
                <a:spcPts val="0"/>
              </a:spcBef>
              <a:spcAft>
                <a:spcPts val="0"/>
              </a:spcAft>
              <a:buNone/>
            </a:pPr>
            <a:r>
              <a:rPr lang="es" sz="1100">
                <a:solidFill>
                  <a:srgbClr val="000000"/>
                </a:solidFill>
                <a:latin typeface="Consolas"/>
                <a:ea typeface="Consolas"/>
                <a:cs typeface="Consolas"/>
                <a:sym typeface="Consolas"/>
              </a:rPr>
              <a:t>			actualizar_grafo_residual(grafo_residual, camino[i-1], camino[i], capacidad_residual_camino)</a:t>
            </a:r>
            <a:endParaRPr sz="1100">
              <a:solidFill>
                <a:srgbClr val="000000"/>
              </a:solidFill>
              <a:latin typeface="Consolas"/>
              <a:ea typeface="Consolas"/>
              <a:cs typeface="Consolas"/>
              <a:sym typeface="Consolas"/>
            </a:endParaRPr>
          </a:p>
          <a:p>
            <a:pPr indent="0" lvl="0" marL="0" rtl="0" algn="l">
              <a:spcBef>
                <a:spcPts val="0"/>
              </a:spcBef>
              <a:spcAft>
                <a:spcPts val="0"/>
              </a:spcAft>
              <a:buNone/>
            </a:pPr>
            <a:r>
              <a:t/>
            </a:r>
            <a:endParaRPr sz="1100">
              <a:latin typeface="Consolas"/>
              <a:ea typeface="Consolas"/>
              <a:cs typeface="Consolas"/>
              <a:sym typeface="Consolas"/>
            </a:endParaRPr>
          </a:p>
          <a:p>
            <a:pPr indent="0" lvl="0" marL="0" rtl="0" algn="l">
              <a:spcBef>
                <a:spcPts val="0"/>
              </a:spcBef>
              <a:spcAft>
                <a:spcPts val="0"/>
              </a:spcAft>
              <a:buNone/>
            </a:pPr>
            <a:r>
              <a:rPr lang="es" sz="1100">
                <a:solidFill>
                  <a:srgbClr val="FF0000"/>
                </a:solidFill>
                <a:latin typeface="Consolas"/>
                <a:ea typeface="Consolas"/>
                <a:cs typeface="Consolas"/>
                <a:sym typeface="Consolas"/>
              </a:rPr>
              <a:t>	return flujo</a:t>
            </a:r>
            <a:endParaRPr sz="1200">
              <a:solidFill>
                <a:srgbClr val="FF0000"/>
              </a:solidFill>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Ford-Fulkerson</a:t>
            </a:r>
            <a:endParaRPr/>
          </a:p>
        </p:txBody>
      </p:sp>
      <p:sp>
        <p:nvSpPr>
          <p:cNvPr id="465" name="Google Shape;465;p78"/>
          <p:cNvSpPr txBox="1"/>
          <p:nvPr>
            <p:ph idx="1" type="body"/>
          </p:nvPr>
        </p:nvSpPr>
        <p:spPr>
          <a:xfrm>
            <a:off x="6900" y="1171600"/>
            <a:ext cx="9087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def actualizar_grafo_residual(grafo_residual, u, v, valor):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peso_anterior = grafo_residual.peso(u, v)</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peso_anterior == valor: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grafo_residual.remover_arista(u, v)</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else:</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grafo_residual.cambiar_peso(u, v, peso_anterior - valor)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if not grafo_residual.hay_arista(v, u):</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grafo_residual.agregar_arista(v, u, valor)</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else:</a:t>
            </a:r>
            <a:endParaRPr sz="14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400">
                <a:latin typeface="Consolas"/>
                <a:ea typeface="Consolas"/>
                <a:cs typeface="Consolas"/>
                <a:sym typeface="Consolas"/>
              </a:rPr>
              <a:t>		grafo_residual.cambiar_peso(v, u, </a:t>
            </a:r>
            <a:r>
              <a:rPr lang="es" sz="1400">
                <a:latin typeface="Consolas"/>
                <a:ea typeface="Consolas"/>
                <a:cs typeface="Consolas"/>
                <a:sym typeface="Consolas"/>
              </a:rPr>
              <a:t>grafo_residual.peso(v, u) </a:t>
            </a:r>
            <a:r>
              <a:rPr lang="es" sz="1400">
                <a:latin typeface="Consolas"/>
                <a:ea typeface="Consolas"/>
                <a:cs typeface="Consolas"/>
                <a:sym typeface="Consolas"/>
              </a:rPr>
              <a:t>+ valor)</a:t>
            </a:r>
            <a:endParaRPr sz="1400">
              <a:latin typeface="Consolas"/>
              <a:ea typeface="Consolas"/>
              <a:cs typeface="Consolas"/>
              <a:sym typeface="Consolas"/>
            </a:endParaRPr>
          </a:p>
          <a:p>
            <a:pPr indent="0" lvl="0" marL="0" rtl="0" algn="l">
              <a:spcBef>
                <a:spcPts val="0"/>
              </a:spcBef>
              <a:spcAft>
                <a:spcPts val="1600"/>
              </a:spcAft>
              <a:buNone/>
            </a:pPr>
            <a:r>
              <a:t/>
            </a:r>
            <a:endParaRPr sz="1500">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a:t>
            </a:r>
            <a:endParaRPr/>
          </a:p>
        </p:txBody>
      </p:sp>
      <p:sp>
        <p:nvSpPr>
          <p:cNvPr id="471" name="Google Shape;471;p7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800"/>
              <a:t>Todo depende de cómo elegimos buscar el camino</a:t>
            </a:r>
            <a:endParaRPr sz="1800"/>
          </a:p>
          <a:p>
            <a:pPr indent="-342900" lvl="0" marL="457200" rtl="0" algn="l">
              <a:spcBef>
                <a:spcPts val="0"/>
              </a:spcBef>
              <a:spcAft>
                <a:spcPts val="0"/>
              </a:spcAft>
              <a:buSzPts val="1800"/>
              <a:buChar char="-"/>
            </a:pPr>
            <a:r>
              <a:rPr lang="es" sz="1800"/>
              <a:t>Puede demorar muchísimo, o ni siquiera converger!</a:t>
            </a:r>
            <a:endParaRPr sz="1800"/>
          </a:p>
          <a:p>
            <a:pPr indent="-342900" lvl="0" marL="457200" rtl="0" algn="l">
              <a:spcBef>
                <a:spcPts val="0"/>
              </a:spcBef>
              <a:spcAft>
                <a:spcPts val="0"/>
              </a:spcAft>
              <a:buSzPts val="1800"/>
              <a:buChar char="-"/>
            </a:pPr>
            <a:r>
              <a:rPr lang="es" sz="1800"/>
              <a:t>Teorema Edmonds-Karp: si se hace por BFS el algoritmo siempre funciona y es O(V * E</a:t>
            </a:r>
            <a:r>
              <a:rPr baseline="30000" lang="es" sz="1800"/>
              <a:t>2</a:t>
            </a:r>
            <a:r>
              <a:rPr lang="es"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8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Pasando a otra cosa: Corte mínimo</a:t>
            </a:r>
            <a:endParaRPr/>
          </a:p>
        </p:txBody>
      </p:sp>
      <p:sp>
        <p:nvSpPr>
          <p:cNvPr id="477" name="Google Shape;477;p8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El corte mínimo de una red es el peso total (mínimo) que necesitamos desconectar para que un grafo deje de estar conectado (conexo para grafos no dirigidos, débilmente conexo para dirigido).</a:t>
            </a:r>
            <a:endParaRPr sz="1800"/>
          </a:p>
          <a:p>
            <a:pPr indent="0" lvl="0" marL="0" rtl="0" algn="l">
              <a:spcBef>
                <a:spcPts val="1600"/>
              </a:spcBef>
              <a:spcAft>
                <a:spcPts val="0"/>
              </a:spcAft>
              <a:buNone/>
            </a:pPr>
            <a:r>
              <a:rPr lang="es" sz="1800"/>
              <a:t>Si el grafo es no pesado, corresponde a la cantidad de aristas (como considerar todos como peso = 1). </a:t>
            </a:r>
            <a:endParaRPr sz="1800"/>
          </a:p>
          <a:p>
            <a:pPr indent="0" lvl="0" marL="0" rtl="0" algn="l">
              <a:spcBef>
                <a:spcPts val="1600"/>
              </a:spcBef>
              <a:spcAft>
                <a:spcPts val="1600"/>
              </a:spcAft>
              <a:buNone/>
            </a:pPr>
            <a:r>
              <a:rPr lang="es" sz="1800"/>
              <a:t>Esto se aplica a cualquier tipo de grafo, pero para redes de flujo tenemos algo bastante interesante...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Teorema </a:t>
            </a:r>
            <a:r>
              <a:rPr i="1" lang="es"/>
              <a:t>max flow min cut</a:t>
            </a:r>
            <a:endParaRPr i="1"/>
          </a:p>
        </p:txBody>
      </p:sp>
      <p:sp>
        <p:nvSpPr>
          <p:cNvPr id="483" name="Google Shape;483;p8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Si el grafo corresponde a una red de flujo, entonces el corte mínimo tiene capacidad igual al flujo máximo. </a:t>
            </a:r>
            <a:endParaRPr sz="1800"/>
          </a:p>
          <a:p>
            <a:pPr indent="0" lvl="0" marL="0" rtl="0" algn="l">
              <a:spcBef>
                <a:spcPts val="1600"/>
              </a:spcBef>
              <a:spcAft>
                <a:spcPts val="1600"/>
              </a:spcAft>
              <a:buNone/>
            </a:pPr>
            <a:r>
              <a:rPr lang="es"/>
              <a:t>Para</a:t>
            </a:r>
            <a:r>
              <a:rPr lang="es" sz="1800"/>
              <a:t> que la fuente y el sumidero se encuentren en sets opuestos.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obtenemos el corte mínimo?</a:t>
            </a:r>
            <a:endParaRPr/>
          </a:p>
        </p:txBody>
      </p:sp>
      <p:sp>
        <p:nvSpPr>
          <p:cNvPr id="489" name="Google Shape;489;p8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sz="1800"/>
              <a:t>Agarramos nuestro grafo residual</a:t>
            </a:r>
            <a:endParaRPr sz="1800"/>
          </a:p>
          <a:p>
            <a:pPr indent="-342900" lvl="0" marL="457200" rtl="0" algn="l">
              <a:spcBef>
                <a:spcPts val="0"/>
              </a:spcBef>
              <a:spcAft>
                <a:spcPts val="0"/>
              </a:spcAft>
              <a:buSzPts val="1800"/>
              <a:buAutoNum type="arabicPeriod"/>
            </a:pPr>
            <a:r>
              <a:rPr lang="es" sz="1800"/>
              <a:t>Vemos todos los vértices a los que llegamos desde la fuente</a:t>
            </a:r>
            <a:endParaRPr sz="1800"/>
          </a:p>
          <a:p>
            <a:pPr indent="-342900" lvl="0" marL="457200" rtl="0" algn="l">
              <a:spcBef>
                <a:spcPts val="0"/>
              </a:spcBef>
              <a:spcAft>
                <a:spcPts val="0"/>
              </a:spcAft>
              <a:buSzPts val="1800"/>
              <a:buAutoNum type="arabicPeriod"/>
            </a:pPr>
            <a:r>
              <a:rPr lang="es" sz="1800"/>
              <a:t>Todas las aristas (del grafo original) que vayan de un vértice al que podamos llegar (en el residual) a uno que no (idem), son parte del corte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8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nuestro ejemplo...</a:t>
            </a:r>
            <a:endParaRPr/>
          </a:p>
        </p:txBody>
      </p:sp>
      <p:pic>
        <p:nvPicPr>
          <p:cNvPr id="495" name="Google Shape;495;p83"/>
          <p:cNvPicPr preferRelativeResize="0"/>
          <p:nvPr/>
        </p:nvPicPr>
        <p:blipFill>
          <a:blip r:embed="rId3">
            <a:alphaModFix/>
          </a:blip>
          <a:stretch>
            <a:fillRect/>
          </a:stretch>
        </p:blipFill>
        <p:spPr>
          <a:xfrm>
            <a:off x="0" y="1444737"/>
            <a:ext cx="4448762" cy="1986238"/>
          </a:xfrm>
          <a:prstGeom prst="rect">
            <a:avLst/>
          </a:prstGeom>
          <a:noFill/>
          <a:ln>
            <a:noFill/>
          </a:ln>
        </p:spPr>
      </p:pic>
      <p:pic>
        <p:nvPicPr>
          <p:cNvPr id="496" name="Google Shape;496;p83"/>
          <p:cNvPicPr preferRelativeResize="0"/>
          <p:nvPr/>
        </p:nvPicPr>
        <p:blipFill>
          <a:blip r:embed="rId4">
            <a:alphaModFix/>
          </a:blip>
          <a:stretch>
            <a:fillRect/>
          </a:stretch>
        </p:blipFill>
        <p:spPr>
          <a:xfrm>
            <a:off x="4448750" y="1289404"/>
            <a:ext cx="4695249" cy="204924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pic>
        <p:nvPicPr>
          <p:cNvPr id="501" name="Google Shape;501;p84"/>
          <p:cNvPicPr preferRelativeResize="0"/>
          <p:nvPr/>
        </p:nvPicPr>
        <p:blipFill>
          <a:blip r:embed="rId3">
            <a:alphaModFix/>
          </a:blip>
          <a:stretch>
            <a:fillRect/>
          </a:stretch>
        </p:blipFill>
        <p:spPr>
          <a:xfrm>
            <a:off x="1485900" y="1490663"/>
            <a:ext cx="6172200" cy="2924175"/>
          </a:xfrm>
          <a:prstGeom prst="rect">
            <a:avLst/>
          </a:prstGeom>
          <a:noFill/>
          <a:ln>
            <a:noFill/>
          </a:ln>
        </p:spPr>
      </p:pic>
      <p:sp>
        <p:nvSpPr>
          <p:cNvPr id="502" name="Google Shape;502;p8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nuestro otro ejemplo...</a:t>
            </a:r>
            <a:endParaRPr/>
          </a:p>
        </p:txBody>
      </p:sp>
      <p:sp>
        <p:nvSpPr>
          <p:cNvPr id="503" name="Google Shape;503;p84"/>
          <p:cNvSpPr txBox="1"/>
          <p:nvPr/>
        </p:nvSpPr>
        <p:spPr>
          <a:xfrm>
            <a:off x="6163928" y="3205919"/>
            <a:ext cx="310500" cy="461700"/>
          </a:xfrm>
          <a:prstGeom prst="rect">
            <a:avLst/>
          </a:prstGeom>
          <a:solidFill>
            <a:srgbClr val="4A86E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FFFF00"/>
                </a:solidFill>
              </a:rPr>
              <a:t>3</a:t>
            </a:r>
            <a:endParaRPr b="1" sz="1800">
              <a:solidFill>
                <a:srgbClr val="FFFF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nuestro otro ejemplo...</a:t>
            </a:r>
            <a:endParaRPr/>
          </a:p>
        </p:txBody>
      </p:sp>
      <p:pic>
        <p:nvPicPr>
          <p:cNvPr id="509" name="Google Shape;509;p85"/>
          <p:cNvPicPr preferRelativeResize="0"/>
          <p:nvPr/>
        </p:nvPicPr>
        <p:blipFill>
          <a:blip r:embed="rId3">
            <a:alphaModFix/>
          </a:blip>
          <a:stretch>
            <a:fillRect/>
          </a:stretch>
        </p:blipFill>
        <p:spPr>
          <a:xfrm>
            <a:off x="2515275" y="1903750"/>
            <a:ext cx="4113450" cy="22437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nuestro otro ejemplo...</a:t>
            </a:r>
            <a:endParaRPr/>
          </a:p>
        </p:txBody>
      </p:sp>
      <p:pic>
        <p:nvPicPr>
          <p:cNvPr id="515" name="Google Shape;515;p86"/>
          <p:cNvPicPr preferRelativeResize="0"/>
          <p:nvPr/>
        </p:nvPicPr>
        <p:blipFill>
          <a:blip r:embed="rId3">
            <a:alphaModFix/>
          </a:blip>
          <a:stretch>
            <a:fillRect/>
          </a:stretch>
        </p:blipFill>
        <p:spPr>
          <a:xfrm>
            <a:off x="1609725" y="1805950"/>
            <a:ext cx="5924550" cy="25336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Otro teorema: Integer Value Flows</a:t>
            </a:r>
            <a:endParaRPr/>
          </a:p>
        </p:txBody>
      </p:sp>
      <p:sp>
        <p:nvSpPr>
          <p:cNvPr id="521" name="Google Shape;521;p8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Si la red de transporte sólo tiene aristas con capacidades enteras, entonces existe un flujo máximo en el que la capacidad utilizada de cada arista es un número entero.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Metamos intervalo para refrescar neuronas</a:t>
            </a:r>
            <a:endParaRPr/>
          </a:p>
        </p:txBody>
      </p:sp>
      <p:sp>
        <p:nvSpPr>
          <p:cNvPr id="527" name="Google Shape;527;p8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Hagamos un repaso a ver qué se entendió</a:t>
            </a:r>
            <a:endParaRPr/>
          </a:p>
        </p:txBody>
      </p:sp>
      <p:sp>
        <p:nvSpPr>
          <p:cNvPr id="533" name="Google Shape;533;p8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esto una red de flujo?</a:t>
            </a:r>
            <a:endParaRPr/>
          </a:p>
        </p:txBody>
      </p:sp>
      <p:sp>
        <p:nvSpPr>
          <p:cNvPr id="539" name="Google Shape;539;p90"/>
          <p:cNvSpPr/>
          <p:nvPr/>
        </p:nvSpPr>
        <p:spPr>
          <a:xfrm>
            <a:off x="4538675" y="23906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B</a:t>
            </a:r>
            <a:endParaRPr sz="2800">
              <a:solidFill>
                <a:schemeClr val="dk1"/>
              </a:solidFill>
            </a:endParaRPr>
          </a:p>
        </p:txBody>
      </p:sp>
      <p:sp>
        <p:nvSpPr>
          <p:cNvPr id="540" name="Google Shape;540;p90"/>
          <p:cNvSpPr/>
          <p:nvPr/>
        </p:nvSpPr>
        <p:spPr>
          <a:xfrm>
            <a:off x="2100400" y="15781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A</a:t>
            </a:r>
            <a:endParaRPr sz="2800">
              <a:solidFill>
                <a:schemeClr val="dk1"/>
              </a:solidFill>
            </a:endParaRPr>
          </a:p>
        </p:txBody>
      </p:sp>
      <p:sp>
        <p:nvSpPr>
          <p:cNvPr id="541" name="Google Shape;541;p90"/>
          <p:cNvSpPr/>
          <p:nvPr/>
        </p:nvSpPr>
        <p:spPr>
          <a:xfrm>
            <a:off x="2057125" y="367520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C</a:t>
            </a:r>
            <a:endParaRPr sz="2800">
              <a:solidFill>
                <a:schemeClr val="dk1"/>
              </a:solidFill>
            </a:endParaRPr>
          </a:p>
        </p:txBody>
      </p:sp>
      <p:cxnSp>
        <p:nvCxnSpPr>
          <p:cNvPr id="542" name="Google Shape;542;p90"/>
          <p:cNvCxnSpPr>
            <a:stCxn id="541" idx="0"/>
            <a:endCxn id="540" idx="4"/>
          </p:cNvCxnSpPr>
          <p:nvPr/>
        </p:nvCxnSpPr>
        <p:spPr>
          <a:xfrm flipH="1" rot="10800000">
            <a:off x="2642725" y="2259500"/>
            <a:ext cx="43200" cy="1415700"/>
          </a:xfrm>
          <a:prstGeom prst="straightConnector1">
            <a:avLst/>
          </a:prstGeom>
          <a:noFill/>
          <a:ln cap="flat" cmpd="sng" w="28575">
            <a:solidFill>
              <a:schemeClr val="dk1"/>
            </a:solidFill>
            <a:prstDash val="solid"/>
            <a:round/>
            <a:headEnd len="med" w="med" type="none"/>
            <a:tailEnd len="med" w="med" type="triangle"/>
          </a:ln>
        </p:spPr>
      </p:cxnSp>
      <p:cxnSp>
        <p:nvCxnSpPr>
          <p:cNvPr id="543" name="Google Shape;543;p90"/>
          <p:cNvCxnSpPr>
            <a:endCxn id="540" idx="2"/>
          </p:cNvCxnSpPr>
          <p:nvPr/>
        </p:nvCxnSpPr>
        <p:spPr>
          <a:xfrm>
            <a:off x="1738000" y="1918800"/>
            <a:ext cx="362400" cy="0"/>
          </a:xfrm>
          <a:prstGeom prst="straightConnector1">
            <a:avLst/>
          </a:prstGeom>
          <a:noFill/>
          <a:ln cap="flat" cmpd="sng" w="28575">
            <a:solidFill>
              <a:schemeClr val="dk1"/>
            </a:solidFill>
            <a:prstDash val="solid"/>
            <a:round/>
            <a:headEnd len="med" w="med" type="none"/>
            <a:tailEnd len="med" w="med" type="triangle"/>
          </a:ln>
        </p:spPr>
      </p:cxnSp>
      <p:cxnSp>
        <p:nvCxnSpPr>
          <p:cNvPr id="544" name="Google Shape;544;p90"/>
          <p:cNvCxnSpPr>
            <a:stCxn id="540" idx="5"/>
            <a:endCxn id="539" idx="2"/>
          </p:cNvCxnSpPr>
          <p:nvPr/>
        </p:nvCxnSpPr>
        <p:spPr>
          <a:xfrm>
            <a:off x="3100082" y="2159676"/>
            <a:ext cx="1438500" cy="571500"/>
          </a:xfrm>
          <a:prstGeom prst="straightConnector1">
            <a:avLst/>
          </a:prstGeom>
          <a:noFill/>
          <a:ln cap="flat" cmpd="sng" w="28575">
            <a:solidFill>
              <a:schemeClr val="dk1"/>
            </a:solidFill>
            <a:prstDash val="solid"/>
            <a:round/>
            <a:headEnd len="med" w="med" type="none"/>
            <a:tailEnd len="med" w="med" type="triangle"/>
          </a:ln>
        </p:spPr>
      </p:cxnSp>
      <p:cxnSp>
        <p:nvCxnSpPr>
          <p:cNvPr id="545" name="Google Shape;545;p90"/>
          <p:cNvCxnSpPr>
            <a:endCxn id="541" idx="4"/>
          </p:cNvCxnSpPr>
          <p:nvPr/>
        </p:nvCxnSpPr>
        <p:spPr>
          <a:xfrm flipH="1" rot="10800000">
            <a:off x="2640325" y="4356500"/>
            <a:ext cx="2400" cy="505800"/>
          </a:xfrm>
          <a:prstGeom prst="straightConnector1">
            <a:avLst/>
          </a:prstGeom>
          <a:noFill/>
          <a:ln cap="flat" cmpd="sng" w="28575">
            <a:solidFill>
              <a:schemeClr val="dk1"/>
            </a:solidFill>
            <a:prstDash val="solid"/>
            <a:round/>
            <a:headEnd len="med" w="med" type="none"/>
            <a:tailEnd len="med" w="med" type="triangle"/>
          </a:ln>
        </p:spPr>
      </p:cxnSp>
      <p:sp>
        <p:nvSpPr>
          <p:cNvPr id="546" name="Google Shape;546;p90"/>
          <p:cNvSpPr txBox="1"/>
          <p:nvPr/>
        </p:nvSpPr>
        <p:spPr>
          <a:xfrm>
            <a:off x="1424200" y="285595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sp>
        <p:nvSpPr>
          <p:cNvPr id="547" name="Google Shape;547;p90"/>
          <p:cNvSpPr txBox="1"/>
          <p:nvPr/>
        </p:nvSpPr>
        <p:spPr>
          <a:xfrm>
            <a:off x="3742900" y="152880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sp>
        <p:nvSpPr>
          <p:cNvPr id="548" name="Google Shape;548;p90"/>
          <p:cNvSpPr txBox="1"/>
          <p:nvPr/>
        </p:nvSpPr>
        <p:spPr>
          <a:xfrm>
            <a:off x="2813700" y="430775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sp>
        <p:nvSpPr>
          <p:cNvPr id="549" name="Google Shape;549;p90"/>
          <p:cNvSpPr txBox="1"/>
          <p:nvPr/>
        </p:nvSpPr>
        <p:spPr>
          <a:xfrm>
            <a:off x="975075" y="103355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pic>
        <p:nvPicPr>
          <p:cNvPr id="550" name="Google Shape;550;p90"/>
          <p:cNvPicPr preferRelativeResize="0"/>
          <p:nvPr/>
        </p:nvPicPr>
        <p:blipFill>
          <a:blip r:embed="rId3">
            <a:alphaModFix/>
          </a:blip>
          <a:stretch>
            <a:fillRect/>
          </a:stretch>
        </p:blipFill>
        <p:spPr>
          <a:xfrm>
            <a:off x="6673875" y="1500188"/>
            <a:ext cx="2143125" cy="214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9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esto una red de flujo?</a:t>
            </a:r>
            <a:endParaRPr/>
          </a:p>
        </p:txBody>
      </p:sp>
      <p:sp>
        <p:nvSpPr>
          <p:cNvPr id="556" name="Google Shape;556;p91"/>
          <p:cNvSpPr/>
          <p:nvPr/>
        </p:nvSpPr>
        <p:spPr>
          <a:xfrm>
            <a:off x="4538675" y="23906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B</a:t>
            </a:r>
            <a:endParaRPr sz="2800">
              <a:solidFill>
                <a:schemeClr val="dk1"/>
              </a:solidFill>
            </a:endParaRPr>
          </a:p>
        </p:txBody>
      </p:sp>
      <p:sp>
        <p:nvSpPr>
          <p:cNvPr id="557" name="Google Shape;557;p91"/>
          <p:cNvSpPr/>
          <p:nvPr/>
        </p:nvSpPr>
        <p:spPr>
          <a:xfrm>
            <a:off x="2100400" y="15781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A</a:t>
            </a:r>
            <a:endParaRPr sz="2800">
              <a:solidFill>
                <a:schemeClr val="dk1"/>
              </a:solidFill>
            </a:endParaRPr>
          </a:p>
        </p:txBody>
      </p:sp>
      <p:sp>
        <p:nvSpPr>
          <p:cNvPr id="558" name="Google Shape;558;p91"/>
          <p:cNvSpPr/>
          <p:nvPr/>
        </p:nvSpPr>
        <p:spPr>
          <a:xfrm>
            <a:off x="2057125" y="367520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C</a:t>
            </a:r>
            <a:endParaRPr sz="2800">
              <a:solidFill>
                <a:schemeClr val="dk1"/>
              </a:solidFill>
            </a:endParaRPr>
          </a:p>
        </p:txBody>
      </p:sp>
      <p:cxnSp>
        <p:nvCxnSpPr>
          <p:cNvPr id="559" name="Google Shape;559;p91"/>
          <p:cNvCxnSpPr>
            <a:stCxn id="558" idx="0"/>
            <a:endCxn id="557" idx="4"/>
          </p:cNvCxnSpPr>
          <p:nvPr/>
        </p:nvCxnSpPr>
        <p:spPr>
          <a:xfrm flipH="1" rot="10800000">
            <a:off x="2642725" y="2259500"/>
            <a:ext cx="43200" cy="1415700"/>
          </a:xfrm>
          <a:prstGeom prst="straightConnector1">
            <a:avLst/>
          </a:prstGeom>
          <a:noFill/>
          <a:ln cap="flat" cmpd="sng" w="28575">
            <a:solidFill>
              <a:schemeClr val="dk1"/>
            </a:solidFill>
            <a:prstDash val="solid"/>
            <a:round/>
            <a:headEnd len="med" w="med" type="none"/>
            <a:tailEnd len="med" w="med" type="triangle"/>
          </a:ln>
        </p:spPr>
      </p:cxnSp>
      <p:cxnSp>
        <p:nvCxnSpPr>
          <p:cNvPr id="560" name="Google Shape;560;p91"/>
          <p:cNvCxnSpPr>
            <a:stCxn id="557" idx="5"/>
            <a:endCxn id="556" idx="2"/>
          </p:cNvCxnSpPr>
          <p:nvPr/>
        </p:nvCxnSpPr>
        <p:spPr>
          <a:xfrm>
            <a:off x="3100082" y="2159676"/>
            <a:ext cx="1438500" cy="571500"/>
          </a:xfrm>
          <a:prstGeom prst="straightConnector1">
            <a:avLst/>
          </a:prstGeom>
          <a:noFill/>
          <a:ln cap="flat" cmpd="sng" w="28575">
            <a:solidFill>
              <a:schemeClr val="dk1"/>
            </a:solidFill>
            <a:prstDash val="solid"/>
            <a:round/>
            <a:headEnd len="med" w="med" type="none"/>
            <a:tailEnd len="med" w="med" type="triangle"/>
          </a:ln>
        </p:spPr>
      </p:cxnSp>
      <p:sp>
        <p:nvSpPr>
          <p:cNvPr id="561" name="Google Shape;561;p91"/>
          <p:cNvSpPr txBox="1"/>
          <p:nvPr/>
        </p:nvSpPr>
        <p:spPr>
          <a:xfrm>
            <a:off x="1424200" y="285595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sp>
        <p:nvSpPr>
          <p:cNvPr id="562" name="Google Shape;562;p91"/>
          <p:cNvSpPr txBox="1"/>
          <p:nvPr/>
        </p:nvSpPr>
        <p:spPr>
          <a:xfrm>
            <a:off x="3742900" y="152880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pic>
        <p:nvPicPr>
          <p:cNvPr id="563" name="Google Shape;563;p91"/>
          <p:cNvPicPr preferRelativeResize="0"/>
          <p:nvPr/>
        </p:nvPicPr>
        <p:blipFill rotWithShape="1">
          <a:blip r:embed="rId3">
            <a:alphaModFix/>
          </a:blip>
          <a:srcRect b="22643" l="4842" r="3625" t="0"/>
          <a:stretch/>
        </p:blipFill>
        <p:spPr>
          <a:xfrm>
            <a:off x="6447475" y="1881950"/>
            <a:ext cx="1987825" cy="162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1000"/>
                                        <p:tgtEl>
                                          <p:spTgt spid="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esto una red de flujo?</a:t>
            </a:r>
            <a:endParaRPr/>
          </a:p>
        </p:txBody>
      </p:sp>
      <p:sp>
        <p:nvSpPr>
          <p:cNvPr id="569" name="Google Shape;569;p92"/>
          <p:cNvSpPr/>
          <p:nvPr/>
        </p:nvSpPr>
        <p:spPr>
          <a:xfrm>
            <a:off x="4538675" y="23906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B</a:t>
            </a:r>
            <a:endParaRPr sz="2800">
              <a:solidFill>
                <a:schemeClr val="dk1"/>
              </a:solidFill>
            </a:endParaRPr>
          </a:p>
        </p:txBody>
      </p:sp>
      <p:sp>
        <p:nvSpPr>
          <p:cNvPr id="570" name="Google Shape;570;p92"/>
          <p:cNvSpPr/>
          <p:nvPr/>
        </p:nvSpPr>
        <p:spPr>
          <a:xfrm>
            <a:off x="2100400" y="15781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A</a:t>
            </a:r>
            <a:endParaRPr sz="2800">
              <a:solidFill>
                <a:schemeClr val="dk1"/>
              </a:solidFill>
            </a:endParaRPr>
          </a:p>
        </p:txBody>
      </p:sp>
      <p:sp>
        <p:nvSpPr>
          <p:cNvPr id="571" name="Google Shape;571;p92"/>
          <p:cNvSpPr/>
          <p:nvPr/>
        </p:nvSpPr>
        <p:spPr>
          <a:xfrm>
            <a:off x="2057125" y="367520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C</a:t>
            </a:r>
            <a:endParaRPr sz="2800">
              <a:solidFill>
                <a:schemeClr val="dk1"/>
              </a:solidFill>
            </a:endParaRPr>
          </a:p>
        </p:txBody>
      </p:sp>
      <p:cxnSp>
        <p:nvCxnSpPr>
          <p:cNvPr id="572" name="Google Shape;572;p92"/>
          <p:cNvCxnSpPr>
            <a:stCxn id="571" idx="0"/>
            <a:endCxn id="570" idx="4"/>
          </p:cNvCxnSpPr>
          <p:nvPr/>
        </p:nvCxnSpPr>
        <p:spPr>
          <a:xfrm flipH="1" rot="10800000">
            <a:off x="2642725" y="2259500"/>
            <a:ext cx="43200" cy="1415700"/>
          </a:xfrm>
          <a:prstGeom prst="straightConnector1">
            <a:avLst/>
          </a:prstGeom>
          <a:noFill/>
          <a:ln cap="flat" cmpd="sng" w="28575">
            <a:solidFill>
              <a:schemeClr val="dk1"/>
            </a:solidFill>
            <a:prstDash val="solid"/>
            <a:round/>
            <a:headEnd len="med" w="med" type="none"/>
            <a:tailEnd len="med" w="med" type="triangle"/>
          </a:ln>
        </p:spPr>
      </p:cxnSp>
      <p:cxnSp>
        <p:nvCxnSpPr>
          <p:cNvPr id="573" name="Google Shape;573;p92"/>
          <p:cNvCxnSpPr>
            <a:stCxn id="570" idx="5"/>
            <a:endCxn id="569" idx="2"/>
          </p:cNvCxnSpPr>
          <p:nvPr/>
        </p:nvCxnSpPr>
        <p:spPr>
          <a:xfrm>
            <a:off x="3100082" y="2159676"/>
            <a:ext cx="1438500" cy="571500"/>
          </a:xfrm>
          <a:prstGeom prst="straightConnector1">
            <a:avLst/>
          </a:prstGeom>
          <a:noFill/>
          <a:ln cap="flat" cmpd="sng" w="28575">
            <a:solidFill>
              <a:schemeClr val="dk1"/>
            </a:solidFill>
            <a:prstDash val="solid"/>
            <a:round/>
            <a:headEnd len="med" w="med" type="none"/>
            <a:tailEnd len="med" w="med" type="triangle"/>
          </a:ln>
        </p:spPr>
      </p:cxnSp>
      <p:sp>
        <p:nvSpPr>
          <p:cNvPr id="574" name="Google Shape;574;p92"/>
          <p:cNvSpPr txBox="1"/>
          <p:nvPr/>
        </p:nvSpPr>
        <p:spPr>
          <a:xfrm>
            <a:off x="1424200" y="285595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sp>
        <p:nvSpPr>
          <p:cNvPr id="575" name="Google Shape;575;p92"/>
          <p:cNvSpPr txBox="1"/>
          <p:nvPr/>
        </p:nvSpPr>
        <p:spPr>
          <a:xfrm>
            <a:off x="3742900" y="152880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1</a:t>
            </a:r>
            <a:endParaRPr sz="2000">
              <a:solidFill>
                <a:schemeClr val="dk1"/>
              </a:solidFill>
            </a:endParaRPr>
          </a:p>
        </p:txBody>
      </p:sp>
      <p:pic>
        <p:nvPicPr>
          <p:cNvPr id="576" name="Google Shape;576;p92"/>
          <p:cNvPicPr preferRelativeResize="0"/>
          <p:nvPr/>
        </p:nvPicPr>
        <p:blipFill>
          <a:blip r:embed="rId3">
            <a:alphaModFix/>
          </a:blip>
          <a:stretch>
            <a:fillRect/>
          </a:stretch>
        </p:blipFill>
        <p:spPr>
          <a:xfrm>
            <a:off x="6673875" y="1500188"/>
            <a:ext cx="2143125" cy="214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9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esto una red de flujo?</a:t>
            </a:r>
            <a:endParaRPr/>
          </a:p>
        </p:txBody>
      </p:sp>
      <p:sp>
        <p:nvSpPr>
          <p:cNvPr id="582" name="Google Shape;582;p93"/>
          <p:cNvSpPr/>
          <p:nvPr/>
        </p:nvSpPr>
        <p:spPr>
          <a:xfrm>
            <a:off x="4538675" y="23906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B</a:t>
            </a:r>
            <a:endParaRPr sz="2800">
              <a:solidFill>
                <a:schemeClr val="dk1"/>
              </a:solidFill>
            </a:endParaRPr>
          </a:p>
        </p:txBody>
      </p:sp>
      <p:sp>
        <p:nvSpPr>
          <p:cNvPr id="583" name="Google Shape;583;p93"/>
          <p:cNvSpPr/>
          <p:nvPr/>
        </p:nvSpPr>
        <p:spPr>
          <a:xfrm>
            <a:off x="2100400" y="15781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A</a:t>
            </a:r>
            <a:endParaRPr sz="2800">
              <a:solidFill>
                <a:schemeClr val="dk1"/>
              </a:solidFill>
            </a:endParaRPr>
          </a:p>
        </p:txBody>
      </p:sp>
      <p:sp>
        <p:nvSpPr>
          <p:cNvPr id="584" name="Google Shape;584;p93"/>
          <p:cNvSpPr/>
          <p:nvPr/>
        </p:nvSpPr>
        <p:spPr>
          <a:xfrm>
            <a:off x="2057125" y="367520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C</a:t>
            </a:r>
            <a:endParaRPr sz="2800">
              <a:solidFill>
                <a:schemeClr val="dk1"/>
              </a:solidFill>
            </a:endParaRPr>
          </a:p>
        </p:txBody>
      </p:sp>
      <p:cxnSp>
        <p:nvCxnSpPr>
          <p:cNvPr id="585" name="Google Shape;585;p93"/>
          <p:cNvCxnSpPr>
            <a:stCxn id="584" idx="0"/>
            <a:endCxn id="583" idx="4"/>
          </p:cNvCxnSpPr>
          <p:nvPr/>
        </p:nvCxnSpPr>
        <p:spPr>
          <a:xfrm flipH="1" rot="10800000">
            <a:off x="2642725" y="2259500"/>
            <a:ext cx="43200" cy="1415700"/>
          </a:xfrm>
          <a:prstGeom prst="straightConnector1">
            <a:avLst/>
          </a:prstGeom>
          <a:noFill/>
          <a:ln cap="flat" cmpd="sng" w="28575">
            <a:solidFill>
              <a:schemeClr val="dk1"/>
            </a:solidFill>
            <a:prstDash val="solid"/>
            <a:round/>
            <a:headEnd len="med" w="med" type="none"/>
            <a:tailEnd len="med" w="med" type="triangle"/>
          </a:ln>
        </p:spPr>
      </p:cxnSp>
      <p:cxnSp>
        <p:nvCxnSpPr>
          <p:cNvPr id="586" name="Google Shape;586;p93"/>
          <p:cNvCxnSpPr>
            <a:stCxn id="583" idx="5"/>
            <a:endCxn id="582" idx="2"/>
          </p:cNvCxnSpPr>
          <p:nvPr/>
        </p:nvCxnSpPr>
        <p:spPr>
          <a:xfrm>
            <a:off x="3100082" y="2159676"/>
            <a:ext cx="1438500" cy="571500"/>
          </a:xfrm>
          <a:prstGeom prst="straightConnector1">
            <a:avLst/>
          </a:prstGeom>
          <a:noFill/>
          <a:ln cap="flat" cmpd="sng" w="28575">
            <a:solidFill>
              <a:schemeClr val="dk1"/>
            </a:solidFill>
            <a:prstDash val="solid"/>
            <a:round/>
            <a:headEnd len="med" w="med" type="none"/>
            <a:tailEnd len="med" w="med" type="triangle"/>
          </a:ln>
        </p:spPr>
      </p:cxnSp>
      <p:sp>
        <p:nvSpPr>
          <p:cNvPr id="587" name="Google Shape;587;p93"/>
          <p:cNvSpPr txBox="1"/>
          <p:nvPr/>
        </p:nvSpPr>
        <p:spPr>
          <a:xfrm>
            <a:off x="1424200" y="285595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1</a:t>
            </a:r>
            <a:endParaRPr sz="2000">
              <a:solidFill>
                <a:schemeClr val="dk1"/>
              </a:solidFill>
            </a:endParaRPr>
          </a:p>
        </p:txBody>
      </p:sp>
      <p:sp>
        <p:nvSpPr>
          <p:cNvPr id="588" name="Google Shape;588;p93"/>
          <p:cNvSpPr txBox="1"/>
          <p:nvPr/>
        </p:nvSpPr>
        <p:spPr>
          <a:xfrm>
            <a:off x="3742900" y="152880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1</a:t>
            </a:r>
            <a:endParaRPr sz="2000">
              <a:solidFill>
                <a:schemeClr val="dk1"/>
              </a:solidFill>
            </a:endParaRPr>
          </a:p>
        </p:txBody>
      </p:sp>
      <p:pic>
        <p:nvPicPr>
          <p:cNvPr id="589" name="Google Shape;589;p93"/>
          <p:cNvPicPr preferRelativeResize="0"/>
          <p:nvPr/>
        </p:nvPicPr>
        <p:blipFill rotWithShape="1">
          <a:blip r:embed="rId3">
            <a:alphaModFix/>
          </a:blip>
          <a:srcRect b="22643" l="4842" r="3625" t="0"/>
          <a:stretch/>
        </p:blipFill>
        <p:spPr>
          <a:xfrm>
            <a:off x="6447475" y="1881950"/>
            <a:ext cx="1987825" cy="162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1000"/>
                                        <p:tgtEl>
                                          <p:spTgt spid="5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esto una red de flujo?</a:t>
            </a:r>
            <a:endParaRPr/>
          </a:p>
        </p:txBody>
      </p:sp>
      <p:sp>
        <p:nvSpPr>
          <p:cNvPr id="595" name="Google Shape;595;p94"/>
          <p:cNvSpPr/>
          <p:nvPr/>
        </p:nvSpPr>
        <p:spPr>
          <a:xfrm>
            <a:off x="4538675" y="23906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B</a:t>
            </a:r>
            <a:endParaRPr sz="2800">
              <a:solidFill>
                <a:schemeClr val="dk1"/>
              </a:solidFill>
            </a:endParaRPr>
          </a:p>
        </p:txBody>
      </p:sp>
      <p:sp>
        <p:nvSpPr>
          <p:cNvPr id="596" name="Google Shape;596;p94"/>
          <p:cNvSpPr/>
          <p:nvPr/>
        </p:nvSpPr>
        <p:spPr>
          <a:xfrm>
            <a:off x="2100400" y="157815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A</a:t>
            </a:r>
            <a:endParaRPr sz="2800">
              <a:solidFill>
                <a:schemeClr val="dk1"/>
              </a:solidFill>
            </a:endParaRPr>
          </a:p>
        </p:txBody>
      </p:sp>
      <p:sp>
        <p:nvSpPr>
          <p:cNvPr id="597" name="Google Shape;597;p94"/>
          <p:cNvSpPr/>
          <p:nvPr/>
        </p:nvSpPr>
        <p:spPr>
          <a:xfrm>
            <a:off x="2057125" y="3675200"/>
            <a:ext cx="1171200" cy="681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800">
                <a:solidFill>
                  <a:schemeClr val="dk1"/>
                </a:solidFill>
              </a:rPr>
              <a:t>C</a:t>
            </a:r>
            <a:endParaRPr sz="2800">
              <a:solidFill>
                <a:schemeClr val="dk1"/>
              </a:solidFill>
            </a:endParaRPr>
          </a:p>
        </p:txBody>
      </p:sp>
      <p:cxnSp>
        <p:nvCxnSpPr>
          <p:cNvPr id="598" name="Google Shape;598;p94"/>
          <p:cNvCxnSpPr>
            <a:stCxn id="597" idx="0"/>
            <a:endCxn id="596" idx="4"/>
          </p:cNvCxnSpPr>
          <p:nvPr/>
        </p:nvCxnSpPr>
        <p:spPr>
          <a:xfrm flipH="1" rot="10800000">
            <a:off x="2642725" y="2259500"/>
            <a:ext cx="43200" cy="1415700"/>
          </a:xfrm>
          <a:prstGeom prst="straightConnector1">
            <a:avLst/>
          </a:prstGeom>
          <a:noFill/>
          <a:ln cap="flat" cmpd="sng" w="28575">
            <a:solidFill>
              <a:schemeClr val="dk1"/>
            </a:solidFill>
            <a:prstDash val="solid"/>
            <a:round/>
            <a:headEnd len="med" w="med" type="none"/>
            <a:tailEnd len="med" w="med" type="triangle"/>
          </a:ln>
        </p:spPr>
      </p:cxnSp>
      <p:cxnSp>
        <p:nvCxnSpPr>
          <p:cNvPr id="599" name="Google Shape;599;p94"/>
          <p:cNvCxnSpPr>
            <a:stCxn id="596" idx="5"/>
            <a:endCxn id="595" idx="2"/>
          </p:cNvCxnSpPr>
          <p:nvPr/>
        </p:nvCxnSpPr>
        <p:spPr>
          <a:xfrm>
            <a:off x="3100082" y="2159676"/>
            <a:ext cx="1438500" cy="571500"/>
          </a:xfrm>
          <a:prstGeom prst="straightConnector1">
            <a:avLst/>
          </a:prstGeom>
          <a:noFill/>
          <a:ln cap="flat" cmpd="sng" w="28575">
            <a:solidFill>
              <a:schemeClr val="dk1"/>
            </a:solidFill>
            <a:prstDash val="solid"/>
            <a:round/>
            <a:headEnd len="med" w="med" type="none"/>
            <a:tailEnd len="med" w="med" type="triangle"/>
          </a:ln>
        </p:spPr>
      </p:cxnSp>
      <p:sp>
        <p:nvSpPr>
          <p:cNvPr id="600" name="Google Shape;600;p94"/>
          <p:cNvSpPr txBox="1"/>
          <p:nvPr/>
        </p:nvSpPr>
        <p:spPr>
          <a:xfrm>
            <a:off x="1424200" y="285595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sp>
        <p:nvSpPr>
          <p:cNvPr id="601" name="Google Shape;601;p94"/>
          <p:cNvSpPr txBox="1"/>
          <p:nvPr/>
        </p:nvSpPr>
        <p:spPr>
          <a:xfrm>
            <a:off x="3742900" y="152880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3</a:t>
            </a:r>
            <a:endParaRPr sz="2000">
              <a:solidFill>
                <a:schemeClr val="dk1"/>
              </a:solidFill>
            </a:endParaRPr>
          </a:p>
          <a:p>
            <a:pPr indent="0" lvl="0" marL="0" rtl="0" algn="l">
              <a:spcBef>
                <a:spcPts val="0"/>
              </a:spcBef>
              <a:spcAft>
                <a:spcPts val="0"/>
              </a:spcAft>
              <a:buNone/>
            </a:pPr>
            <a:r>
              <a:rPr lang="es" sz="2000">
                <a:solidFill>
                  <a:schemeClr val="dk1"/>
                </a:solidFill>
              </a:rPr>
              <a:t>uso: 1</a:t>
            </a:r>
            <a:endParaRPr sz="2000">
              <a:solidFill>
                <a:schemeClr val="dk1"/>
              </a:solidFill>
            </a:endParaRPr>
          </a:p>
        </p:txBody>
      </p:sp>
      <p:pic>
        <p:nvPicPr>
          <p:cNvPr id="602" name="Google Shape;602;p94"/>
          <p:cNvPicPr preferRelativeResize="0"/>
          <p:nvPr/>
        </p:nvPicPr>
        <p:blipFill>
          <a:blip r:embed="rId3">
            <a:alphaModFix/>
          </a:blip>
          <a:stretch>
            <a:fillRect/>
          </a:stretch>
        </p:blipFill>
        <p:spPr>
          <a:xfrm>
            <a:off x="6673875" y="1500188"/>
            <a:ext cx="2143125" cy="2143125"/>
          </a:xfrm>
          <a:prstGeom prst="rect">
            <a:avLst/>
          </a:prstGeom>
          <a:noFill/>
          <a:ln>
            <a:noFill/>
          </a:ln>
        </p:spPr>
      </p:pic>
      <p:cxnSp>
        <p:nvCxnSpPr>
          <p:cNvPr id="603" name="Google Shape;603;p94"/>
          <p:cNvCxnSpPr>
            <a:stCxn id="595" idx="3"/>
            <a:endCxn id="596" idx="4"/>
          </p:cNvCxnSpPr>
          <p:nvPr/>
        </p:nvCxnSpPr>
        <p:spPr>
          <a:xfrm flipH="1" rot="5400000">
            <a:off x="3341743" y="1603726"/>
            <a:ext cx="712800" cy="2024100"/>
          </a:xfrm>
          <a:prstGeom prst="curvedConnector3">
            <a:avLst>
              <a:gd fmla="val -47404" name="adj1"/>
            </a:avLst>
          </a:prstGeom>
          <a:noFill/>
          <a:ln cap="flat" cmpd="sng" w="28575">
            <a:solidFill>
              <a:schemeClr val="dk1"/>
            </a:solidFill>
            <a:prstDash val="solid"/>
            <a:round/>
            <a:headEnd len="med" w="med" type="none"/>
            <a:tailEnd len="med" w="med" type="triangle"/>
          </a:ln>
        </p:spPr>
      </p:cxnSp>
      <p:sp>
        <p:nvSpPr>
          <p:cNvPr id="604" name="Google Shape;604;p94"/>
          <p:cNvSpPr txBox="1"/>
          <p:nvPr/>
        </p:nvSpPr>
        <p:spPr>
          <a:xfrm>
            <a:off x="3742900" y="3228300"/>
            <a:ext cx="990000" cy="7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1"/>
                </a:solidFill>
              </a:rPr>
              <a:t>cap: 2</a:t>
            </a:r>
            <a:endParaRPr sz="2000">
              <a:solidFill>
                <a:schemeClr val="dk1"/>
              </a:solidFill>
            </a:endParaRPr>
          </a:p>
          <a:p>
            <a:pPr indent="0" lvl="0" marL="0" rtl="0" algn="l">
              <a:spcBef>
                <a:spcPts val="0"/>
              </a:spcBef>
              <a:spcAft>
                <a:spcPts val="0"/>
              </a:spcAft>
              <a:buNone/>
            </a:pPr>
            <a:r>
              <a:rPr lang="es" sz="2000">
                <a:solidFill>
                  <a:schemeClr val="dk1"/>
                </a:solidFill>
              </a:rPr>
              <a:t>uso: 0</a:t>
            </a:r>
            <a:endParaRPr sz="2000">
              <a:solidFill>
                <a:schemeClr val="dk1"/>
              </a:solidFill>
            </a:endParaRPr>
          </a:p>
        </p:txBody>
      </p:sp>
      <p:sp>
        <p:nvSpPr>
          <p:cNvPr id="605" name="Google Shape;605;p94"/>
          <p:cNvSpPr txBox="1"/>
          <p:nvPr/>
        </p:nvSpPr>
        <p:spPr>
          <a:xfrm>
            <a:off x="6706800" y="3675200"/>
            <a:ext cx="249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(No hay sumidero)</a:t>
            </a:r>
            <a:endParaRPr>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9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Hagamos un nuevo seguimiento!</a:t>
            </a:r>
            <a:endParaRPr/>
          </a:p>
        </p:txBody>
      </p:sp>
      <p:sp>
        <p:nvSpPr>
          <p:cNvPr id="611" name="Google Shape;611;p9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96"/>
          <p:cNvSpPr/>
          <p:nvPr/>
        </p:nvSpPr>
        <p:spPr>
          <a:xfrm>
            <a:off x="142000" y="2601175"/>
            <a:ext cx="7794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sp>
        <p:nvSpPr>
          <p:cNvPr id="617" name="Google Shape;617;p96"/>
          <p:cNvSpPr/>
          <p:nvPr/>
        </p:nvSpPr>
        <p:spPr>
          <a:xfrm>
            <a:off x="1640000" y="26134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900">
                <a:solidFill>
                  <a:srgbClr val="FFFFFF"/>
                </a:solidFill>
              </a:rPr>
              <a:t>A</a:t>
            </a:r>
            <a:endParaRPr sz="1900">
              <a:solidFill>
                <a:srgbClr val="FFFFFF"/>
              </a:solidFill>
            </a:endParaRPr>
          </a:p>
        </p:txBody>
      </p:sp>
      <p:sp>
        <p:nvSpPr>
          <p:cNvPr id="618" name="Google Shape;618;p96"/>
          <p:cNvSpPr/>
          <p:nvPr/>
        </p:nvSpPr>
        <p:spPr>
          <a:xfrm>
            <a:off x="2935400" y="16112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sp>
        <p:nvSpPr>
          <p:cNvPr id="619" name="Google Shape;619;p96"/>
          <p:cNvSpPr/>
          <p:nvPr/>
        </p:nvSpPr>
        <p:spPr>
          <a:xfrm>
            <a:off x="1640000" y="35940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sp>
        <p:nvSpPr>
          <p:cNvPr id="620" name="Google Shape;620;p96"/>
          <p:cNvSpPr/>
          <p:nvPr/>
        </p:nvSpPr>
        <p:spPr>
          <a:xfrm>
            <a:off x="2940625" y="360412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sp>
        <p:nvSpPr>
          <p:cNvPr id="621" name="Google Shape;621;p96"/>
          <p:cNvSpPr/>
          <p:nvPr/>
        </p:nvSpPr>
        <p:spPr>
          <a:xfrm>
            <a:off x="4263975" y="2607325"/>
            <a:ext cx="7794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900">
                <a:solidFill>
                  <a:srgbClr val="FFFFFF"/>
                </a:solidFill>
              </a:rPr>
              <a:t>Su</a:t>
            </a:r>
            <a:endParaRPr sz="1900">
              <a:solidFill>
                <a:srgbClr val="FFFFFF"/>
              </a:solidFill>
            </a:endParaRPr>
          </a:p>
        </p:txBody>
      </p:sp>
      <p:cxnSp>
        <p:nvCxnSpPr>
          <p:cNvPr id="622" name="Google Shape;622;p96"/>
          <p:cNvCxnSpPr>
            <a:stCxn id="616" idx="6"/>
            <a:endCxn id="617" idx="2"/>
          </p:cNvCxnSpPr>
          <p:nvPr/>
        </p:nvCxnSpPr>
        <p:spPr>
          <a:xfrm>
            <a:off x="921400" y="2847925"/>
            <a:ext cx="718500" cy="12300"/>
          </a:xfrm>
          <a:prstGeom prst="straightConnector1">
            <a:avLst/>
          </a:prstGeom>
          <a:noFill/>
          <a:ln cap="flat" cmpd="sng" w="28575">
            <a:solidFill>
              <a:srgbClr val="FFFFFF"/>
            </a:solidFill>
            <a:prstDash val="solid"/>
            <a:round/>
            <a:headEnd len="med" w="med" type="none"/>
            <a:tailEnd len="med" w="med" type="triangle"/>
          </a:ln>
        </p:spPr>
      </p:cxnSp>
      <p:cxnSp>
        <p:nvCxnSpPr>
          <p:cNvPr id="623" name="Google Shape;623;p96"/>
          <p:cNvCxnSpPr>
            <a:stCxn id="619" idx="6"/>
            <a:endCxn id="620" idx="2"/>
          </p:cNvCxnSpPr>
          <p:nvPr/>
        </p:nvCxnSpPr>
        <p:spPr>
          <a:xfrm>
            <a:off x="2150900" y="3840825"/>
            <a:ext cx="789600" cy="10200"/>
          </a:xfrm>
          <a:prstGeom prst="straightConnector1">
            <a:avLst/>
          </a:prstGeom>
          <a:noFill/>
          <a:ln cap="flat" cmpd="sng" w="28575">
            <a:solidFill>
              <a:srgbClr val="FFFFFF"/>
            </a:solidFill>
            <a:prstDash val="solid"/>
            <a:round/>
            <a:headEnd len="med" w="med" type="none"/>
            <a:tailEnd len="med" w="med" type="triangle"/>
          </a:ln>
        </p:spPr>
      </p:cxnSp>
      <p:cxnSp>
        <p:nvCxnSpPr>
          <p:cNvPr id="624" name="Google Shape;624;p96"/>
          <p:cNvCxnSpPr>
            <a:stCxn id="618" idx="4"/>
            <a:endCxn id="625" idx="0"/>
          </p:cNvCxnSpPr>
          <p:nvPr/>
        </p:nvCxnSpPr>
        <p:spPr>
          <a:xfrm>
            <a:off x="3190850" y="2104775"/>
            <a:ext cx="0" cy="508800"/>
          </a:xfrm>
          <a:prstGeom prst="straightConnector1">
            <a:avLst/>
          </a:prstGeom>
          <a:noFill/>
          <a:ln cap="flat" cmpd="sng" w="28575">
            <a:solidFill>
              <a:srgbClr val="FFFFFF"/>
            </a:solidFill>
            <a:prstDash val="solid"/>
            <a:round/>
            <a:headEnd len="med" w="med" type="none"/>
            <a:tailEnd len="med" w="med" type="triangle"/>
          </a:ln>
        </p:spPr>
      </p:cxnSp>
      <p:cxnSp>
        <p:nvCxnSpPr>
          <p:cNvPr id="626" name="Google Shape;626;p96"/>
          <p:cNvCxnSpPr>
            <a:stCxn id="617" idx="6"/>
            <a:endCxn id="625" idx="2"/>
          </p:cNvCxnSpPr>
          <p:nvPr/>
        </p:nvCxnSpPr>
        <p:spPr>
          <a:xfrm>
            <a:off x="2150900" y="28602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627" name="Google Shape;627;p96"/>
          <p:cNvSpPr/>
          <p:nvPr/>
        </p:nvSpPr>
        <p:spPr>
          <a:xfrm>
            <a:off x="1640000" y="16112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cxnSp>
        <p:nvCxnSpPr>
          <p:cNvPr id="628" name="Google Shape;628;p96"/>
          <p:cNvCxnSpPr>
            <a:stCxn id="627" idx="6"/>
            <a:endCxn id="618" idx="2"/>
          </p:cNvCxnSpPr>
          <p:nvPr/>
        </p:nvCxnSpPr>
        <p:spPr>
          <a:xfrm>
            <a:off x="2150900" y="18580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625" name="Google Shape;625;p96"/>
          <p:cNvSpPr/>
          <p:nvPr/>
        </p:nvSpPr>
        <p:spPr>
          <a:xfrm>
            <a:off x="2935400" y="26134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900">
                <a:solidFill>
                  <a:srgbClr val="FFFFFF"/>
                </a:solidFill>
              </a:rPr>
              <a:t>F</a:t>
            </a:r>
            <a:endParaRPr sz="1900">
              <a:solidFill>
                <a:srgbClr val="FFFFFF"/>
              </a:solidFill>
            </a:endParaRPr>
          </a:p>
        </p:txBody>
      </p:sp>
      <p:cxnSp>
        <p:nvCxnSpPr>
          <p:cNvPr id="629" name="Google Shape;629;p96"/>
          <p:cNvCxnSpPr>
            <a:stCxn id="625" idx="6"/>
            <a:endCxn id="621" idx="2"/>
          </p:cNvCxnSpPr>
          <p:nvPr/>
        </p:nvCxnSpPr>
        <p:spPr>
          <a:xfrm flipH="1" rot="10800000">
            <a:off x="3446300" y="2853938"/>
            <a:ext cx="817800" cy="6300"/>
          </a:xfrm>
          <a:prstGeom prst="straightConnector1">
            <a:avLst/>
          </a:prstGeom>
          <a:noFill/>
          <a:ln cap="flat" cmpd="sng" w="28575">
            <a:solidFill>
              <a:srgbClr val="FFFFFF"/>
            </a:solidFill>
            <a:prstDash val="solid"/>
            <a:round/>
            <a:headEnd len="med" w="med" type="none"/>
            <a:tailEnd len="med" w="med" type="triangle"/>
          </a:ln>
        </p:spPr>
      </p:cxnSp>
      <p:sp>
        <p:nvSpPr>
          <p:cNvPr id="630" name="Google Shape;630;p96"/>
          <p:cNvSpPr txBox="1"/>
          <p:nvPr/>
        </p:nvSpPr>
        <p:spPr>
          <a:xfrm>
            <a:off x="909200" y="1605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31" name="Google Shape;631;p96"/>
          <p:cNvSpPr txBox="1"/>
          <p:nvPr/>
        </p:nvSpPr>
        <p:spPr>
          <a:xfrm>
            <a:off x="2128400" y="1529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32" name="Google Shape;632;p96"/>
          <p:cNvSpPr txBox="1"/>
          <p:nvPr/>
        </p:nvSpPr>
        <p:spPr>
          <a:xfrm>
            <a:off x="3195200" y="21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33" name="Google Shape;633;p96"/>
          <p:cNvSpPr txBox="1"/>
          <p:nvPr/>
        </p:nvSpPr>
        <p:spPr>
          <a:xfrm>
            <a:off x="2280800" y="2519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34" name="Google Shape;634;p96"/>
          <p:cNvSpPr txBox="1"/>
          <p:nvPr/>
        </p:nvSpPr>
        <p:spPr>
          <a:xfrm>
            <a:off x="3576200" y="2519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35" name="Google Shape;635;p96"/>
          <p:cNvSpPr txBox="1"/>
          <p:nvPr/>
        </p:nvSpPr>
        <p:spPr>
          <a:xfrm>
            <a:off x="1061600" y="24436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8</a:t>
            </a:r>
            <a:endParaRPr sz="2000">
              <a:solidFill>
                <a:srgbClr val="FFFFFF"/>
              </a:solidFill>
            </a:endParaRPr>
          </a:p>
        </p:txBody>
      </p:sp>
      <p:sp>
        <p:nvSpPr>
          <p:cNvPr id="636" name="Google Shape;636;p96"/>
          <p:cNvSpPr txBox="1"/>
          <p:nvPr/>
        </p:nvSpPr>
        <p:spPr>
          <a:xfrm>
            <a:off x="2280800" y="35104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9</a:t>
            </a:r>
            <a:endParaRPr sz="2000">
              <a:solidFill>
                <a:srgbClr val="FFFFFF"/>
              </a:solidFill>
            </a:endParaRPr>
          </a:p>
        </p:txBody>
      </p:sp>
      <p:sp>
        <p:nvSpPr>
          <p:cNvPr id="637" name="Google Shape;637;p96"/>
          <p:cNvSpPr txBox="1"/>
          <p:nvPr/>
        </p:nvSpPr>
        <p:spPr>
          <a:xfrm>
            <a:off x="3957200" y="37390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13</a:t>
            </a:r>
            <a:endParaRPr sz="2000">
              <a:solidFill>
                <a:srgbClr val="FFFFFF"/>
              </a:solidFill>
            </a:endParaRPr>
          </a:p>
        </p:txBody>
      </p:sp>
      <p:sp>
        <p:nvSpPr>
          <p:cNvPr id="638" name="Google Shape;638;p96"/>
          <p:cNvSpPr/>
          <p:nvPr/>
        </p:nvSpPr>
        <p:spPr>
          <a:xfrm>
            <a:off x="152300" y="2588425"/>
            <a:ext cx="7794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cxnSp>
        <p:nvCxnSpPr>
          <p:cNvPr id="639" name="Google Shape;639;p96"/>
          <p:cNvCxnSpPr/>
          <p:nvPr/>
        </p:nvCxnSpPr>
        <p:spPr>
          <a:xfrm>
            <a:off x="845200" y="2847925"/>
            <a:ext cx="794700" cy="12300"/>
          </a:xfrm>
          <a:prstGeom prst="straightConnector1">
            <a:avLst/>
          </a:prstGeom>
          <a:noFill/>
          <a:ln cap="flat" cmpd="sng" w="28575">
            <a:solidFill>
              <a:srgbClr val="EA9999"/>
            </a:solidFill>
            <a:prstDash val="solid"/>
            <a:round/>
            <a:headEnd len="med" w="med" type="none"/>
            <a:tailEnd len="med" w="med" type="triangle"/>
          </a:ln>
        </p:spPr>
      </p:cxnSp>
      <p:sp>
        <p:nvSpPr>
          <p:cNvPr id="640" name="Google Shape;640;p96"/>
          <p:cNvSpPr/>
          <p:nvPr/>
        </p:nvSpPr>
        <p:spPr>
          <a:xfrm>
            <a:off x="1640000" y="2613488"/>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cxnSp>
        <p:nvCxnSpPr>
          <p:cNvPr id="641" name="Google Shape;641;p96"/>
          <p:cNvCxnSpPr>
            <a:stCxn id="640" idx="6"/>
            <a:endCxn id="642" idx="2"/>
          </p:cNvCxnSpPr>
          <p:nvPr/>
        </p:nvCxnSpPr>
        <p:spPr>
          <a:xfrm>
            <a:off x="2150900" y="2860238"/>
            <a:ext cx="784500" cy="0"/>
          </a:xfrm>
          <a:prstGeom prst="straightConnector1">
            <a:avLst/>
          </a:prstGeom>
          <a:noFill/>
          <a:ln cap="flat" cmpd="sng" w="28575">
            <a:solidFill>
              <a:srgbClr val="EA9999"/>
            </a:solidFill>
            <a:prstDash val="solid"/>
            <a:round/>
            <a:headEnd len="med" w="med" type="none"/>
            <a:tailEnd len="med" w="med" type="triangle"/>
          </a:ln>
        </p:spPr>
      </p:cxnSp>
      <p:sp>
        <p:nvSpPr>
          <p:cNvPr id="642" name="Google Shape;642;p96"/>
          <p:cNvSpPr/>
          <p:nvPr/>
        </p:nvSpPr>
        <p:spPr>
          <a:xfrm>
            <a:off x="2935400" y="2613488"/>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cxnSp>
        <p:nvCxnSpPr>
          <p:cNvPr id="643" name="Google Shape;643;p96"/>
          <p:cNvCxnSpPr>
            <a:stCxn id="642" idx="6"/>
            <a:endCxn id="644" idx="2"/>
          </p:cNvCxnSpPr>
          <p:nvPr/>
        </p:nvCxnSpPr>
        <p:spPr>
          <a:xfrm flipH="1" rot="10800000">
            <a:off x="3446300" y="2853938"/>
            <a:ext cx="817800" cy="6300"/>
          </a:xfrm>
          <a:prstGeom prst="straightConnector1">
            <a:avLst/>
          </a:prstGeom>
          <a:noFill/>
          <a:ln cap="flat" cmpd="sng" w="28575">
            <a:solidFill>
              <a:srgbClr val="EA9999"/>
            </a:solidFill>
            <a:prstDash val="solid"/>
            <a:round/>
            <a:headEnd len="med" w="med" type="none"/>
            <a:tailEnd len="med" w="med" type="triangle"/>
          </a:ln>
        </p:spPr>
      </p:cxnSp>
      <p:sp>
        <p:nvSpPr>
          <p:cNvPr id="644" name="Google Shape;644;p96"/>
          <p:cNvSpPr/>
          <p:nvPr/>
        </p:nvSpPr>
        <p:spPr>
          <a:xfrm>
            <a:off x="4263975" y="2607325"/>
            <a:ext cx="7794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sp>
        <p:nvSpPr>
          <p:cNvPr id="645" name="Google Shape;645;p96"/>
          <p:cNvSpPr txBox="1"/>
          <p:nvPr/>
        </p:nvSpPr>
        <p:spPr>
          <a:xfrm>
            <a:off x="5961025" y="2388475"/>
            <a:ext cx="1532700" cy="8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EA9999"/>
                </a:solidFill>
              </a:rPr>
              <a:t>BFS</a:t>
            </a:r>
            <a:br>
              <a:rPr lang="es" sz="2300">
                <a:solidFill>
                  <a:srgbClr val="EA9999"/>
                </a:solidFill>
              </a:rPr>
            </a:br>
            <a:r>
              <a:rPr lang="es" sz="2300">
                <a:solidFill>
                  <a:srgbClr val="EA9999"/>
                </a:solidFill>
              </a:rPr>
              <a:t>Mínimo: 1</a:t>
            </a:r>
            <a:endParaRPr sz="2300">
              <a:solidFill>
                <a:srgbClr val="EA9999"/>
              </a:solidFill>
            </a:endParaRPr>
          </a:p>
        </p:txBody>
      </p:sp>
      <p:cxnSp>
        <p:nvCxnSpPr>
          <p:cNvPr id="646" name="Google Shape;646;p96"/>
          <p:cNvCxnSpPr>
            <a:stCxn id="620" idx="6"/>
            <a:endCxn id="644" idx="4"/>
          </p:cNvCxnSpPr>
          <p:nvPr/>
        </p:nvCxnSpPr>
        <p:spPr>
          <a:xfrm flipH="1" rot="10800000">
            <a:off x="3451525" y="3100875"/>
            <a:ext cx="1202100" cy="750000"/>
          </a:xfrm>
          <a:prstGeom prst="curvedConnector2">
            <a:avLst/>
          </a:prstGeom>
          <a:noFill/>
          <a:ln cap="flat" cmpd="sng" w="28575">
            <a:solidFill>
              <a:srgbClr val="FFFFFF"/>
            </a:solidFill>
            <a:prstDash val="solid"/>
            <a:round/>
            <a:headEnd len="med" w="med" type="none"/>
            <a:tailEnd len="med" w="med" type="triangle"/>
          </a:ln>
        </p:spPr>
      </p:cxnSp>
      <p:cxnSp>
        <p:nvCxnSpPr>
          <p:cNvPr id="647" name="Google Shape;647;p96"/>
          <p:cNvCxnSpPr>
            <a:stCxn id="638" idx="0"/>
            <a:endCxn id="627" idx="2"/>
          </p:cNvCxnSpPr>
          <p:nvPr/>
        </p:nvCxnSpPr>
        <p:spPr>
          <a:xfrm rot="-5400000">
            <a:off x="725750" y="1674175"/>
            <a:ext cx="730500" cy="1098000"/>
          </a:xfrm>
          <a:prstGeom prst="curvedConnector2">
            <a:avLst/>
          </a:prstGeom>
          <a:noFill/>
          <a:ln cap="flat" cmpd="sng" w="28575">
            <a:solidFill>
              <a:srgbClr val="FFFFFF"/>
            </a:solidFill>
            <a:prstDash val="solid"/>
            <a:round/>
            <a:headEnd len="med" w="med" type="none"/>
            <a:tailEnd len="med" w="med" type="triangle"/>
          </a:ln>
        </p:spPr>
      </p:cxnSp>
      <p:cxnSp>
        <p:nvCxnSpPr>
          <p:cNvPr id="648" name="Google Shape;648;p96"/>
          <p:cNvCxnSpPr>
            <a:stCxn id="640" idx="4"/>
            <a:endCxn id="619" idx="0"/>
          </p:cNvCxnSpPr>
          <p:nvPr/>
        </p:nvCxnSpPr>
        <p:spPr>
          <a:xfrm>
            <a:off x="1895450" y="3106988"/>
            <a:ext cx="0" cy="487200"/>
          </a:xfrm>
          <a:prstGeom prst="straightConnector1">
            <a:avLst/>
          </a:prstGeom>
          <a:noFill/>
          <a:ln cap="flat" cmpd="sng" w="28575">
            <a:solidFill>
              <a:srgbClr val="FFFFFF"/>
            </a:solidFill>
            <a:prstDash val="solid"/>
            <a:round/>
            <a:headEnd len="med" w="med" type="none"/>
            <a:tailEnd len="med" w="med" type="triangle"/>
          </a:ln>
        </p:spPr>
      </p:cxnSp>
      <p:sp>
        <p:nvSpPr>
          <p:cNvPr id="649" name="Google Shape;649;p96"/>
          <p:cNvSpPr txBox="1"/>
          <p:nvPr/>
        </p:nvSpPr>
        <p:spPr>
          <a:xfrm>
            <a:off x="1899800" y="32056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10</a:t>
            </a:r>
            <a:endParaRPr sz="2000">
              <a:solidFill>
                <a:srgbClr val="FFFFFF"/>
              </a:solidFill>
            </a:endParaRPr>
          </a:p>
        </p:txBody>
      </p:sp>
      <p:sp>
        <p:nvSpPr>
          <p:cNvPr id="650" name="Google Shape;650;p96"/>
          <p:cNvSpPr txBox="1"/>
          <p:nvPr/>
        </p:nvSpPr>
        <p:spPr>
          <a:xfrm>
            <a:off x="142000" y="333375"/>
            <a:ext cx="8321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FFFFFF"/>
                </a:solidFill>
              </a:rPr>
              <a:t>APLICO BFS Y CONSIGO CAMINO MÁS CORTO DE FUENTE(Fu) a SUMIDERO (Su)</a:t>
            </a:r>
            <a:endParaRPr sz="23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0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000"/>
                                        <p:tgtEl>
                                          <p:spTgt spid="639"/>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000"/>
                                        <p:tgtEl>
                                          <p:spTgt spid="6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000"/>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1000"/>
                                        <p:tgtEl>
                                          <p:spTgt spid="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97"/>
          <p:cNvSpPr/>
          <p:nvPr/>
        </p:nvSpPr>
        <p:spPr>
          <a:xfrm>
            <a:off x="142000" y="260117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sp>
        <p:nvSpPr>
          <p:cNvPr id="656" name="Google Shape;656;p97"/>
          <p:cNvSpPr/>
          <p:nvPr/>
        </p:nvSpPr>
        <p:spPr>
          <a:xfrm>
            <a:off x="1640000" y="26134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sp>
        <p:nvSpPr>
          <p:cNvPr id="657" name="Google Shape;657;p97"/>
          <p:cNvSpPr/>
          <p:nvPr/>
        </p:nvSpPr>
        <p:spPr>
          <a:xfrm>
            <a:off x="2935400" y="16112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sp>
        <p:nvSpPr>
          <p:cNvPr id="658" name="Google Shape;658;p97"/>
          <p:cNvSpPr/>
          <p:nvPr/>
        </p:nvSpPr>
        <p:spPr>
          <a:xfrm>
            <a:off x="1640000" y="35940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sp>
        <p:nvSpPr>
          <p:cNvPr id="659" name="Google Shape;659;p97"/>
          <p:cNvSpPr/>
          <p:nvPr/>
        </p:nvSpPr>
        <p:spPr>
          <a:xfrm>
            <a:off x="2940625" y="360412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sp>
        <p:nvSpPr>
          <p:cNvPr id="660" name="Google Shape;660;p97"/>
          <p:cNvSpPr/>
          <p:nvPr/>
        </p:nvSpPr>
        <p:spPr>
          <a:xfrm>
            <a:off x="4263975" y="260732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cxnSp>
        <p:nvCxnSpPr>
          <p:cNvPr id="661" name="Google Shape;661;p97"/>
          <p:cNvCxnSpPr>
            <a:stCxn id="655" idx="6"/>
            <a:endCxn id="656" idx="2"/>
          </p:cNvCxnSpPr>
          <p:nvPr/>
        </p:nvCxnSpPr>
        <p:spPr>
          <a:xfrm>
            <a:off x="921400" y="2847925"/>
            <a:ext cx="718500" cy="12300"/>
          </a:xfrm>
          <a:prstGeom prst="straightConnector1">
            <a:avLst/>
          </a:prstGeom>
          <a:noFill/>
          <a:ln cap="flat" cmpd="sng" w="28575">
            <a:solidFill>
              <a:srgbClr val="EA9999"/>
            </a:solidFill>
            <a:prstDash val="solid"/>
            <a:round/>
            <a:headEnd len="med" w="med" type="none"/>
            <a:tailEnd len="med" w="med" type="triangle"/>
          </a:ln>
        </p:spPr>
      </p:cxnSp>
      <p:cxnSp>
        <p:nvCxnSpPr>
          <p:cNvPr id="662" name="Google Shape;662;p97"/>
          <p:cNvCxnSpPr>
            <a:stCxn id="658" idx="6"/>
            <a:endCxn id="659" idx="2"/>
          </p:cNvCxnSpPr>
          <p:nvPr/>
        </p:nvCxnSpPr>
        <p:spPr>
          <a:xfrm>
            <a:off x="2150900" y="3840825"/>
            <a:ext cx="789600" cy="10200"/>
          </a:xfrm>
          <a:prstGeom prst="straightConnector1">
            <a:avLst/>
          </a:prstGeom>
          <a:noFill/>
          <a:ln cap="flat" cmpd="sng" w="28575">
            <a:solidFill>
              <a:srgbClr val="FFFFFF"/>
            </a:solidFill>
            <a:prstDash val="solid"/>
            <a:round/>
            <a:headEnd len="med" w="med" type="none"/>
            <a:tailEnd len="med" w="med" type="triangle"/>
          </a:ln>
        </p:spPr>
      </p:cxnSp>
      <p:cxnSp>
        <p:nvCxnSpPr>
          <p:cNvPr id="663" name="Google Shape;663;p97"/>
          <p:cNvCxnSpPr>
            <a:stCxn id="657" idx="4"/>
            <a:endCxn id="664" idx="0"/>
          </p:cNvCxnSpPr>
          <p:nvPr/>
        </p:nvCxnSpPr>
        <p:spPr>
          <a:xfrm>
            <a:off x="3190850" y="2104775"/>
            <a:ext cx="0" cy="508800"/>
          </a:xfrm>
          <a:prstGeom prst="straightConnector1">
            <a:avLst/>
          </a:prstGeom>
          <a:noFill/>
          <a:ln cap="flat" cmpd="sng" w="28575">
            <a:solidFill>
              <a:srgbClr val="FFFFFF"/>
            </a:solidFill>
            <a:prstDash val="solid"/>
            <a:round/>
            <a:headEnd len="med" w="med" type="none"/>
            <a:tailEnd len="med" w="med" type="triangle"/>
          </a:ln>
        </p:spPr>
      </p:cxnSp>
      <p:cxnSp>
        <p:nvCxnSpPr>
          <p:cNvPr id="665" name="Google Shape;665;p97"/>
          <p:cNvCxnSpPr>
            <a:stCxn id="656" idx="6"/>
            <a:endCxn id="664" idx="2"/>
          </p:cNvCxnSpPr>
          <p:nvPr/>
        </p:nvCxnSpPr>
        <p:spPr>
          <a:xfrm>
            <a:off x="2150900" y="2860238"/>
            <a:ext cx="784500" cy="0"/>
          </a:xfrm>
          <a:prstGeom prst="straightConnector1">
            <a:avLst/>
          </a:prstGeom>
          <a:noFill/>
          <a:ln cap="flat" cmpd="sng" w="28575">
            <a:solidFill>
              <a:srgbClr val="EA9999"/>
            </a:solidFill>
            <a:prstDash val="solid"/>
            <a:round/>
            <a:headEnd len="med" w="med" type="none"/>
            <a:tailEnd len="med" w="med" type="triangle"/>
          </a:ln>
        </p:spPr>
      </p:cxnSp>
      <p:sp>
        <p:nvSpPr>
          <p:cNvPr id="666" name="Google Shape;666;p97"/>
          <p:cNvSpPr/>
          <p:nvPr/>
        </p:nvSpPr>
        <p:spPr>
          <a:xfrm>
            <a:off x="1640000" y="16112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cxnSp>
        <p:nvCxnSpPr>
          <p:cNvPr id="667" name="Google Shape;667;p97"/>
          <p:cNvCxnSpPr>
            <a:stCxn id="666" idx="6"/>
            <a:endCxn id="657" idx="2"/>
          </p:cNvCxnSpPr>
          <p:nvPr/>
        </p:nvCxnSpPr>
        <p:spPr>
          <a:xfrm>
            <a:off x="2150900" y="18580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664" name="Google Shape;664;p97"/>
          <p:cNvSpPr/>
          <p:nvPr/>
        </p:nvSpPr>
        <p:spPr>
          <a:xfrm>
            <a:off x="2935400" y="26134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cxnSp>
        <p:nvCxnSpPr>
          <p:cNvPr id="668" name="Google Shape;668;p97"/>
          <p:cNvCxnSpPr>
            <a:stCxn id="664" idx="6"/>
            <a:endCxn id="660" idx="2"/>
          </p:cNvCxnSpPr>
          <p:nvPr/>
        </p:nvCxnSpPr>
        <p:spPr>
          <a:xfrm flipH="1" rot="10800000">
            <a:off x="3446300" y="2853938"/>
            <a:ext cx="817800" cy="6300"/>
          </a:xfrm>
          <a:prstGeom prst="straightConnector1">
            <a:avLst/>
          </a:prstGeom>
          <a:noFill/>
          <a:ln cap="flat" cmpd="sng" w="28575">
            <a:solidFill>
              <a:srgbClr val="EA9999"/>
            </a:solidFill>
            <a:prstDash val="solid"/>
            <a:round/>
            <a:headEnd len="med" w="med" type="none"/>
            <a:tailEnd len="med" w="med" type="triangle"/>
          </a:ln>
        </p:spPr>
      </p:cxnSp>
      <p:sp>
        <p:nvSpPr>
          <p:cNvPr id="669" name="Google Shape;669;p97"/>
          <p:cNvSpPr txBox="1"/>
          <p:nvPr/>
        </p:nvSpPr>
        <p:spPr>
          <a:xfrm>
            <a:off x="2128400" y="1529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70" name="Google Shape;670;p97"/>
          <p:cNvSpPr txBox="1"/>
          <p:nvPr/>
        </p:nvSpPr>
        <p:spPr>
          <a:xfrm>
            <a:off x="3195200" y="21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71" name="Google Shape;671;p97"/>
          <p:cNvSpPr txBox="1"/>
          <p:nvPr/>
        </p:nvSpPr>
        <p:spPr>
          <a:xfrm>
            <a:off x="2280800" y="2519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72" name="Google Shape;672;p97"/>
          <p:cNvSpPr txBox="1"/>
          <p:nvPr/>
        </p:nvSpPr>
        <p:spPr>
          <a:xfrm>
            <a:off x="3576200" y="2519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673" name="Google Shape;673;p97"/>
          <p:cNvSpPr txBox="1"/>
          <p:nvPr/>
        </p:nvSpPr>
        <p:spPr>
          <a:xfrm>
            <a:off x="1082400" y="2417163"/>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8</a:t>
            </a:r>
            <a:endParaRPr sz="2000">
              <a:solidFill>
                <a:srgbClr val="FFFFFF"/>
              </a:solidFill>
            </a:endParaRPr>
          </a:p>
        </p:txBody>
      </p:sp>
      <p:sp>
        <p:nvSpPr>
          <p:cNvPr id="674" name="Google Shape;674;p97"/>
          <p:cNvSpPr txBox="1"/>
          <p:nvPr/>
        </p:nvSpPr>
        <p:spPr>
          <a:xfrm>
            <a:off x="1899800" y="32056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10</a:t>
            </a:r>
            <a:endParaRPr sz="2000">
              <a:solidFill>
                <a:srgbClr val="FFFFFF"/>
              </a:solidFill>
            </a:endParaRPr>
          </a:p>
        </p:txBody>
      </p:sp>
      <p:sp>
        <p:nvSpPr>
          <p:cNvPr id="675" name="Google Shape;675;p97"/>
          <p:cNvSpPr txBox="1"/>
          <p:nvPr/>
        </p:nvSpPr>
        <p:spPr>
          <a:xfrm>
            <a:off x="5961025" y="2388475"/>
            <a:ext cx="1532700" cy="8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EA9999"/>
                </a:solidFill>
              </a:rPr>
              <a:t>BFS</a:t>
            </a:r>
            <a:br>
              <a:rPr lang="es" sz="2300">
                <a:solidFill>
                  <a:srgbClr val="EA9999"/>
                </a:solidFill>
              </a:rPr>
            </a:br>
            <a:r>
              <a:rPr lang="es" sz="2300">
                <a:solidFill>
                  <a:srgbClr val="EA9999"/>
                </a:solidFill>
              </a:rPr>
              <a:t>Mínimo: 1</a:t>
            </a:r>
            <a:endParaRPr sz="2300">
              <a:solidFill>
                <a:srgbClr val="EA9999"/>
              </a:solidFill>
            </a:endParaRPr>
          </a:p>
        </p:txBody>
      </p:sp>
      <p:sp>
        <p:nvSpPr>
          <p:cNvPr id="676" name="Google Shape;676;p97"/>
          <p:cNvSpPr txBox="1"/>
          <p:nvPr/>
        </p:nvSpPr>
        <p:spPr>
          <a:xfrm>
            <a:off x="1089625" y="2416013"/>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7</a:t>
            </a:r>
            <a:endParaRPr sz="2000">
              <a:solidFill>
                <a:srgbClr val="FFFFFF"/>
              </a:solidFill>
            </a:endParaRPr>
          </a:p>
        </p:txBody>
      </p:sp>
      <p:cxnSp>
        <p:nvCxnSpPr>
          <p:cNvPr id="677" name="Google Shape;677;p97"/>
          <p:cNvCxnSpPr>
            <a:stCxn id="656" idx="3"/>
            <a:endCxn id="655" idx="5"/>
          </p:cNvCxnSpPr>
          <p:nvPr/>
        </p:nvCxnSpPr>
        <p:spPr>
          <a:xfrm rot="10800000">
            <a:off x="807320" y="3022416"/>
            <a:ext cx="907500" cy="12300"/>
          </a:xfrm>
          <a:prstGeom prst="straightConnector1">
            <a:avLst/>
          </a:prstGeom>
          <a:noFill/>
          <a:ln cap="flat" cmpd="sng" w="28575">
            <a:solidFill>
              <a:srgbClr val="FF0000"/>
            </a:solidFill>
            <a:prstDash val="solid"/>
            <a:round/>
            <a:headEnd len="med" w="med" type="none"/>
            <a:tailEnd len="med" w="med" type="triangle"/>
          </a:ln>
        </p:spPr>
      </p:cxnSp>
      <p:sp>
        <p:nvSpPr>
          <p:cNvPr id="678" name="Google Shape;678;p97"/>
          <p:cNvSpPr txBox="1"/>
          <p:nvPr/>
        </p:nvSpPr>
        <p:spPr>
          <a:xfrm>
            <a:off x="10616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sp>
        <p:nvSpPr>
          <p:cNvPr id="679" name="Google Shape;679;p97"/>
          <p:cNvSpPr txBox="1"/>
          <p:nvPr/>
        </p:nvSpPr>
        <p:spPr>
          <a:xfrm>
            <a:off x="2280800" y="2519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0</a:t>
            </a:r>
            <a:endParaRPr sz="2000">
              <a:solidFill>
                <a:srgbClr val="FFFFFF"/>
              </a:solidFill>
            </a:endParaRPr>
          </a:p>
        </p:txBody>
      </p:sp>
      <p:cxnSp>
        <p:nvCxnSpPr>
          <p:cNvPr id="680" name="Google Shape;680;p97"/>
          <p:cNvCxnSpPr>
            <a:stCxn id="664" idx="3"/>
            <a:endCxn id="656" idx="5"/>
          </p:cNvCxnSpPr>
          <p:nvPr/>
        </p:nvCxnSpPr>
        <p:spPr>
          <a:xfrm rot="10800000">
            <a:off x="20760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681" name="Google Shape;681;p97"/>
          <p:cNvSpPr txBox="1"/>
          <p:nvPr/>
        </p:nvSpPr>
        <p:spPr>
          <a:xfrm>
            <a:off x="23570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682" name="Google Shape;682;p97"/>
          <p:cNvCxnSpPr/>
          <p:nvPr/>
        </p:nvCxnSpPr>
        <p:spPr>
          <a:xfrm>
            <a:off x="1895450" y="3106988"/>
            <a:ext cx="0" cy="487200"/>
          </a:xfrm>
          <a:prstGeom prst="straightConnector1">
            <a:avLst/>
          </a:prstGeom>
          <a:noFill/>
          <a:ln cap="flat" cmpd="sng" w="28575">
            <a:solidFill>
              <a:srgbClr val="FFFFFF"/>
            </a:solidFill>
            <a:prstDash val="solid"/>
            <a:round/>
            <a:headEnd len="med" w="med" type="none"/>
            <a:tailEnd len="med" w="med" type="triangle"/>
          </a:ln>
        </p:spPr>
      </p:cxnSp>
      <p:sp>
        <p:nvSpPr>
          <p:cNvPr id="683" name="Google Shape;683;p97"/>
          <p:cNvSpPr txBox="1"/>
          <p:nvPr/>
        </p:nvSpPr>
        <p:spPr>
          <a:xfrm>
            <a:off x="2280800" y="3531825"/>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9</a:t>
            </a:r>
            <a:endParaRPr sz="2000">
              <a:solidFill>
                <a:srgbClr val="FFFFFF"/>
              </a:solidFill>
            </a:endParaRPr>
          </a:p>
        </p:txBody>
      </p:sp>
      <p:sp>
        <p:nvSpPr>
          <p:cNvPr id="684" name="Google Shape;684;p97"/>
          <p:cNvSpPr txBox="1"/>
          <p:nvPr/>
        </p:nvSpPr>
        <p:spPr>
          <a:xfrm>
            <a:off x="3720925" y="3443075"/>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13</a:t>
            </a:r>
            <a:endParaRPr sz="2000">
              <a:solidFill>
                <a:srgbClr val="FFFFFF"/>
              </a:solidFill>
            </a:endParaRPr>
          </a:p>
        </p:txBody>
      </p:sp>
      <p:cxnSp>
        <p:nvCxnSpPr>
          <p:cNvPr id="685" name="Google Shape;685;p97"/>
          <p:cNvCxnSpPr/>
          <p:nvPr/>
        </p:nvCxnSpPr>
        <p:spPr>
          <a:xfrm flipH="1" rot="10800000">
            <a:off x="3451525" y="3100875"/>
            <a:ext cx="1202100" cy="750000"/>
          </a:xfrm>
          <a:prstGeom prst="curvedConnector2">
            <a:avLst/>
          </a:prstGeom>
          <a:noFill/>
          <a:ln cap="flat" cmpd="sng" w="28575">
            <a:solidFill>
              <a:srgbClr val="FFFFFF"/>
            </a:solidFill>
            <a:prstDash val="solid"/>
            <a:round/>
            <a:headEnd len="med" w="med" type="none"/>
            <a:tailEnd len="med" w="med" type="triangle"/>
          </a:ln>
        </p:spPr>
      </p:cxnSp>
      <p:sp>
        <p:nvSpPr>
          <p:cNvPr id="686" name="Google Shape;686;p97"/>
          <p:cNvSpPr txBox="1"/>
          <p:nvPr/>
        </p:nvSpPr>
        <p:spPr>
          <a:xfrm>
            <a:off x="909200" y="1605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cxnSp>
        <p:nvCxnSpPr>
          <p:cNvPr id="687" name="Google Shape;687;p97"/>
          <p:cNvCxnSpPr>
            <a:stCxn id="655" idx="0"/>
          </p:cNvCxnSpPr>
          <p:nvPr/>
        </p:nvCxnSpPr>
        <p:spPr>
          <a:xfrm rot="-5400000">
            <a:off x="714250" y="1675525"/>
            <a:ext cx="743100" cy="1108200"/>
          </a:xfrm>
          <a:prstGeom prst="curvedConnector2">
            <a:avLst/>
          </a:prstGeom>
          <a:noFill/>
          <a:ln cap="flat" cmpd="sng" w="28575">
            <a:solidFill>
              <a:srgbClr val="FFFFFF"/>
            </a:solidFill>
            <a:prstDash val="solid"/>
            <a:round/>
            <a:headEnd len="med" w="med" type="none"/>
            <a:tailEnd len="med" w="med" type="triangle"/>
          </a:ln>
        </p:spPr>
      </p:cxnSp>
      <p:sp>
        <p:nvSpPr>
          <p:cNvPr id="688" name="Google Shape;688;p97"/>
          <p:cNvSpPr txBox="1"/>
          <p:nvPr/>
        </p:nvSpPr>
        <p:spPr>
          <a:xfrm>
            <a:off x="3595250" y="2496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0</a:t>
            </a:r>
            <a:endParaRPr sz="2000">
              <a:solidFill>
                <a:srgbClr val="FFFFFF"/>
              </a:solidFill>
            </a:endParaRPr>
          </a:p>
        </p:txBody>
      </p:sp>
      <p:cxnSp>
        <p:nvCxnSpPr>
          <p:cNvPr id="689" name="Google Shape;689;p97"/>
          <p:cNvCxnSpPr/>
          <p:nvPr/>
        </p:nvCxnSpPr>
        <p:spPr>
          <a:xfrm rot="10800000">
            <a:off x="33714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690" name="Google Shape;690;p97"/>
          <p:cNvSpPr txBox="1"/>
          <p:nvPr/>
        </p:nvSpPr>
        <p:spPr>
          <a:xfrm>
            <a:off x="36524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sp>
        <p:nvSpPr>
          <p:cNvPr id="691" name="Google Shape;691;p97"/>
          <p:cNvSpPr txBox="1"/>
          <p:nvPr/>
        </p:nvSpPr>
        <p:spPr>
          <a:xfrm>
            <a:off x="142000" y="333375"/>
            <a:ext cx="8321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FFFFFF"/>
                </a:solidFill>
              </a:rPr>
              <a:t>ACTUALIZO RED RESIDUAL (usando el BFS y el mínimo)</a:t>
            </a:r>
            <a:endParaRPr sz="23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73"/>
                                        </p:tgtEl>
                                      </p:cBhvr>
                                    </p:animEffect>
                                    <p:set>
                                      <p:cBhvr>
                                        <p:cTn dur="1" fill="hold">
                                          <p:stCondLst>
                                            <p:cond delay="1000"/>
                                          </p:stCondLst>
                                        </p:cTn>
                                        <p:tgtEl>
                                          <p:spTgt spid="673"/>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1000"/>
                                        <p:tgtEl>
                                          <p:spTgt spid="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1000"/>
                                        <p:tgtEl>
                                          <p:spTgt spid="677"/>
                                        </p:tgtEl>
                                      </p:cBhvr>
                                    </p:animEffect>
                                  </p:childTnLst>
                                </p:cTn>
                              </p:par>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1000"/>
                                        <p:tgtEl>
                                          <p:spTgt spid="6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1000"/>
                                        <p:tgtEl>
                                          <p:spTgt spid="679"/>
                                        </p:tgtEl>
                                      </p:cBhvr>
                                    </p:animEffect>
                                  </p:childTnLst>
                                </p:cTn>
                              </p:par>
                              <p:par>
                                <p:cTn fill="hold" nodeType="withEffect" presetClass="exit" presetID="10" presetSubtype="0">
                                  <p:stCondLst>
                                    <p:cond delay="0"/>
                                  </p:stCondLst>
                                  <p:childTnLst>
                                    <p:animEffect filter="fade" transition="out">
                                      <p:cBhvr>
                                        <p:cTn dur="1000"/>
                                        <p:tgtEl>
                                          <p:spTgt spid="671"/>
                                        </p:tgtEl>
                                      </p:cBhvr>
                                    </p:animEffect>
                                    <p:set>
                                      <p:cBhvr>
                                        <p:cTn dur="1" fill="hold">
                                          <p:stCondLst>
                                            <p:cond delay="1000"/>
                                          </p:stCondLst>
                                        </p:cTn>
                                        <p:tgtEl>
                                          <p:spTgt spid="67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65"/>
                                        </p:tgtEl>
                                      </p:cBhvr>
                                    </p:animEffect>
                                    <p:set>
                                      <p:cBhvr>
                                        <p:cTn dur="1" fill="hold">
                                          <p:stCondLst>
                                            <p:cond delay="1000"/>
                                          </p:stCondLst>
                                        </p:cTn>
                                        <p:tgtEl>
                                          <p:spTgt spid="6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679"/>
                                        </p:tgtEl>
                                      </p:cBhvr>
                                    </p:animEffect>
                                    <p:set>
                                      <p:cBhvr>
                                        <p:cTn dur="1" fill="hold">
                                          <p:stCondLst>
                                            <p:cond delay="1000"/>
                                          </p:stCondLst>
                                        </p:cTn>
                                        <p:tgtEl>
                                          <p:spTgt spid="6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1000"/>
                                        <p:tgtEl>
                                          <p:spTgt spid="680"/>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10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1000"/>
                                        <p:tgtEl>
                                          <p:spTgt spid="688"/>
                                        </p:tgtEl>
                                      </p:cBhvr>
                                    </p:animEffect>
                                  </p:childTnLst>
                                </p:cTn>
                              </p:par>
                              <p:par>
                                <p:cTn fill="hold" nodeType="withEffect" presetClass="exit" presetID="10" presetSubtype="0">
                                  <p:stCondLst>
                                    <p:cond delay="0"/>
                                  </p:stCondLst>
                                  <p:childTnLst>
                                    <p:animEffect filter="fade" transition="out">
                                      <p:cBhvr>
                                        <p:cTn dur="1000"/>
                                        <p:tgtEl>
                                          <p:spTgt spid="672"/>
                                        </p:tgtEl>
                                      </p:cBhvr>
                                    </p:animEffect>
                                    <p:set>
                                      <p:cBhvr>
                                        <p:cTn dur="1" fill="hold">
                                          <p:stCondLst>
                                            <p:cond delay="1000"/>
                                          </p:stCondLst>
                                        </p:cTn>
                                        <p:tgtEl>
                                          <p:spTgt spid="6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68"/>
                                        </p:tgtEl>
                                      </p:cBhvr>
                                    </p:animEffect>
                                    <p:set>
                                      <p:cBhvr>
                                        <p:cTn dur="1" fill="hold">
                                          <p:stCondLst>
                                            <p:cond delay="1000"/>
                                          </p:stCondLst>
                                        </p:cTn>
                                        <p:tgtEl>
                                          <p:spTgt spid="66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688"/>
                                        </p:tgtEl>
                                      </p:cBhvr>
                                    </p:animEffect>
                                    <p:set>
                                      <p:cBhvr>
                                        <p:cTn dur="1" fill="hold">
                                          <p:stCondLst>
                                            <p:cond delay="1000"/>
                                          </p:stCondLst>
                                        </p:cTn>
                                        <p:tgtEl>
                                          <p:spTgt spid="6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10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1000"/>
                                        <p:tgtEl>
                                          <p:spTgt spid="6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98"/>
          <p:cNvSpPr/>
          <p:nvPr/>
        </p:nvSpPr>
        <p:spPr>
          <a:xfrm>
            <a:off x="142000" y="2601175"/>
            <a:ext cx="7794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sp>
        <p:nvSpPr>
          <p:cNvPr id="697" name="Google Shape;697;p98"/>
          <p:cNvSpPr/>
          <p:nvPr/>
        </p:nvSpPr>
        <p:spPr>
          <a:xfrm>
            <a:off x="1640000" y="26134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sp>
        <p:nvSpPr>
          <p:cNvPr id="698" name="Google Shape;698;p98"/>
          <p:cNvSpPr/>
          <p:nvPr/>
        </p:nvSpPr>
        <p:spPr>
          <a:xfrm>
            <a:off x="2935400" y="16112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sp>
        <p:nvSpPr>
          <p:cNvPr id="699" name="Google Shape;699;p98"/>
          <p:cNvSpPr/>
          <p:nvPr/>
        </p:nvSpPr>
        <p:spPr>
          <a:xfrm>
            <a:off x="1640000" y="35940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sp>
        <p:nvSpPr>
          <p:cNvPr id="700" name="Google Shape;700;p98"/>
          <p:cNvSpPr/>
          <p:nvPr/>
        </p:nvSpPr>
        <p:spPr>
          <a:xfrm>
            <a:off x="2940625" y="360412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sp>
        <p:nvSpPr>
          <p:cNvPr id="701" name="Google Shape;701;p98"/>
          <p:cNvSpPr/>
          <p:nvPr/>
        </p:nvSpPr>
        <p:spPr>
          <a:xfrm>
            <a:off x="4263975" y="2607325"/>
            <a:ext cx="7794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cxnSp>
        <p:nvCxnSpPr>
          <p:cNvPr id="702" name="Google Shape;702;p98"/>
          <p:cNvCxnSpPr>
            <a:stCxn id="699" idx="6"/>
            <a:endCxn id="700" idx="2"/>
          </p:cNvCxnSpPr>
          <p:nvPr/>
        </p:nvCxnSpPr>
        <p:spPr>
          <a:xfrm>
            <a:off x="2150900" y="3840825"/>
            <a:ext cx="789600" cy="10200"/>
          </a:xfrm>
          <a:prstGeom prst="straightConnector1">
            <a:avLst/>
          </a:prstGeom>
          <a:noFill/>
          <a:ln cap="flat" cmpd="sng" w="28575">
            <a:solidFill>
              <a:srgbClr val="FFFFFF"/>
            </a:solidFill>
            <a:prstDash val="solid"/>
            <a:round/>
            <a:headEnd len="med" w="med" type="none"/>
            <a:tailEnd len="med" w="med" type="triangle"/>
          </a:ln>
        </p:spPr>
      </p:cxnSp>
      <p:cxnSp>
        <p:nvCxnSpPr>
          <p:cNvPr id="703" name="Google Shape;703;p98"/>
          <p:cNvCxnSpPr>
            <a:stCxn id="698" idx="4"/>
            <a:endCxn id="704" idx="0"/>
          </p:cNvCxnSpPr>
          <p:nvPr/>
        </p:nvCxnSpPr>
        <p:spPr>
          <a:xfrm>
            <a:off x="3190850" y="2104775"/>
            <a:ext cx="0" cy="508800"/>
          </a:xfrm>
          <a:prstGeom prst="straightConnector1">
            <a:avLst/>
          </a:prstGeom>
          <a:noFill/>
          <a:ln cap="flat" cmpd="sng" w="28575">
            <a:solidFill>
              <a:srgbClr val="FFFFFF"/>
            </a:solidFill>
            <a:prstDash val="solid"/>
            <a:round/>
            <a:headEnd len="med" w="med" type="none"/>
            <a:tailEnd len="med" w="med" type="triangle"/>
          </a:ln>
        </p:spPr>
      </p:cxnSp>
      <p:sp>
        <p:nvSpPr>
          <p:cNvPr id="705" name="Google Shape;705;p98"/>
          <p:cNvSpPr/>
          <p:nvPr/>
        </p:nvSpPr>
        <p:spPr>
          <a:xfrm>
            <a:off x="1640000" y="16112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cxnSp>
        <p:nvCxnSpPr>
          <p:cNvPr id="706" name="Google Shape;706;p98"/>
          <p:cNvCxnSpPr>
            <a:stCxn id="705" idx="6"/>
            <a:endCxn id="698" idx="2"/>
          </p:cNvCxnSpPr>
          <p:nvPr/>
        </p:nvCxnSpPr>
        <p:spPr>
          <a:xfrm>
            <a:off x="2150900" y="18580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704" name="Google Shape;704;p98"/>
          <p:cNvSpPr/>
          <p:nvPr/>
        </p:nvSpPr>
        <p:spPr>
          <a:xfrm>
            <a:off x="2935400" y="26134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sp>
        <p:nvSpPr>
          <p:cNvPr id="707" name="Google Shape;707;p98"/>
          <p:cNvSpPr txBox="1"/>
          <p:nvPr/>
        </p:nvSpPr>
        <p:spPr>
          <a:xfrm>
            <a:off x="2128400" y="1529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708" name="Google Shape;708;p98"/>
          <p:cNvSpPr txBox="1"/>
          <p:nvPr/>
        </p:nvSpPr>
        <p:spPr>
          <a:xfrm>
            <a:off x="3195200" y="21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709" name="Google Shape;709;p98"/>
          <p:cNvSpPr txBox="1"/>
          <p:nvPr/>
        </p:nvSpPr>
        <p:spPr>
          <a:xfrm>
            <a:off x="1899800" y="32056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10</a:t>
            </a:r>
            <a:endParaRPr sz="2000">
              <a:solidFill>
                <a:srgbClr val="FFFFFF"/>
              </a:solidFill>
            </a:endParaRPr>
          </a:p>
        </p:txBody>
      </p:sp>
      <p:sp>
        <p:nvSpPr>
          <p:cNvPr id="710" name="Google Shape;710;p98"/>
          <p:cNvSpPr txBox="1"/>
          <p:nvPr/>
        </p:nvSpPr>
        <p:spPr>
          <a:xfrm>
            <a:off x="5961025" y="2388475"/>
            <a:ext cx="1532700" cy="8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EA9999"/>
                </a:solidFill>
              </a:rPr>
              <a:t>BFS</a:t>
            </a:r>
            <a:br>
              <a:rPr lang="es" sz="2300">
                <a:solidFill>
                  <a:srgbClr val="EA9999"/>
                </a:solidFill>
              </a:rPr>
            </a:br>
            <a:r>
              <a:rPr lang="es" sz="2300">
                <a:solidFill>
                  <a:srgbClr val="EA9999"/>
                </a:solidFill>
              </a:rPr>
              <a:t>Mínimo: 7</a:t>
            </a:r>
            <a:endParaRPr sz="2300">
              <a:solidFill>
                <a:srgbClr val="EA9999"/>
              </a:solidFill>
            </a:endParaRPr>
          </a:p>
        </p:txBody>
      </p:sp>
      <p:cxnSp>
        <p:nvCxnSpPr>
          <p:cNvPr id="711" name="Google Shape;711;p98"/>
          <p:cNvCxnSpPr>
            <a:stCxn id="697" idx="3"/>
            <a:endCxn id="696" idx="5"/>
          </p:cNvCxnSpPr>
          <p:nvPr/>
        </p:nvCxnSpPr>
        <p:spPr>
          <a:xfrm rot="10800000">
            <a:off x="807320" y="3022416"/>
            <a:ext cx="907500" cy="12300"/>
          </a:xfrm>
          <a:prstGeom prst="straightConnector1">
            <a:avLst/>
          </a:prstGeom>
          <a:noFill/>
          <a:ln cap="flat" cmpd="sng" w="28575">
            <a:solidFill>
              <a:srgbClr val="FF0000"/>
            </a:solidFill>
            <a:prstDash val="solid"/>
            <a:round/>
            <a:headEnd len="med" w="med" type="none"/>
            <a:tailEnd len="med" w="med" type="triangle"/>
          </a:ln>
        </p:spPr>
      </p:cxnSp>
      <p:sp>
        <p:nvSpPr>
          <p:cNvPr id="712" name="Google Shape;712;p98"/>
          <p:cNvSpPr txBox="1"/>
          <p:nvPr/>
        </p:nvSpPr>
        <p:spPr>
          <a:xfrm>
            <a:off x="10616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713" name="Google Shape;713;p98"/>
          <p:cNvCxnSpPr>
            <a:stCxn id="704" idx="3"/>
            <a:endCxn id="697" idx="5"/>
          </p:cNvCxnSpPr>
          <p:nvPr/>
        </p:nvCxnSpPr>
        <p:spPr>
          <a:xfrm rot="10800000">
            <a:off x="20760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714" name="Google Shape;714;p98"/>
          <p:cNvSpPr txBox="1"/>
          <p:nvPr/>
        </p:nvSpPr>
        <p:spPr>
          <a:xfrm>
            <a:off x="23570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715" name="Google Shape;715;p98"/>
          <p:cNvCxnSpPr/>
          <p:nvPr/>
        </p:nvCxnSpPr>
        <p:spPr>
          <a:xfrm>
            <a:off x="1895450" y="3106988"/>
            <a:ext cx="0" cy="487200"/>
          </a:xfrm>
          <a:prstGeom prst="straightConnector1">
            <a:avLst/>
          </a:prstGeom>
          <a:noFill/>
          <a:ln cap="flat" cmpd="sng" w="28575">
            <a:solidFill>
              <a:srgbClr val="FFFFFF"/>
            </a:solidFill>
            <a:prstDash val="solid"/>
            <a:round/>
            <a:headEnd len="med" w="med" type="none"/>
            <a:tailEnd len="med" w="med" type="triangle"/>
          </a:ln>
        </p:spPr>
      </p:cxnSp>
      <p:sp>
        <p:nvSpPr>
          <p:cNvPr id="716" name="Google Shape;716;p98"/>
          <p:cNvSpPr txBox="1"/>
          <p:nvPr/>
        </p:nvSpPr>
        <p:spPr>
          <a:xfrm>
            <a:off x="2280800" y="3531825"/>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9</a:t>
            </a:r>
            <a:endParaRPr sz="2000">
              <a:solidFill>
                <a:srgbClr val="FFFFFF"/>
              </a:solidFill>
            </a:endParaRPr>
          </a:p>
        </p:txBody>
      </p:sp>
      <p:sp>
        <p:nvSpPr>
          <p:cNvPr id="717" name="Google Shape;717;p98"/>
          <p:cNvSpPr txBox="1"/>
          <p:nvPr/>
        </p:nvSpPr>
        <p:spPr>
          <a:xfrm>
            <a:off x="3720925" y="3426525"/>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13</a:t>
            </a:r>
            <a:endParaRPr sz="2000">
              <a:solidFill>
                <a:srgbClr val="FFFFFF"/>
              </a:solidFill>
            </a:endParaRPr>
          </a:p>
        </p:txBody>
      </p:sp>
      <p:cxnSp>
        <p:nvCxnSpPr>
          <p:cNvPr id="718" name="Google Shape;718;p98"/>
          <p:cNvCxnSpPr/>
          <p:nvPr/>
        </p:nvCxnSpPr>
        <p:spPr>
          <a:xfrm flipH="1" rot="10800000">
            <a:off x="3451525" y="3100875"/>
            <a:ext cx="1202100" cy="750000"/>
          </a:xfrm>
          <a:prstGeom prst="curvedConnector2">
            <a:avLst/>
          </a:prstGeom>
          <a:noFill/>
          <a:ln cap="flat" cmpd="sng" w="28575">
            <a:solidFill>
              <a:srgbClr val="FFFFFF"/>
            </a:solidFill>
            <a:prstDash val="solid"/>
            <a:round/>
            <a:headEnd len="med" w="med" type="none"/>
            <a:tailEnd len="med" w="med" type="triangle"/>
          </a:ln>
        </p:spPr>
      </p:cxnSp>
      <p:sp>
        <p:nvSpPr>
          <p:cNvPr id="719" name="Google Shape;719;p98"/>
          <p:cNvSpPr txBox="1"/>
          <p:nvPr/>
        </p:nvSpPr>
        <p:spPr>
          <a:xfrm>
            <a:off x="909200" y="1605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cxnSp>
        <p:nvCxnSpPr>
          <p:cNvPr id="720" name="Google Shape;720;p98"/>
          <p:cNvCxnSpPr>
            <a:stCxn id="696" idx="0"/>
          </p:cNvCxnSpPr>
          <p:nvPr/>
        </p:nvCxnSpPr>
        <p:spPr>
          <a:xfrm rot="-5400000">
            <a:off x="714250" y="1675525"/>
            <a:ext cx="743100" cy="1108200"/>
          </a:xfrm>
          <a:prstGeom prst="curvedConnector2">
            <a:avLst/>
          </a:prstGeom>
          <a:noFill/>
          <a:ln cap="flat" cmpd="sng" w="28575">
            <a:solidFill>
              <a:srgbClr val="FFFFFF"/>
            </a:solidFill>
            <a:prstDash val="solid"/>
            <a:round/>
            <a:headEnd len="med" w="med" type="none"/>
            <a:tailEnd len="med" w="med" type="triangle"/>
          </a:ln>
        </p:spPr>
      </p:cxnSp>
      <p:cxnSp>
        <p:nvCxnSpPr>
          <p:cNvPr id="721" name="Google Shape;721;p98"/>
          <p:cNvCxnSpPr/>
          <p:nvPr/>
        </p:nvCxnSpPr>
        <p:spPr>
          <a:xfrm rot="10800000">
            <a:off x="33714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722" name="Google Shape;722;p98"/>
          <p:cNvSpPr txBox="1"/>
          <p:nvPr/>
        </p:nvSpPr>
        <p:spPr>
          <a:xfrm>
            <a:off x="36524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723" name="Google Shape;723;p98"/>
          <p:cNvCxnSpPr>
            <a:stCxn id="696" idx="6"/>
            <a:endCxn id="697" idx="2"/>
          </p:cNvCxnSpPr>
          <p:nvPr/>
        </p:nvCxnSpPr>
        <p:spPr>
          <a:xfrm>
            <a:off x="921400" y="2847925"/>
            <a:ext cx="718500" cy="12300"/>
          </a:xfrm>
          <a:prstGeom prst="straightConnector1">
            <a:avLst/>
          </a:prstGeom>
          <a:noFill/>
          <a:ln cap="flat" cmpd="sng" w="28575">
            <a:solidFill>
              <a:srgbClr val="FFFFFF"/>
            </a:solidFill>
            <a:prstDash val="solid"/>
            <a:round/>
            <a:headEnd len="med" w="med" type="none"/>
            <a:tailEnd len="med" w="med" type="triangle"/>
          </a:ln>
        </p:spPr>
      </p:cxnSp>
      <p:sp>
        <p:nvSpPr>
          <p:cNvPr id="724" name="Google Shape;724;p98"/>
          <p:cNvSpPr txBox="1"/>
          <p:nvPr/>
        </p:nvSpPr>
        <p:spPr>
          <a:xfrm>
            <a:off x="1089625" y="2416013"/>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7</a:t>
            </a:r>
            <a:endParaRPr sz="2000">
              <a:solidFill>
                <a:srgbClr val="FFFFFF"/>
              </a:solidFill>
            </a:endParaRPr>
          </a:p>
        </p:txBody>
      </p:sp>
      <p:sp>
        <p:nvSpPr>
          <p:cNvPr id="725" name="Google Shape;725;p98"/>
          <p:cNvSpPr/>
          <p:nvPr/>
        </p:nvSpPr>
        <p:spPr>
          <a:xfrm>
            <a:off x="142000" y="2601225"/>
            <a:ext cx="779400" cy="493500"/>
          </a:xfrm>
          <a:prstGeom prst="ellipse">
            <a:avLst/>
          </a:prstGeom>
          <a:solidFill>
            <a:srgbClr val="EA9999"/>
          </a:solid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cxnSp>
        <p:nvCxnSpPr>
          <p:cNvPr id="726" name="Google Shape;726;p98"/>
          <p:cNvCxnSpPr/>
          <p:nvPr/>
        </p:nvCxnSpPr>
        <p:spPr>
          <a:xfrm>
            <a:off x="921400" y="2847925"/>
            <a:ext cx="718500" cy="12300"/>
          </a:xfrm>
          <a:prstGeom prst="straightConnector1">
            <a:avLst/>
          </a:prstGeom>
          <a:noFill/>
          <a:ln cap="flat" cmpd="sng" w="28575">
            <a:solidFill>
              <a:srgbClr val="EA9999"/>
            </a:solidFill>
            <a:prstDash val="solid"/>
            <a:round/>
            <a:headEnd len="med" w="med" type="none"/>
            <a:tailEnd len="med" w="med" type="triangle"/>
          </a:ln>
        </p:spPr>
      </p:cxnSp>
      <p:sp>
        <p:nvSpPr>
          <p:cNvPr id="727" name="Google Shape;727;p98"/>
          <p:cNvSpPr/>
          <p:nvPr/>
        </p:nvSpPr>
        <p:spPr>
          <a:xfrm>
            <a:off x="1640000" y="2613488"/>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cxnSp>
        <p:nvCxnSpPr>
          <p:cNvPr id="728" name="Google Shape;728;p98"/>
          <p:cNvCxnSpPr/>
          <p:nvPr/>
        </p:nvCxnSpPr>
        <p:spPr>
          <a:xfrm>
            <a:off x="1895450" y="3106988"/>
            <a:ext cx="0" cy="487200"/>
          </a:xfrm>
          <a:prstGeom prst="straightConnector1">
            <a:avLst/>
          </a:prstGeom>
          <a:noFill/>
          <a:ln cap="flat" cmpd="sng" w="28575">
            <a:solidFill>
              <a:srgbClr val="EA9999"/>
            </a:solidFill>
            <a:prstDash val="solid"/>
            <a:round/>
            <a:headEnd len="med" w="med" type="none"/>
            <a:tailEnd len="med" w="med" type="triangle"/>
          </a:ln>
        </p:spPr>
      </p:cxnSp>
      <p:sp>
        <p:nvSpPr>
          <p:cNvPr id="729" name="Google Shape;729;p98"/>
          <p:cNvSpPr/>
          <p:nvPr/>
        </p:nvSpPr>
        <p:spPr>
          <a:xfrm>
            <a:off x="1640000" y="3594075"/>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cxnSp>
        <p:nvCxnSpPr>
          <p:cNvPr id="730" name="Google Shape;730;p98"/>
          <p:cNvCxnSpPr/>
          <p:nvPr/>
        </p:nvCxnSpPr>
        <p:spPr>
          <a:xfrm>
            <a:off x="2150900" y="3840825"/>
            <a:ext cx="789600" cy="10200"/>
          </a:xfrm>
          <a:prstGeom prst="straightConnector1">
            <a:avLst/>
          </a:prstGeom>
          <a:noFill/>
          <a:ln cap="flat" cmpd="sng" w="28575">
            <a:solidFill>
              <a:srgbClr val="EA9999"/>
            </a:solidFill>
            <a:prstDash val="solid"/>
            <a:round/>
            <a:headEnd len="med" w="med" type="none"/>
            <a:tailEnd len="med" w="med" type="triangle"/>
          </a:ln>
        </p:spPr>
      </p:cxnSp>
      <p:sp>
        <p:nvSpPr>
          <p:cNvPr id="731" name="Google Shape;731;p98"/>
          <p:cNvSpPr/>
          <p:nvPr/>
        </p:nvSpPr>
        <p:spPr>
          <a:xfrm>
            <a:off x="2940625" y="3604125"/>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cxnSp>
        <p:nvCxnSpPr>
          <p:cNvPr id="732" name="Google Shape;732;p98"/>
          <p:cNvCxnSpPr/>
          <p:nvPr/>
        </p:nvCxnSpPr>
        <p:spPr>
          <a:xfrm flipH="1" rot="10800000">
            <a:off x="3451525" y="3100875"/>
            <a:ext cx="1202100" cy="750000"/>
          </a:xfrm>
          <a:prstGeom prst="curvedConnector2">
            <a:avLst/>
          </a:prstGeom>
          <a:noFill/>
          <a:ln cap="flat" cmpd="sng" w="28575">
            <a:solidFill>
              <a:srgbClr val="EA9999"/>
            </a:solidFill>
            <a:prstDash val="solid"/>
            <a:round/>
            <a:headEnd len="med" w="med" type="none"/>
            <a:tailEnd len="med" w="med" type="triangle"/>
          </a:ln>
        </p:spPr>
      </p:cxnSp>
      <p:sp>
        <p:nvSpPr>
          <p:cNvPr id="733" name="Google Shape;733;p98"/>
          <p:cNvSpPr/>
          <p:nvPr/>
        </p:nvSpPr>
        <p:spPr>
          <a:xfrm>
            <a:off x="4263975" y="2607325"/>
            <a:ext cx="7794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sp>
        <p:nvSpPr>
          <p:cNvPr id="734" name="Google Shape;734;p98"/>
          <p:cNvSpPr txBox="1"/>
          <p:nvPr/>
        </p:nvSpPr>
        <p:spPr>
          <a:xfrm>
            <a:off x="142000" y="333375"/>
            <a:ext cx="8321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FFFFFF"/>
                </a:solidFill>
              </a:rPr>
              <a:t>APLICO BFS Y CONSIGO CAMINO MÁS CORTO DE FUENTE(Fu) a SUMIDERO (Su)</a:t>
            </a:r>
            <a:endParaRPr sz="23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1000"/>
                                        <p:tgtEl>
                                          <p:spTgt spid="7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1000"/>
                                        <p:tgtEl>
                                          <p:spTgt spid="726"/>
                                        </p:tgtEl>
                                      </p:cBhvr>
                                    </p:animEffect>
                                  </p:childTnLst>
                                </p:cTn>
                              </p:par>
                              <p:par>
                                <p:cTn fill="hold" nodeType="with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1000"/>
                                        <p:tgtEl>
                                          <p:spTgt spid="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1000"/>
                                        <p:tgtEl>
                                          <p:spTgt spid="728"/>
                                        </p:tgtEl>
                                      </p:cBhvr>
                                    </p:animEffect>
                                  </p:childTnLst>
                                </p:cTn>
                              </p:par>
                              <p:par>
                                <p:cTn fill="hold" nodeType="with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1000"/>
                                        <p:tgtEl>
                                          <p:spTgt spid="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1000"/>
                                        <p:tgtEl>
                                          <p:spTgt spid="730"/>
                                        </p:tgtEl>
                                      </p:cBhvr>
                                    </p:animEffect>
                                  </p:childTnLst>
                                </p:cTn>
                              </p:par>
                              <p:par>
                                <p:cTn fill="hold" nodeType="with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1000"/>
                                        <p:tgtEl>
                                          <p:spTgt spid="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1000"/>
                                        <p:tgtEl>
                                          <p:spTgt spid="732"/>
                                        </p:tgtEl>
                                      </p:cBhvr>
                                    </p:animEffect>
                                  </p:childTnLst>
                                </p:cTn>
                              </p:par>
                              <p:par>
                                <p:cTn fill="hold" nodeType="with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1000"/>
                                        <p:tgtEl>
                                          <p:spTgt spid="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1000"/>
                                        <p:tgtEl>
                                          <p:spTgt spid="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99"/>
          <p:cNvSpPr/>
          <p:nvPr/>
        </p:nvSpPr>
        <p:spPr>
          <a:xfrm>
            <a:off x="142000" y="260117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sp>
        <p:nvSpPr>
          <p:cNvPr id="740" name="Google Shape;740;p99"/>
          <p:cNvSpPr/>
          <p:nvPr/>
        </p:nvSpPr>
        <p:spPr>
          <a:xfrm>
            <a:off x="1640000" y="26134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sp>
        <p:nvSpPr>
          <p:cNvPr id="741" name="Google Shape;741;p99"/>
          <p:cNvSpPr/>
          <p:nvPr/>
        </p:nvSpPr>
        <p:spPr>
          <a:xfrm>
            <a:off x="2935400" y="16112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sp>
        <p:nvSpPr>
          <p:cNvPr id="742" name="Google Shape;742;p99"/>
          <p:cNvSpPr/>
          <p:nvPr/>
        </p:nvSpPr>
        <p:spPr>
          <a:xfrm>
            <a:off x="1640000" y="359407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sp>
        <p:nvSpPr>
          <p:cNvPr id="743" name="Google Shape;743;p99"/>
          <p:cNvSpPr/>
          <p:nvPr/>
        </p:nvSpPr>
        <p:spPr>
          <a:xfrm>
            <a:off x="2940625" y="360412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sp>
        <p:nvSpPr>
          <p:cNvPr id="744" name="Google Shape;744;p99"/>
          <p:cNvSpPr/>
          <p:nvPr/>
        </p:nvSpPr>
        <p:spPr>
          <a:xfrm>
            <a:off x="4263975" y="260732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cxnSp>
        <p:nvCxnSpPr>
          <p:cNvPr id="745" name="Google Shape;745;p99"/>
          <p:cNvCxnSpPr>
            <a:stCxn id="742" idx="6"/>
            <a:endCxn id="743" idx="2"/>
          </p:cNvCxnSpPr>
          <p:nvPr/>
        </p:nvCxnSpPr>
        <p:spPr>
          <a:xfrm>
            <a:off x="2150900" y="3840825"/>
            <a:ext cx="789600" cy="10200"/>
          </a:xfrm>
          <a:prstGeom prst="straightConnector1">
            <a:avLst/>
          </a:prstGeom>
          <a:noFill/>
          <a:ln cap="flat" cmpd="sng" w="28575">
            <a:solidFill>
              <a:srgbClr val="EA9999"/>
            </a:solidFill>
            <a:prstDash val="solid"/>
            <a:round/>
            <a:headEnd len="med" w="med" type="none"/>
            <a:tailEnd len="med" w="med" type="triangle"/>
          </a:ln>
        </p:spPr>
      </p:cxnSp>
      <p:cxnSp>
        <p:nvCxnSpPr>
          <p:cNvPr id="746" name="Google Shape;746;p99"/>
          <p:cNvCxnSpPr>
            <a:stCxn id="741" idx="4"/>
            <a:endCxn id="747" idx="0"/>
          </p:cNvCxnSpPr>
          <p:nvPr/>
        </p:nvCxnSpPr>
        <p:spPr>
          <a:xfrm>
            <a:off x="3190850" y="2104775"/>
            <a:ext cx="0" cy="508800"/>
          </a:xfrm>
          <a:prstGeom prst="straightConnector1">
            <a:avLst/>
          </a:prstGeom>
          <a:noFill/>
          <a:ln cap="flat" cmpd="sng" w="28575">
            <a:solidFill>
              <a:srgbClr val="FFFFFF"/>
            </a:solidFill>
            <a:prstDash val="solid"/>
            <a:round/>
            <a:headEnd len="med" w="med" type="none"/>
            <a:tailEnd len="med" w="med" type="triangle"/>
          </a:ln>
        </p:spPr>
      </p:cxnSp>
      <p:sp>
        <p:nvSpPr>
          <p:cNvPr id="748" name="Google Shape;748;p99"/>
          <p:cNvSpPr/>
          <p:nvPr/>
        </p:nvSpPr>
        <p:spPr>
          <a:xfrm>
            <a:off x="1640000" y="16112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cxnSp>
        <p:nvCxnSpPr>
          <p:cNvPr id="749" name="Google Shape;749;p99"/>
          <p:cNvCxnSpPr>
            <a:stCxn id="748" idx="6"/>
            <a:endCxn id="741" idx="2"/>
          </p:cNvCxnSpPr>
          <p:nvPr/>
        </p:nvCxnSpPr>
        <p:spPr>
          <a:xfrm>
            <a:off x="2150900" y="18580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747" name="Google Shape;747;p99"/>
          <p:cNvSpPr/>
          <p:nvPr/>
        </p:nvSpPr>
        <p:spPr>
          <a:xfrm>
            <a:off x="2935400" y="26134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sp>
        <p:nvSpPr>
          <p:cNvPr id="750" name="Google Shape;750;p99"/>
          <p:cNvSpPr txBox="1"/>
          <p:nvPr/>
        </p:nvSpPr>
        <p:spPr>
          <a:xfrm>
            <a:off x="2128400" y="1529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751" name="Google Shape;751;p99"/>
          <p:cNvSpPr txBox="1"/>
          <p:nvPr/>
        </p:nvSpPr>
        <p:spPr>
          <a:xfrm>
            <a:off x="3195200" y="21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752" name="Google Shape;752;p99"/>
          <p:cNvSpPr txBox="1"/>
          <p:nvPr/>
        </p:nvSpPr>
        <p:spPr>
          <a:xfrm>
            <a:off x="1899800" y="32056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10</a:t>
            </a:r>
            <a:endParaRPr sz="2000">
              <a:solidFill>
                <a:srgbClr val="FFFFFF"/>
              </a:solidFill>
            </a:endParaRPr>
          </a:p>
        </p:txBody>
      </p:sp>
      <p:sp>
        <p:nvSpPr>
          <p:cNvPr id="753" name="Google Shape;753;p99"/>
          <p:cNvSpPr txBox="1"/>
          <p:nvPr/>
        </p:nvSpPr>
        <p:spPr>
          <a:xfrm>
            <a:off x="5961025" y="2388475"/>
            <a:ext cx="1532700" cy="8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EA9999"/>
                </a:solidFill>
              </a:rPr>
              <a:t>BFS</a:t>
            </a:r>
            <a:br>
              <a:rPr lang="es" sz="2300">
                <a:solidFill>
                  <a:srgbClr val="EA9999"/>
                </a:solidFill>
              </a:rPr>
            </a:br>
            <a:r>
              <a:rPr lang="es" sz="2300">
                <a:solidFill>
                  <a:srgbClr val="EA9999"/>
                </a:solidFill>
              </a:rPr>
              <a:t>Mínimo: 7</a:t>
            </a:r>
            <a:endParaRPr sz="2300">
              <a:solidFill>
                <a:srgbClr val="EA9999"/>
              </a:solidFill>
            </a:endParaRPr>
          </a:p>
        </p:txBody>
      </p:sp>
      <p:cxnSp>
        <p:nvCxnSpPr>
          <p:cNvPr id="754" name="Google Shape;754;p99"/>
          <p:cNvCxnSpPr>
            <a:stCxn id="740" idx="3"/>
            <a:endCxn id="739" idx="5"/>
          </p:cNvCxnSpPr>
          <p:nvPr/>
        </p:nvCxnSpPr>
        <p:spPr>
          <a:xfrm rot="10800000">
            <a:off x="807320" y="3022416"/>
            <a:ext cx="907500" cy="12300"/>
          </a:xfrm>
          <a:prstGeom prst="straightConnector1">
            <a:avLst/>
          </a:prstGeom>
          <a:noFill/>
          <a:ln cap="flat" cmpd="sng" w="28575">
            <a:solidFill>
              <a:srgbClr val="FF0000"/>
            </a:solidFill>
            <a:prstDash val="solid"/>
            <a:round/>
            <a:headEnd len="med" w="med" type="none"/>
            <a:tailEnd len="med" w="med" type="triangle"/>
          </a:ln>
        </p:spPr>
      </p:cxnSp>
      <p:sp>
        <p:nvSpPr>
          <p:cNvPr id="755" name="Google Shape;755;p99"/>
          <p:cNvSpPr txBox="1"/>
          <p:nvPr/>
        </p:nvSpPr>
        <p:spPr>
          <a:xfrm>
            <a:off x="10616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756" name="Google Shape;756;p99"/>
          <p:cNvCxnSpPr>
            <a:stCxn id="747" idx="3"/>
            <a:endCxn id="740" idx="5"/>
          </p:cNvCxnSpPr>
          <p:nvPr/>
        </p:nvCxnSpPr>
        <p:spPr>
          <a:xfrm rot="10800000">
            <a:off x="20760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757" name="Google Shape;757;p99"/>
          <p:cNvSpPr txBox="1"/>
          <p:nvPr/>
        </p:nvSpPr>
        <p:spPr>
          <a:xfrm>
            <a:off x="23570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758" name="Google Shape;758;p99"/>
          <p:cNvCxnSpPr/>
          <p:nvPr/>
        </p:nvCxnSpPr>
        <p:spPr>
          <a:xfrm>
            <a:off x="1895450" y="3106988"/>
            <a:ext cx="0" cy="487200"/>
          </a:xfrm>
          <a:prstGeom prst="straightConnector1">
            <a:avLst/>
          </a:prstGeom>
          <a:noFill/>
          <a:ln cap="flat" cmpd="sng" w="28575">
            <a:solidFill>
              <a:srgbClr val="EA9999"/>
            </a:solidFill>
            <a:prstDash val="solid"/>
            <a:round/>
            <a:headEnd len="med" w="med" type="none"/>
            <a:tailEnd len="med" w="med" type="triangle"/>
          </a:ln>
        </p:spPr>
      </p:cxnSp>
      <p:sp>
        <p:nvSpPr>
          <p:cNvPr id="759" name="Google Shape;759;p99"/>
          <p:cNvSpPr txBox="1"/>
          <p:nvPr/>
        </p:nvSpPr>
        <p:spPr>
          <a:xfrm>
            <a:off x="2280800" y="3531825"/>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9</a:t>
            </a:r>
            <a:endParaRPr sz="2000">
              <a:solidFill>
                <a:srgbClr val="FFFFFF"/>
              </a:solidFill>
            </a:endParaRPr>
          </a:p>
        </p:txBody>
      </p:sp>
      <p:sp>
        <p:nvSpPr>
          <p:cNvPr id="760" name="Google Shape;760;p99"/>
          <p:cNvSpPr txBox="1"/>
          <p:nvPr/>
        </p:nvSpPr>
        <p:spPr>
          <a:xfrm>
            <a:off x="3728600" y="34342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13</a:t>
            </a:r>
            <a:endParaRPr sz="2000">
              <a:solidFill>
                <a:srgbClr val="FFFFFF"/>
              </a:solidFill>
            </a:endParaRPr>
          </a:p>
        </p:txBody>
      </p:sp>
      <p:cxnSp>
        <p:nvCxnSpPr>
          <p:cNvPr id="761" name="Google Shape;761;p99"/>
          <p:cNvCxnSpPr/>
          <p:nvPr/>
        </p:nvCxnSpPr>
        <p:spPr>
          <a:xfrm flipH="1" rot="10800000">
            <a:off x="3451525" y="3100875"/>
            <a:ext cx="1202100" cy="750000"/>
          </a:xfrm>
          <a:prstGeom prst="curvedConnector2">
            <a:avLst/>
          </a:prstGeom>
          <a:noFill/>
          <a:ln cap="flat" cmpd="sng" w="28575">
            <a:solidFill>
              <a:srgbClr val="EA9999"/>
            </a:solidFill>
            <a:prstDash val="solid"/>
            <a:round/>
            <a:headEnd len="med" w="med" type="none"/>
            <a:tailEnd len="med" w="med" type="triangle"/>
          </a:ln>
        </p:spPr>
      </p:cxnSp>
      <p:sp>
        <p:nvSpPr>
          <p:cNvPr id="762" name="Google Shape;762;p99"/>
          <p:cNvSpPr txBox="1"/>
          <p:nvPr/>
        </p:nvSpPr>
        <p:spPr>
          <a:xfrm>
            <a:off x="909200" y="1605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cxnSp>
        <p:nvCxnSpPr>
          <p:cNvPr id="763" name="Google Shape;763;p99"/>
          <p:cNvCxnSpPr>
            <a:stCxn id="739" idx="0"/>
          </p:cNvCxnSpPr>
          <p:nvPr/>
        </p:nvCxnSpPr>
        <p:spPr>
          <a:xfrm rot="-5400000">
            <a:off x="714250" y="1675525"/>
            <a:ext cx="743100" cy="1108200"/>
          </a:xfrm>
          <a:prstGeom prst="curvedConnector2">
            <a:avLst/>
          </a:prstGeom>
          <a:noFill/>
          <a:ln cap="flat" cmpd="sng" w="28575">
            <a:solidFill>
              <a:srgbClr val="FFFFFF"/>
            </a:solidFill>
            <a:prstDash val="solid"/>
            <a:round/>
            <a:headEnd len="med" w="med" type="none"/>
            <a:tailEnd len="med" w="med" type="triangle"/>
          </a:ln>
        </p:spPr>
      </p:cxnSp>
      <p:cxnSp>
        <p:nvCxnSpPr>
          <p:cNvPr id="764" name="Google Shape;764;p99"/>
          <p:cNvCxnSpPr/>
          <p:nvPr/>
        </p:nvCxnSpPr>
        <p:spPr>
          <a:xfrm rot="10800000">
            <a:off x="33714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765" name="Google Shape;765;p99"/>
          <p:cNvSpPr txBox="1"/>
          <p:nvPr/>
        </p:nvSpPr>
        <p:spPr>
          <a:xfrm>
            <a:off x="36524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766" name="Google Shape;766;p99"/>
          <p:cNvCxnSpPr>
            <a:stCxn id="739" idx="6"/>
            <a:endCxn id="740" idx="2"/>
          </p:cNvCxnSpPr>
          <p:nvPr/>
        </p:nvCxnSpPr>
        <p:spPr>
          <a:xfrm>
            <a:off x="921400" y="2847925"/>
            <a:ext cx="718500" cy="12300"/>
          </a:xfrm>
          <a:prstGeom prst="straightConnector1">
            <a:avLst/>
          </a:prstGeom>
          <a:noFill/>
          <a:ln cap="flat" cmpd="sng" w="28575">
            <a:solidFill>
              <a:srgbClr val="EA9999"/>
            </a:solidFill>
            <a:prstDash val="solid"/>
            <a:round/>
            <a:headEnd len="med" w="med" type="none"/>
            <a:tailEnd len="med" w="med" type="triangle"/>
          </a:ln>
        </p:spPr>
      </p:cxnSp>
      <p:sp>
        <p:nvSpPr>
          <p:cNvPr id="767" name="Google Shape;767;p99"/>
          <p:cNvSpPr txBox="1"/>
          <p:nvPr/>
        </p:nvSpPr>
        <p:spPr>
          <a:xfrm>
            <a:off x="1089625" y="2416013"/>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7</a:t>
            </a:r>
            <a:endParaRPr sz="2000">
              <a:solidFill>
                <a:srgbClr val="FFFFFF"/>
              </a:solidFill>
            </a:endParaRPr>
          </a:p>
        </p:txBody>
      </p:sp>
      <p:sp>
        <p:nvSpPr>
          <p:cNvPr id="768" name="Google Shape;768;p99"/>
          <p:cNvSpPr txBox="1"/>
          <p:nvPr/>
        </p:nvSpPr>
        <p:spPr>
          <a:xfrm>
            <a:off x="142000" y="333375"/>
            <a:ext cx="8321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FFFFFF"/>
                </a:solidFill>
              </a:rPr>
              <a:t>ACTUALIZO RED RESIDUAL (usando el BFS y el mínimo)</a:t>
            </a:r>
            <a:endParaRPr sz="2300">
              <a:solidFill>
                <a:srgbClr val="FFFFFF"/>
              </a:solidFill>
            </a:endParaRPr>
          </a:p>
        </p:txBody>
      </p:sp>
      <p:sp>
        <p:nvSpPr>
          <p:cNvPr id="769" name="Google Shape;769;p99"/>
          <p:cNvSpPr txBox="1"/>
          <p:nvPr/>
        </p:nvSpPr>
        <p:spPr>
          <a:xfrm>
            <a:off x="1089625" y="2416013"/>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0</a:t>
            </a:r>
            <a:endParaRPr sz="2000">
              <a:solidFill>
                <a:srgbClr val="FFFFFF"/>
              </a:solidFill>
            </a:endParaRPr>
          </a:p>
        </p:txBody>
      </p:sp>
      <p:sp>
        <p:nvSpPr>
          <p:cNvPr id="770" name="Google Shape;770;p99"/>
          <p:cNvSpPr txBox="1"/>
          <p:nvPr/>
        </p:nvSpPr>
        <p:spPr>
          <a:xfrm>
            <a:off x="10616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771" name="Google Shape;771;p99"/>
          <p:cNvSpPr txBox="1"/>
          <p:nvPr/>
        </p:nvSpPr>
        <p:spPr>
          <a:xfrm>
            <a:off x="1899800" y="3212025"/>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3</a:t>
            </a:r>
            <a:endParaRPr sz="2000">
              <a:solidFill>
                <a:srgbClr val="FFFFFF"/>
              </a:solidFill>
            </a:endParaRPr>
          </a:p>
        </p:txBody>
      </p:sp>
      <p:cxnSp>
        <p:nvCxnSpPr>
          <p:cNvPr id="772" name="Google Shape;772;p99"/>
          <p:cNvCxnSpPr>
            <a:stCxn id="742" idx="1"/>
            <a:endCxn id="740" idx="3"/>
          </p:cNvCxnSpPr>
          <p:nvPr/>
        </p:nvCxnSpPr>
        <p:spPr>
          <a:xfrm rot="10800000">
            <a:off x="1714820" y="3034846"/>
            <a:ext cx="0" cy="631500"/>
          </a:xfrm>
          <a:prstGeom prst="straightConnector1">
            <a:avLst/>
          </a:prstGeom>
          <a:noFill/>
          <a:ln cap="flat" cmpd="sng" w="28575">
            <a:solidFill>
              <a:srgbClr val="FF0000"/>
            </a:solidFill>
            <a:prstDash val="solid"/>
            <a:round/>
            <a:headEnd len="med" w="med" type="none"/>
            <a:tailEnd len="med" w="med" type="triangle"/>
          </a:ln>
        </p:spPr>
      </p:cxnSp>
      <p:sp>
        <p:nvSpPr>
          <p:cNvPr id="773" name="Google Shape;773;p99"/>
          <p:cNvSpPr txBox="1"/>
          <p:nvPr/>
        </p:nvSpPr>
        <p:spPr>
          <a:xfrm>
            <a:off x="1366400" y="33580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774" name="Google Shape;774;p99"/>
          <p:cNvSpPr txBox="1"/>
          <p:nvPr/>
        </p:nvSpPr>
        <p:spPr>
          <a:xfrm>
            <a:off x="2280800" y="3531825"/>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2</a:t>
            </a:r>
            <a:endParaRPr sz="2000">
              <a:solidFill>
                <a:srgbClr val="FFFFFF"/>
              </a:solidFill>
            </a:endParaRPr>
          </a:p>
        </p:txBody>
      </p:sp>
      <p:cxnSp>
        <p:nvCxnSpPr>
          <p:cNvPr id="775" name="Google Shape;775;p99"/>
          <p:cNvCxnSpPr/>
          <p:nvPr/>
        </p:nvCxnSpPr>
        <p:spPr>
          <a:xfrm rot="10800000">
            <a:off x="2076020" y="40253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776" name="Google Shape;776;p99"/>
          <p:cNvSpPr txBox="1"/>
          <p:nvPr/>
        </p:nvSpPr>
        <p:spPr>
          <a:xfrm>
            <a:off x="2357000" y="4043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777" name="Google Shape;777;p99"/>
          <p:cNvSpPr txBox="1"/>
          <p:nvPr/>
        </p:nvSpPr>
        <p:spPr>
          <a:xfrm>
            <a:off x="3728600" y="34342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6</a:t>
            </a:r>
            <a:endParaRPr sz="2000">
              <a:solidFill>
                <a:srgbClr val="FFFFFF"/>
              </a:solidFill>
            </a:endParaRPr>
          </a:p>
        </p:txBody>
      </p:sp>
      <p:cxnSp>
        <p:nvCxnSpPr>
          <p:cNvPr id="778" name="Google Shape;778;p99"/>
          <p:cNvCxnSpPr>
            <a:stCxn id="743" idx="5"/>
            <a:endCxn id="744" idx="5"/>
          </p:cNvCxnSpPr>
          <p:nvPr/>
        </p:nvCxnSpPr>
        <p:spPr>
          <a:xfrm rot="-5400000">
            <a:off x="3654505" y="2750654"/>
            <a:ext cx="996900" cy="1552500"/>
          </a:xfrm>
          <a:prstGeom prst="curvedConnector3">
            <a:avLst>
              <a:gd fmla="val 9181" name="adj1"/>
            </a:avLst>
          </a:prstGeom>
          <a:noFill/>
          <a:ln cap="flat" cmpd="sng" w="28575">
            <a:solidFill>
              <a:srgbClr val="FF0000"/>
            </a:solidFill>
            <a:prstDash val="solid"/>
            <a:round/>
            <a:headEnd len="med" w="med" type="triangle"/>
            <a:tailEnd len="med" w="med" type="none"/>
          </a:ln>
        </p:spPr>
      </p:cxnSp>
      <p:sp>
        <p:nvSpPr>
          <p:cNvPr id="779" name="Google Shape;779;p99"/>
          <p:cNvSpPr txBox="1"/>
          <p:nvPr/>
        </p:nvSpPr>
        <p:spPr>
          <a:xfrm>
            <a:off x="4262000" y="39676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1000"/>
                                        <p:tgtEl>
                                          <p:spTgt spid="769"/>
                                        </p:tgtEl>
                                      </p:cBhvr>
                                    </p:animEffect>
                                  </p:childTnLst>
                                </p:cTn>
                              </p:par>
                              <p:par>
                                <p:cTn fill="hold" nodeType="withEffect" presetClass="exit" presetID="10" presetSubtype="0">
                                  <p:stCondLst>
                                    <p:cond delay="0"/>
                                  </p:stCondLst>
                                  <p:childTnLst>
                                    <p:animEffect filter="fade" transition="out">
                                      <p:cBhvr>
                                        <p:cTn dur="1000"/>
                                        <p:tgtEl>
                                          <p:spTgt spid="767"/>
                                        </p:tgtEl>
                                      </p:cBhvr>
                                    </p:animEffect>
                                    <p:set>
                                      <p:cBhvr>
                                        <p:cTn dur="1" fill="hold">
                                          <p:stCondLst>
                                            <p:cond delay="1000"/>
                                          </p:stCondLst>
                                        </p:cTn>
                                        <p:tgtEl>
                                          <p:spTgt spid="7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769"/>
                                        </p:tgtEl>
                                      </p:cBhvr>
                                    </p:animEffect>
                                    <p:set>
                                      <p:cBhvr>
                                        <p:cTn dur="1" fill="hold">
                                          <p:stCondLst>
                                            <p:cond delay="1000"/>
                                          </p:stCondLst>
                                        </p:cTn>
                                        <p:tgtEl>
                                          <p:spTgt spid="76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766"/>
                                        </p:tgtEl>
                                      </p:cBhvr>
                                    </p:animEffect>
                                    <p:set>
                                      <p:cBhvr>
                                        <p:cTn dur="1" fill="hold">
                                          <p:stCondLst>
                                            <p:cond delay="1000"/>
                                          </p:stCondLst>
                                        </p:cTn>
                                        <p:tgtEl>
                                          <p:spTgt spid="7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1000"/>
                                        <p:tgtEl>
                                          <p:spTgt spid="770"/>
                                        </p:tgtEl>
                                      </p:cBhvr>
                                    </p:animEffect>
                                  </p:childTnLst>
                                </p:cTn>
                              </p:par>
                              <p:par>
                                <p:cTn fill="hold" nodeType="withEffect" presetClass="exit" presetID="10" presetSubtype="0">
                                  <p:stCondLst>
                                    <p:cond delay="0"/>
                                  </p:stCondLst>
                                  <p:childTnLst>
                                    <p:animEffect filter="fade" transition="out">
                                      <p:cBhvr>
                                        <p:cTn dur="1000"/>
                                        <p:tgtEl>
                                          <p:spTgt spid="755"/>
                                        </p:tgtEl>
                                      </p:cBhvr>
                                    </p:animEffect>
                                    <p:set>
                                      <p:cBhvr>
                                        <p:cTn dur="1" fill="hold">
                                          <p:stCondLst>
                                            <p:cond delay="1000"/>
                                          </p:stCondLst>
                                        </p:cTn>
                                        <p:tgtEl>
                                          <p:spTgt spid="7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par>
                                <p:cTn fill="hold" nodeType="withEffect" presetClass="exit" presetID="10" presetSubtype="0">
                                  <p:stCondLst>
                                    <p:cond delay="0"/>
                                  </p:stCondLst>
                                  <p:childTnLst>
                                    <p:animEffect filter="fade" transition="out">
                                      <p:cBhvr>
                                        <p:cTn dur="1000"/>
                                        <p:tgtEl>
                                          <p:spTgt spid="752"/>
                                        </p:tgtEl>
                                      </p:cBhvr>
                                    </p:animEffect>
                                    <p:set>
                                      <p:cBhvr>
                                        <p:cTn dur="1" fill="hold">
                                          <p:stCondLst>
                                            <p:cond delay="1000"/>
                                          </p:stCondLst>
                                        </p:cTn>
                                        <p:tgtEl>
                                          <p:spTgt spid="7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par>
                                <p:cTn fill="hold" nodeType="with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759"/>
                                        </p:tgtEl>
                                      </p:cBhvr>
                                    </p:animEffect>
                                    <p:set>
                                      <p:cBhvr>
                                        <p:cTn dur="1" fill="hold">
                                          <p:stCondLst>
                                            <p:cond delay="1000"/>
                                          </p:stCondLst>
                                        </p:cTn>
                                        <p:tgtEl>
                                          <p:spTgt spid="75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1000"/>
                                        <p:tgtEl>
                                          <p:spTgt spid="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par>
                                <p:cTn fill="hold" nodeType="with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1000"/>
                                        <p:tgtEl>
                                          <p:spTgt spid="7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000"/>
                                        <p:tgtEl>
                                          <p:spTgt spid="777"/>
                                        </p:tgtEl>
                                      </p:cBhvr>
                                    </p:animEffect>
                                  </p:childTnLst>
                                </p:cTn>
                              </p:par>
                              <p:par>
                                <p:cTn fill="hold" nodeType="withEffect" presetClass="exit" presetID="10" presetSubtype="0">
                                  <p:stCondLst>
                                    <p:cond delay="0"/>
                                  </p:stCondLst>
                                  <p:childTnLst>
                                    <p:animEffect filter="fade" transition="out">
                                      <p:cBhvr>
                                        <p:cTn dur="1000"/>
                                        <p:tgtEl>
                                          <p:spTgt spid="760"/>
                                        </p:tgtEl>
                                      </p:cBhvr>
                                    </p:animEffect>
                                    <p:set>
                                      <p:cBhvr>
                                        <p:cTn dur="1" fill="hold">
                                          <p:stCondLst>
                                            <p:cond delay="1000"/>
                                          </p:stCondLst>
                                        </p:cTn>
                                        <p:tgtEl>
                                          <p:spTgt spid="7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1000"/>
                                        <p:tgtEl>
                                          <p:spTgt spid="778"/>
                                        </p:tgtEl>
                                      </p:cBhvr>
                                    </p:animEffect>
                                  </p:childTnLst>
                                </p:cTn>
                              </p:par>
                              <p:par>
                                <p:cTn fill="hold" nodeType="with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1000"/>
                                        <p:tgtEl>
                                          <p:spTgt spid="7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0"/>
          <p:cNvSpPr/>
          <p:nvPr/>
        </p:nvSpPr>
        <p:spPr>
          <a:xfrm>
            <a:off x="142000" y="2601175"/>
            <a:ext cx="7794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sp>
        <p:nvSpPr>
          <p:cNvPr id="785" name="Google Shape;785;p100"/>
          <p:cNvSpPr/>
          <p:nvPr/>
        </p:nvSpPr>
        <p:spPr>
          <a:xfrm>
            <a:off x="1640000" y="26134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sp>
        <p:nvSpPr>
          <p:cNvPr id="786" name="Google Shape;786;p100"/>
          <p:cNvSpPr/>
          <p:nvPr/>
        </p:nvSpPr>
        <p:spPr>
          <a:xfrm>
            <a:off x="2935400" y="16112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sp>
        <p:nvSpPr>
          <p:cNvPr id="787" name="Google Shape;787;p100"/>
          <p:cNvSpPr/>
          <p:nvPr/>
        </p:nvSpPr>
        <p:spPr>
          <a:xfrm>
            <a:off x="1640000" y="359407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sp>
        <p:nvSpPr>
          <p:cNvPr id="788" name="Google Shape;788;p100"/>
          <p:cNvSpPr/>
          <p:nvPr/>
        </p:nvSpPr>
        <p:spPr>
          <a:xfrm>
            <a:off x="2940625" y="3604125"/>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sp>
        <p:nvSpPr>
          <p:cNvPr id="789" name="Google Shape;789;p100"/>
          <p:cNvSpPr/>
          <p:nvPr/>
        </p:nvSpPr>
        <p:spPr>
          <a:xfrm>
            <a:off x="4263975" y="2607325"/>
            <a:ext cx="7794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cxnSp>
        <p:nvCxnSpPr>
          <p:cNvPr id="790" name="Google Shape;790;p100"/>
          <p:cNvCxnSpPr>
            <a:stCxn id="787" idx="6"/>
            <a:endCxn id="788" idx="2"/>
          </p:cNvCxnSpPr>
          <p:nvPr/>
        </p:nvCxnSpPr>
        <p:spPr>
          <a:xfrm>
            <a:off x="2150900" y="3840825"/>
            <a:ext cx="789600" cy="10200"/>
          </a:xfrm>
          <a:prstGeom prst="straightConnector1">
            <a:avLst/>
          </a:prstGeom>
          <a:noFill/>
          <a:ln cap="flat" cmpd="sng" w="28575">
            <a:solidFill>
              <a:srgbClr val="FFFFFF"/>
            </a:solidFill>
            <a:prstDash val="solid"/>
            <a:round/>
            <a:headEnd len="med" w="med" type="none"/>
            <a:tailEnd len="med" w="med" type="triangle"/>
          </a:ln>
        </p:spPr>
      </p:cxnSp>
      <p:cxnSp>
        <p:nvCxnSpPr>
          <p:cNvPr id="791" name="Google Shape;791;p100"/>
          <p:cNvCxnSpPr>
            <a:stCxn id="786" idx="4"/>
            <a:endCxn id="792" idx="0"/>
          </p:cNvCxnSpPr>
          <p:nvPr/>
        </p:nvCxnSpPr>
        <p:spPr>
          <a:xfrm>
            <a:off x="3190850" y="2104775"/>
            <a:ext cx="0" cy="508800"/>
          </a:xfrm>
          <a:prstGeom prst="straightConnector1">
            <a:avLst/>
          </a:prstGeom>
          <a:noFill/>
          <a:ln cap="flat" cmpd="sng" w="28575">
            <a:solidFill>
              <a:srgbClr val="FFFFFF"/>
            </a:solidFill>
            <a:prstDash val="solid"/>
            <a:round/>
            <a:headEnd len="med" w="med" type="none"/>
            <a:tailEnd len="med" w="med" type="triangle"/>
          </a:ln>
        </p:spPr>
      </p:cxnSp>
      <p:sp>
        <p:nvSpPr>
          <p:cNvPr id="793" name="Google Shape;793;p100"/>
          <p:cNvSpPr/>
          <p:nvPr/>
        </p:nvSpPr>
        <p:spPr>
          <a:xfrm>
            <a:off x="1640000" y="16112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cxnSp>
        <p:nvCxnSpPr>
          <p:cNvPr id="794" name="Google Shape;794;p100"/>
          <p:cNvCxnSpPr>
            <a:stCxn id="793" idx="6"/>
            <a:endCxn id="786" idx="2"/>
          </p:cNvCxnSpPr>
          <p:nvPr/>
        </p:nvCxnSpPr>
        <p:spPr>
          <a:xfrm>
            <a:off x="2150900" y="18580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792" name="Google Shape;792;p100"/>
          <p:cNvSpPr/>
          <p:nvPr/>
        </p:nvSpPr>
        <p:spPr>
          <a:xfrm>
            <a:off x="2935400" y="2613488"/>
            <a:ext cx="510900" cy="4935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sp>
        <p:nvSpPr>
          <p:cNvPr id="795" name="Google Shape;795;p100"/>
          <p:cNvSpPr txBox="1"/>
          <p:nvPr/>
        </p:nvSpPr>
        <p:spPr>
          <a:xfrm>
            <a:off x="2128400" y="1529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796" name="Google Shape;796;p100"/>
          <p:cNvSpPr txBox="1"/>
          <p:nvPr/>
        </p:nvSpPr>
        <p:spPr>
          <a:xfrm>
            <a:off x="3195200" y="21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797" name="Google Shape;797;p100"/>
          <p:cNvSpPr txBox="1"/>
          <p:nvPr/>
        </p:nvSpPr>
        <p:spPr>
          <a:xfrm>
            <a:off x="5961025" y="2388475"/>
            <a:ext cx="1532700" cy="8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EA9999"/>
                </a:solidFill>
              </a:rPr>
              <a:t>BFS</a:t>
            </a:r>
            <a:br>
              <a:rPr lang="es" sz="2300">
                <a:solidFill>
                  <a:srgbClr val="EA9999"/>
                </a:solidFill>
              </a:rPr>
            </a:br>
            <a:r>
              <a:rPr lang="es" sz="2300">
                <a:solidFill>
                  <a:srgbClr val="EA9999"/>
                </a:solidFill>
              </a:rPr>
              <a:t>Mínimo: 1</a:t>
            </a:r>
            <a:endParaRPr sz="2300">
              <a:solidFill>
                <a:srgbClr val="EA9999"/>
              </a:solidFill>
            </a:endParaRPr>
          </a:p>
        </p:txBody>
      </p:sp>
      <p:cxnSp>
        <p:nvCxnSpPr>
          <p:cNvPr id="798" name="Google Shape;798;p100"/>
          <p:cNvCxnSpPr>
            <a:stCxn id="785" idx="3"/>
            <a:endCxn id="784" idx="5"/>
          </p:cNvCxnSpPr>
          <p:nvPr/>
        </p:nvCxnSpPr>
        <p:spPr>
          <a:xfrm rot="10800000">
            <a:off x="807320" y="3022416"/>
            <a:ext cx="907500" cy="12300"/>
          </a:xfrm>
          <a:prstGeom prst="straightConnector1">
            <a:avLst/>
          </a:prstGeom>
          <a:noFill/>
          <a:ln cap="flat" cmpd="sng" w="28575">
            <a:solidFill>
              <a:srgbClr val="FF0000"/>
            </a:solidFill>
            <a:prstDash val="solid"/>
            <a:round/>
            <a:headEnd len="med" w="med" type="none"/>
            <a:tailEnd len="med" w="med" type="triangle"/>
          </a:ln>
        </p:spPr>
      </p:cxnSp>
      <p:cxnSp>
        <p:nvCxnSpPr>
          <p:cNvPr id="799" name="Google Shape;799;p100"/>
          <p:cNvCxnSpPr>
            <a:stCxn id="792" idx="3"/>
            <a:endCxn id="785" idx="5"/>
          </p:cNvCxnSpPr>
          <p:nvPr/>
        </p:nvCxnSpPr>
        <p:spPr>
          <a:xfrm rot="10800000">
            <a:off x="20760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800" name="Google Shape;800;p100"/>
          <p:cNvSpPr txBox="1"/>
          <p:nvPr/>
        </p:nvSpPr>
        <p:spPr>
          <a:xfrm>
            <a:off x="23570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801" name="Google Shape;801;p100"/>
          <p:cNvCxnSpPr/>
          <p:nvPr/>
        </p:nvCxnSpPr>
        <p:spPr>
          <a:xfrm>
            <a:off x="1895450" y="3106988"/>
            <a:ext cx="0" cy="487200"/>
          </a:xfrm>
          <a:prstGeom prst="straightConnector1">
            <a:avLst/>
          </a:prstGeom>
          <a:noFill/>
          <a:ln cap="flat" cmpd="sng" w="28575">
            <a:solidFill>
              <a:srgbClr val="FFFFFF"/>
            </a:solidFill>
            <a:prstDash val="solid"/>
            <a:round/>
            <a:headEnd len="med" w="med" type="none"/>
            <a:tailEnd len="med" w="med" type="triangle"/>
          </a:ln>
        </p:spPr>
      </p:cxnSp>
      <p:cxnSp>
        <p:nvCxnSpPr>
          <p:cNvPr id="802" name="Google Shape;802;p100"/>
          <p:cNvCxnSpPr/>
          <p:nvPr/>
        </p:nvCxnSpPr>
        <p:spPr>
          <a:xfrm flipH="1" rot="10800000">
            <a:off x="3451525" y="3100875"/>
            <a:ext cx="1202100" cy="750000"/>
          </a:xfrm>
          <a:prstGeom prst="curvedConnector2">
            <a:avLst/>
          </a:prstGeom>
          <a:noFill/>
          <a:ln cap="flat" cmpd="sng" w="28575">
            <a:solidFill>
              <a:srgbClr val="FFFFFF"/>
            </a:solidFill>
            <a:prstDash val="solid"/>
            <a:round/>
            <a:headEnd len="med" w="med" type="none"/>
            <a:tailEnd len="med" w="med" type="triangle"/>
          </a:ln>
        </p:spPr>
      </p:cxnSp>
      <p:sp>
        <p:nvSpPr>
          <p:cNvPr id="803" name="Google Shape;803;p100"/>
          <p:cNvSpPr txBox="1"/>
          <p:nvPr/>
        </p:nvSpPr>
        <p:spPr>
          <a:xfrm>
            <a:off x="909200" y="1605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cxnSp>
        <p:nvCxnSpPr>
          <p:cNvPr id="804" name="Google Shape;804;p100"/>
          <p:cNvCxnSpPr>
            <a:stCxn id="784" idx="0"/>
          </p:cNvCxnSpPr>
          <p:nvPr/>
        </p:nvCxnSpPr>
        <p:spPr>
          <a:xfrm rot="-5400000">
            <a:off x="714250" y="1675525"/>
            <a:ext cx="743100" cy="1108200"/>
          </a:xfrm>
          <a:prstGeom prst="curvedConnector2">
            <a:avLst/>
          </a:prstGeom>
          <a:noFill/>
          <a:ln cap="flat" cmpd="sng" w="28575">
            <a:solidFill>
              <a:srgbClr val="FFFFFF"/>
            </a:solidFill>
            <a:prstDash val="solid"/>
            <a:round/>
            <a:headEnd len="med" w="med" type="none"/>
            <a:tailEnd len="med" w="med" type="triangle"/>
          </a:ln>
        </p:spPr>
      </p:cxnSp>
      <p:cxnSp>
        <p:nvCxnSpPr>
          <p:cNvPr id="805" name="Google Shape;805;p100"/>
          <p:cNvCxnSpPr/>
          <p:nvPr/>
        </p:nvCxnSpPr>
        <p:spPr>
          <a:xfrm rot="10800000">
            <a:off x="33714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806" name="Google Shape;806;p100"/>
          <p:cNvSpPr txBox="1"/>
          <p:nvPr/>
        </p:nvSpPr>
        <p:spPr>
          <a:xfrm>
            <a:off x="36524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sp>
        <p:nvSpPr>
          <p:cNvPr id="807" name="Google Shape;807;p100"/>
          <p:cNvSpPr txBox="1"/>
          <p:nvPr/>
        </p:nvSpPr>
        <p:spPr>
          <a:xfrm>
            <a:off x="10616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808" name="Google Shape;808;p100"/>
          <p:cNvSpPr txBox="1"/>
          <p:nvPr/>
        </p:nvSpPr>
        <p:spPr>
          <a:xfrm>
            <a:off x="1937900" y="32120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3</a:t>
            </a:r>
            <a:endParaRPr sz="2000">
              <a:solidFill>
                <a:srgbClr val="FFFFFF"/>
              </a:solidFill>
            </a:endParaRPr>
          </a:p>
        </p:txBody>
      </p:sp>
      <p:cxnSp>
        <p:nvCxnSpPr>
          <p:cNvPr id="809" name="Google Shape;809;p100"/>
          <p:cNvCxnSpPr>
            <a:stCxn id="787" idx="1"/>
            <a:endCxn id="785" idx="3"/>
          </p:cNvCxnSpPr>
          <p:nvPr/>
        </p:nvCxnSpPr>
        <p:spPr>
          <a:xfrm rot="10800000">
            <a:off x="1714820" y="3034846"/>
            <a:ext cx="0" cy="631500"/>
          </a:xfrm>
          <a:prstGeom prst="straightConnector1">
            <a:avLst/>
          </a:prstGeom>
          <a:noFill/>
          <a:ln cap="flat" cmpd="sng" w="28575">
            <a:solidFill>
              <a:srgbClr val="FF0000"/>
            </a:solidFill>
            <a:prstDash val="solid"/>
            <a:round/>
            <a:headEnd len="med" w="med" type="none"/>
            <a:tailEnd len="med" w="med" type="triangle"/>
          </a:ln>
        </p:spPr>
      </p:cxnSp>
      <p:sp>
        <p:nvSpPr>
          <p:cNvPr id="810" name="Google Shape;810;p100"/>
          <p:cNvSpPr txBox="1"/>
          <p:nvPr/>
        </p:nvSpPr>
        <p:spPr>
          <a:xfrm>
            <a:off x="1366400" y="33580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811" name="Google Shape;811;p100"/>
          <p:cNvSpPr txBox="1"/>
          <p:nvPr/>
        </p:nvSpPr>
        <p:spPr>
          <a:xfrm>
            <a:off x="2328425" y="35318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2</a:t>
            </a:r>
            <a:endParaRPr sz="2000">
              <a:solidFill>
                <a:srgbClr val="FFFFFF"/>
              </a:solidFill>
            </a:endParaRPr>
          </a:p>
        </p:txBody>
      </p:sp>
      <p:cxnSp>
        <p:nvCxnSpPr>
          <p:cNvPr id="812" name="Google Shape;812;p100"/>
          <p:cNvCxnSpPr/>
          <p:nvPr/>
        </p:nvCxnSpPr>
        <p:spPr>
          <a:xfrm rot="10800000">
            <a:off x="2076020" y="40253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813" name="Google Shape;813;p100"/>
          <p:cNvSpPr txBox="1"/>
          <p:nvPr/>
        </p:nvSpPr>
        <p:spPr>
          <a:xfrm>
            <a:off x="2357000" y="4043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814" name="Google Shape;814;p100"/>
          <p:cNvSpPr txBox="1"/>
          <p:nvPr/>
        </p:nvSpPr>
        <p:spPr>
          <a:xfrm>
            <a:off x="3728600" y="34342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6</a:t>
            </a:r>
            <a:endParaRPr sz="2000">
              <a:solidFill>
                <a:srgbClr val="FFFFFF"/>
              </a:solidFill>
            </a:endParaRPr>
          </a:p>
        </p:txBody>
      </p:sp>
      <p:cxnSp>
        <p:nvCxnSpPr>
          <p:cNvPr id="815" name="Google Shape;815;p100"/>
          <p:cNvCxnSpPr>
            <a:stCxn id="788" idx="5"/>
            <a:endCxn id="789" idx="5"/>
          </p:cNvCxnSpPr>
          <p:nvPr/>
        </p:nvCxnSpPr>
        <p:spPr>
          <a:xfrm rot="-5400000">
            <a:off x="3654505" y="2750654"/>
            <a:ext cx="996900" cy="1552500"/>
          </a:xfrm>
          <a:prstGeom prst="curvedConnector3">
            <a:avLst>
              <a:gd fmla="val 9181" name="adj1"/>
            </a:avLst>
          </a:prstGeom>
          <a:noFill/>
          <a:ln cap="flat" cmpd="sng" w="28575">
            <a:solidFill>
              <a:srgbClr val="FF0000"/>
            </a:solidFill>
            <a:prstDash val="solid"/>
            <a:round/>
            <a:headEnd len="med" w="med" type="triangle"/>
            <a:tailEnd len="med" w="med" type="none"/>
          </a:ln>
        </p:spPr>
      </p:cxnSp>
      <p:sp>
        <p:nvSpPr>
          <p:cNvPr id="816" name="Google Shape;816;p100"/>
          <p:cNvSpPr txBox="1"/>
          <p:nvPr/>
        </p:nvSpPr>
        <p:spPr>
          <a:xfrm>
            <a:off x="4262000" y="39676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817" name="Google Shape;817;p100"/>
          <p:cNvSpPr txBox="1"/>
          <p:nvPr/>
        </p:nvSpPr>
        <p:spPr>
          <a:xfrm>
            <a:off x="142000" y="333375"/>
            <a:ext cx="8321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FFFFFF"/>
                </a:solidFill>
              </a:rPr>
              <a:t>APLICO BFS Y CONSIGO CAMINO MÁS CORTO DE FUENTE(Fu) a SUMIDERO (Su)</a:t>
            </a:r>
            <a:endParaRPr sz="2300">
              <a:solidFill>
                <a:srgbClr val="FFFFFF"/>
              </a:solidFill>
            </a:endParaRPr>
          </a:p>
        </p:txBody>
      </p:sp>
      <p:sp>
        <p:nvSpPr>
          <p:cNvPr id="818" name="Google Shape;818;p100"/>
          <p:cNvSpPr/>
          <p:nvPr/>
        </p:nvSpPr>
        <p:spPr>
          <a:xfrm>
            <a:off x="142000" y="2601175"/>
            <a:ext cx="7794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cxnSp>
        <p:nvCxnSpPr>
          <p:cNvPr id="819" name="Google Shape;819;p100"/>
          <p:cNvCxnSpPr/>
          <p:nvPr/>
        </p:nvCxnSpPr>
        <p:spPr>
          <a:xfrm rot="-5400000">
            <a:off x="714250" y="1675525"/>
            <a:ext cx="743100" cy="1108200"/>
          </a:xfrm>
          <a:prstGeom prst="curvedConnector2">
            <a:avLst/>
          </a:prstGeom>
          <a:noFill/>
          <a:ln cap="flat" cmpd="sng" w="28575">
            <a:solidFill>
              <a:srgbClr val="EA9999"/>
            </a:solidFill>
            <a:prstDash val="solid"/>
            <a:round/>
            <a:headEnd len="med" w="med" type="none"/>
            <a:tailEnd len="med" w="med" type="triangle"/>
          </a:ln>
        </p:spPr>
      </p:cxnSp>
      <p:sp>
        <p:nvSpPr>
          <p:cNvPr id="820" name="Google Shape;820;p100"/>
          <p:cNvSpPr/>
          <p:nvPr/>
        </p:nvSpPr>
        <p:spPr>
          <a:xfrm>
            <a:off x="1640000" y="1611288"/>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cxnSp>
        <p:nvCxnSpPr>
          <p:cNvPr id="821" name="Google Shape;821;p100"/>
          <p:cNvCxnSpPr/>
          <p:nvPr/>
        </p:nvCxnSpPr>
        <p:spPr>
          <a:xfrm>
            <a:off x="2150900" y="1858038"/>
            <a:ext cx="784500" cy="0"/>
          </a:xfrm>
          <a:prstGeom prst="straightConnector1">
            <a:avLst/>
          </a:prstGeom>
          <a:noFill/>
          <a:ln cap="flat" cmpd="sng" w="28575">
            <a:solidFill>
              <a:srgbClr val="EA9999"/>
            </a:solidFill>
            <a:prstDash val="solid"/>
            <a:round/>
            <a:headEnd len="med" w="med" type="none"/>
            <a:tailEnd len="med" w="med" type="triangle"/>
          </a:ln>
        </p:spPr>
      </p:cxnSp>
      <p:sp>
        <p:nvSpPr>
          <p:cNvPr id="822" name="Google Shape;822;p100"/>
          <p:cNvSpPr/>
          <p:nvPr/>
        </p:nvSpPr>
        <p:spPr>
          <a:xfrm>
            <a:off x="2935400" y="1611275"/>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cxnSp>
        <p:nvCxnSpPr>
          <p:cNvPr id="823" name="Google Shape;823;p100"/>
          <p:cNvCxnSpPr/>
          <p:nvPr/>
        </p:nvCxnSpPr>
        <p:spPr>
          <a:xfrm>
            <a:off x="3190850" y="2104775"/>
            <a:ext cx="0" cy="508800"/>
          </a:xfrm>
          <a:prstGeom prst="straightConnector1">
            <a:avLst/>
          </a:prstGeom>
          <a:noFill/>
          <a:ln cap="flat" cmpd="sng" w="28575">
            <a:solidFill>
              <a:srgbClr val="EA9999"/>
            </a:solidFill>
            <a:prstDash val="solid"/>
            <a:round/>
            <a:headEnd len="med" w="med" type="none"/>
            <a:tailEnd len="med" w="med" type="triangle"/>
          </a:ln>
        </p:spPr>
      </p:cxnSp>
      <p:sp>
        <p:nvSpPr>
          <p:cNvPr id="824" name="Google Shape;824;p100"/>
          <p:cNvSpPr/>
          <p:nvPr/>
        </p:nvSpPr>
        <p:spPr>
          <a:xfrm>
            <a:off x="2935400" y="2613488"/>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cxnSp>
        <p:nvCxnSpPr>
          <p:cNvPr id="825" name="Google Shape;825;p100"/>
          <p:cNvCxnSpPr/>
          <p:nvPr/>
        </p:nvCxnSpPr>
        <p:spPr>
          <a:xfrm rot="10800000">
            <a:off x="2076020" y="3034716"/>
            <a:ext cx="934200" cy="0"/>
          </a:xfrm>
          <a:prstGeom prst="straightConnector1">
            <a:avLst/>
          </a:prstGeom>
          <a:noFill/>
          <a:ln cap="flat" cmpd="sng" w="28575">
            <a:solidFill>
              <a:srgbClr val="00FF00"/>
            </a:solidFill>
            <a:prstDash val="solid"/>
            <a:round/>
            <a:headEnd len="med" w="med" type="none"/>
            <a:tailEnd len="med" w="med" type="triangle"/>
          </a:ln>
        </p:spPr>
      </p:cxnSp>
      <p:sp>
        <p:nvSpPr>
          <p:cNvPr id="826" name="Google Shape;826;p100"/>
          <p:cNvSpPr/>
          <p:nvPr/>
        </p:nvSpPr>
        <p:spPr>
          <a:xfrm>
            <a:off x="1640000" y="2613488"/>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cxnSp>
        <p:nvCxnSpPr>
          <p:cNvPr id="827" name="Google Shape;827;p100"/>
          <p:cNvCxnSpPr/>
          <p:nvPr/>
        </p:nvCxnSpPr>
        <p:spPr>
          <a:xfrm>
            <a:off x="1895450" y="3106988"/>
            <a:ext cx="0" cy="487200"/>
          </a:xfrm>
          <a:prstGeom prst="straightConnector1">
            <a:avLst/>
          </a:prstGeom>
          <a:noFill/>
          <a:ln cap="flat" cmpd="sng" w="28575">
            <a:solidFill>
              <a:srgbClr val="EA9999"/>
            </a:solidFill>
            <a:prstDash val="solid"/>
            <a:round/>
            <a:headEnd len="med" w="med" type="none"/>
            <a:tailEnd len="med" w="med" type="triangle"/>
          </a:ln>
        </p:spPr>
      </p:cxnSp>
      <p:sp>
        <p:nvSpPr>
          <p:cNvPr id="828" name="Google Shape;828;p100"/>
          <p:cNvSpPr/>
          <p:nvPr/>
        </p:nvSpPr>
        <p:spPr>
          <a:xfrm>
            <a:off x="1640000" y="3594075"/>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cxnSp>
        <p:nvCxnSpPr>
          <p:cNvPr id="829" name="Google Shape;829;p100"/>
          <p:cNvCxnSpPr/>
          <p:nvPr/>
        </p:nvCxnSpPr>
        <p:spPr>
          <a:xfrm>
            <a:off x="2150900" y="3840825"/>
            <a:ext cx="789600" cy="10200"/>
          </a:xfrm>
          <a:prstGeom prst="straightConnector1">
            <a:avLst/>
          </a:prstGeom>
          <a:noFill/>
          <a:ln cap="flat" cmpd="sng" w="28575">
            <a:solidFill>
              <a:srgbClr val="EA9999"/>
            </a:solidFill>
            <a:prstDash val="solid"/>
            <a:round/>
            <a:headEnd len="med" w="med" type="none"/>
            <a:tailEnd len="med" w="med" type="triangle"/>
          </a:ln>
        </p:spPr>
      </p:cxnSp>
      <p:sp>
        <p:nvSpPr>
          <p:cNvPr id="830" name="Google Shape;830;p100"/>
          <p:cNvSpPr/>
          <p:nvPr/>
        </p:nvSpPr>
        <p:spPr>
          <a:xfrm>
            <a:off x="2940625" y="3604125"/>
            <a:ext cx="5109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cxnSp>
        <p:nvCxnSpPr>
          <p:cNvPr id="831" name="Google Shape;831;p100"/>
          <p:cNvCxnSpPr/>
          <p:nvPr/>
        </p:nvCxnSpPr>
        <p:spPr>
          <a:xfrm flipH="1" rot="10800000">
            <a:off x="3451525" y="3100875"/>
            <a:ext cx="1202100" cy="750000"/>
          </a:xfrm>
          <a:prstGeom prst="curvedConnector2">
            <a:avLst/>
          </a:prstGeom>
          <a:noFill/>
          <a:ln cap="flat" cmpd="sng" w="28575">
            <a:solidFill>
              <a:srgbClr val="EA9999"/>
            </a:solidFill>
            <a:prstDash val="solid"/>
            <a:round/>
            <a:headEnd len="med" w="med" type="none"/>
            <a:tailEnd len="med" w="med" type="triangle"/>
          </a:ln>
        </p:spPr>
      </p:cxnSp>
      <p:sp>
        <p:nvSpPr>
          <p:cNvPr id="832" name="Google Shape;832;p100"/>
          <p:cNvSpPr/>
          <p:nvPr/>
        </p:nvSpPr>
        <p:spPr>
          <a:xfrm>
            <a:off x="4263975" y="2607325"/>
            <a:ext cx="779400" cy="493500"/>
          </a:xfrm>
          <a:prstGeom prst="ellipse">
            <a:avLst/>
          </a:prstGeom>
          <a:solidFill>
            <a:srgbClr val="EA9999"/>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1000"/>
                                        <p:tgtEl>
                                          <p:spTgt spid="8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1000"/>
                                        <p:tgtEl>
                                          <p:spTgt spid="819"/>
                                        </p:tgtEl>
                                      </p:cBhvr>
                                    </p:animEffect>
                                  </p:childTnLst>
                                </p:cTn>
                              </p:par>
                              <p:par>
                                <p:cTn fill="hold" nodeType="with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000"/>
                                        <p:tgtEl>
                                          <p:spTgt spid="821"/>
                                        </p:tgtEl>
                                      </p:cBhvr>
                                    </p:animEffect>
                                  </p:childTnLst>
                                </p:cTn>
                              </p:par>
                              <p:par>
                                <p:cTn fill="hold" nodeType="with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1000"/>
                                        <p:tgtEl>
                                          <p:spTgt spid="823"/>
                                        </p:tgtEl>
                                      </p:cBhvr>
                                    </p:animEffect>
                                  </p:childTnLst>
                                </p:cTn>
                              </p:par>
                              <p:par>
                                <p:cTn fill="hold" nodeType="with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1000"/>
                                        <p:tgtEl>
                                          <p:spTgt spid="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1000"/>
                                        <p:tgtEl>
                                          <p:spTgt spid="825"/>
                                        </p:tgtEl>
                                      </p:cBhvr>
                                    </p:animEffect>
                                  </p:childTnLst>
                                </p:cTn>
                              </p:par>
                              <p:par>
                                <p:cTn fill="hold" nodeType="with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10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1000"/>
                                        <p:tgtEl>
                                          <p:spTgt spid="827"/>
                                        </p:tgtEl>
                                      </p:cBhvr>
                                    </p:animEffect>
                                  </p:childTnLst>
                                </p:cTn>
                              </p:par>
                              <p:par>
                                <p:cTn fill="hold" nodeType="with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10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
                                        </p:tgtEl>
                                        <p:attrNameLst>
                                          <p:attrName>style.visibility</p:attrName>
                                        </p:attrNameLst>
                                      </p:cBhvr>
                                      <p:to>
                                        <p:strVal val="visible"/>
                                      </p:to>
                                    </p:set>
                                    <p:animEffect filter="fade" transition="in">
                                      <p:cBhvr>
                                        <p:cTn dur="1000"/>
                                        <p:tgtEl>
                                          <p:spTgt spid="829"/>
                                        </p:tgtEl>
                                      </p:cBhvr>
                                    </p:animEffect>
                                  </p:childTnLst>
                                </p:cTn>
                              </p:par>
                              <p:par>
                                <p:cTn fill="hold" nodeType="with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1000"/>
                                        <p:tgtEl>
                                          <p:spTgt spid="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1000"/>
                                        <p:tgtEl>
                                          <p:spTgt spid="831"/>
                                        </p:tgtEl>
                                      </p:cBhvr>
                                    </p:animEffect>
                                  </p:childTnLst>
                                </p:cTn>
                              </p:par>
                              <p:par>
                                <p:cTn fill="hold" nodeType="with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1000"/>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000"/>
                                        <p:tgtEl>
                                          <p:spTgt spid="7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01"/>
          <p:cNvSpPr/>
          <p:nvPr/>
        </p:nvSpPr>
        <p:spPr>
          <a:xfrm>
            <a:off x="142000" y="260117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sp>
        <p:nvSpPr>
          <p:cNvPr id="838" name="Google Shape;838;p101"/>
          <p:cNvSpPr/>
          <p:nvPr/>
        </p:nvSpPr>
        <p:spPr>
          <a:xfrm>
            <a:off x="1640000" y="26134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sp>
        <p:nvSpPr>
          <p:cNvPr id="839" name="Google Shape;839;p101"/>
          <p:cNvSpPr/>
          <p:nvPr/>
        </p:nvSpPr>
        <p:spPr>
          <a:xfrm>
            <a:off x="2935400" y="161127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sp>
        <p:nvSpPr>
          <p:cNvPr id="840" name="Google Shape;840;p101"/>
          <p:cNvSpPr/>
          <p:nvPr/>
        </p:nvSpPr>
        <p:spPr>
          <a:xfrm>
            <a:off x="1640000" y="359407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sp>
        <p:nvSpPr>
          <p:cNvPr id="841" name="Google Shape;841;p101"/>
          <p:cNvSpPr/>
          <p:nvPr/>
        </p:nvSpPr>
        <p:spPr>
          <a:xfrm>
            <a:off x="2940625" y="360412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sp>
        <p:nvSpPr>
          <p:cNvPr id="842" name="Google Shape;842;p101"/>
          <p:cNvSpPr/>
          <p:nvPr/>
        </p:nvSpPr>
        <p:spPr>
          <a:xfrm>
            <a:off x="4263975" y="260732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cxnSp>
        <p:nvCxnSpPr>
          <p:cNvPr id="843" name="Google Shape;843;p101"/>
          <p:cNvCxnSpPr>
            <a:stCxn id="840" idx="6"/>
            <a:endCxn id="841" idx="2"/>
          </p:cNvCxnSpPr>
          <p:nvPr/>
        </p:nvCxnSpPr>
        <p:spPr>
          <a:xfrm>
            <a:off x="2150900" y="3840825"/>
            <a:ext cx="789600" cy="10200"/>
          </a:xfrm>
          <a:prstGeom prst="straightConnector1">
            <a:avLst/>
          </a:prstGeom>
          <a:noFill/>
          <a:ln cap="flat" cmpd="sng" w="28575">
            <a:solidFill>
              <a:srgbClr val="EA9999"/>
            </a:solidFill>
            <a:prstDash val="solid"/>
            <a:round/>
            <a:headEnd len="med" w="med" type="none"/>
            <a:tailEnd len="med" w="med" type="triangle"/>
          </a:ln>
        </p:spPr>
      </p:cxnSp>
      <p:cxnSp>
        <p:nvCxnSpPr>
          <p:cNvPr id="844" name="Google Shape;844;p101"/>
          <p:cNvCxnSpPr>
            <a:stCxn id="839" idx="4"/>
            <a:endCxn id="845" idx="0"/>
          </p:cNvCxnSpPr>
          <p:nvPr/>
        </p:nvCxnSpPr>
        <p:spPr>
          <a:xfrm>
            <a:off x="3190850" y="2104775"/>
            <a:ext cx="0" cy="508800"/>
          </a:xfrm>
          <a:prstGeom prst="straightConnector1">
            <a:avLst/>
          </a:prstGeom>
          <a:noFill/>
          <a:ln cap="flat" cmpd="sng" w="28575">
            <a:solidFill>
              <a:srgbClr val="EA9999"/>
            </a:solidFill>
            <a:prstDash val="solid"/>
            <a:round/>
            <a:headEnd len="med" w="med" type="none"/>
            <a:tailEnd len="med" w="med" type="triangle"/>
          </a:ln>
        </p:spPr>
      </p:cxnSp>
      <p:sp>
        <p:nvSpPr>
          <p:cNvPr id="846" name="Google Shape;846;p101"/>
          <p:cNvSpPr/>
          <p:nvPr/>
        </p:nvSpPr>
        <p:spPr>
          <a:xfrm>
            <a:off x="1640000" y="16112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cxnSp>
        <p:nvCxnSpPr>
          <p:cNvPr id="847" name="Google Shape;847;p101"/>
          <p:cNvCxnSpPr>
            <a:stCxn id="846" idx="6"/>
            <a:endCxn id="839" idx="2"/>
          </p:cNvCxnSpPr>
          <p:nvPr/>
        </p:nvCxnSpPr>
        <p:spPr>
          <a:xfrm>
            <a:off x="2150900" y="1858038"/>
            <a:ext cx="784500" cy="0"/>
          </a:xfrm>
          <a:prstGeom prst="straightConnector1">
            <a:avLst/>
          </a:prstGeom>
          <a:noFill/>
          <a:ln cap="flat" cmpd="sng" w="28575">
            <a:solidFill>
              <a:srgbClr val="EA9999"/>
            </a:solidFill>
            <a:prstDash val="solid"/>
            <a:round/>
            <a:headEnd len="med" w="med" type="none"/>
            <a:tailEnd len="med" w="med" type="triangle"/>
          </a:ln>
        </p:spPr>
      </p:cxnSp>
      <p:sp>
        <p:nvSpPr>
          <p:cNvPr id="845" name="Google Shape;845;p101"/>
          <p:cNvSpPr/>
          <p:nvPr/>
        </p:nvSpPr>
        <p:spPr>
          <a:xfrm>
            <a:off x="2935400" y="26134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sp>
        <p:nvSpPr>
          <p:cNvPr id="848" name="Google Shape;848;p101"/>
          <p:cNvSpPr txBox="1"/>
          <p:nvPr/>
        </p:nvSpPr>
        <p:spPr>
          <a:xfrm>
            <a:off x="2128400" y="1529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849" name="Google Shape;849;p101"/>
          <p:cNvSpPr txBox="1"/>
          <p:nvPr/>
        </p:nvSpPr>
        <p:spPr>
          <a:xfrm>
            <a:off x="3195200" y="21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850" name="Google Shape;850;p101"/>
          <p:cNvSpPr txBox="1"/>
          <p:nvPr/>
        </p:nvSpPr>
        <p:spPr>
          <a:xfrm>
            <a:off x="5961025" y="2388475"/>
            <a:ext cx="1532700" cy="8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EA9999"/>
                </a:solidFill>
              </a:rPr>
              <a:t>BFS</a:t>
            </a:r>
            <a:br>
              <a:rPr lang="es" sz="2300">
                <a:solidFill>
                  <a:srgbClr val="EA9999"/>
                </a:solidFill>
              </a:rPr>
            </a:br>
            <a:r>
              <a:rPr lang="es" sz="2300">
                <a:solidFill>
                  <a:srgbClr val="EA9999"/>
                </a:solidFill>
              </a:rPr>
              <a:t>Mínimo: 1</a:t>
            </a:r>
            <a:endParaRPr sz="2300">
              <a:solidFill>
                <a:srgbClr val="EA9999"/>
              </a:solidFill>
            </a:endParaRPr>
          </a:p>
        </p:txBody>
      </p:sp>
      <p:cxnSp>
        <p:nvCxnSpPr>
          <p:cNvPr id="851" name="Google Shape;851;p101"/>
          <p:cNvCxnSpPr>
            <a:stCxn id="838" idx="3"/>
            <a:endCxn id="837" idx="5"/>
          </p:cNvCxnSpPr>
          <p:nvPr/>
        </p:nvCxnSpPr>
        <p:spPr>
          <a:xfrm rot="10800000">
            <a:off x="807320" y="3022416"/>
            <a:ext cx="907500" cy="12300"/>
          </a:xfrm>
          <a:prstGeom prst="straightConnector1">
            <a:avLst/>
          </a:prstGeom>
          <a:noFill/>
          <a:ln cap="flat" cmpd="sng" w="28575">
            <a:solidFill>
              <a:srgbClr val="FF0000"/>
            </a:solidFill>
            <a:prstDash val="solid"/>
            <a:round/>
            <a:headEnd len="med" w="med" type="none"/>
            <a:tailEnd len="med" w="med" type="triangle"/>
          </a:ln>
        </p:spPr>
      </p:cxnSp>
      <p:cxnSp>
        <p:nvCxnSpPr>
          <p:cNvPr id="852" name="Google Shape;852;p101"/>
          <p:cNvCxnSpPr>
            <a:stCxn id="845" idx="3"/>
            <a:endCxn id="838" idx="5"/>
          </p:cNvCxnSpPr>
          <p:nvPr/>
        </p:nvCxnSpPr>
        <p:spPr>
          <a:xfrm rot="10800000">
            <a:off x="2076020" y="3034716"/>
            <a:ext cx="934200" cy="0"/>
          </a:xfrm>
          <a:prstGeom prst="straightConnector1">
            <a:avLst/>
          </a:prstGeom>
          <a:noFill/>
          <a:ln cap="flat" cmpd="sng" w="28575">
            <a:solidFill>
              <a:srgbClr val="00FF00"/>
            </a:solidFill>
            <a:prstDash val="solid"/>
            <a:round/>
            <a:headEnd len="med" w="med" type="none"/>
            <a:tailEnd len="med" w="med" type="triangle"/>
          </a:ln>
        </p:spPr>
      </p:cxnSp>
      <p:sp>
        <p:nvSpPr>
          <p:cNvPr id="853" name="Google Shape;853;p101"/>
          <p:cNvSpPr txBox="1"/>
          <p:nvPr/>
        </p:nvSpPr>
        <p:spPr>
          <a:xfrm>
            <a:off x="23570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854" name="Google Shape;854;p101"/>
          <p:cNvCxnSpPr/>
          <p:nvPr/>
        </p:nvCxnSpPr>
        <p:spPr>
          <a:xfrm>
            <a:off x="1895450" y="3106988"/>
            <a:ext cx="0" cy="487200"/>
          </a:xfrm>
          <a:prstGeom prst="straightConnector1">
            <a:avLst/>
          </a:prstGeom>
          <a:noFill/>
          <a:ln cap="flat" cmpd="sng" w="28575">
            <a:solidFill>
              <a:srgbClr val="EA9999"/>
            </a:solidFill>
            <a:prstDash val="solid"/>
            <a:round/>
            <a:headEnd len="med" w="med" type="none"/>
            <a:tailEnd len="med" w="med" type="triangle"/>
          </a:ln>
        </p:spPr>
      </p:cxnSp>
      <p:cxnSp>
        <p:nvCxnSpPr>
          <p:cNvPr id="855" name="Google Shape;855;p101"/>
          <p:cNvCxnSpPr/>
          <p:nvPr/>
        </p:nvCxnSpPr>
        <p:spPr>
          <a:xfrm flipH="1" rot="10800000">
            <a:off x="3451525" y="3100875"/>
            <a:ext cx="1202100" cy="750000"/>
          </a:xfrm>
          <a:prstGeom prst="curvedConnector2">
            <a:avLst/>
          </a:prstGeom>
          <a:noFill/>
          <a:ln cap="flat" cmpd="sng" w="28575">
            <a:solidFill>
              <a:srgbClr val="EA9999"/>
            </a:solidFill>
            <a:prstDash val="solid"/>
            <a:round/>
            <a:headEnd len="med" w="med" type="none"/>
            <a:tailEnd len="med" w="med" type="triangle"/>
          </a:ln>
        </p:spPr>
      </p:cxnSp>
      <p:sp>
        <p:nvSpPr>
          <p:cNvPr id="856" name="Google Shape;856;p101"/>
          <p:cNvSpPr txBox="1"/>
          <p:nvPr/>
        </p:nvSpPr>
        <p:spPr>
          <a:xfrm>
            <a:off x="909200" y="1605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cxnSp>
        <p:nvCxnSpPr>
          <p:cNvPr id="857" name="Google Shape;857;p101"/>
          <p:cNvCxnSpPr>
            <a:stCxn id="837" idx="0"/>
          </p:cNvCxnSpPr>
          <p:nvPr/>
        </p:nvCxnSpPr>
        <p:spPr>
          <a:xfrm rot="-5400000">
            <a:off x="714250" y="1675525"/>
            <a:ext cx="743100" cy="1108200"/>
          </a:xfrm>
          <a:prstGeom prst="curvedConnector2">
            <a:avLst/>
          </a:prstGeom>
          <a:noFill/>
          <a:ln cap="flat" cmpd="sng" w="28575">
            <a:solidFill>
              <a:srgbClr val="EA9999"/>
            </a:solidFill>
            <a:prstDash val="solid"/>
            <a:round/>
            <a:headEnd len="med" w="med" type="none"/>
            <a:tailEnd len="med" w="med" type="triangle"/>
          </a:ln>
        </p:spPr>
      </p:cxnSp>
      <p:cxnSp>
        <p:nvCxnSpPr>
          <p:cNvPr id="858" name="Google Shape;858;p101"/>
          <p:cNvCxnSpPr/>
          <p:nvPr/>
        </p:nvCxnSpPr>
        <p:spPr>
          <a:xfrm rot="10800000">
            <a:off x="33714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859" name="Google Shape;859;p101"/>
          <p:cNvSpPr txBox="1"/>
          <p:nvPr/>
        </p:nvSpPr>
        <p:spPr>
          <a:xfrm>
            <a:off x="36524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sp>
        <p:nvSpPr>
          <p:cNvPr id="860" name="Google Shape;860;p101"/>
          <p:cNvSpPr txBox="1"/>
          <p:nvPr/>
        </p:nvSpPr>
        <p:spPr>
          <a:xfrm>
            <a:off x="10616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861" name="Google Shape;861;p101"/>
          <p:cNvSpPr txBox="1"/>
          <p:nvPr/>
        </p:nvSpPr>
        <p:spPr>
          <a:xfrm>
            <a:off x="1937900" y="32120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3</a:t>
            </a:r>
            <a:endParaRPr sz="2000">
              <a:solidFill>
                <a:srgbClr val="FFFFFF"/>
              </a:solidFill>
            </a:endParaRPr>
          </a:p>
        </p:txBody>
      </p:sp>
      <p:cxnSp>
        <p:nvCxnSpPr>
          <p:cNvPr id="862" name="Google Shape;862;p101"/>
          <p:cNvCxnSpPr>
            <a:stCxn id="840" idx="1"/>
            <a:endCxn id="838" idx="3"/>
          </p:cNvCxnSpPr>
          <p:nvPr/>
        </p:nvCxnSpPr>
        <p:spPr>
          <a:xfrm rot="10800000">
            <a:off x="1714820" y="3034846"/>
            <a:ext cx="0" cy="631500"/>
          </a:xfrm>
          <a:prstGeom prst="straightConnector1">
            <a:avLst/>
          </a:prstGeom>
          <a:noFill/>
          <a:ln cap="flat" cmpd="sng" w="28575">
            <a:solidFill>
              <a:srgbClr val="FF0000"/>
            </a:solidFill>
            <a:prstDash val="solid"/>
            <a:round/>
            <a:headEnd len="med" w="med" type="none"/>
            <a:tailEnd len="med" w="med" type="triangle"/>
          </a:ln>
        </p:spPr>
      </p:cxnSp>
      <p:sp>
        <p:nvSpPr>
          <p:cNvPr id="863" name="Google Shape;863;p101"/>
          <p:cNvSpPr txBox="1"/>
          <p:nvPr/>
        </p:nvSpPr>
        <p:spPr>
          <a:xfrm>
            <a:off x="1366400" y="33580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864" name="Google Shape;864;p101"/>
          <p:cNvSpPr txBox="1"/>
          <p:nvPr/>
        </p:nvSpPr>
        <p:spPr>
          <a:xfrm>
            <a:off x="2328425" y="35318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2</a:t>
            </a:r>
            <a:endParaRPr sz="2000">
              <a:solidFill>
                <a:srgbClr val="FFFFFF"/>
              </a:solidFill>
            </a:endParaRPr>
          </a:p>
        </p:txBody>
      </p:sp>
      <p:cxnSp>
        <p:nvCxnSpPr>
          <p:cNvPr id="865" name="Google Shape;865;p101"/>
          <p:cNvCxnSpPr/>
          <p:nvPr/>
        </p:nvCxnSpPr>
        <p:spPr>
          <a:xfrm rot="10800000">
            <a:off x="2076020" y="40253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866" name="Google Shape;866;p101"/>
          <p:cNvSpPr txBox="1"/>
          <p:nvPr/>
        </p:nvSpPr>
        <p:spPr>
          <a:xfrm>
            <a:off x="2357000" y="4043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867" name="Google Shape;867;p101"/>
          <p:cNvSpPr txBox="1"/>
          <p:nvPr/>
        </p:nvSpPr>
        <p:spPr>
          <a:xfrm>
            <a:off x="3728600" y="34342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6</a:t>
            </a:r>
            <a:endParaRPr sz="2000">
              <a:solidFill>
                <a:srgbClr val="FFFFFF"/>
              </a:solidFill>
            </a:endParaRPr>
          </a:p>
        </p:txBody>
      </p:sp>
      <p:cxnSp>
        <p:nvCxnSpPr>
          <p:cNvPr id="868" name="Google Shape;868;p101"/>
          <p:cNvCxnSpPr>
            <a:stCxn id="841" idx="5"/>
            <a:endCxn id="842" idx="5"/>
          </p:cNvCxnSpPr>
          <p:nvPr/>
        </p:nvCxnSpPr>
        <p:spPr>
          <a:xfrm rot="-5400000">
            <a:off x="3654505" y="2750654"/>
            <a:ext cx="996900" cy="1552500"/>
          </a:xfrm>
          <a:prstGeom prst="curvedConnector3">
            <a:avLst>
              <a:gd fmla="val 8226" name="adj1"/>
            </a:avLst>
          </a:prstGeom>
          <a:noFill/>
          <a:ln cap="flat" cmpd="sng" w="28575">
            <a:solidFill>
              <a:srgbClr val="FF0000"/>
            </a:solidFill>
            <a:prstDash val="solid"/>
            <a:round/>
            <a:headEnd len="med" w="med" type="triangle"/>
            <a:tailEnd len="med" w="med" type="none"/>
          </a:ln>
        </p:spPr>
      </p:cxnSp>
      <p:sp>
        <p:nvSpPr>
          <p:cNvPr id="869" name="Google Shape;869;p101"/>
          <p:cNvSpPr txBox="1"/>
          <p:nvPr/>
        </p:nvSpPr>
        <p:spPr>
          <a:xfrm>
            <a:off x="4262000" y="39676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7</a:t>
            </a:r>
            <a:endParaRPr sz="2000">
              <a:solidFill>
                <a:srgbClr val="FF0000"/>
              </a:solidFill>
            </a:endParaRPr>
          </a:p>
        </p:txBody>
      </p:sp>
      <p:sp>
        <p:nvSpPr>
          <p:cNvPr id="870" name="Google Shape;870;p101"/>
          <p:cNvSpPr txBox="1"/>
          <p:nvPr/>
        </p:nvSpPr>
        <p:spPr>
          <a:xfrm>
            <a:off x="909200" y="1605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0</a:t>
            </a:r>
            <a:endParaRPr sz="2000">
              <a:solidFill>
                <a:srgbClr val="FFFFFF"/>
              </a:solidFill>
            </a:endParaRPr>
          </a:p>
        </p:txBody>
      </p:sp>
      <p:cxnSp>
        <p:nvCxnSpPr>
          <p:cNvPr id="871" name="Google Shape;871;p101"/>
          <p:cNvCxnSpPr>
            <a:stCxn id="846" idx="3"/>
            <a:endCxn id="837" idx="7"/>
          </p:cNvCxnSpPr>
          <p:nvPr/>
        </p:nvCxnSpPr>
        <p:spPr>
          <a:xfrm flipH="1">
            <a:off x="807320" y="2032516"/>
            <a:ext cx="907500" cy="640800"/>
          </a:xfrm>
          <a:prstGeom prst="straightConnector1">
            <a:avLst/>
          </a:prstGeom>
          <a:noFill/>
          <a:ln cap="flat" cmpd="sng" w="28575">
            <a:solidFill>
              <a:srgbClr val="FF0000"/>
            </a:solidFill>
            <a:prstDash val="solid"/>
            <a:round/>
            <a:headEnd len="med" w="med" type="none"/>
            <a:tailEnd len="med" w="med" type="triangle"/>
          </a:ln>
        </p:spPr>
      </p:cxnSp>
      <p:sp>
        <p:nvSpPr>
          <p:cNvPr id="872" name="Google Shape;872;p101"/>
          <p:cNvSpPr txBox="1"/>
          <p:nvPr/>
        </p:nvSpPr>
        <p:spPr>
          <a:xfrm>
            <a:off x="1290200" y="2291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sp>
        <p:nvSpPr>
          <p:cNvPr id="873" name="Google Shape;873;p101"/>
          <p:cNvSpPr txBox="1"/>
          <p:nvPr/>
        </p:nvSpPr>
        <p:spPr>
          <a:xfrm>
            <a:off x="2144000" y="15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0</a:t>
            </a:r>
            <a:endParaRPr sz="2000">
              <a:solidFill>
                <a:srgbClr val="FFFFFF"/>
              </a:solidFill>
            </a:endParaRPr>
          </a:p>
        </p:txBody>
      </p:sp>
      <p:sp>
        <p:nvSpPr>
          <p:cNvPr id="874" name="Google Shape;874;p101"/>
          <p:cNvSpPr txBox="1"/>
          <p:nvPr/>
        </p:nvSpPr>
        <p:spPr>
          <a:xfrm>
            <a:off x="3195200" y="2138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0</a:t>
            </a:r>
            <a:endParaRPr sz="2000">
              <a:solidFill>
                <a:srgbClr val="FFFFFF"/>
              </a:solidFill>
            </a:endParaRPr>
          </a:p>
        </p:txBody>
      </p:sp>
      <p:cxnSp>
        <p:nvCxnSpPr>
          <p:cNvPr id="875" name="Google Shape;875;p101"/>
          <p:cNvCxnSpPr/>
          <p:nvPr/>
        </p:nvCxnSpPr>
        <p:spPr>
          <a:xfrm rot="10800000">
            <a:off x="2076020" y="20441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876" name="Google Shape;876;p101"/>
          <p:cNvSpPr txBox="1"/>
          <p:nvPr/>
        </p:nvSpPr>
        <p:spPr>
          <a:xfrm>
            <a:off x="2357000" y="20626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877" name="Google Shape;877;p101"/>
          <p:cNvCxnSpPr>
            <a:stCxn id="845" idx="1"/>
            <a:endCxn id="839" idx="3"/>
          </p:cNvCxnSpPr>
          <p:nvPr/>
        </p:nvCxnSpPr>
        <p:spPr>
          <a:xfrm rot="10800000">
            <a:off x="3010220" y="2032359"/>
            <a:ext cx="0" cy="653400"/>
          </a:xfrm>
          <a:prstGeom prst="straightConnector1">
            <a:avLst/>
          </a:prstGeom>
          <a:noFill/>
          <a:ln cap="flat" cmpd="sng" w="28575">
            <a:solidFill>
              <a:srgbClr val="FF0000"/>
            </a:solidFill>
            <a:prstDash val="solid"/>
            <a:round/>
            <a:headEnd len="med" w="med" type="none"/>
            <a:tailEnd len="med" w="med" type="triangle"/>
          </a:ln>
        </p:spPr>
      </p:cxnSp>
      <p:sp>
        <p:nvSpPr>
          <p:cNvPr id="878" name="Google Shape;878;p101"/>
          <p:cNvSpPr txBox="1"/>
          <p:nvPr/>
        </p:nvSpPr>
        <p:spPr>
          <a:xfrm>
            <a:off x="2661800" y="2367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sp>
        <p:nvSpPr>
          <p:cNvPr id="879" name="Google Shape;879;p101"/>
          <p:cNvSpPr txBox="1"/>
          <p:nvPr/>
        </p:nvSpPr>
        <p:spPr>
          <a:xfrm>
            <a:off x="23570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0</a:t>
            </a:r>
            <a:endParaRPr sz="2000">
              <a:solidFill>
                <a:srgbClr val="FF0000"/>
              </a:solidFill>
            </a:endParaRPr>
          </a:p>
        </p:txBody>
      </p:sp>
      <p:cxnSp>
        <p:nvCxnSpPr>
          <p:cNvPr id="880" name="Google Shape;880;p101"/>
          <p:cNvCxnSpPr>
            <a:stCxn id="838" idx="6"/>
            <a:endCxn id="845" idx="2"/>
          </p:cNvCxnSpPr>
          <p:nvPr/>
        </p:nvCxnSpPr>
        <p:spPr>
          <a:xfrm>
            <a:off x="2150900" y="28602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881" name="Google Shape;881;p101"/>
          <p:cNvSpPr txBox="1"/>
          <p:nvPr/>
        </p:nvSpPr>
        <p:spPr>
          <a:xfrm>
            <a:off x="2280800" y="2519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882" name="Google Shape;882;p101"/>
          <p:cNvSpPr txBox="1"/>
          <p:nvPr/>
        </p:nvSpPr>
        <p:spPr>
          <a:xfrm>
            <a:off x="1937900" y="32120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2</a:t>
            </a:r>
            <a:endParaRPr sz="2000">
              <a:solidFill>
                <a:srgbClr val="FFFFFF"/>
              </a:solidFill>
            </a:endParaRPr>
          </a:p>
        </p:txBody>
      </p:sp>
      <p:sp>
        <p:nvSpPr>
          <p:cNvPr id="883" name="Google Shape;883;p101"/>
          <p:cNvSpPr txBox="1"/>
          <p:nvPr/>
        </p:nvSpPr>
        <p:spPr>
          <a:xfrm>
            <a:off x="1366400" y="33580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884" name="Google Shape;884;p101"/>
          <p:cNvSpPr txBox="1"/>
          <p:nvPr/>
        </p:nvSpPr>
        <p:spPr>
          <a:xfrm>
            <a:off x="2328425" y="35318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885" name="Google Shape;885;p101"/>
          <p:cNvSpPr txBox="1"/>
          <p:nvPr/>
        </p:nvSpPr>
        <p:spPr>
          <a:xfrm>
            <a:off x="2357000" y="4053325"/>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886" name="Google Shape;886;p101"/>
          <p:cNvSpPr txBox="1"/>
          <p:nvPr/>
        </p:nvSpPr>
        <p:spPr>
          <a:xfrm>
            <a:off x="3728600" y="343420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5</a:t>
            </a:r>
            <a:endParaRPr sz="2000">
              <a:solidFill>
                <a:srgbClr val="FFFFFF"/>
              </a:solidFill>
            </a:endParaRPr>
          </a:p>
        </p:txBody>
      </p:sp>
      <p:sp>
        <p:nvSpPr>
          <p:cNvPr id="887" name="Google Shape;887;p101"/>
          <p:cNvSpPr txBox="1"/>
          <p:nvPr/>
        </p:nvSpPr>
        <p:spPr>
          <a:xfrm>
            <a:off x="4262000" y="39676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888" name="Google Shape;888;p101"/>
          <p:cNvSpPr txBox="1"/>
          <p:nvPr/>
        </p:nvSpPr>
        <p:spPr>
          <a:xfrm>
            <a:off x="142000" y="333375"/>
            <a:ext cx="8321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rgbClr val="FFFFFF"/>
                </a:solidFill>
              </a:rPr>
              <a:t>ACTUALIZO RED RESIDUAL (usando el BFS y el mínimo)</a:t>
            </a:r>
            <a:endParaRPr sz="23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par>
                                <p:cTn fill="hold" nodeType="withEffect" presetClass="exit" presetID="10" presetSubtype="0">
                                  <p:stCondLst>
                                    <p:cond delay="0"/>
                                  </p:stCondLst>
                                  <p:childTnLst>
                                    <p:animEffect filter="fade" transition="out">
                                      <p:cBhvr>
                                        <p:cTn dur="1000"/>
                                        <p:tgtEl>
                                          <p:spTgt spid="856"/>
                                        </p:tgtEl>
                                      </p:cBhvr>
                                    </p:animEffect>
                                    <p:set>
                                      <p:cBhvr>
                                        <p:cTn dur="1" fill="hold">
                                          <p:stCondLst>
                                            <p:cond delay="1000"/>
                                          </p:stCondLst>
                                        </p:cTn>
                                        <p:tgtEl>
                                          <p:spTgt spid="8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870"/>
                                        </p:tgtEl>
                                      </p:cBhvr>
                                    </p:animEffect>
                                    <p:set>
                                      <p:cBhvr>
                                        <p:cTn dur="1" fill="hold">
                                          <p:stCondLst>
                                            <p:cond delay="1000"/>
                                          </p:stCondLst>
                                        </p:cTn>
                                        <p:tgtEl>
                                          <p:spTgt spid="87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857"/>
                                        </p:tgtEl>
                                      </p:cBhvr>
                                    </p:animEffect>
                                    <p:set>
                                      <p:cBhvr>
                                        <p:cTn dur="1" fill="hold">
                                          <p:stCondLst>
                                            <p:cond delay="1000"/>
                                          </p:stCondLst>
                                        </p:cTn>
                                        <p:tgtEl>
                                          <p:spTgt spid="8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2"/>
                                        </p:tgtEl>
                                        <p:attrNameLst>
                                          <p:attrName>style.visibility</p:attrName>
                                        </p:attrNameLst>
                                      </p:cBhvr>
                                      <p:to>
                                        <p:strVal val="visible"/>
                                      </p:to>
                                    </p:set>
                                    <p:animEffect filter="fade" transition="in">
                                      <p:cBhvr>
                                        <p:cTn dur="1000"/>
                                        <p:tgtEl>
                                          <p:spTgt spid="872"/>
                                        </p:tgtEl>
                                      </p:cBhvr>
                                    </p:animEffect>
                                  </p:childTnLst>
                                </p:cTn>
                              </p:par>
                              <p:par>
                                <p:cTn fill="hold" nodeType="with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1000"/>
                                        <p:tgtEl>
                                          <p:spTgt spid="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1000"/>
                                        <p:tgtEl>
                                          <p:spTgt spid="873"/>
                                        </p:tgtEl>
                                      </p:cBhvr>
                                    </p:animEffect>
                                  </p:childTnLst>
                                </p:cTn>
                              </p:par>
                              <p:par>
                                <p:cTn fill="hold" nodeType="withEffect" presetClass="exit" presetID="10" presetSubtype="0">
                                  <p:stCondLst>
                                    <p:cond delay="0"/>
                                  </p:stCondLst>
                                  <p:childTnLst>
                                    <p:animEffect filter="fade" transition="out">
                                      <p:cBhvr>
                                        <p:cTn dur="1000"/>
                                        <p:tgtEl>
                                          <p:spTgt spid="848"/>
                                        </p:tgtEl>
                                      </p:cBhvr>
                                    </p:animEffect>
                                    <p:set>
                                      <p:cBhvr>
                                        <p:cTn dur="1" fill="hold">
                                          <p:stCondLst>
                                            <p:cond delay="1000"/>
                                          </p:stCondLst>
                                        </p:cTn>
                                        <p:tgtEl>
                                          <p:spTgt spid="8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847"/>
                                        </p:tgtEl>
                                      </p:cBhvr>
                                    </p:animEffect>
                                    <p:set>
                                      <p:cBhvr>
                                        <p:cTn dur="1" fill="hold">
                                          <p:stCondLst>
                                            <p:cond delay="1000"/>
                                          </p:stCondLst>
                                        </p:cTn>
                                        <p:tgtEl>
                                          <p:spTgt spid="84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873"/>
                                        </p:tgtEl>
                                      </p:cBhvr>
                                    </p:animEffect>
                                    <p:set>
                                      <p:cBhvr>
                                        <p:cTn dur="1" fill="hold">
                                          <p:stCondLst>
                                            <p:cond delay="1000"/>
                                          </p:stCondLst>
                                        </p:cTn>
                                        <p:tgtEl>
                                          <p:spTgt spid="8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
                                        </p:tgtEl>
                                        <p:attrNameLst>
                                          <p:attrName>style.visibility</p:attrName>
                                        </p:attrNameLst>
                                      </p:cBhvr>
                                      <p:to>
                                        <p:strVal val="visible"/>
                                      </p:to>
                                    </p:set>
                                    <p:animEffect filter="fade" transition="in">
                                      <p:cBhvr>
                                        <p:cTn dur="700"/>
                                        <p:tgtEl>
                                          <p:spTgt spid="875"/>
                                        </p:tgtEl>
                                      </p:cBhvr>
                                    </p:animEffect>
                                  </p:childTnLst>
                                </p:cTn>
                              </p:par>
                              <p:par>
                                <p:cTn fill="hold" nodeType="with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10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gtEl>
                                        <p:attrNameLst>
                                          <p:attrName>style.visibility</p:attrName>
                                        </p:attrNameLst>
                                      </p:cBhvr>
                                      <p:to>
                                        <p:strVal val="visible"/>
                                      </p:to>
                                    </p:set>
                                    <p:animEffect filter="fade" transition="in">
                                      <p:cBhvr>
                                        <p:cTn dur="1000"/>
                                        <p:tgtEl>
                                          <p:spTgt spid="874"/>
                                        </p:tgtEl>
                                      </p:cBhvr>
                                    </p:animEffect>
                                  </p:childTnLst>
                                </p:cTn>
                              </p:par>
                              <p:par>
                                <p:cTn fill="hold" nodeType="withEffect" presetClass="exit" presetID="10" presetSubtype="0">
                                  <p:stCondLst>
                                    <p:cond delay="0"/>
                                  </p:stCondLst>
                                  <p:childTnLst>
                                    <p:animEffect filter="fade" transition="out">
                                      <p:cBhvr>
                                        <p:cTn dur="1000"/>
                                        <p:tgtEl>
                                          <p:spTgt spid="849"/>
                                        </p:tgtEl>
                                      </p:cBhvr>
                                    </p:animEffect>
                                    <p:set>
                                      <p:cBhvr>
                                        <p:cTn dur="1" fill="hold">
                                          <p:stCondLst>
                                            <p:cond delay="1000"/>
                                          </p:stCondLst>
                                        </p:cTn>
                                        <p:tgtEl>
                                          <p:spTgt spid="8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874"/>
                                        </p:tgtEl>
                                      </p:cBhvr>
                                    </p:animEffect>
                                    <p:set>
                                      <p:cBhvr>
                                        <p:cTn dur="1" fill="hold">
                                          <p:stCondLst>
                                            <p:cond delay="1000"/>
                                          </p:stCondLst>
                                        </p:cTn>
                                        <p:tgtEl>
                                          <p:spTgt spid="87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844"/>
                                        </p:tgtEl>
                                      </p:cBhvr>
                                    </p:animEffect>
                                    <p:set>
                                      <p:cBhvr>
                                        <p:cTn dur="1" fill="hold">
                                          <p:stCondLst>
                                            <p:cond delay="1000"/>
                                          </p:stCondLst>
                                        </p:cTn>
                                        <p:tgtEl>
                                          <p:spTgt spid="8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1000"/>
                                        <p:tgtEl>
                                          <p:spTgt spid="878"/>
                                        </p:tgtEl>
                                      </p:cBhvr>
                                    </p:animEffect>
                                  </p:childTnLst>
                                </p:cTn>
                              </p:par>
                              <p:par>
                                <p:cTn fill="hold" nodeType="with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1000"/>
                                        <p:tgtEl>
                                          <p:spTgt spid="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1000"/>
                                        <p:tgtEl>
                                          <p:spTgt spid="879"/>
                                        </p:tgtEl>
                                      </p:cBhvr>
                                    </p:animEffect>
                                  </p:childTnLst>
                                </p:cTn>
                              </p:par>
                              <p:par>
                                <p:cTn fill="hold" nodeType="withEffect" presetClass="exit" presetID="10" presetSubtype="0">
                                  <p:stCondLst>
                                    <p:cond delay="0"/>
                                  </p:stCondLst>
                                  <p:childTnLst>
                                    <p:animEffect filter="fade" transition="out">
                                      <p:cBhvr>
                                        <p:cTn dur="1000"/>
                                        <p:tgtEl>
                                          <p:spTgt spid="853"/>
                                        </p:tgtEl>
                                      </p:cBhvr>
                                    </p:animEffect>
                                    <p:set>
                                      <p:cBhvr>
                                        <p:cTn dur="1" fill="hold">
                                          <p:stCondLst>
                                            <p:cond delay="1000"/>
                                          </p:stCondLst>
                                        </p:cTn>
                                        <p:tgtEl>
                                          <p:spTgt spid="8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879"/>
                                        </p:tgtEl>
                                      </p:cBhvr>
                                    </p:animEffect>
                                    <p:set>
                                      <p:cBhvr>
                                        <p:cTn dur="1" fill="hold">
                                          <p:stCondLst>
                                            <p:cond delay="1000"/>
                                          </p:stCondLst>
                                        </p:cTn>
                                        <p:tgtEl>
                                          <p:spTgt spid="87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852"/>
                                        </p:tgtEl>
                                      </p:cBhvr>
                                    </p:animEffect>
                                    <p:set>
                                      <p:cBhvr>
                                        <p:cTn dur="1" fill="hold">
                                          <p:stCondLst>
                                            <p:cond delay="1000"/>
                                          </p:stCondLst>
                                        </p:cTn>
                                        <p:tgtEl>
                                          <p:spTgt spid="8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par>
                                <p:cTn fill="hold" nodeType="with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1000"/>
                                        <p:tgtEl>
                                          <p:spTgt spid="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1000"/>
                                        <p:tgtEl>
                                          <p:spTgt spid="882"/>
                                        </p:tgtEl>
                                      </p:cBhvr>
                                    </p:animEffect>
                                  </p:childTnLst>
                                </p:cTn>
                              </p:par>
                              <p:par>
                                <p:cTn fill="hold" nodeType="withEffect" presetClass="exit" presetID="10" presetSubtype="0">
                                  <p:stCondLst>
                                    <p:cond delay="0"/>
                                  </p:stCondLst>
                                  <p:childTnLst>
                                    <p:animEffect filter="fade" transition="out">
                                      <p:cBhvr>
                                        <p:cTn dur="1500"/>
                                        <p:tgtEl>
                                          <p:spTgt spid="861"/>
                                        </p:tgtEl>
                                      </p:cBhvr>
                                    </p:animEffect>
                                    <p:set>
                                      <p:cBhvr>
                                        <p:cTn dur="1" fill="hold">
                                          <p:stCondLst>
                                            <p:cond delay="1500"/>
                                          </p:stCondLst>
                                        </p:cTn>
                                        <p:tgtEl>
                                          <p:spTgt spid="8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1000"/>
                                        <p:tgtEl>
                                          <p:spTgt spid="883"/>
                                        </p:tgtEl>
                                      </p:cBhvr>
                                    </p:animEffect>
                                  </p:childTnLst>
                                </p:cTn>
                              </p:par>
                              <p:par>
                                <p:cTn fill="hold" nodeType="withEffect" presetClass="exit" presetID="10" presetSubtype="0">
                                  <p:stCondLst>
                                    <p:cond delay="0"/>
                                  </p:stCondLst>
                                  <p:childTnLst>
                                    <p:animEffect filter="fade" transition="out">
                                      <p:cBhvr>
                                        <p:cTn dur="1000"/>
                                        <p:tgtEl>
                                          <p:spTgt spid="863"/>
                                        </p:tgtEl>
                                      </p:cBhvr>
                                    </p:animEffect>
                                    <p:set>
                                      <p:cBhvr>
                                        <p:cTn dur="1" fill="hold">
                                          <p:stCondLst>
                                            <p:cond delay="1000"/>
                                          </p:stCondLst>
                                        </p:cTn>
                                        <p:tgtEl>
                                          <p:spTgt spid="8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par>
                                <p:cTn fill="hold" nodeType="withEffect" presetClass="exit" presetID="10" presetSubtype="0">
                                  <p:stCondLst>
                                    <p:cond delay="0"/>
                                  </p:stCondLst>
                                  <p:childTnLst>
                                    <p:animEffect filter="fade" transition="out">
                                      <p:cBhvr>
                                        <p:cTn dur="1000"/>
                                        <p:tgtEl>
                                          <p:spTgt spid="864"/>
                                        </p:tgtEl>
                                      </p:cBhvr>
                                    </p:animEffect>
                                    <p:set>
                                      <p:cBhvr>
                                        <p:cTn dur="1" fill="hold">
                                          <p:stCondLst>
                                            <p:cond delay="1000"/>
                                          </p:stCondLst>
                                        </p:cTn>
                                        <p:tgtEl>
                                          <p:spTgt spid="8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par>
                                <p:cTn fill="hold" nodeType="withEffect" presetClass="exit" presetID="10" presetSubtype="0">
                                  <p:stCondLst>
                                    <p:cond delay="0"/>
                                  </p:stCondLst>
                                  <p:childTnLst>
                                    <p:animEffect filter="fade" transition="out">
                                      <p:cBhvr>
                                        <p:cTn dur="1000"/>
                                        <p:tgtEl>
                                          <p:spTgt spid="866"/>
                                        </p:tgtEl>
                                      </p:cBhvr>
                                    </p:animEffect>
                                    <p:set>
                                      <p:cBhvr>
                                        <p:cTn dur="1" fill="hold">
                                          <p:stCondLst>
                                            <p:cond delay="1000"/>
                                          </p:stCondLst>
                                        </p:cTn>
                                        <p:tgtEl>
                                          <p:spTgt spid="8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par>
                                <p:cTn fill="hold" nodeType="withEffect" presetClass="exit" presetID="10" presetSubtype="0">
                                  <p:stCondLst>
                                    <p:cond delay="0"/>
                                  </p:stCondLst>
                                  <p:childTnLst>
                                    <p:animEffect filter="fade" transition="out">
                                      <p:cBhvr>
                                        <p:cTn dur="1000"/>
                                        <p:tgtEl>
                                          <p:spTgt spid="867"/>
                                        </p:tgtEl>
                                      </p:cBhvr>
                                    </p:animEffect>
                                    <p:set>
                                      <p:cBhvr>
                                        <p:cTn dur="1" fill="hold">
                                          <p:stCondLst>
                                            <p:cond delay="1000"/>
                                          </p:stCondLst>
                                        </p:cTn>
                                        <p:tgtEl>
                                          <p:spTgt spid="8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1000"/>
                                        <p:tgtEl>
                                          <p:spTgt spid="887"/>
                                        </p:tgtEl>
                                      </p:cBhvr>
                                    </p:animEffect>
                                  </p:childTnLst>
                                </p:cTn>
                              </p:par>
                              <p:par>
                                <p:cTn fill="hold" nodeType="withEffect" presetClass="exit" presetID="10" presetSubtype="0">
                                  <p:stCondLst>
                                    <p:cond delay="0"/>
                                  </p:stCondLst>
                                  <p:childTnLst>
                                    <p:animEffect filter="fade" transition="out">
                                      <p:cBhvr>
                                        <p:cTn dur="1000"/>
                                        <p:tgtEl>
                                          <p:spTgt spid="869"/>
                                        </p:tgtEl>
                                      </p:cBhvr>
                                    </p:animEffect>
                                    <p:set>
                                      <p:cBhvr>
                                        <p:cTn dur="1" fill="hold">
                                          <p:stCondLst>
                                            <p:cond delay="1000"/>
                                          </p:stCondLst>
                                        </p:cTn>
                                        <p:tgtEl>
                                          <p:spTgt spid="86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02"/>
          <p:cNvSpPr txBox="1"/>
          <p:nvPr>
            <p:ph idx="1" type="body"/>
          </p:nvPr>
        </p:nvSpPr>
        <p:spPr>
          <a:xfrm>
            <a:off x="264075" y="85675"/>
            <a:ext cx="5584200" cy="64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500">
                <a:solidFill>
                  <a:srgbClr val="FFFFFF"/>
                </a:solidFill>
              </a:rPr>
              <a:t>Como no hay camino BFS de la fuente al sumidero termina</a:t>
            </a:r>
            <a:endParaRPr sz="2500">
              <a:solidFill>
                <a:srgbClr val="FFFFFF"/>
              </a:solidFill>
            </a:endParaRPr>
          </a:p>
        </p:txBody>
      </p:sp>
      <p:sp>
        <p:nvSpPr>
          <p:cNvPr id="894" name="Google Shape;894;p102"/>
          <p:cNvSpPr/>
          <p:nvPr/>
        </p:nvSpPr>
        <p:spPr>
          <a:xfrm>
            <a:off x="142000" y="260117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Fu</a:t>
            </a:r>
            <a:endParaRPr sz="2300">
              <a:solidFill>
                <a:srgbClr val="FFFFFF"/>
              </a:solidFill>
            </a:endParaRPr>
          </a:p>
        </p:txBody>
      </p:sp>
      <p:sp>
        <p:nvSpPr>
          <p:cNvPr id="895" name="Google Shape;895;p102"/>
          <p:cNvSpPr/>
          <p:nvPr/>
        </p:nvSpPr>
        <p:spPr>
          <a:xfrm>
            <a:off x="1640000" y="26134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A</a:t>
            </a:r>
            <a:endParaRPr sz="2300">
              <a:solidFill>
                <a:srgbClr val="FFFFFF"/>
              </a:solidFill>
            </a:endParaRPr>
          </a:p>
        </p:txBody>
      </p:sp>
      <p:sp>
        <p:nvSpPr>
          <p:cNvPr id="896" name="Google Shape;896;p102"/>
          <p:cNvSpPr/>
          <p:nvPr/>
        </p:nvSpPr>
        <p:spPr>
          <a:xfrm>
            <a:off x="2935400" y="161127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K</a:t>
            </a:r>
            <a:endParaRPr sz="2300">
              <a:solidFill>
                <a:srgbClr val="FFFFFF"/>
              </a:solidFill>
            </a:endParaRPr>
          </a:p>
        </p:txBody>
      </p:sp>
      <p:sp>
        <p:nvSpPr>
          <p:cNvPr id="897" name="Google Shape;897;p102"/>
          <p:cNvSpPr/>
          <p:nvPr/>
        </p:nvSpPr>
        <p:spPr>
          <a:xfrm>
            <a:off x="1640000" y="359407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C</a:t>
            </a:r>
            <a:endParaRPr sz="2300">
              <a:solidFill>
                <a:srgbClr val="FFFFFF"/>
              </a:solidFill>
            </a:endParaRPr>
          </a:p>
        </p:txBody>
      </p:sp>
      <p:sp>
        <p:nvSpPr>
          <p:cNvPr id="898" name="Google Shape;898;p102"/>
          <p:cNvSpPr/>
          <p:nvPr/>
        </p:nvSpPr>
        <p:spPr>
          <a:xfrm>
            <a:off x="2940625" y="3604125"/>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E</a:t>
            </a:r>
            <a:endParaRPr sz="2300">
              <a:solidFill>
                <a:srgbClr val="FFFFFF"/>
              </a:solidFill>
            </a:endParaRPr>
          </a:p>
        </p:txBody>
      </p:sp>
      <p:sp>
        <p:nvSpPr>
          <p:cNvPr id="899" name="Google Shape;899;p102"/>
          <p:cNvSpPr/>
          <p:nvPr/>
        </p:nvSpPr>
        <p:spPr>
          <a:xfrm>
            <a:off x="4263975" y="2607325"/>
            <a:ext cx="7794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Su</a:t>
            </a:r>
            <a:endParaRPr sz="2300">
              <a:solidFill>
                <a:srgbClr val="FFFFFF"/>
              </a:solidFill>
            </a:endParaRPr>
          </a:p>
        </p:txBody>
      </p:sp>
      <p:cxnSp>
        <p:nvCxnSpPr>
          <p:cNvPr id="900" name="Google Shape;900;p102"/>
          <p:cNvCxnSpPr>
            <a:stCxn id="897" idx="6"/>
            <a:endCxn id="898" idx="2"/>
          </p:cNvCxnSpPr>
          <p:nvPr/>
        </p:nvCxnSpPr>
        <p:spPr>
          <a:xfrm>
            <a:off x="2150900" y="3840825"/>
            <a:ext cx="789600" cy="10200"/>
          </a:xfrm>
          <a:prstGeom prst="straightConnector1">
            <a:avLst/>
          </a:prstGeom>
          <a:noFill/>
          <a:ln cap="flat" cmpd="sng" w="28575">
            <a:solidFill>
              <a:srgbClr val="EA9999"/>
            </a:solidFill>
            <a:prstDash val="solid"/>
            <a:round/>
            <a:headEnd len="med" w="med" type="none"/>
            <a:tailEnd len="med" w="med" type="triangle"/>
          </a:ln>
        </p:spPr>
      </p:cxnSp>
      <p:sp>
        <p:nvSpPr>
          <p:cNvPr id="901" name="Google Shape;901;p102"/>
          <p:cNvSpPr/>
          <p:nvPr/>
        </p:nvSpPr>
        <p:spPr>
          <a:xfrm>
            <a:off x="1640000" y="16112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J</a:t>
            </a:r>
            <a:endParaRPr sz="2300">
              <a:solidFill>
                <a:srgbClr val="FFFFFF"/>
              </a:solidFill>
            </a:endParaRPr>
          </a:p>
        </p:txBody>
      </p:sp>
      <p:sp>
        <p:nvSpPr>
          <p:cNvPr id="902" name="Google Shape;902;p102"/>
          <p:cNvSpPr/>
          <p:nvPr/>
        </p:nvSpPr>
        <p:spPr>
          <a:xfrm>
            <a:off x="2935400" y="2613488"/>
            <a:ext cx="510900" cy="493500"/>
          </a:xfrm>
          <a:prstGeom prst="ellipse">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2300">
                <a:solidFill>
                  <a:srgbClr val="FFFFFF"/>
                </a:solidFill>
              </a:rPr>
              <a:t>F</a:t>
            </a:r>
            <a:endParaRPr sz="2300">
              <a:solidFill>
                <a:srgbClr val="FFFFFF"/>
              </a:solidFill>
            </a:endParaRPr>
          </a:p>
        </p:txBody>
      </p:sp>
      <p:cxnSp>
        <p:nvCxnSpPr>
          <p:cNvPr id="903" name="Google Shape;903;p102"/>
          <p:cNvCxnSpPr>
            <a:stCxn id="895" idx="3"/>
            <a:endCxn id="894" idx="5"/>
          </p:cNvCxnSpPr>
          <p:nvPr/>
        </p:nvCxnSpPr>
        <p:spPr>
          <a:xfrm rot="10800000">
            <a:off x="807320" y="3022416"/>
            <a:ext cx="907500" cy="12300"/>
          </a:xfrm>
          <a:prstGeom prst="straightConnector1">
            <a:avLst/>
          </a:prstGeom>
          <a:noFill/>
          <a:ln cap="flat" cmpd="sng" w="28575">
            <a:solidFill>
              <a:srgbClr val="FF0000"/>
            </a:solidFill>
            <a:prstDash val="solid"/>
            <a:round/>
            <a:headEnd len="med" w="med" type="none"/>
            <a:tailEnd len="med" w="med" type="triangle"/>
          </a:ln>
        </p:spPr>
      </p:cxnSp>
      <p:cxnSp>
        <p:nvCxnSpPr>
          <p:cNvPr id="904" name="Google Shape;904;p102"/>
          <p:cNvCxnSpPr/>
          <p:nvPr/>
        </p:nvCxnSpPr>
        <p:spPr>
          <a:xfrm>
            <a:off x="1895450" y="3106988"/>
            <a:ext cx="0" cy="487200"/>
          </a:xfrm>
          <a:prstGeom prst="straightConnector1">
            <a:avLst/>
          </a:prstGeom>
          <a:noFill/>
          <a:ln cap="flat" cmpd="sng" w="28575">
            <a:solidFill>
              <a:srgbClr val="EA9999"/>
            </a:solidFill>
            <a:prstDash val="solid"/>
            <a:round/>
            <a:headEnd len="med" w="med" type="none"/>
            <a:tailEnd len="med" w="med" type="triangle"/>
          </a:ln>
        </p:spPr>
      </p:cxnSp>
      <p:cxnSp>
        <p:nvCxnSpPr>
          <p:cNvPr id="905" name="Google Shape;905;p102"/>
          <p:cNvCxnSpPr/>
          <p:nvPr/>
        </p:nvCxnSpPr>
        <p:spPr>
          <a:xfrm flipH="1" rot="10800000">
            <a:off x="3451525" y="3100875"/>
            <a:ext cx="1202100" cy="750000"/>
          </a:xfrm>
          <a:prstGeom prst="curvedConnector2">
            <a:avLst/>
          </a:prstGeom>
          <a:noFill/>
          <a:ln cap="flat" cmpd="sng" w="28575">
            <a:solidFill>
              <a:srgbClr val="EA9999"/>
            </a:solidFill>
            <a:prstDash val="solid"/>
            <a:round/>
            <a:headEnd len="med" w="med" type="none"/>
            <a:tailEnd len="med" w="med" type="triangle"/>
          </a:ln>
        </p:spPr>
      </p:cxnSp>
      <p:cxnSp>
        <p:nvCxnSpPr>
          <p:cNvPr id="906" name="Google Shape;906;p102"/>
          <p:cNvCxnSpPr/>
          <p:nvPr/>
        </p:nvCxnSpPr>
        <p:spPr>
          <a:xfrm rot="10800000">
            <a:off x="3371420" y="30347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907" name="Google Shape;907;p102"/>
          <p:cNvSpPr txBox="1"/>
          <p:nvPr/>
        </p:nvSpPr>
        <p:spPr>
          <a:xfrm>
            <a:off x="36524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sp>
        <p:nvSpPr>
          <p:cNvPr id="908" name="Google Shape;908;p102"/>
          <p:cNvSpPr txBox="1"/>
          <p:nvPr/>
        </p:nvSpPr>
        <p:spPr>
          <a:xfrm>
            <a:off x="1061600" y="3053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cxnSp>
        <p:nvCxnSpPr>
          <p:cNvPr id="909" name="Google Shape;909;p102"/>
          <p:cNvCxnSpPr>
            <a:stCxn id="897" idx="1"/>
            <a:endCxn id="895" idx="3"/>
          </p:cNvCxnSpPr>
          <p:nvPr/>
        </p:nvCxnSpPr>
        <p:spPr>
          <a:xfrm rot="10800000">
            <a:off x="1714820" y="3034846"/>
            <a:ext cx="0" cy="631500"/>
          </a:xfrm>
          <a:prstGeom prst="straightConnector1">
            <a:avLst/>
          </a:prstGeom>
          <a:noFill/>
          <a:ln cap="flat" cmpd="sng" w="28575">
            <a:solidFill>
              <a:srgbClr val="FF0000"/>
            </a:solidFill>
            <a:prstDash val="solid"/>
            <a:round/>
            <a:headEnd len="med" w="med" type="none"/>
            <a:tailEnd len="med" w="med" type="triangle"/>
          </a:ln>
        </p:spPr>
      </p:cxnSp>
      <p:cxnSp>
        <p:nvCxnSpPr>
          <p:cNvPr id="910" name="Google Shape;910;p102"/>
          <p:cNvCxnSpPr/>
          <p:nvPr/>
        </p:nvCxnSpPr>
        <p:spPr>
          <a:xfrm rot="10800000">
            <a:off x="2076020" y="4025316"/>
            <a:ext cx="934200" cy="0"/>
          </a:xfrm>
          <a:prstGeom prst="straightConnector1">
            <a:avLst/>
          </a:prstGeom>
          <a:noFill/>
          <a:ln cap="flat" cmpd="sng" w="28575">
            <a:solidFill>
              <a:srgbClr val="FF0000"/>
            </a:solidFill>
            <a:prstDash val="solid"/>
            <a:round/>
            <a:headEnd len="med" w="med" type="none"/>
            <a:tailEnd len="med" w="med" type="triangle"/>
          </a:ln>
        </p:spPr>
      </p:cxnSp>
      <p:cxnSp>
        <p:nvCxnSpPr>
          <p:cNvPr id="911" name="Google Shape;911;p102"/>
          <p:cNvCxnSpPr>
            <a:stCxn id="898" idx="5"/>
            <a:endCxn id="899" idx="5"/>
          </p:cNvCxnSpPr>
          <p:nvPr/>
        </p:nvCxnSpPr>
        <p:spPr>
          <a:xfrm rot="-5400000">
            <a:off x="3654505" y="2750654"/>
            <a:ext cx="996900" cy="1552500"/>
          </a:xfrm>
          <a:prstGeom prst="curvedConnector3">
            <a:avLst>
              <a:gd fmla="val 8226" name="adj1"/>
            </a:avLst>
          </a:prstGeom>
          <a:noFill/>
          <a:ln cap="flat" cmpd="sng" w="28575">
            <a:solidFill>
              <a:srgbClr val="FF0000"/>
            </a:solidFill>
            <a:prstDash val="solid"/>
            <a:round/>
            <a:headEnd len="med" w="med" type="triangle"/>
            <a:tailEnd len="med" w="med" type="none"/>
          </a:ln>
        </p:spPr>
      </p:cxnSp>
      <p:cxnSp>
        <p:nvCxnSpPr>
          <p:cNvPr id="912" name="Google Shape;912;p102"/>
          <p:cNvCxnSpPr>
            <a:stCxn id="901" idx="3"/>
            <a:endCxn id="894" idx="7"/>
          </p:cNvCxnSpPr>
          <p:nvPr/>
        </p:nvCxnSpPr>
        <p:spPr>
          <a:xfrm flipH="1">
            <a:off x="807320" y="2032516"/>
            <a:ext cx="907500" cy="640800"/>
          </a:xfrm>
          <a:prstGeom prst="straightConnector1">
            <a:avLst/>
          </a:prstGeom>
          <a:noFill/>
          <a:ln cap="flat" cmpd="sng" w="28575">
            <a:solidFill>
              <a:srgbClr val="FF0000"/>
            </a:solidFill>
            <a:prstDash val="solid"/>
            <a:round/>
            <a:headEnd len="med" w="med" type="none"/>
            <a:tailEnd len="med" w="med" type="triangle"/>
          </a:ln>
        </p:spPr>
      </p:cxnSp>
      <p:sp>
        <p:nvSpPr>
          <p:cNvPr id="913" name="Google Shape;913;p102"/>
          <p:cNvSpPr txBox="1"/>
          <p:nvPr/>
        </p:nvSpPr>
        <p:spPr>
          <a:xfrm>
            <a:off x="1290200" y="2291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914" name="Google Shape;914;p102"/>
          <p:cNvCxnSpPr/>
          <p:nvPr/>
        </p:nvCxnSpPr>
        <p:spPr>
          <a:xfrm rot="10800000">
            <a:off x="2076020" y="2044116"/>
            <a:ext cx="934200" cy="0"/>
          </a:xfrm>
          <a:prstGeom prst="straightConnector1">
            <a:avLst/>
          </a:prstGeom>
          <a:noFill/>
          <a:ln cap="flat" cmpd="sng" w="28575">
            <a:solidFill>
              <a:srgbClr val="FF0000"/>
            </a:solidFill>
            <a:prstDash val="solid"/>
            <a:round/>
            <a:headEnd len="med" w="med" type="none"/>
            <a:tailEnd len="med" w="med" type="triangle"/>
          </a:ln>
        </p:spPr>
      </p:cxnSp>
      <p:sp>
        <p:nvSpPr>
          <p:cNvPr id="915" name="Google Shape;915;p102"/>
          <p:cNvSpPr txBox="1"/>
          <p:nvPr/>
        </p:nvSpPr>
        <p:spPr>
          <a:xfrm>
            <a:off x="2357000" y="20626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916" name="Google Shape;916;p102"/>
          <p:cNvCxnSpPr>
            <a:stCxn id="902" idx="1"/>
            <a:endCxn id="896" idx="3"/>
          </p:cNvCxnSpPr>
          <p:nvPr/>
        </p:nvCxnSpPr>
        <p:spPr>
          <a:xfrm rot="10800000">
            <a:off x="3010220" y="2032359"/>
            <a:ext cx="0" cy="653400"/>
          </a:xfrm>
          <a:prstGeom prst="straightConnector1">
            <a:avLst/>
          </a:prstGeom>
          <a:noFill/>
          <a:ln cap="flat" cmpd="sng" w="28575">
            <a:solidFill>
              <a:srgbClr val="FF0000"/>
            </a:solidFill>
            <a:prstDash val="solid"/>
            <a:round/>
            <a:headEnd len="med" w="med" type="none"/>
            <a:tailEnd len="med" w="med" type="triangle"/>
          </a:ln>
        </p:spPr>
      </p:cxnSp>
      <p:sp>
        <p:nvSpPr>
          <p:cNvPr id="917" name="Google Shape;917;p102"/>
          <p:cNvSpPr txBox="1"/>
          <p:nvPr/>
        </p:nvSpPr>
        <p:spPr>
          <a:xfrm>
            <a:off x="2661800" y="23674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1</a:t>
            </a:r>
            <a:endParaRPr sz="2000">
              <a:solidFill>
                <a:srgbClr val="FF0000"/>
              </a:solidFill>
            </a:endParaRPr>
          </a:p>
        </p:txBody>
      </p:sp>
      <p:cxnSp>
        <p:nvCxnSpPr>
          <p:cNvPr id="918" name="Google Shape;918;p102"/>
          <p:cNvCxnSpPr>
            <a:stCxn id="895" idx="6"/>
            <a:endCxn id="902" idx="2"/>
          </p:cNvCxnSpPr>
          <p:nvPr/>
        </p:nvCxnSpPr>
        <p:spPr>
          <a:xfrm>
            <a:off x="2150900" y="2860238"/>
            <a:ext cx="784500" cy="0"/>
          </a:xfrm>
          <a:prstGeom prst="straightConnector1">
            <a:avLst/>
          </a:prstGeom>
          <a:noFill/>
          <a:ln cap="flat" cmpd="sng" w="28575">
            <a:solidFill>
              <a:srgbClr val="FFFFFF"/>
            </a:solidFill>
            <a:prstDash val="solid"/>
            <a:round/>
            <a:headEnd len="med" w="med" type="none"/>
            <a:tailEnd len="med" w="med" type="triangle"/>
          </a:ln>
        </p:spPr>
      </p:cxnSp>
      <p:sp>
        <p:nvSpPr>
          <p:cNvPr id="919" name="Google Shape;919;p102"/>
          <p:cNvSpPr txBox="1"/>
          <p:nvPr/>
        </p:nvSpPr>
        <p:spPr>
          <a:xfrm>
            <a:off x="2280800" y="25198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920" name="Google Shape;920;p102"/>
          <p:cNvSpPr txBox="1"/>
          <p:nvPr/>
        </p:nvSpPr>
        <p:spPr>
          <a:xfrm>
            <a:off x="1937900" y="31267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2</a:t>
            </a:r>
            <a:endParaRPr sz="2000">
              <a:solidFill>
                <a:srgbClr val="FFFFFF"/>
              </a:solidFill>
            </a:endParaRPr>
          </a:p>
        </p:txBody>
      </p:sp>
      <p:sp>
        <p:nvSpPr>
          <p:cNvPr id="921" name="Google Shape;921;p102"/>
          <p:cNvSpPr txBox="1"/>
          <p:nvPr/>
        </p:nvSpPr>
        <p:spPr>
          <a:xfrm>
            <a:off x="1385450" y="3347275"/>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922" name="Google Shape;922;p102"/>
          <p:cNvSpPr txBox="1"/>
          <p:nvPr/>
        </p:nvSpPr>
        <p:spPr>
          <a:xfrm>
            <a:off x="2336900" y="3498125"/>
            <a:ext cx="3966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1</a:t>
            </a:r>
            <a:endParaRPr sz="2000">
              <a:solidFill>
                <a:srgbClr val="FFFFFF"/>
              </a:solidFill>
            </a:endParaRPr>
          </a:p>
        </p:txBody>
      </p:sp>
      <p:sp>
        <p:nvSpPr>
          <p:cNvPr id="923" name="Google Shape;923;p102"/>
          <p:cNvSpPr txBox="1"/>
          <p:nvPr/>
        </p:nvSpPr>
        <p:spPr>
          <a:xfrm>
            <a:off x="2357000" y="4034200"/>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sp>
        <p:nvSpPr>
          <p:cNvPr id="924" name="Google Shape;924;p102"/>
          <p:cNvSpPr txBox="1"/>
          <p:nvPr/>
        </p:nvSpPr>
        <p:spPr>
          <a:xfrm>
            <a:off x="3797125" y="3391050"/>
            <a:ext cx="5109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rPr>
              <a:t>5</a:t>
            </a:r>
            <a:endParaRPr sz="2000">
              <a:solidFill>
                <a:srgbClr val="FFFFFF"/>
              </a:solidFill>
            </a:endParaRPr>
          </a:p>
        </p:txBody>
      </p:sp>
      <p:sp>
        <p:nvSpPr>
          <p:cNvPr id="925" name="Google Shape;925;p102"/>
          <p:cNvSpPr txBox="1"/>
          <p:nvPr/>
        </p:nvSpPr>
        <p:spPr>
          <a:xfrm>
            <a:off x="4197175" y="3976475"/>
            <a:ext cx="320400" cy="29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0000"/>
                </a:solidFill>
              </a:rPr>
              <a:t>8</a:t>
            </a:r>
            <a:endParaRPr sz="2000">
              <a:solidFill>
                <a:srgbClr val="FF0000"/>
              </a:solidFill>
            </a:endParaRPr>
          </a:p>
        </p:txBody>
      </p:sp>
      <p:graphicFrame>
        <p:nvGraphicFramePr>
          <p:cNvPr id="926" name="Google Shape;926;p102"/>
          <p:cNvGraphicFramePr/>
          <p:nvPr/>
        </p:nvGraphicFramePr>
        <p:xfrm>
          <a:off x="6822325" y="42001"/>
          <a:ext cx="3000000" cy="3000000"/>
        </p:xfrm>
        <a:graphic>
          <a:graphicData uri="http://schemas.openxmlformats.org/drawingml/2006/table">
            <a:tbl>
              <a:tblPr>
                <a:noFill/>
                <a:tableStyleId>{92CE33B1-1C90-4913-8629-4357D7C973F6}</a:tableStyleId>
              </a:tblPr>
              <a:tblGrid>
                <a:gridCol w="1033475"/>
                <a:gridCol w="1033475"/>
              </a:tblGrid>
              <a:tr h="381000">
                <a:tc>
                  <a:txBody>
                    <a:bodyPr/>
                    <a:lstStyle/>
                    <a:p>
                      <a:pPr indent="0" lvl="0" marL="0" rtl="0" algn="ctr">
                        <a:spcBef>
                          <a:spcPts val="0"/>
                        </a:spcBef>
                        <a:spcAft>
                          <a:spcPts val="0"/>
                        </a:spcAft>
                        <a:buNone/>
                      </a:pPr>
                      <a:r>
                        <a:rPr lang="es" sz="2500">
                          <a:solidFill>
                            <a:srgbClr val="FFFFFF"/>
                          </a:solidFill>
                        </a:rPr>
                        <a:t>FU-J</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1</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FU-A</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8</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A-F</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0</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J-K</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1</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K-F</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1</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F-Su</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1</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A-C</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8</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C-E</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8</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81000">
                <a:tc>
                  <a:txBody>
                    <a:bodyPr/>
                    <a:lstStyle/>
                    <a:p>
                      <a:pPr indent="0" lvl="0" marL="0" rtl="0" algn="ctr">
                        <a:spcBef>
                          <a:spcPts val="0"/>
                        </a:spcBef>
                        <a:spcAft>
                          <a:spcPts val="0"/>
                        </a:spcAft>
                        <a:buNone/>
                      </a:pPr>
                      <a:r>
                        <a:rPr lang="es" sz="2500">
                          <a:solidFill>
                            <a:srgbClr val="FFFFFF"/>
                          </a:solidFill>
                        </a:rPr>
                        <a:t>E-Su</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rtl="0" algn="ctr">
                        <a:spcBef>
                          <a:spcPts val="0"/>
                        </a:spcBef>
                        <a:spcAft>
                          <a:spcPts val="0"/>
                        </a:spcAft>
                        <a:buNone/>
                      </a:pPr>
                      <a:r>
                        <a:rPr lang="es" sz="2500">
                          <a:solidFill>
                            <a:srgbClr val="FFFFFF"/>
                          </a:solidFill>
                        </a:rPr>
                        <a:t>8</a:t>
                      </a:r>
                      <a:endParaRPr sz="2500">
                        <a:solidFill>
                          <a:srgbClr val="FFFFFF"/>
                        </a:solidFill>
                      </a:endParaRPr>
                    </a:p>
                  </a:txBody>
                  <a:tcPr marT="91425" marB="91425" marR="91425"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103"/>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Redes de Flujo como t</a:t>
            </a:r>
            <a:r>
              <a:rPr lang="es"/>
              <a:t>écnica de diseño de algoritmos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0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Aplicaci</a:t>
            </a:r>
            <a:r>
              <a:rPr lang="es"/>
              <a:t>ón I: </a:t>
            </a:r>
            <a:r>
              <a:rPr lang="es"/>
              <a:t>Corte de vértices</a:t>
            </a:r>
            <a:endParaRPr/>
          </a:p>
        </p:txBody>
      </p:sp>
      <p:sp>
        <p:nvSpPr>
          <p:cNvPr id="937" name="Google Shape;937;p10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Suponiendo red de flujo, ¿cuál es la mínima cantidad de vértices a sacar para que la fuente y el sumidero queden desconectados?</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s"/>
              <a:t>¿Ideas? </a:t>
            </a:r>
            <a:endParaRPr/>
          </a:p>
          <a:p>
            <a:pPr indent="0" lvl="0" marL="0" rtl="0" algn="l">
              <a:spcBef>
                <a:spcPts val="1600"/>
              </a:spcBef>
              <a:spcAft>
                <a:spcPts val="1600"/>
              </a:spcAft>
              <a:buNone/>
            </a:pPr>
            <a:r>
              <a:rPr lang="es"/>
              <a:t>¿Ideas usando una red de flujo? (Otra)</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0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Ejemplos</a:t>
            </a:r>
            <a:endParaRPr/>
          </a:p>
        </p:txBody>
      </p:sp>
      <p:sp>
        <p:nvSpPr>
          <p:cNvPr id="943" name="Google Shape;943;p105"/>
          <p:cNvSpPr/>
          <p:nvPr/>
        </p:nvSpPr>
        <p:spPr>
          <a:xfrm>
            <a:off x="1097850" y="18931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44" name="Google Shape;944;p105"/>
          <p:cNvSpPr/>
          <p:nvPr/>
        </p:nvSpPr>
        <p:spPr>
          <a:xfrm>
            <a:off x="5503375" y="20350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45" name="Google Shape;945;p105"/>
          <p:cNvSpPr/>
          <p:nvPr/>
        </p:nvSpPr>
        <p:spPr>
          <a:xfrm>
            <a:off x="2529650" y="114147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46" name="Google Shape;946;p105"/>
          <p:cNvSpPr/>
          <p:nvPr/>
        </p:nvSpPr>
        <p:spPr>
          <a:xfrm>
            <a:off x="2529650" y="272020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47" name="Google Shape;947;p105"/>
          <p:cNvSpPr/>
          <p:nvPr/>
        </p:nvSpPr>
        <p:spPr>
          <a:xfrm>
            <a:off x="4252200" y="18931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48" name="Google Shape;948;p105"/>
          <p:cNvSpPr/>
          <p:nvPr/>
        </p:nvSpPr>
        <p:spPr>
          <a:xfrm>
            <a:off x="4252200" y="6996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49" name="Google Shape;949;p105"/>
          <p:cNvSpPr/>
          <p:nvPr/>
        </p:nvSpPr>
        <p:spPr>
          <a:xfrm>
            <a:off x="4252200" y="29440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50" name="Google Shape;950;p105"/>
          <p:cNvSpPr/>
          <p:nvPr/>
        </p:nvSpPr>
        <p:spPr>
          <a:xfrm>
            <a:off x="4252200" y="39949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51" name="Google Shape;951;p105"/>
          <p:cNvSpPr/>
          <p:nvPr/>
        </p:nvSpPr>
        <p:spPr>
          <a:xfrm>
            <a:off x="5463675" y="6996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52" name="Google Shape;952;p105"/>
          <p:cNvSpPr/>
          <p:nvPr/>
        </p:nvSpPr>
        <p:spPr>
          <a:xfrm>
            <a:off x="5463675" y="31197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53" name="Google Shape;953;p105"/>
          <p:cNvSpPr/>
          <p:nvPr/>
        </p:nvSpPr>
        <p:spPr>
          <a:xfrm>
            <a:off x="6995975" y="19585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cxnSp>
        <p:nvCxnSpPr>
          <p:cNvPr id="954" name="Google Shape;954;p105"/>
          <p:cNvCxnSpPr>
            <a:stCxn id="943" idx="7"/>
            <a:endCxn id="945" idx="2"/>
          </p:cNvCxnSpPr>
          <p:nvPr/>
        </p:nvCxnSpPr>
        <p:spPr>
          <a:xfrm flipH="1" rot="10800000">
            <a:off x="1643783" y="1448026"/>
            <a:ext cx="885900" cy="534900"/>
          </a:xfrm>
          <a:prstGeom prst="straightConnector1">
            <a:avLst/>
          </a:prstGeom>
          <a:noFill/>
          <a:ln cap="flat" cmpd="sng" w="9525">
            <a:solidFill>
              <a:schemeClr val="dk2"/>
            </a:solidFill>
            <a:prstDash val="solid"/>
            <a:round/>
            <a:headEnd len="med" w="med" type="none"/>
            <a:tailEnd len="med" w="med" type="triangle"/>
          </a:ln>
        </p:spPr>
      </p:cxnSp>
      <p:cxnSp>
        <p:nvCxnSpPr>
          <p:cNvPr id="955" name="Google Shape;955;p105"/>
          <p:cNvCxnSpPr>
            <a:stCxn id="943" idx="5"/>
            <a:endCxn id="946" idx="2"/>
          </p:cNvCxnSpPr>
          <p:nvPr/>
        </p:nvCxnSpPr>
        <p:spPr>
          <a:xfrm>
            <a:off x="1643783" y="2416524"/>
            <a:ext cx="885900" cy="610200"/>
          </a:xfrm>
          <a:prstGeom prst="straightConnector1">
            <a:avLst/>
          </a:prstGeom>
          <a:noFill/>
          <a:ln cap="flat" cmpd="sng" w="9525">
            <a:solidFill>
              <a:schemeClr val="dk2"/>
            </a:solidFill>
            <a:prstDash val="solid"/>
            <a:round/>
            <a:headEnd len="med" w="med" type="none"/>
            <a:tailEnd len="med" w="med" type="triangle"/>
          </a:ln>
        </p:spPr>
      </p:cxnSp>
      <p:cxnSp>
        <p:nvCxnSpPr>
          <p:cNvPr id="956" name="Google Shape;956;p105"/>
          <p:cNvCxnSpPr>
            <a:stCxn id="945" idx="7"/>
            <a:endCxn id="948" idx="2"/>
          </p:cNvCxnSpPr>
          <p:nvPr/>
        </p:nvCxnSpPr>
        <p:spPr>
          <a:xfrm flipH="1" rot="10800000">
            <a:off x="3075583" y="1006276"/>
            <a:ext cx="1176600" cy="225000"/>
          </a:xfrm>
          <a:prstGeom prst="straightConnector1">
            <a:avLst/>
          </a:prstGeom>
          <a:noFill/>
          <a:ln cap="flat" cmpd="sng" w="9525">
            <a:solidFill>
              <a:schemeClr val="dk2"/>
            </a:solidFill>
            <a:prstDash val="solid"/>
            <a:round/>
            <a:headEnd len="med" w="med" type="none"/>
            <a:tailEnd len="med" w="med" type="triangle"/>
          </a:ln>
        </p:spPr>
      </p:cxnSp>
      <p:cxnSp>
        <p:nvCxnSpPr>
          <p:cNvPr id="957" name="Google Shape;957;p105"/>
          <p:cNvCxnSpPr>
            <a:stCxn id="945" idx="6"/>
            <a:endCxn id="947" idx="2"/>
          </p:cNvCxnSpPr>
          <p:nvPr/>
        </p:nvCxnSpPr>
        <p:spPr>
          <a:xfrm>
            <a:off x="3169250" y="1448075"/>
            <a:ext cx="1083000" cy="751800"/>
          </a:xfrm>
          <a:prstGeom prst="straightConnector1">
            <a:avLst/>
          </a:prstGeom>
          <a:noFill/>
          <a:ln cap="flat" cmpd="sng" w="9525">
            <a:solidFill>
              <a:schemeClr val="dk2"/>
            </a:solidFill>
            <a:prstDash val="solid"/>
            <a:round/>
            <a:headEnd len="med" w="med" type="none"/>
            <a:tailEnd len="med" w="med" type="triangle"/>
          </a:ln>
        </p:spPr>
      </p:cxnSp>
      <p:cxnSp>
        <p:nvCxnSpPr>
          <p:cNvPr id="958" name="Google Shape;958;p105"/>
          <p:cNvCxnSpPr>
            <a:stCxn id="946" idx="6"/>
            <a:endCxn id="947" idx="2"/>
          </p:cNvCxnSpPr>
          <p:nvPr/>
        </p:nvCxnSpPr>
        <p:spPr>
          <a:xfrm flipH="1" rot="10800000">
            <a:off x="3169250" y="2199700"/>
            <a:ext cx="1083000" cy="827100"/>
          </a:xfrm>
          <a:prstGeom prst="straightConnector1">
            <a:avLst/>
          </a:prstGeom>
          <a:noFill/>
          <a:ln cap="flat" cmpd="sng" w="9525">
            <a:solidFill>
              <a:schemeClr val="dk2"/>
            </a:solidFill>
            <a:prstDash val="solid"/>
            <a:round/>
            <a:headEnd len="med" w="med" type="none"/>
            <a:tailEnd len="med" w="med" type="triangle"/>
          </a:ln>
        </p:spPr>
      </p:cxnSp>
      <p:cxnSp>
        <p:nvCxnSpPr>
          <p:cNvPr id="959" name="Google Shape;959;p105"/>
          <p:cNvCxnSpPr>
            <a:stCxn id="946" idx="5"/>
            <a:endCxn id="949" idx="2"/>
          </p:cNvCxnSpPr>
          <p:nvPr/>
        </p:nvCxnSpPr>
        <p:spPr>
          <a:xfrm>
            <a:off x="3075583" y="3243599"/>
            <a:ext cx="1176600" cy="6900"/>
          </a:xfrm>
          <a:prstGeom prst="straightConnector1">
            <a:avLst/>
          </a:prstGeom>
          <a:noFill/>
          <a:ln cap="flat" cmpd="sng" w="9525">
            <a:solidFill>
              <a:schemeClr val="dk2"/>
            </a:solidFill>
            <a:prstDash val="solid"/>
            <a:round/>
            <a:headEnd len="med" w="med" type="none"/>
            <a:tailEnd len="med" w="med" type="triangle"/>
          </a:ln>
        </p:spPr>
      </p:cxnSp>
      <p:cxnSp>
        <p:nvCxnSpPr>
          <p:cNvPr id="960" name="Google Shape;960;p105"/>
          <p:cNvCxnSpPr>
            <a:stCxn id="946" idx="5"/>
            <a:endCxn id="950" idx="2"/>
          </p:cNvCxnSpPr>
          <p:nvPr/>
        </p:nvCxnSpPr>
        <p:spPr>
          <a:xfrm>
            <a:off x="3075583" y="3243599"/>
            <a:ext cx="1176600" cy="1057800"/>
          </a:xfrm>
          <a:prstGeom prst="straightConnector1">
            <a:avLst/>
          </a:prstGeom>
          <a:noFill/>
          <a:ln cap="flat" cmpd="sng" w="9525">
            <a:solidFill>
              <a:schemeClr val="dk2"/>
            </a:solidFill>
            <a:prstDash val="solid"/>
            <a:round/>
            <a:headEnd len="med" w="med" type="none"/>
            <a:tailEnd len="med" w="med" type="triangle"/>
          </a:ln>
        </p:spPr>
      </p:cxnSp>
      <p:cxnSp>
        <p:nvCxnSpPr>
          <p:cNvPr id="961" name="Google Shape;961;p105"/>
          <p:cNvCxnSpPr>
            <a:stCxn id="948" idx="6"/>
            <a:endCxn id="951" idx="2"/>
          </p:cNvCxnSpPr>
          <p:nvPr/>
        </p:nvCxnSpPr>
        <p:spPr>
          <a:xfrm>
            <a:off x="4891800" y="1006250"/>
            <a:ext cx="571800" cy="0"/>
          </a:xfrm>
          <a:prstGeom prst="straightConnector1">
            <a:avLst/>
          </a:prstGeom>
          <a:noFill/>
          <a:ln cap="flat" cmpd="sng" w="9525">
            <a:solidFill>
              <a:schemeClr val="dk2"/>
            </a:solidFill>
            <a:prstDash val="solid"/>
            <a:round/>
            <a:headEnd len="med" w="med" type="none"/>
            <a:tailEnd len="med" w="med" type="triangle"/>
          </a:ln>
        </p:spPr>
      </p:cxnSp>
      <p:cxnSp>
        <p:nvCxnSpPr>
          <p:cNvPr id="962" name="Google Shape;962;p105"/>
          <p:cNvCxnSpPr>
            <a:stCxn id="947" idx="6"/>
            <a:endCxn id="944" idx="2"/>
          </p:cNvCxnSpPr>
          <p:nvPr/>
        </p:nvCxnSpPr>
        <p:spPr>
          <a:xfrm>
            <a:off x="4891800" y="2199725"/>
            <a:ext cx="611700" cy="141900"/>
          </a:xfrm>
          <a:prstGeom prst="straightConnector1">
            <a:avLst/>
          </a:prstGeom>
          <a:noFill/>
          <a:ln cap="flat" cmpd="sng" w="9525">
            <a:solidFill>
              <a:schemeClr val="dk2"/>
            </a:solidFill>
            <a:prstDash val="solid"/>
            <a:round/>
            <a:headEnd len="med" w="med" type="none"/>
            <a:tailEnd len="med" w="med" type="triangle"/>
          </a:ln>
        </p:spPr>
      </p:cxnSp>
      <p:cxnSp>
        <p:nvCxnSpPr>
          <p:cNvPr id="963" name="Google Shape;963;p105"/>
          <p:cNvCxnSpPr>
            <a:stCxn id="949" idx="6"/>
            <a:endCxn id="952" idx="2"/>
          </p:cNvCxnSpPr>
          <p:nvPr/>
        </p:nvCxnSpPr>
        <p:spPr>
          <a:xfrm>
            <a:off x="4891800" y="3250625"/>
            <a:ext cx="571800" cy="175800"/>
          </a:xfrm>
          <a:prstGeom prst="straightConnector1">
            <a:avLst/>
          </a:prstGeom>
          <a:noFill/>
          <a:ln cap="flat" cmpd="sng" w="9525">
            <a:solidFill>
              <a:schemeClr val="dk2"/>
            </a:solidFill>
            <a:prstDash val="solid"/>
            <a:round/>
            <a:headEnd len="med" w="med" type="none"/>
            <a:tailEnd len="med" w="med" type="triangle"/>
          </a:ln>
        </p:spPr>
      </p:cxnSp>
      <p:cxnSp>
        <p:nvCxnSpPr>
          <p:cNvPr id="964" name="Google Shape;964;p105"/>
          <p:cNvCxnSpPr>
            <a:stCxn id="950" idx="6"/>
            <a:endCxn id="952" idx="3"/>
          </p:cNvCxnSpPr>
          <p:nvPr/>
        </p:nvCxnSpPr>
        <p:spPr>
          <a:xfrm flipH="1" rot="10800000">
            <a:off x="4891800" y="3643025"/>
            <a:ext cx="665400" cy="658500"/>
          </a:xfrm>
          <a:prstGeom prst="straightConnector1">
            <a:avLst/>
          </a:prstGeom>
          <a:noFill/>
          <a:ln cap="flat" cmpd="sng" w="9525">
            <a:solidFill>
              <a:schemeClr val="dk2"/>
            </a:solidFill>
            <a:prstDash val="solid"/>
            <a:round/>
            <a:headEnd len="med" w="med" type="none"/>
            <a:tailEnd len="med" w="med" type="triangle"/>
          </a:ln>
        </p:spPr>
      </p:cxnSp>
      <p:cxnSp>
        <p:nvCxnSpPr>
          <p:cNvPr id="965" name="Google Shape;965;p105"/>
          <p:cNvCxnSpPr>
            <a:stCxn id="951" idx="6"/>
            <a:endCxn id="953" idx="1"/>
          </p:cNvCxnSpPr>
          <p:nvPr/>
        </p:nvCxnSpPr>
        <p:spPr>
          <a:xfrm>
            <a:off x="6103275" y="1006250"/>
            <a:ext cx="986400" cy="1042200"/>
          </a:xfrm>
          <a:prstGeom prst="straightConnector1">
            <a:avLst/>
          </a:prstGeom>
          <a:noFill/>
          <a:ln cap="flat" cmpd="sng" w="9525">
            <a:solidFill>
              <a:schemeClr val="dk2"/>
            </a:solidFill>
            <a:prstDash val="solid"/>
            <a:round/>
            <a:headEnd len="med" w="med" type="none"/>
            <a:tailEnd len="med" w="med" type="triangle"/>
          </a:ln>
        </p:spPr>
      </p:cxnSp>
      <p:cxnSp>
        <p:nvCxnSpPr>
          <p:cNvPr id="966" name="Google Shape;966;p105"/>
          <p:cNvCxnSpPr>
            <a:endCxn id="953" idx="2"/>
          </p:cNvCxnSpPr>
          <p:nvPr/>
        </p:nvCxnSpPr>
        <p:spPr>
          <a:xfrm flipH="1" rot="10800000">
            <a:off x="6143075" y="2265150"/>
            <a:ext cx="852900" cy="76500"/>
          </a:xfrm>
          <a:prstGeom prst="straightConnector1">
            <a:avLst/>
          </a:prstGeom>
          <a:noFill/>
          <a:ln cap="flat" cmpd="sng" w="9525">
            <a:solidFill>
              <a:schemeClr val="dk2"/>
            </a:solidFill>
            <a:prstDash val="solid"/>
            <a:round/>
            <a:headEnd len="med" w="med" type="none"/>
            <a:tailEnd len="med" w="med" type="triangle"/>
          </a:ln>
        </p:spPr>
      </p:cxnSp>
      <p:cxnSp>
        <p:nvCxnSpPr>
          <p:cNvPr id="967" name="Google Shape;967;p105"/>
          <p:cNvCxnSpPr>
            <a:stCxn id="952" idx="6"/>
            <a:endCxn id="953" idx="3"/>
          </p:cNvCxnSpPr>
          <p:nvPr/>
        </p:nvCxnSpPr>
        <p:spPr>
          <a:xfrm flipH="1" rot="10800000">
            <a:off x="6103275" y="2481950"/>
            <a:ext cx="986400" cy="944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06"/>
          <p:cNvSpPr txBox="1"/>
          <p:nvPr>
            <p:ph type="title"/>
          </p:nvPr>
        </p:nvSpPr>
        <p:spPr>
          <a:xfrm>
            <a:off x="311700" y="8645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Ejemplos</a:t>
            </a:r>
            <a:endParaRPr/>
          </a:p>
        </p:txBody>
      </p:sp>
      <p:sp>
        <p:nvSpPr>
          <p:cNvPr id="973" name="Google Shape;973;p106"/>
          <p:cNvSpPr/>
          <p:nvPr/>
        </p:nvSpPr>
        <p:spPr>
          <a:xfrm>
            <a:off x="1097850" y="18931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4" name="Google Shape;974;p106"/>
          <p:cNvSpPr/>
          <p:nvPr/>
        </p:nvSpPr>
        <p:spPr>
          <a:xfrm>
            <a:off x="2435975" y="17284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5" name="Google Shape;975;p106"/>
          <p:cNvSpPr/>
          <p:nvPr/>
        </p:nvSpPr>
        <p:spPr>
          <a:xfrm>
            <a:off x="2529650" y="75247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6" name="Google Shape;976;p106"/>
          <p:cNvSpPr/>
          <p:nvPr/>
        </p:nvSpPr>
        <p:spPr>
          <a:xfrm>
            <a:off x="2529650" y="272020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7" name="Google Shape;977;p106"/>
          <p:cNvSpPr/>
          <p:nvPr/>
        </p:nvSpPr>
        <p:spPr>
          <a:xfrm>
            <a:off x="4252200" y="18931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8" name="Google Shape;978;p106"/>
          <p:cNvSpPr/>
          <p:nvPr/>
        </p:nvSpPr>
        <p:spPr>
          <a:xfrm>
            <a:off x="4252200" y="6996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9" name="Google Shape;979;p106"/>
          <p:cNvSpPr/>
          <p:nvPr/>
        </p:nvSpPr>
        <p:spPr>
          <a:xfrm>
            <a:off x="4252200" y="29440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80" name="Google Shape;980;p106"/>
          <p:cNvSpPr/>
          <p:nvPr/>
        </p:nvSpPr>
        <p:spPr>
          <a:xfrm>
            <a:off x="4252200" y="39949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81" name="Google Shape;981;p106"/>
          <p:cNvSpPr/>
          <p:nvPr/>
        </p:nvSpPr>
        <p:spPr>
          <a:xfrm>
            <a:off x="5463675" y="6996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82" name="Google Shape;982;p106"/>
          <p:cNvSpPr/>
          <p:nvPr/>
        </p:nvSpPr>
        <p:spPr>
          <a:xfrm>
            <a:off x="5463675" y="31197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83" name="Google Shape;983;p106"/>
          <p:cNvSpPr/>
          <p:nvPr/>
        </p:nvSpPr>
        <p:spPr>
          <a:xfrm>
            <a:off x="6995975" y="19585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cxnSp>
        <p:nvCxnSpPr>
          <p:cNvPr id="984" name="Google Shape;984;p106"/>
          <p:cNvCxnSpPr>
            <a:stCxn id="973" idx="7"/>
            <a:endCxn id="975" idx="2"/>
          </p:cNvCxnSpPr>
          <p:nvPr/>
        </p:nvCxnSpPr>
        <p:spPr>
          <a:xfrm flipH="1" rot="10800000">
            <a:off x="1643783" y="1058926"/>
            <a:ext cx="885900" cy="924000"/>
          </a:xfrm>
          <a:prstGeom prst="straightConnector1">
            <a:avLst/>
          </a:prstGeom>
          <a:noFill/>
          <a:ln cap="flat" cmpd="sng" w="9525">
            <a:solidFill>
              <a:schemeClr val="dk2"/>
            </a:solidFill>
            <a:prstDash val="solid"/>
            <a:round/>
            <a:headEnd len="med" w="med" type="none"/>
            <a:tailEnd len="med" w="med" type="triangle"/>
          </a:ln>
        </p:spPr>
      </p:cxnSp>
      <p:cxnSp>
        <p:nvCxnSpPr>
          <p:cNvPr id="985" name="Google Shape;985;p106"/>
          <p:cNvCxnSpPr>
            <a:stCxn id="973" idx="5"/>
            <a:endCxn id="976" idx="2"/>
          </p:cNvCxnSpPr>
          <p:nvPr/>
        </p:nvCxnSpPr>
        <p:spPr>
          <a:xfrm>
            <a:off x="1643783" y="2416524"/>
            <a:ext cx="885900" cy="610200"/>
          </a:xfrm>
          <a:prstGeom prst="straightConnector1">
            <a:avLst/>
          </a:prstGeom>
          <a:noFill/>
          <a:ln cap="flat" cmpd="sng" w="9525">
            <a:solidFill>
              <a:schemeClr val="dk2"/>
            </a:solidFill>
            <a:prstDash val="solid"/>
            <a:round/>
            <a:headEnd len="med" w="med" type="none"/>
            <a:tailEnd len="med" w="med" type="triangle"/>
          </a:ln>
        </p:spPr>
      </p:cxnSp>
      <p:cxnSp>
        <p:nvCxnSpPr>
          <p:cNvPr id="986" name="Google Shape;986;p106"/>
          <p:cNvCxnSpPr>
            <a:stCxn id="975" idx="7"/>
            <a:endCxn id="978" idx="2"/>
          </p:cNvCxnSpPr>
          <p:nvPr/>
        </p:nvCxnSpPr>
        <p:spPr>
          <a:xfrm>
            <a:off x="3075583" y="842276"/>
            <a:ext cx="1176600" cy="164100"/>
          </a:xfrm>
          <a:prstGeom prst="straightConnector1">
            <a:avLst/>
          </a:prstGeom>
          <a:noFill/>
          <a:ln cap="flat" cmpd="sng" w="9525">
            <a:solidFill>
              <a:schemeClr val="dk2"/>
            </a:solidFill>
            <a:prstDash val="solid"/>
            <a:round/>
            <a:headEnd len="med" w="med" type="none"/>
            <a:tailEnd len="med" w="med" type="triangle"/>
          </a:ln>
        </p:spPr>
      </p:cxnSp>
      <p:cxnSp>
        <p:nvCxnSpPr>
          <p:cNvPr id="987" name="Google Shape;987;p106"/>
          <p:cNvCxnSpPr>
            <a:stCxn id="975" idx="6"/>
            <a:endCxn id="977" idx="2"/>
          </p:cNvCxnSpPr>
          <p:nvPr/>
        </p:nvCxnSpPr>
        <p:spPr>
          <a:xfrm>
            <a:off x="3169250" y="1059075"/>
            <a:ext cx="1083000" cy="1140600"/>
          </a:xfrm>
          <a:prstGeom prst="straightConnector1">
            <a:avLst/>
          </a:prstGeom>
          <a:noFill/>
          <a:ln cap="flat" cmpd="sng" w="9525">
            <a:solidFill>
              <a:schemeClr val="dk2"/>
            </a:solidFill>
            <a:prstDash val="solid"/>
            <a:round/>
            <a:headEnd len="med" w="med" type="none"/>
            <a:tailEnd len="med" w="med" type="triangle"/>
          </a:ln>
        </p:spPr>
      </p:cxnSp>
      <p:cxnSp>
        <p:nvCxnSpPr>
          <p:cNvPr id="988" name="Google Shape;988;p106"/>
          <p:cNvCxnSpPr>
            <a:stCxn id="976" idx="6"/>
            <a:endCxn id="977" idx="2"/>
          </p:cNvCxnSpPr>
          <p:nvPr/>
        </p:nvCxnSpPr>
        <p:spPr>
          <a:xfrm flipH="1" rot="10800000">
            <a:off x="3169250" y="2199700"/>
            <a:ext cx="1083000" cy="827100"/>
          </a:xfrm>
          <a:prstGeom prst="straightConnector1">
            <a:avLst/>
          </a:prstGeom>
          <a:noFill/>
          <a:ln cap="flat" cmpd="sng" w="9525">
            <a:solidFill>
              <a:schemeClr val="dk2"/>
            </a:solidFill>
            <a:prstDash val="solid"/>
            <a:round/>
            <a:headEnd len="med" w="med" type="none"/>
            <a:tailEnd len="med" w="med" type="triangle"/>
          </a:ln>
        </p:spPr>
      </p:cxnSp>
      <p:cxnSp>
        <p:nvCxnSpPr>
          <p:cNvPr id="989" name="Google Shape;989;p106"/>
          <p:cNvCxnSpPr>
            <a:stCxn id="976" idx="5"/>
            <a:endCxn id="979" idx="2"/>
          </p:cNvCxnSpPr>
          <p:nvPr/>
        </p:nvCxnSpPr>
        <p:spPr>
          <a:xfrm>
            <a:off x="3075583" y="3243599"/>
            <a:ext cx="1176600" cy="6900"/>
          </a:xfrm>
          <a:prstGeom prst="straightConnector1">
            <a:avLst/>
          </a:prstGeom>
          <a:noFill/>
          <a:ln cap="flat" cmpd="sng" w="9525">
            <a:solidFill>
              <a:schemeClr val="dk2"/>
            </a:solidFill>
            <a:prstDash val="solid"/>
            <a:round/>
            <a:headEnd len="med" w="med" type="none"/>
            <a:tailEnd len="med" w="med" type="triangle"/>
          </a:ln>
        </p:spPr>
      </p:cxnSp>
      <p:cxnSp>
        <p:nvCxnSpPr>
          <p:cNvPr id="990" name="Google Shape;990;p106"/>
          <p:cNvCxnSpPr>
            <a:stCxn id="976" idx="5"/>
            <a:endCxn id="980" idx="2"/>
          </p:cNvCxnSpPr>
          <p:nvPr/>
        </p:nvCxnSpPr>
        <p:spPr>
          <a:xfrm>
            <a:off x="3075583" y="3243599"/>
            <a:ext cx="1176600" cy="1057800"/>
          </a:xfrm>
          <a:prstGeom prst="straightConnector1">
            <a:avLst/>
          </a:prstGeom>
          <a:noFill/>
          <a:ln cap="flat" cmpd="sng" w="9525">
            <a:solidFill>
              <a:schemeClr val="dk2"/>
            </a:solidFill>
            <a:prstDash val="solid"/>
            <a:round/>
            <a:headEnd len="med" w="med" type="none"/>
            <a:tailEnd len="med" w="med" type="triangle"/>
          </a:ln>
        </p:spPr>
      </p:cxnSp>
      <p:cxnSp>
        <p:nvCxnSpPr>
          <p:cNvPr id="991" name="Google Shape;991;p106"/>
          <p:cNvCxnSpPr>
            <a:stCxn id="978" idx="6"/>
            <a:endCxn id="981" idx="2"/>
          </p:cNvCxnSpPr>
          <p:nvPr/>
        </p:nvCxnSpPr>
        <p:spPr>
          <a:xfrm>
            <a:off x="4891800" y="1006250"/>
            <a:ext cx="571800" cy="0"/>
          </a:xfrm>
          <a:prstGeom prst="straightConnector1">
            <a:avLst/>
          </a:prstGeom>
          <a:noFill/>
          <a:ln cap="flat" cmpd="sng" w="9525">
            <a:solidFill>
              <a:schemeClr val="dk2"/>
            </a:solidFill>
            <a:prstDash val="solid"/>
            <a:round/>
            <a:headEnd len="med" w="med" type="none"/>
            <a:tailEnd len="med" w="med" type="triangle"/>
          </a:ln>
        </p:spPr>
      </p:cxnSp>
      <p:cxnSp>
        <p:nvCxnSpPr>
          <p:cNvPr id="992" name="Google Shape;992;p106"/>
          <p:cNvCxnSpPr>
            <a:stCxn id="979" idx="6"/>
            <a:endCxn id="982" idx="2"/>
          </p:cNvCxnSpPr>
          <p:nvPr/>
        </p:nvCxnSpPr>
        <p:spPr>
          <a:xfrm>
            <a:off x="4891800" y="3250625"/>
            <a:ext cx="571800" cy="175800"/>
          </a:xfrm>
          <a:prstGeom prst="straightConnector1">
            <a:avLst/>
          </a:prstGeom>
          <a:noFill/>
          <a:ln cap="flat" cmpd="sng" w="9525">
            <a:solidFill>
              <a:schemeClr val="dk2"/>
            </a:solidFill>
            <a:prstDash val="solid"/>
            <a:round/>
            <a:headEnd len="med" w="med" type="none"/>
            <a:tailEnd len="med" w="med" type="triangle"/>
          </a:ln>
        </p:spPr>
      </p:cxnSp>
      <p:cxnSp>
        <p:nvCxnSpPr>
          <p:cNvPr id="993" name="Google Shape;993;p106"/>
          <p:cNvCxnSpPr>
            <a:stCxn id="980" idx="6"/>
            <a:endCxn id="982" idx="3"/>
          </p:cNvCxnSpPr>
          <p:nvPr/>
        </p:nvCxnSpPr>
        <p:spPr>
          <a:xfrm flipH="1" rot="10800000">
            <a:off x="4891800" y="3643025"/>
            <a:ext cx="665400" cy="658500"/>
          </a:xfrm>
          <a:prstGeom prst="straightConnector1">
            <a:avLst/>
          </a:prstGeom>
          <a:noFill/>
          <a:ln cap="flat" cmpd="sng" w="9525">
            <a:solidFill>
              <a:schemeClr val="dk2"/>
            </a:solidFill>
            <a:prstDash val="solid"/>
            <a:round/>
            <a:headEnd len="med" w="med" type="none"/>
            <a:tailEnd len="med" w="med" type="triangle"/>
          </a:ln>
        </p:spPr>
      </p:cxnSp>
      <p:cxnSp>
        <p:nvCxnSpPr>
          <p:cNvPr id="994" name="Google Shape;994;p106"/>
          <p:cNvCxnSpPr>
            <a:stCxn id="981" idx="6"/>
            <a:endCxn id="983" idx="1"/>
          </p:cNvCxnSpPr>
          <p:nvPr/>
        </p:nvCxnSpPr>
        <p:spPr>
          <a:xfrm>
            <a:off x="6103275" y="1006250"/>
            <a:ext cx="986400" cy="1042200"/>
          </a:xfrm>
          <a:prstGeom prst="straightConnector1">
            <a:avLst/>
          </a:prstGeom>
          <a:noFill/>
          <a:ln cap="flat" cmpd="sng" w="9525">
            <a:solidFill>
              <a:schemeClr val="dk2"/>
            </a:solidFill>
            <a:prstDash val="solid"/>
            <a:round/>
            <a:headEnd len="med" w="med" type="none"/>
            <a:tailEnd len="med" w="med" type="triangle"/>
          </a:ln>
        </p:spPr>
      </p:cxnSp>
      <p:cxnSp>
        <p:nvCxnSpPr>
          <p:cNvPr id="995" name="Google Shape;995;p106"/>
          <p:cNvCxnSpPr>
            <a:stCxn id="982" idx="6"/>
            <a:endCxn id="983" idx="3"/>
          </p:cNvCxnSpPr>
          <p:nvPr/>
        </p:nvCxnSpPr>
        <p:spPr>
          <a:xfrm flipH="1" rot="10800000">
            <a:off x="6103275" y="2481950"/>
            <a:ext cx="986400" cy="944400"/>
          </a:xfrm>
          <a:prstGeom prst="straightConnector1">
            <a:avLst/>
          </a:prstGeom>
          <a:noFill/>
          <a:ln cap="flat" cmpd="sng" w="9525">
            <a:solidFill>
              <a:schemeClr val="dk2"/>
            </a:solidFill>
            <a:prstDash val="solid"/>
            <a:round/>
            <a:headEnd len="med" w="med" type="none"/>
            <a:tailEnd len="med" w="med" type="triangle"/>
          </a:ln>
        </p:spPr>
      </p:cxnSp>
      <p:cxnSp>
        <p:nvCxnSpPr>
          <p:cNvPr id="996" name="Google Shape;996;p106"/>
          <p:cNvCxnSpPr>
            <a:stCxn id="973" idx="6"/>
            <a:endCxn id="974" idx="2"/>
          </p:cNvCxnSpPr>
          <p:nvPr/>
        </p:nvCxnSpPr>
        <p:spPr>
          <a:xfrm flipH="1" rot="10800000">
            <a:off x="1737450" y="2035025"/>
            <a:ext cx="698400" cy="164700"/>
          </a:xfrm>
          <a:prstGeom prst="straightConnector1">
            <a:avLst/>
          </a:prstGeom>
          <a:noFill/>
          <a:ln cap="flat" cmpd="sng" w="9525">
            <a:solidFill>
              <a:schemeClr val="dk2"/>
            </a:solidFill>
            <a:prstDash val="solid"/>
            <a:round/>
            <a:headEnd len="med" w="med" type="none"/>
            <a:tailEnd len="med" w="med" type="triangle"/>
          </a:ln>
        </p:spPr>
      </p:cxnSp>
      <p:cxnSp>
        <p:nvCxnSpPr>
          <p:cNvPr id="997" name="Google Shape;997;p106"/>
          <p:cNvCxnSpPr>
            <a:stCxn id="974" idx="6"/>
            <a:endCxn id="977" idx="2"/>
          </p:cNvCxnSpPr>
          <p:nvPr/>
        </p:nvCxnSpPr>
        <p:spPr>
          <a:xfrm>
            <a:off x="3075575" y="2035025"/>
            <a:ext cx="1176600" cy="164700"/>
          </a:xfrm>
          <a:prstGeom prst="straightConnector1">
            <a:avLst/>
          </a:prstGeom>
          <a:noFill/>
          <a:ln cap="flat" cmpd="sng" w="9525">
            <a:solidFill>
              <a:schemeClr val="dk2"/>
            </a:solidFill>
            <a:prstDash val="solid"/>
            <a:round/>
            <a:headEnd len="med" w="med" type="none"/>
            <a:tailEnd len="med" w="med" type="triangle"/>
          </a:ln>
        </p:spPr>
      </p:cxnSp>
      <p:cxnSp>
        <p:nvCxnSpPr>
          <p:cNvPr id="998" name="Google Shape;998;p106"/>
          <p:cNvCxnSpPr>
            <a:stCxn id="977" idx="6"/>
            <a:endCxn id="981" idx="3"/>
          </p:cNvCxnSpPr>
          <p:nvPr/>
        </p:nvCxnSpPr>
        <p:spPr>
          <a:xfrm flipH="1" rot="10800000">
            <a:off x="4891800" y="1222925"/>
            <a:ext cx="665400" cy="976800"/>
          </a:xfrm>
          <a:prstGeom prst="straightConnector1">
            <a:avLst/>
          </a:prstGeom>
          <a:noFill/>
          <a:ln cap="flat" cmpd="sng" w="9525">
            <a:solidFill>
              <a:schemeClr val="dk2"/>
            </a:solidFill>
            <a:prstDash val="solid"/>
            <a:round/>
            <a:headEnd len="med" w="med" type="none"/>
            <a:tailEnd len="med" w="med" type="triangle"/>
          </a:ln>
        </p:spPr>
      </p:cxnSp>
      <p:cxnSp>
        <p:nvCxnSpPr>
          <p:cNvPr id="999" name="Google Shape;999;p106"/>
          <p:cNvCxnSpPr>
            <a:stCxn id="977" idx="6"/>
            <a:endCxn id="982" idx="1"/>
          </p:cNvCxnSpPr>
          <p:nvPr/>
        </p:nvCxnSpPr>
        <p:spPr>
          <a:xfrm>
            <a:off x="4891800" y="2199725"/>
            <a:ext cx="665400" cy="1009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0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Ejemplos</a:t>
            </a:r>
            <a:endParaRPr/>
          </a:p>
        </p:txBody>
      </p:sp>
      <p:sp>
        <p:nvSpPr>
          <p:cNvPr id="1005" name="Google Shape;1005;p107"/>
          <p:cNvSpPr/>
          <p:nvPr/>
        </p:nvSpPr>
        <p:spPr>
          <a:xfrm>
            <a:off x="1097850" y="18931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006" name="Google Shape;1006;p107"/>
          <p:cNvSpPr/>
          <p:nvPr/>
        </p:nvSpPr>
        <p:spPr>
          <a:xfrm>
            <a:off x="2435975" y="17284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007" name="Google Shape;1007;p107"/>
          <p:cNvSpPr/>
          <p:nvPr/>
        </p:nvSpPr>
        <p:spPr>
          <a:xfrm>
            <a:off x="2529650" y="75247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008" name="Google Shape;1008;p107"/>
          <p:cNvSpPr/>
          <p:nvPr/>
        </p:nvSpPr>
        <p:spPr>
          <a:xfrm>
            <a:off x="2529650" y="272020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009" name="Google Shape;1009;p107"/>
          <p:cNvSpPr/>
          <p:nvPr/>
        </p:nvSpPr>
        <p:spPr>
          <a:xfrm>
            <a:off x="4252200" y="18931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010" name="Google Shape;1010;p107"/>
          <p:cNvSpPr/>
          <p:nvPr/>
        </p:nvSpPr>
        <p:spPr>
          <a:xfrm>
            <a:off x="5463675" y="6996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011" name="Google Shape;1011;p107"/>
          <p:cNvSpPr/>
          <p:nvPr/>
        </p:nvSpPr>
        <p:spPr>
          <a:xfrm>
            <a:off x="5463675" y="31197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012" name="Google Shape;1012;p107"/>
          <p:cNvSpPr/>
          <p:nvPr/>
        </p:nvSpPr>
        <p:spPr>
          <a:xfrm>
            <a:off x="6995975" y="195855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cxnSp>
        <p:nvCxnSpPr>
          <p:cNvPr id="1013" name="Google Shape;1013;p107"/>
          <p:cNvCxnSpPr>
            <a:stCxn id="1005" idx="7"/>
            <a:endCxn id="1007" idx="2"/>
          </p:cNvCxnSpPr>
          <p:nvPr/>
        </p:nvCxnSpPr>
        <p:spPr>
          <a:xfrm flipH="1" rot="10800000">
            <a:off x="1643783" y="1058926"/>
            <a:ext cx="885900" cy="924000"/>
          </a:xfrm>
          <a:prstGeom prst="straightConnector1">
            <a:avLst/>
          </a:prstGeom>
          <a:noFill/>
          <a:ln cap="flat" cmpd="sng" w="9525">
            <a:solidFill>
              <a:schemeClr val="dk2"/>
            </a:solidFill>
            <a:prstDash val="solid"/>
            <a:round/>
            <a:headEnd len="med" w="med" type="none"/>
            <a:tailEnd len="med" w="med" type="triangle"/>
          </a:ln>
        </p:spPr>
      </p:cxnSp>
      <p:cxnSp>
        <p:nvCxnSpPr>
          <p:cNvPr id="1014" name="Google Shape;1014;p107"/>
          <p:cNvCxnSpPr>
            <a:stCxn id="1005" idx="5"/>
            <a:endCxn id="1008" idx="2"/>
          </p:cNvCxnSpPr>
          <p:nvPr/>
        </p:nvCxnSpPr>
        <p:spPr>
          <a:xfrm>
            <a:off x="1643783" y="2416524"/>
            <a:ext cx="885900" cy="610200"/>
          </a:xfrm>
          <a:prstGeom prst="straightConnector1">
            <a:avLst/>
          </a:prstGeom>
          <a:noFill/>
          <a:ln cap="flat" cmpd="sng" w="9525">
            <a:solidFill>
              <a:schemeClr val="dk2"/>
            </a:solidFill>
            <a:prstDash val="solid"/>
            <a:round/>
            <a:headEnd len="med" w="med" type="none"/>
            <a:tailEnd len="med" w="med" type="triangle"/>
          </a:ln>
        </p:spPr>
      </p:cxnSp>
      <p:cxnSp>
        <p:nvCxnSpPr>
          <p:cNvPr id="1015" name="Google Shape;1015;p107"/>
          <p:cNvCxnSpPr>
            <a:stCxn id="1007" idx="6"/>
            <a:endCxn id="1009" idx="2"/>
          </p:cNvCxnSpPr>
          <p:nvPr/>
        </p:nvCxnSpPr>
        <p:spPr>
          <a:xfrm>
            <a:off x="3169250" y="1059075"/>
            <a:ext cx="1083000" cy="1140600"/>
          </a:xfrm>
          <a:prstGeom prst="straightConnector1">
            <a:avLst/>
          </a:prstGeom>
          <a:noFill/>
          <a:ln cap="flat" cmpd="sng" w="9525">
            <a:solidFill>
              <a:schemeClr val="dk2"/>
            </a:solidFill>
            <a:prstDash val="solid"/>
            <a:round/>
            <a:headEnd len="med" w="med" type="none"/>
            <a:tailEnd len="med" w="med" type="triangle"/>
          </a:ln>
        </p:spPr>
      </p:cxnSp>
      <p:cxnSp>
        <p:nvCxnSpPr>
          <p:cNvPr id="1016" name="Google Shape;1016;p107"/>
          <p:cNvCxnSpPr>
            <a:stCxn id="1008" idx="6"/>
            <a:endCxn id="1009" idx="2"/>
          </p:cNvCxnSpPr>
          <p:nvPr/>
        </p:nvCxnSpPr>
        <p:spPr>
          <a:xfrm flipH="1" rot="10800000">
            <a:off x="3169250" y="2199700"/>
            <a:ext cx="1083000" cy="827100"/>
          </a:xfrm>
          <a:prstGeom prst="straightConnector1">
            <a:avLst/>
          </a:prstGeom>
          <a:noFill/>
          <a:ln cap="flat" cmpd="sng" w="9525">
            <a:solidFill>
              <a:schemeClr val="dk2"/>
            </a:solidFill>
            <a:prstDash val="solid"/>
            <a:round/>
            <a:headEnd len="med" w="med" type="none"/>
            <a:tailEnd len="med" w="med" type="triangle"/>
          </a:ln>
        </p:spPr>
      </p:cxnSp>
      <p:cxnSp>
        <p:nvCxnSpPr>
          <p:cNvPr id="1017" name="Google Shape;1017;p107"/>
          <p:cNvCxnSpPr>
            <a:stCxn id="1010" idx="6"/>
            <a:endCxn id="1012" idx="1"/>
          </p:cNvCxnSpPr>
          <p:nvPr/>
        </p:nvCxnSpPr>
        <p:spPr>
          <a:xfrm>
            <a:off x="6103275" y="1006250"/>
            <a:ext cx="986400" cy="1042200"/>
          </a:xfrm>
          <a:prstGeom prst="straightConnector1">
            <a:avLst/>
          </a:prstGeom>
          <a:noFill/>
          <a:ln cap="flat" cmpd="sng" w="9525">
            <a:solidFill>
              <a:schemeClr val="dk2"/>
            </a:solidFill>
            <a:prstDash val="solid"/>
            <a:round/>
            <a:headEnd len="med" w="med" type="none"/>
            <a:tailEnd len="med" w="med" type="triangle"/>
          </a:ln>
        </p:spPr>
      </p:cxnSp>
      <p:cxnSp>
        <p:nvCxnSpPr>
          <p:cNvPr id="1018" name="Google Shape;1018;p107"/>
          <p:cNvCxnSpPr>
            <a:stCxn id="1011" idx="6"/>
            <a:endCxn id="1012" idx="3"/>
          </p:cNvCxnSpPr>
          <p:nvPr/>
        </p:nvCxnSpPr>
        <p:spPr>
          <a:xfrm flipH="1" rot="10800000">
            <a:off x="6103275" y="2481950"/>
            <a:ext cx="986400" cy="944400"/>
          </a:xfrm>
          <a:prstGeom prst="straightConnector1">
            <a:avLst/>
          </a:prstGeom>
          <a:noFill/>
          <a:ln cap="flat" cmpd="sng" w="9525">
            <a:solidFill>
              <a:schemeClr val="dk2"/>
            </a:solidFill>
            <a:prstDash val="solid"/>
            <a:round/>
            <a:headEnd len="med" w="med" type="none"/>
            <a:tailEnd len="med" w="med" type="triangle"/>
          </a:ln>
        </p:spPr>
      </p:cxnSp>
      <p:cxnSp>
        <p:nvCxnSpPr>
          <p:cNvPr id="1019" name="Google Shape;1019;p107"/>
          <p:cNvCxnSpPr>
            <a:stCxn id="1005" idx="6"/>
            <a:endCxn id="1006" idx="2"/>
          </p:cNvCxnSpPr>
          <p:nvPr/>
        </p:nvCxnSpPr>
        <p:spPr>
          <a:xfrm flipH="1" rot="10800000">
            <a:off x="1737450" y="2035025"/>
            <a:ext cx="698400" cy="164700"/>
          </a:xfrm>
          <a:prstGeom prst="straightConnector1">
            <a:avLst/>
          </a:prstGeom>
          <a:noFill/>
          <a:ln cap="flat" cmpd="sng" w="9525">
            <a:solidFill>
              <a:schemeClr val="dk2"/>
            </a:solidFill>
            <a:prstDash val="solid"/>
            <a:round/>
            <a:headEnd len="med" w="med" type="none"/>
            <a:tailEnd len="med" w="med" type="triangle"/>
          </a:ln>
        </p:spPr>
      </p:cxnSp>
      <p:cxnSp>
        <p:nvCxnSpPr>
          <p:cNvPr id="1020" name="Google Shape;1020;p107"/>
          <p:cNvCxnSpPr>
            <a:stCxn id="1006" idx="6"/>
            <a:endCxn id="1009" idx="2"/>
          </p:cNvCxnSpPr>
          <p:nvPr/>
        </p:nvCxnSpPr>
        <p:spPr>
          <a:xfrm>
            <a:off x="3075575" y="2035025"/>
            <a:ext cx="1176600" cy="164700"/>
          </a:xfrm>
          <a:prstGeom prst="straightConnector1">
            <a:avLst/>
          </a:prstGeom>
          <a:noFill/>
          <a:ln cap="flat" cmpd="sng" w="9525">
            <a:solidFill>
              <a:schemeClr val="dk2"/>
            </a:solidFill>
            <a:prstDash val="solid"/>
            <a:round/>
            <a:headEnd len="med" w="med" type="none"/>
            <a:tailEnd len="med" w="med" type="triangle"/>
          </a:ln>
        </p:spPr>
      </p:cxnSp>
      <p:cxnSp>
        <p:nvCxnSpPr>
          <p:cNvPr id="1021" name="Google Shape;1021;p107"/>
          <p:cNvCxnSpPr>
            <a:stCxn id="1009" idx="6"/>
            <a:endCxn id="1010" idx="3"/>
          </p:cNvCxnSpPr>
          <p:nvPr/>
        </p:nvCxnSpPr>
        <p:spPr>
          <a:xfrm flipH="1" rot="10800000">
            <a:off x="4891800" y="1222925"/>
            <a:ext cx="665400" cy="976800"/>
          </a:xfrm>
          <a:prstGeom prst="straightConnector1">
            <a:avLst/>
          </a:prstGeom>
          <a:noFill/>
          <a:ln cap="flat" cmpd="sng" w="9525">
            <a:solidFill>
              <a:schemeClr val="dk2"/>
            </a:solidFill>
            <a:prstDash val="solid"/>
            <a:round/>
            <a:headEnd len="med" w="med" type="none"/>
            <a:tailEnd len="med" w="med" type="triangle"/>
          </a:ln>
        </p:spPr>
      </p:cxnSp>
      <p:cxnSp>
        <p:nvCxnSpPr>
          <p:cNvPr id="1022" name="Google Shape;1022;p107"/>
          <p:cNvCxnSpPr>
            <a:stCxn id="1009" idx="6"/>
            <a:endCxn id="1011" idx="1"/>
          </p:cNvCxnSpPr>
          <p:nvPr/>
        </p:nvCxnSpPr>
        <p:spPr>
          <a:xfrm>
            <a:off x="4891800" y="2199725"/>
            <a:ext cx="665400" cy="1009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0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Transformación</a:t>
            </a:r>
            <a:endParaRPr/>
          </a:p>
        </p:txBody>
      </p:sp>
      <p:sp>
        <p:nvSpPr>
          <p:cNvPr id="1028" name="Google Shape;1028;p10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Dado la red original: </a:t>
            </a:r>
            <a:endParaRPr/>
          </a:p>
          <a:p>
            <a:pPr indent="-342900" lvl="0" marL="457200" rtl="0" algn="l">
              <a:spcBef>
                <a:spcPts val="1600"/>
              </a:spcBef>
              <a:spcAft>
                <a:spcPts val="0"/>
              </a:spcAft>
              <a:buSzPts val="1800"/>
              <a:buChar char="●"/>
            </a:pPr>
            <a:r>
              <a:rPr lang="es"/>
              <a:t>Para cada vértice intermedio (no fuente ni sumidero) transformar en 2 (entrada y salida). Arista de entrada a salida, peso 1</a:t>
            </a:r>
            <a:endParaRPr/>
          </a:p>
          <a:p>
            <a:pPr indent="-342900" lvl="0" marL="457200" rtl="0" algn="l">
              <a:spcBef>
                <a:spcPts val="0"/>
              </a:spcBef>
              <a:spcAft>
                <a:spcPts val="0"/>
              </a:spcAft>
              <a:buSzPts val="1800"/>
              <a:buChar char="●"/>
            </a:pPr>
            <a:r>
              <a:rPr lang="es"/>
              <a:t>Aristas originales → de la salida del original a la entrada del original con peso "infinito".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09"/>
          <p:cNvSpPr txBox="1"/>
          <p:nvPr>
            <p:ph type="title"/>
          </p:nvPr>
        </p:nvSpPr>
        <p:spPr>
          <a:xfrm>
            <a:off x="311700" y="21443"/>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1034" name="Google Shape;1034;p109"/>
          <p:cNvSpPr/>
          <p:nvPr/>
        </p:nvSpPr>
        <p:spPr>
          <a:xfrm>
            <a:off x="1478850" y="26355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S</a:t>
            </a:r>
            <a:endParaRPr>
              <a:latin typeface="Old Standard TT"/>
              <a:ea typeface="Old Standard TT"/>
              <a:cs typeface="Old Standard TT"/>
              <a:sym typeface="Old Standard TT"/>
            </a:endParaRPr>
          </a:p>
        </p:txBody>
      </p:sp>
      <p:sp>
        <p:nvSpPr>
          <p:cNvPr id="1035" name="Google Shape;1035;p109"/>
          <p:cNvSpPr/>
          <p:nvPr/>
        </p:nvSpPr>
        <p:spPr>
          <a:xfrm>
            <a:off x="2816975" y="24708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V2</a:t>
            </a:r>
            <a:endParaRPr>
              <a:latin typeface="Old Standard TT"/>
              <a:ea typeface="Old Standard TT"/>
              <a:cs typeface="Old Standard TT"/>
              <a:sym typeface="Old Standard TT"/>
            </a:endParaRPr>
          </a:p>
        </p:txBody>
      </p:sp>
      <p:sp>
        <p:nvSpPr>
          <p:cNvPr id="1036" name="Google Shape;1036;p109"/>
          <p:cNvSpPr/>
          <p:nvPr/>
        </p:nvSpPr>
        <p:spPr>
          <a:xfrm>
            <a:off x="2910650" y="149494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V1</a:t>
            </a:r>
            <a:endParaRPr>
              <a:latin typeface="Old Standard TT"/>
              <a:ea typeface="Old Standard TT"/>
              <a:cs typeface="Old Standard TT"/>
              <a:sym typeface="Old Standard TT"/>
            </a:endParaRPr>
          </a:p>
        </p:txBody>
      </p:sp>
      <p:sp>
        <p:nvSpPr>
          <p:cNvPr id="1037" name="Google Shape;1037;p109"/>
          <p:cNvSpPr/>
          <p:nvPr/>
        </p:nvSpPr>
        <p:spPr>
          <a:xfrm>
            <a:off x="2910650" y="346267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V3</a:t>
            </a:r>
            <a:endParaRPr>
              <a:latin typeface="Old Standard TT"/>
              <a:ea typeface="Old Standard TT"/>
              <a:cs typeface="Old Standard TT"/>
              <a:sym typeface="Old Standard TT"/>
            </a:endParaRPr>
          </a:p>
        </p:txBody>
      </p:sp>
      <p:sp>
        <p:nvSpPr>
          <p:cNvPr id="1038" name="Google Shape;1038;p109"/>
          <p:cNvSpPr/>
          <p:nvPr/>
        </p:nvSpPr>
        <p:spPr>
          <a:xfrm>
            <a:off x="4633200" y="26355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V5</a:t>
            </a:r>
            <a:endParaRPr>
              <a:latin typeface="Old Standard TT"/>
              <a:ea typeface="Old Standard TT"/>
              <a:cs typeface="Old Standard TT"/>
              <a:sym typeface="Old Standard TT"/>
            </a:endParaRPr>
          </a:p>
        </p:txBody>
      </p:sp>
      <p:sp>
        <p:nvSpPr>
          <p:cNvPr id="1039" name="Google Shape;1039;p109"/>
          <p:cNvSpPr/>
          <p:nvPr/>
        </p:nvSpPr>
        <p:spPr>
          <a:xfrm>
            <a:off x="4633200" y="118834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V4</a:t>
            </a:r>
            <a:endParaRPr>
              <a:latin typeface="Old Standard TT"/>
              <a:ea typeface="Old Standard TT"/>
              <a:cs typeface="Old Standard TT"/>
              <a:sym typeface="Old Standard TT"/>
            </a:endParaRPr>
          </a:p>
        </p:txBody>
      </p:sp>
      <p:sp>
        <p:nvSpPr>
          <p:cNvPr id="1040" name="Google Shape;1040;p109"/>
          <p:cNvSpPr/>
          <p:nvPr/>
        </p:nvSpPr>
        <p:spPr>
          <a:xfrm>
            <a:off x="4633200" y="36864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V6</a:t>
            </a:r>
            <a:endParaRPr>
              <a:latin typeface="Old Standard TT"/>
              <a:ea typeface="Old Standard TT"/>
              <a:cs typeface="Old Standard TT"/>
              <a:sym typeface="Old Standard TT"/>
            </a:endParaRPr>
          </a:p>
        </p:txBody>
      </p:sp>
      <p:sp>
        <p:nvSpPr>
          <p:cNvPr id="1041" name="Google Shape;1041;p109"/>
          <p:cNvSpPr/>
          <p:nvPr/>
        </p:nvSpPr>
        <p:spPr>
          <a:xfrm>
            <a:off x="6365550" y="24708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T</a:t>
            </a:r>
            <a:endParaRPr>
              <a:latin typeface="Old Standard TT"/>
              <a:ea typeface="Old Standard TT"/>
              <a:cs typeface="Old Standard TT"/>
              <a:sym typeface="Old Standard TT"/>
            </a:endParaRPr>
          </a:p>
        </p:txBody>
      </p:sp>
      <p:cxnSp>
        <p:nvCxnSpPr>
          <p:cNvPr id="1042" name="Google Shape;1042;p109"/>
          <p:cNvCxnSpPr>
            <a:stCxn id="1034" idx="7"/>
            <a:endCxn id="1036" idx="2"/>
          </p:cNvCxnSpPr>
          <p:nvPr/>
        </p:nvCxnSpPr>
        <p:spPr>
          <a:xfrm flipH="1" rot="10800000">
            <a:off x="2024783" y="1801396"/>
            <a:ext cx="885900" cy="924000"/>
          </a:xfrm>
          <a:prstGeom prst="straightConnector1">
            <a:avLst/>
          </a:prstGeom>
          <a:noFill/>
          <a:ln cap="flat" cmpd="sng" w="9525">
            <a:solidFill>
              <a:schemeClr val="dk2"/>
            </a:solidFill>
            <a:prstDash val="solid"/>
            <a:round/>
            <a:headEnd len="med" w="med" type="none"/>
            <a:tailEnd len="med" w="med" type="triangle"/>
          </a:ln>
        </p:spPr>
      </p:cxnSp>
      <p:cxnSp>
        <p:nvCxnSpPr>
          <p:cNvPr id="1043" name="Google Shape;1043;p109"/>
          <p:cNvCxnSpPr>
            <a:stCxn id="1034" idx="5"/>
            <a:endCxn id="1037" idx="2"/>
          </p:cNvCxnSpPr>
          <p:nvPr/>
        </p:nvCxnSpPr>
        <p:spPr>
          <a:xfrm>
            <a:off x="2024783" y="3158994"/>
            <a:ext cx="885900" cy="610200"/>
          </a:xfrm>
          <a:prstGeom prst="straightConnector1">
            <a:avLst/>
          </a:prstGeom>
          <a:noFill/>
          <a:ln cap="flat" cmpd="sng" w="9525">
            <a:solidFill>
              <a:schemeClr val="dk2"/>
            </a:solidFill>
            <a:prstDash val="solid"/>
            <a:round/>
            <a:headEnd len="med" w="med" type="none"/>
            <a:tailEnd len="med" w="med" type="triangle"/>
          </a:ln>
        </p:spPr>
      </p:cxnSp>
      <p:cxnSp>
        <p:nvCxnSpPr>
          <p:cNvPr id="1044" name="Google Shape;1044;p109"/>
          <p:cNvCxnSpPr>
            <a:stCxn id="1036" idx="7"/>
            <a:endCxn id="1039" idx="2"/>
          </p:cNvCxnSpPr>
          <p:nvPr/>
        </p:nvCxnSpPr>
        <p:spPr>
          <a:xfrm flipH="1" rot="10800000">
            <a:off x="3456583" y="1495046"/>
            <a:ext cx="1176600" cy="89700"/>
          </a:xfrm>
          <a:prstGeom prst="straightConnector1">
            <a:avLst/>
          </a:prstGeom>
          <a:noFill/>
          <a:ln cap="flat" cmpd="sng" w="9525">
            <a:solidFill>
              <a:schemeClr val="dk2"/>
            </a:solidFill>
            <a:prstDash val="solid"/>
            <a:round/>
            <a:headEnd len="med" w="med" type="none"/>
            <a:tailEnd len="med" w="med" type="triangle"/>
          </a:ln>
        </p:spPr>
      </p:cxnSp>
      <p:cxnSp>
        <p:nvCxnSpPr>
          <p:cNvPr id="1045" name="Google Shape;1045;p109"/>
          <p:cNvCxnSpPr>
            <a:stCxn id="1036" idx="6"/>
            <a:endCxn id="1038" idx="2"/>
          </p:cNvCxnSpPr>
          <p:nvPr/>
        </p:nvCxnSpPr>
        <p:spPr>
          <a:xfrm>
            <a:off x="3550250" y="1801545"/>
            <a:ext cx="1083000" cy="1140600"/>
          </a:xfrm>
          <a:prstGeom prst="straightConnector1">
            <a:avLst/>
          </a:prstGeom>
          <a:noFill/>
          <a:ln cap="flat" cmpd="sng" w="9525">
            <a:solidFill>
              <a:schemeClr val="dk2"/>
            </a:solidFill>
            <a:prstDash val="solid"/>
            <a:round/>
            <a:headEnd len="med" w="med" type="none"/>
            <a:tailEnd len="med" w="med" type="triangle"/>
          </a:ln>
        </p:spPr>
      </p:cxnSp>
      <p:cxnSp>
        <p:nvCxnSpPr>
          <p:cNvPr id="1046" name="Google Shape;1046;p109"/>
          <p:cNvCxnSpPr>
            <a:stCxn id="1037" idx="6"/>
            <a:endCxn id="1038" idx="2"/>
          </p:cNvCxnSpPr>
          <p:nvPr/>
        </p:nvCxnSpPr>
        <p:spPr>
          <a:xfrm flipH="1" rot="10800000">
            <a:off x="3550250" y="2942170"/>
            <a:ext cx="1083000" cy="827100"/>
          </a:xfrm>
          <a:prstGeom prst="straightConnector1">
            <a:avLst/>
          </a:prstGeom>
          <a:noFill/>
          <a:ln cap="flat" cmpd="sng" w="9525">
            <a:solidFill>
              <a:schemeClr val="dk2"/>
            </a:solidFill>
            <a:prstDash val="solid"/>
            <a:round/>
            <a:headEnd len="med" w="med" type="none"/>
            <a:tailEnd len="med" w="med" type="triangle"/>
          </a:ln>
        </p:spPr>
      </p:cxnSp>
      <p:cxnSp>
        <p:nvCxnSpPr>
          <p:cNvPr id="1047" name="Google Shape;1047;p109"/>
          <p:cNvCxnSpPr>
            <a:stCxn id="1037" idx="5"/>
            <a:endCxn id="1040" idx="2"/>
          </p:cNvCxnSpPr>
          <p:nvPr/>
        </p:nvCxnSpPr>
        <p:spPr>
          <a:xfrm>
            <a:off x="3456583" y="3986069"/>
            <a:ext cx="1176600" cy="6900"/>
          </a:xfrm>
          <a:prstGeom prst="straightConnector1">
            <a:avLst/>
          </a:prstGeom>
          <a:noFill/>
          <a:ln cap="flat" cmpd="sng" w="9525">
            <a:solidFill>
              <a:schemeClr val="dk2"/>
            </a:solidFill>
            <a:prstDash val="solid"/>
            <a:round/>
            <a:headEnd len="med" w="med" type="none"/>
            <a:tailEnd len="med" w="med" type="triangle"/>
          </a:ln>
        </p:spPr>
      </p:cxnSp>
      <p:cxnSp>
        <p:nvCxnSpPr>
          <p:cNvPr id="1048" name="Google Shape;1048;p109"/>
          <p:cNvCxnSpPr>
            <a:stCxn id="1034" idx="6"/>
            <a:endCxn id="1035" idx="2"/>
          </p:cNvCxnSpPr>
          <p:nvPr/>
        </p:nvCxnSpPr>
        <p:spPr>
          <a:xfrm flipH="1" rot="10800000">
            <a:off x="2118450" y="2777495"/>
            <a:ext cx="698400" cy="164700"/>
          </a:xfrm>
          <a:prstGeom prst="straightConnector1">
            <a:avLst/>
          </a:prstGeom>
          <a:noFill/>
          <a:ln cap="flat" cmpd="sng" w="9525">
            <a:solidFill>
              <a:schemeClr val="dk2"/>
            </a:solidFill>
            <a:prstDash val="solid"/>
            <a:round/>
            <a:headEnd len="med" w="med" type="none"/>
            <a:tailEnd len="med" w="med" type="triangle"/>
          </a:ln>
        </p:spPr>
      </p:cxnSp>
      <p:cxnSp>
        <p:nvCxnSpPr>
          <p:cNvPr id="1049" name="Google Shape;1049;p109"/>
          <p:cNvCxnSpPr>
            <a:stCxn id="1035" idx="6"/>
            <a:endCxn id="1038" idx="2"/>
          </p:cNvCxnSpPr>
          <p:nvPr/>
        </p:nvCxnSpPr>
        <p:spPr>
          <a:xfrm>
            <a:off x="3456575" y="2777495"/>
            <a:ext cx="1176600" cy="164700"/>
          </a:xfrm>
          <a:prstGeom prst="straightConnector1">
            <a:avLst/>
          </a:prstGeom>
          <a:noFill/>
          <a:ln cap="flat" cmpd="sng" w="9525">
            <a:solidFill>
              <a:schemeClr val="dk2"/>
            </a:solidFill>
            <a:prstDash val="solid"/>
            <a:round/>
            <a:headEnd len="med" w="med" type="none"/>
            <a:tailEnd len="med" w="med" type="triangle"/>
          </a:ln>
        </p:spPr>
      </p:cxnSp>
      <p:cxnSp>
        <p:nvCxnSpPr>
          <p:cNvPr id="1050" name="Google Shape;1050;p109"/>
          <p:cNvCxnSpPr>
            <a:stCxn id="1040" idx="0"/>
            <a:endCxn id="1038" idx="4"/>
          </p:cNvCxnSpPr>
          <p:nvPr/>
        </p:nvCxnSpPr>
        <p:spPr>
          <a:xfrm rot="10800000">
            <a:off x="4953000" y="3248795"/>
            <a:ext cx="0" cy="437700"/>
          </a:xfrm>
          <a:prstGeom prst="straightConnector1">
            <a:avLst/>
          </a:prstGeom>
          <a:noFill/>
          <a:ln cap="flat" cmpd="sng" w="9525">
            <a:solidFill>
              <a:schemeClr val="dk2"/>
            </a:solidFill>
            <a:prstDash val="solid"/>
            <a:round/>
            <a:headEnd len="med" w="med" type="none"/>
            <a:tailEnd len="med" w="med" type="triangle"/>
          </a:ln>
        </p:spPr>
      </p:cxnSp>
      <p:cxnSp>
        <p:nvCxnSpPr>
          <p:cNvPr id="1051" name="Google Shape;1051;p109"/>
          <p:cNvCxnSpPr>
            <a:stCxn id="1039" idx="6"/>
            <a:endCxn id="1041" idx="1"/>
          </p:cNvCxnSpPr>
          <p:nvPr/>
        </p:nvCxnSpPr>
        <p:spPr>
          <a:xfrm>
            <a:off x="5272800" y="1494945"/>
            <a:ext cx="1186500" cy="1065900"/>
          </a:xfrm>
          <a:prstGeom prst="straightConnector1">
            <a:avLst/>
          </a:prstGeom>
          <a:noFill/>
          <a:ln cap="flat" cmpd="sng" w="9525">
            <a:solidFill>
              <a:schemeClr val="dk2"/>
            </a:solidFill>
            <a:prstDash val="solid"/>
            <a:round/>
            <a:headEnd len="med" w="med" type="none"/>
            <a:tailEnd len="med" w="med" type="triangle"/>
          </a:ln>
        </p:spPr>
      </p:cxnSp>
      <p:cxnSp>
        <p:nvCxnSpPr>
          <p:cNvPr id="1052" name="Google Shape;1052;p109"/>
          <p:cNvCxnSpPr>
            <a:stCxn id="1038" idx="6"/>
            <a:endCxn id="1041" idx="2"/>
          </p:cNvCxnSpPr>
          <p:nvPr/>
        </p:nvCxnSpPr>
        <p:spPr>
          <a:xfrm flipH="1" rot="10800000">
            <a:off x="5272800" y="2777495"/>
            <a:ext cx="1092900" cy="164700"/>
          </a:xfrm>
          <a:prstGeom prst="straightConnector1">
            <a:avLst/>
          </a:prstGeom>
          <a:noFill/>
          <a:ln cap="flat" cmpd="sng" w="9525">
            <a:solidFill>
              <a:schemeClr val="dk2"/>
            </a:solidFill>
            <a:prstDash val="solid"/>
            <a:round/>
            <a:headEnd len="med" w="med" type="none"/>
            <a:tailEnd len="med" w="med" type="triangle"/>
          </a:ln>
        </p:spPr>
      </p:cxnSp>
      <p:cxnSp>
        <p:nvCxnSpPr>
          <p:cNvPr id="1053" name="Google Shape;1053;p109"/>
          <p:cNvCxnSpPr>
            <a:stCxn id="1040" idx="6"/>
            <a:endCxn id="1041" idx="3"/>
          </p:cNvCxnSpPr>
          <p:nvPr/>
        </p:nvCxnSpPr>
        <p:spPr>
          <a:xfrm flipH="1" rot="10800000">
            <a:off x="5272800" y="2994395"/>
            <a:ext cx="1186500" cy="998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10"/>
          <p:cNvSpPr txBox="1"/>
          <p:nvPr>
            <p:ph type="title"/>
          </p:nvPr>
        </p:nvSpPr>
        <p:spPr>
          <a:xfrm>
            <a:off x="311700" y="21443"/>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1059" name="Google Shape;1059;p110"/>
          <p:cNvSpPr/>
          <p:nvPr/>
        </p:nvSpPr>
        <p:spPr>
          <a:xfrm>
            <a:off x="622075" y="26355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S</a:t>
            </a:r>
            <a:endParaRPr>
              <a:latin typeface="Old Standard TT"/>
              <a:ea typeface="Old Standard TT"/>
              <a:cs typeface="Old Standard TT"/>
              <a:sym typeface="Old Standard TT"/>
            </a:endParaRPr>
          </a:p>
        </p:txBody>
      </p:sp>
      <p:sp>
        <p:nvSpPr>
          <p:cNvPr id="1060" name="Google Shape;1060;p110"/>
          <p:cNvSpPr/>
          <p:nvPr/>
        </p:nvSpPr>
        <p:spPr>
          <a:xfrm>
            <a:off x="2210688" y="244054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V2in</a:t>
            </a:r>
            <a:endParaRPr>
              <a:latin typeface="Old Standard TT"/>
              <a:ea typeface="Old Standard TT"/>
              <a:cs typeface="Old Standard TT"/>
              <a:sym typeface="Old Standard TT"/>
            </a:endParaRPr>
          </a:p>
        </p:txBody>
      </p:sp>
      <p:sp>
        <p:nvSpPr>
          <p:cNvPr id="1061" name="Google Shape;1061;p110"/>
          <p:cNvSpPr/>
          <p:nvPr/>
        </p:nvSpPr>
        <p:spPr>
          <a:xfrm>
            <a:off x="2271100" y="147912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V1in</a:t>
            </a:r>
            <a:endParaRPr>
              <a:latin typeface="Old Standard TT"/>
              <a:ea typeface="Old Standard TT"/>
              <a:cs typeface="Old Standard TT"/>
              <a:sym typeface="Old Standard TT"/>
            </a:endParaRPr>
          </a:p>
        </p:txBody>
      </p:sp>
      <p:sp>
        <p:nvSpPr>
          <p:cNvPr id="1062" name="Google Shape;1062;p110"/>
          <p:cNvSpPr/>
          <p:nvPr/>
        </p:nvSpPr>
        <p:spPr>
          <a:xfrm>
            <a:off x="2655400" y="376797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V3out</a:t>
            </a:r>
            <a:endParaRPr>
              <a:latin typeface="Old Standard TT"/>
              <a:ea typeface="Old Standard TT"/>
              <a:cs typeface="Old Standard TT"/>
              <a:sym typeface="Old Standard TT"/>
            </a:endParaRPr>
          </a:p>
        </p:txBody>
      </p:sp>
      <p:sp>
        <p:nvSpPr>
          <p:cNvPr id="1063" name="Google Shape;1063;p110"/>
          <p:cNvSpPr/>
          <p:nvPr/>
        </p:nvSpPr>
        <p:spPr>
          <a:xfrm>
            <a:off x="4633200" y="26355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V5in</a:t>
            </a:r>
            <a:endParaRPr>
              <a:latin typeface="Old Standard TT"/>
              <a:ea typeface="Old Standard TT"/>
              <a:cs typeface="Old Standard TT"/>
              <a:sym typeface="Old Standard TT"/>
            </a:endParaRPr>
          </a:p>
        </p:txBody>
      </p:sp>
      <p:sp>
        <p:nvSpPr>
          <p:cNvPr id="1064" name="Google Shape;1064;p110"/>
          <p:cNvSpPr/>
          <p:nvPr/>
        </p:nvSpPr>
        <p:spPr>
          <a:xfrm>
            <a:off x="4633200" y="118834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V4in</a:t>
            </a:r>
            <a:endParaRPr>
              <a:latin typeface="Old Standard TT"/>
              <a:ea typeface="Old Standard TT"/>
              <a:cs typeface="Old Standard TT"/>
              <a:sym typeface="Old Standard TT"/>
            </a:endParaRPr>
          </a:p>
        </p:txBody>
      </p:sp>
      <p:sp>
        <p:nvSpPr>
          <p:cNvPr id="1065" name="Google Shape;1065;p110"/>
          <p:cNvSpPr/>
          <p:nvPr/>
        </p:nvSpPr>
        <p:spPr>
          <a:xfrm>
            <a:off x="5094400" y="391094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V6out</a:t>
            </a:r>
            <a:endParaRPr>
              <a:latin typeface="Old Standard TT"/>
              <a:ea typeface="Old Standard TT"/>
              <a:cs typeface="Old Standard TT"/>
              <a:sym typeface="Old Standard TT"/>
            </a:endParaRPr>
          </a:p>
        </p:txBody>
      </p:sp>
      <p:sp>
        <p:nvSpPr>
          <p:cNvPr id="1066" name="Google Shape;1066;p110"/>
          <p:cNvSpPr/>
          <p:nvPr/>
        </p:nvSpPr>
        <p:spPr>
          <a:xfrm>
            <a:off x="7264575" y="23811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T</a:t>
            </a:r>
            <a:endParaRPr>
              <a:latin typeface="Old Standard TT"/>
              <a:ea typeface="Old Standard TT"/>
              <a:cs typeface="Old Standard TT"/>
              <a:sym typeface="Old Standard TT"/>
            </a:endParaRPr>
          </a:p>
        </p:txBody>
      </p:sp>
      <p:cxnSp>
        <p:nvCxnSpPr>
          <p:cNvPr id="1067" name="Google Shape;1067;p110"/>
          <p:cNvCxnSpPr>
            <a:stCxn id="1059" idx="7"/>
            <a:endCxn id="1061" idx="2"/>
          </p:cNvCxnSpPr>
          <p:nvPr/>
        </p:nvCxnSpPr>
        <p:spPr>
          <a:xfrm flipH="1" rot="10800000">
            <a:off x="1168008" y="1785796"/>
            <a:ext cx="1103100" cy="939600"/>
          </a:xfrm>
          <a:prstGeom prst="straightConnector1">
            <a:avLst/>
          </a:prstGeom>
          <a:noFill/>
          <a:ln cap="flat" cmpd="sng" w="9525">
            <a:solidFill>
              <a:schemeClr val="dk2"/>
            </a:solidFill>
            <a:prstDash val="solid"/>
            <a:round/>
            <a:headEnd len="med" w="med" type="none"/>
            <a:tailEnd len="med" w="med" type="triangle"/>
          </a:ln>
        </p:spPr>
      </p:cxnSp>
      <p:cxnSp>
        <p:nvCxnSpPr>
          <p:cNvPr id="1068" name="Google Shape;1068;p110"/>
          <p:cNvCxnSpPr>
            <a:stCxn id="1059" idx="5"/>
            <a:endCxn id="1069" idx="2"/>
          </p:cNvCxnSpPr>
          <p:nvPr/>
        </p:nvCxnSpPr>
        <p:spPr>
          <a:xfrm>
            <a:off x="1168008" y="3158994"/>
            <a:ext cx="645900" cy="549600"/>
          </a:xfrm>
          <a:prstGeom prst="straightConnector1">
            <a:avLst/>
          </a:prstGeom>
          <a:noFill/>
          <a:ln cap="flat" cmpd="sng" w="9525">
            <a:solidFill>
              <a:schemeClr val="dk2"/>
            </a:solidFill>
            <a:prstDash val="solid"/>
            <a:round/>
            <a:headEnd len="med" w="med" type="none"/>
            <a:tailEnd len="med" w="med" type="triangle"/>
          </a:ln>
        </p:spPr>
      </p:cxnSp>
      <p:cxnSp>
        <p:nvCxnSpPr>
          <p:cNvPr id="1070" name="Google Shape;1070;p110"/>
          <p:cNvCxnSpPr>
            <a:stCxn id="1062" idx="6"/>
            <a:endCxn id="1063" idx="2"/>
          </p:cNvCxnSpPr>
          <p:nvPr/>
        </p:nvCxnSpPr>
        <p:spPr>
          <a:xfrm flipH="1" rot="10800000">
            <a:off x="3295000" y="2942070"/>
            <a:ext cx="1338300" cy="1132500"/>
          </a:xfrm>
          <a:prstGeom prst="straightConnector1">
            <a:avLst/>
          </a:prstGeom>
          <a:noFill/>
          <a:ln cap="flat" cmpd="sng" w="9525">
            <a:solidFill>
              <a:schemeClr val="dk2"/>
            </a:solidFill>
            <a:prstDash val="solid"/>
            <a:round/>
            <a:headEnd len="med" w="med" type="none"/>
            <a:tailEnd len="med" w="med" type="triangle"/>
          </a:ln>
        </p:spPr>
      </p:cxnSp>
      <p:cxnSp>
        <p:nvCxnSpPr>
          <p:cNvPr id="1071" name="Google Shape;1071;p110"/>
          <p:cNvCxnSpPr>
            <a:stCxn id="1059" idx="6"/>
            <a:endCxn id="1060" idx="2"/>
          </p:cNvCxnSpPr>
          <p:nvPr/>
        </p:nvCxnSpPr>
        <p:spPr>
          <a:xfrm flipH="1" rot="10800000">
            <a:off x="1261675" y="2747195"/>
            <a:ext cx="948900" cy="195000"/>
          </a:xfrm>
          <a:prstGeom prst="straightConnector1">
            <a:avLst/>
          </a:prstGeom>
          <a:noFill/>
          <a:ln cap="flat" cmpd="sng" w="9525">
            <a:solidFill>
              <a:schemeClr val="dk2"/>
            </a:solidFill>
            <a:prstDash val="solid"/>
            <a:round/>
            <a:headEnd len="med" w="med" type="none"/>
            <a:tailEnd len="med" w="med" type="triangle"/>
          </a:ln>
        </p:spPr>
      </p:cxnSp>
      <p:cxnSp>
        <p:nvCxnSpPr>
          <p:cNvPr id="1072" name="Google Shape;1072;p110"/>
          <p:cNvCxnSpPr>
            <a:stCxn id="1065" idx="0"/>
            <a:endCxn id="1063" idx="4"/>
          </p:cNvCxnSpPr>
          <p:nvPr/>
        </p:nvCxnSpPr>
        <p:spPr>
          <a:xfrm rot="10800000">
            <a:off x="4953100" y="3248845"/>
            <a:ext cx="461100" cy="662100"/>
          </a:xfrm>
          <a:prstGeom prst="straightConnector1">
            <a:avLst/>
          </a:prstGeom>
          <a:noFill/>
          <a:ln cap="flat" cmpd="sng" w="9525">
            <a:solidFill>
              <a:schemeClr val="dk2"/>
            </a:solidFill>
            <a:prstDash val="solid"/>
            <a:round/>
            <a:headEnd len="med" w="med" type="none"/>
            <a:tailEnd len="med" w="med" type="triangle"/>
          </a:ln>
        </p:spPr>
      </p:cxnSp>
      <p:cxnSp>
        <p:nvCxnSpPr>
          <p:cNvPr id="1073" name="Google Shape;1073;p110"/>
          <p:cNvCxnSpPr>
            <a:stCxn id="1065" idx="6"/>
            <a:endCxn id="1066" idx="3"/>
          </p:cNvCxnSpPr>
          <p:nvPr/>
        </p:nvCxnSpPr>
        <p:spPr>
          <a:xfrm flipH="1" rot="10800000">
            <a:off x="5734000" y="2904445"/>
            <a:ext cx="1624200" cy="1313100"/>
          </a:xfrm>
          <a:prstGeom prst="straightConnector1">
            <a:avLst/>
          </a:prstGeom>
          <a:noFill/>
          <a:ln cap="flat" cmpd="sng" w="9525">
            <a:solidFill>
              <a:schemeClr val="dk2"/>
            </a:solidFill>
            <a:prstDash val="solid"/>
            <a:round/>
            <a:headEnd len="med" w="med" type="none"/>
            <a:tailEnd len="med" w="med" type="triangle"/>
          </a:ln>
        </p:spPr>
      </p:cxnSp>
      <p:sp>
        <p:nvSpPr>
          <p:cNvPr id="1074" name="Google Shape;1074;p110"/>
          <p:cNvSpPr/>
          <p:nvPr/>
        </p:nvSpPr>
        <p:spPr>
          <a:xfrm>
            <a:off x="3253384" y="132032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V1out</a:t>
            </a:r>
            <a:endParaRPr>
              <a:latin typeface="Old Standard TT"/>
              <a:ea typeface="Old Standard TT"/>
              <a:cs typeface="Old Standard TT"/>
              <a:sym typeface="Old Standard TT"/>
            </a:endParaRPr>
          </a:p>
        </p:txBody>
      </p:sp>
      <p:cxnSp>
        <p:nvCxnSpPr>
          <p:cNvPr id="1075" name="Google Shape;1075;p110"/>
          <p:cNvCxnSpPr>
            <a:stCxn id="1061" idx="6"/>
            <a:endCxn id="1074" idx="2"/>
          </p:cNvCxnSpPr>
          <p:nvPr/>
        </p:nvCxnSpPr>
        <p:spPr>
          <a:xfrm flipH="1" rot="10800000">
            <a:off x="2910700" y="1627020"/>
            <a:ext cx="342600" cy="158700"/>
          </a:xfrm>
          <a:prstGeom prst="straightConnector1">
            <a:avLst/>
          </a:prstGeom>
          <a:noFill/>
          <a:ln cap="flat" cmpd="sng" w="9525">
            <a:solidFill>
              <a:schemeClr val="dk2"/>
            </a:solidFill>
            <a:prstDash val="solid"/>
            <a:round/>
            <a:headEnd len="med" w="med" type="none"/>
            <a:tailEnd len="med" w="med" type="triangle"/>
          </a:ln>
        </p:spPr>
      </p:cxnSp>
      <p:sp>
        <p:nvSpPr>
          <p:cNvPr id="1076" name="Google Shape;1076;p110"/>
          <p:cNvSpPr/>
          <p:nvPr/>
        </p:nvSpPr>
        <p:spPr>
          <a:xfrm>
            <a:off x="5948850" y="124252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V4out</a:t>
            </a:r>
            <a:endParaRPr>
              <a:latin typeface="Old Standard TT"/>
              <a:ea typeface="Old Standard TT"/>
              <a:cs typeface="Old Standard TT"/>
              <a:sym typeface="Old Standard TT"/>
            </a:endParaRPr>
          </a:p>
        </p:txBody>
      </p:sp>
      <p:cxnSp>
        <p:nvCxnSpPr>
          <p:cNvPr id="1077" name="Google Shape;1077;p110"/>
          <p:cNvCxnSpPr>
            <a:stCxn id="1064" idx="6"/>
            <a:endCxn id="1076" idx="2"/>
          </p:cNvCxnSpPr>
          <p:nvPr/>
        </p:nvCxnSpPr>
        <p:spPr>
          <a:xfrm>
            <a:off x="5272800" y="1494945"/>
            <a:ext cx="676200" cy="54300"/>
          </a:xfrm>
          <a:prstGeom prst="straightConnector1">
            <a:avLst/>
          </a:prstGeom>
          <a:noFill/>
          <a:ln cap="flat" cmpd="sng" w="9525">
            <a:solidFill>
              <a:schemeClr val="dk2"/>
            </a:solidFill>
            <a:prstDash val="solid"/>
            <a:round/>
            <a:headEnd len="med" w="med" type="none"/>
            <a:tailEnd len="med" w="med" type="triangle"/>
          </a:ln>
        </p:spPr>
      </p:cxnSp>
      <p:cxnSp>
        <p:nvCxnSpPr>
          <p:cNvPr id="1078" name="Google Shape;1078;p110"/>
          <p:cNvCxnSpPr>
            <a:stCxn id="1076" idx="6"/>
            <a:endCxn id="1066" idx="1"/>
          </p:cNvCxnSpPr>
          <p:nvPr/>
        </p:nvCxnSpPr>
        <p:spPr>
          <a:xfrm>
            <a:off x="6588450" y="1549120"/>
            <a:ext cx="769800" cy="921900"/>
          </a:xfrm>
          <a:prstGeom prst="straightConnector1">
            <a:avLst/>
          </a:prstGeom>
          <a:noFill/>
          <a:ln cap="flat" cmpd="sng" w="9525">
            <a:solidFill>
              <a:schemeClr val="dk2"/>
            </a:solidFill>
            <a:prstDash val="solid"/>
            <a:round/>
            <a:headEnd len="med" w="med" type="none"/>
            <a:tailEnd len="med" w="med" type="triangle"/>
          </a:ln>
        </p:spPr>
      </p:cxnSp>
      <p:cxnSp>
        <p:nvCxnSpPr>
          <p:cNvPr id="1079" name="Google Shape;1079;p110"/>
          <p:cNvCxnSpPr>
            <a:stCxn id="1074" idx="6"/>
            <a:endCxn id="1064" idx="2"/>
          </p:cNvCxnSpPr>
          <p:nvPr/>
        </p:nvCxnSpPr>
        <p:spPr>
          <a:xfrm flipH="1" rot="10800000">
            <a:off x="3892984" y="1494925"/>
            <a:ext cx="740100" cy="132000"/>
          </a:xfrm>
          <a:prstGeom prst="straightConnector1">
            <a:avLst/>
          </a:prstGeom>
          <a:noFill/>
          <a:ln cap="flat" cmpd="sng" w="9525">
            <a:solidFill>
              <a:schemeClr val="dk2"/>
            </a:solidFill>
            <a:prstDash val="solid"/>
            <a:round/>
            <a:headEnd len="med" w="med" type="none"/>
            <a:tailEnd len="med" w="med" type="triangle"/>
          </a:ln>
        </p:spPr>
      </p:cxnSp>
      <p:sp>
        <p:nvSpPr>
          <p:cNvPr id="1080" name="Google Shape;1080;p110"/>
          <p:cNvSpPr/>
          <p:nvPr/>
        </p:nvSpPr>
        <p:spPr>
          <a:xfrm>
            <a:off x="5710550" y="24635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V5out</a:t>
            </a:r>
            <a:endParaRPr>
              <a:latin typeface="Old Standard TT"/>
              <a:ea typeface="Old Standard TT"/>
              <a:cs typeface="Old Standard TT"/>
              <a:sym typeface="Old Standard TT"/>
            </a:endParaRPr>
          </a:p>
        </p:txBody>
      </p:sp>
      <p:cxnSp>
        <p:nvCxnSpPr>
          <p:cNvPr id="1081" name="Google Shape;1081;p110"/>
          <p:cNvCxnSpPr>
            <a:stCxn id="1080" idx="6"/>
            <a:endCxn id="1066" idx="2"/>
          </p:cNvCxnSpPr>
          <p:nvPr/>
        </p:nvCxnSpPr>
        <p:spPr>
          <a:xfrm flipH="1" rot="10800000">
            <a:off x="6350150" y="2687695"/>
            <a:ext cx="914400" cy="82500"/>
          </a:xfrm>
          <a:prstGeom prst="straightConnector1">
            <a:avLst/>
          </a:prstGeom>
          <a:noFill/>
          <a:ln cap="flat" cmpd="sng" w="9525">
            <a:solidFill>
              <a:schemeClr val="dk2"/>
            </a:solidFill>
            <a:prstDash val="solid"/>
            <a:round/>
            <a:headEnd len="med" w="med" type="none"/>
            <a:tailEnd len="med" w="med" type="triangle"/>
          </a:ln>
        </p:spPr>
      </p:cxnSp>
      <p:cxnSp>
        <p:nvCxnSpPr>
          <p:cNvPr id="1082" name="Google Shape;1082;p110"/>
          <p:cNvCxnSpPr>
            <a:stCxn id="1063" idx="6"/>
            <a:endCxn id="1080" idx="2"/>
          </p:cNvCxnSpPr>
          <p:nvPr/>
        </p:nvCxnSpPr>
        <p:spPr>
          <a:xfrm flipH="1" rot="10800000">
            <a:off x="5272800" y="2770295"/>
            <a:ext cx="437700" cy="171900"/>
          </a:xfrm>
          <a:prstGeom prst="straightConnector1">
            <a:avLst/>
          </a:prstGeom>
          <a:noFill/>
          <a:ln cap="flat" cmpd="sng" w="9525">
            <a:solidFill>
              <a:schemeClr val="dk2"/>
            </a:solidFill>
            <a:prstDash val="solid"/>
            <a:round/>
            <a:headEnd len="med" w="med" type="none"/>
            <a:tailEnd len="med" w="med" type="triangle"/>
          </a:ln>
        </p:spPr>
      </p:cxnSp>
      <p:cxnSp>
        <p:nvCxnSpPr>
          <p:cNvPr id="1083" name="Google Shape;1083;p110"/>
          <p:cNvCxnSpPr>
            <a:stCxn id="1074" idx="5"/>
            <a:endCxn id="1063" idx="1"/>
          </p:cNvCxnSpPr>
          <p:nvPr/>
        </p:nvCxnSpPr>
        <p:spPr>
          <a:xfrm>
            <a:off x="3799316" y="1843724"/>
            <a:ext cx="927600" cy="881700"/>
          </a:xfrm>
          <a:prstGeom prst="straightConnector1">
            <a:avLst/>
          </a:prstGeom>
          <a:noFill/>
          <a:ln cap="flat" cmpd="sng" w="9525">
            <a:solidFill>
              <a:schemeClr val="dk2"/>
            </a:solidFill>
            <a:prstDash val="solid"/>
            <a:round/>
            <a:headEnd len="med" w="med" type="none"/>
            <a:tailEnd len="med" w="med" type="triangle"/>
          </a:ln>
        </p:spPr>
      </p:cxnSp>
      <p:sp>
        <p:nvSpPr>
          <p:cNvPr id="1084" name="Google Shape;1084;p110"/>
          <p:cNvSpPr/>
          <p:nvPr/>
        </p:nvSpPr>
        <p:spPr>
          <a:xfrm>
            <a:off x="3550463" y="24998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V2out</a:t>
            </a:r>
            <a:endParaRPr>
              <a:latin typeface="Old Standard TT"/>
              <a:ea typeface="Old Standard TT"/>
              <a:cs typeface="Old Standard TT"/>
              <a:sym typeface="Old Standard TT"/>
            </a:endParaRPr>
          </a:p>
        </p:txBody>
      </p:sp>
      <p:cxnSp>
        <p:nvCxnSpPr>
          <p:cNvPr id="1085" name="Google Shape;1085;p110"/>
          <p:cNvCxnSpPr>
            <a:stCxn id="1060" idx="6"/>
            <a:endCxn id="1084" idx="2"/>
          </p:cNvCxnSpPr>
          <p:nvPr/>
        </p:nvCxnSpPr>
        <p:spPr>
          <a:xfrm>
            <a:off x="2850288" y="2747145"/>
            <a:ext cx="700200" cy="59400"/>
          </a:xfrm>
          <a:prstGeom prst="straightConnector1">
            <a:avLst/>
          </a:prstGeom>
          <a:noFill/>
          <a:ln cap="flat" cmpd="sng" w="9525">
            <a:solidFill>
              <a:schemeClr val="dk2"/>
            </a:solidFill>
            <a:prstDash val="solid"/>
            <a:round/>
            <a:headEnd len="med" w="med" type="none"/>
            <a:tailEnd len="med" w="med" type="triangle"/>
          </a:ln>
        </p:spPr>
      </p:cxnSp>
      <p:cxnSp>
        <p:nvCxnSpPr>
          <p:cNvPr id="1086" name="Google Shape;1086;p110"/>
          <p:cNvCxnSpPr>
            <a:stCxn id="1084" idx="6"/>
            <a:endCxn id="1063" idx="2"/>
          </p:cNvCxnSpPr>
          <p:nvPr/>
        </p:nvCxnSpPr>
        <p:spPr>
          <a:xfrm>
            <a:off x="4190063" y="2806495"/>
            <a:ext cx="443100" cy="135600"/>
          </a:xfrm>
          <a:prstGeom prst="straightConnector1">
            <a:avLst/>
          </a:prstGeom>
          <a:noFill/>
          <a:ln cap="flat" cmpd="sng" w="9525">
            <a:solidFill>
              <a:schemeClr val="dk2"/>
            </a:solidFill>
            <a:prstDash val="solid"/>
            <a:round/>
            <a:headEnd len="med" w="med" type="none"/>
            <a:tailEnd len="med" w="med" type="triangle"/>
          </a:ln>
        </p:spPr>
      </p:cxnSp>
      <p:sp>
        <p:nvSpPr>
          <p:cNvPr id="1087" name="Google Shape;1087;p110"/>
          <p:cNvSpPr/>
          <p:nvPr/>
        </p:nvSpPr>
        <p:spPr>
          <a:xfrm>
            <a:off x="3900625" y="3934495"/>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V6in</a:t>
            </a:r>
            <a:endParaRPr>
              <a:latin typeface="Old Standard TT"/>
              <a:ea typeface="Old Standard TT"/>
              <a:cs typeface="Old Standard TT"/>
              <a:sym typeface="Old Standard TT"/>
            </a:endParaRPr>
          </a:p>
        </p:txBody>
      </p:sp>
      <p:cxnSp>
        <p:nvCxnSpPr>
          <p:cNvPr id="1088" name="Google Shape;1088;p110"/>
          <p:cNvCxnSpPr>
            <a:stCxn id="1087" idx="6"/>
            <a:endCxn id="1065" idx="2"/>
          </p:cNvCxnSpPr>
          <p:nvPr/>
        </p:nvCxnSpPr>
        <p:spPr>
          <a:xfrm flipH="1" rot="10800000">
            <a:off x="4540225" y="4217395"/>
            <a:ext cx="554100" cy="23700"/>
          </a:xfrm>
          <a:prstGeom prst="straightConnector1">
            <a:avLst/>
          </a:prstGeom>
          <a:noFill/>
          <a:ln cap="flat" cmpd="sng" w="9525">
            <a:solidFill>
              <a:schemeClr val="dk2"/>
            </a:solidFill>
            <a:prstDash val="solid"/>
            <a:round/>
            <a:headEnd len="med" w="med" type="none"/>
            <a:tailEnd len="med" w="med" type="triangle"/>
          </a:ln>
        </p:spPr>
      </p:cxnSp>
      <p:cxnSp>
        <p:nvCxnSpPr>
          <p:cNvPr id="1089" name="Google Shape;1089;p110"/>
          <p:cNvCxnSpPr>
            <a:stCxn id="1062" idx="6"/>
            <a:endCxn id="1087" idx="2"/>
          </p:cNvCxnSpPr>
          <p:nvPr/>
        </p:nvCxnSpPr>
        <p:spPr>
          <a:xfrm>
            <a:off x="3295000" y="4074570"/>
            <a:ext cx="605700" cy="166500"/>
          </a:xfrm>
          <a:prstGeom prst="straightConnector1">
            <a:avLst/>
          </a:prstGeom>
          <a:noFill/>
          <a:ln cap="flat" cmpd="sng" w="9525">
            <a:solidFill>
              <a:schemeClr val="dk2"/>
            </a:solidFill>
            <a:prstDash val="solid"/>
            <a:round/>
            <a:headEnd len="med" w="med" type="none"/>
            <a:tailEnd len="med" w="med" type="triangle"/>
          </a:ln>
        </p:spPr>
      </p:cxnSp>
      <p:sp>
        <p:nvSpPr>
          <p:cNvPr id="1069" name="Google Shape;1069;p110"/>
          <p:cNvSpPr/>
          <p:nvPr/>
        </p:nvSpPr>
        <p:spPr>
          <a:xfrm>
            <a:off x="1813925" y="3401970"/>
            <a:ext cx="639600" cy="61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Old Standard TT"/>
                <a:ea typeface="Old Standard TT"/>
                <a:cs typeface="Old Standard TT"/>
                <a:sym typeface="Old Standard TT"/>
              </a:rPr>
              <a:t>V3in</a:t>
            </a:r>
            <a:endParaRPr>
              <a:latin typeface="Old Standard TT"/>
              <a:ea typeface="Old Standard TT"/>
              <a:cs typeface="Old Standard TT"/>
              <a:sym typeface="Old Standard TT"/>
            </a:endParaRPr>
          </a:p>
        </p:txBody>
      </p:sp>
      <p:cxnSp>
        <p:nvCxnSpPr>
          <p:cNvPr id="1090" name="Google Shape;1090;p110"/>
          <p:cNvCxnSpPr>
            <a:stCxn id="1069" idx="5"/>
            <a:endCxn id="1062" idx="2"/>
          </p:cNvCxnSpPr>
          <p:nvPr/>
        </p:nvCxnSpPr>
        <p:spPr>
          <a:xfrm>
            <a:off x="2359858" y="3925369"/>
            <a:ext cx="295500" cy="149100"/>
          </a:xfrm>
          <a:prstGeom prst="straightConnector1">
            <a:avLst/>
          </a:prstGeom>
          <a:noFill/>
          <a:ln cap="flat" cmpd="sng" w="9525">
            <a:solidFill>
              <a:schemeClr val="dk2"/>
            </a:solidFill>
            <a:prstDash val="solid"/>
            <a:round/>
            <a:headEnd len="med" w="med" type="none"/>
            <a:tailEnd len="med" w="med" type="triangle"/>
          </a:ln>
        </p:spPr>
      </p:cxnSp>
      <p:sp>
        <p:nvSpPr>
          <p:cNvPr id="1091" name="Google Shape;1091;p110"/>
          <p:cNvSpPr txBox="1"/>
          <p:nvPr/>
        </p:nvSpPr>
        <p:spPr>
          <a:xfrm>
            <a:off x="2850300" y="13374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1</a:t>
            </a:r>
            <a:endParaRPr sz="1200">
              <a:solidFill>
                <a:schemeClr val="dk1"/>
              </a:solidFill>
              <a:latin typeface="Old Standard TT"/>
              <a:ea typeface="Old Standard TT"/>
              <a:cs typeface="Old Standard TT"/>
              <a:sym typeface="Old Standard TT"/>
            </a:endParaRPr>
          </a:p>
        </p:txBody>
      </p:sp>
      <p:sp>
        <p:nvSpPr>
          <p:cNvPr id="1092" name="Google Shape;1092;p110"/>
          <p:cNvSpPr txBox="1"/>
          <p:nvPr/>
        </p:nvSpPr>
        <p:spPr>
          <a:xfrm>
            <a:off x="3002700" y="2507984"/>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1</a:t>
            </a:r>
            <a:endParaRPr sz="1200">
              <a:solidFill>
                <a:schemeClr val="dk1"/>
              </a:solidFill>
              <a:latin typeface="Old Standard TT"/>
              <a:ea typeface="Old Standard TT"/>
              <a:cs typeface="Old Standard TT"/>
              <a:sym typeface="Old Standard TT"/>
            </a:endParaRPr>
          </a:p>
        </p:txBody>
      </p:sp>
      <p:sp>
        <p:nvSpPr>
          <p:cNvPr id="1093" name="Google Shape;1093;p110"/>
          <p:cNvSpPr txBox="1"/>
          <p:nvPr/>
        </p:nvSpPr>
        <p:spPr>
          <a:xfrm>
            <a:off x="2393100" y="3716939"/>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1</a:t>
            </a:r>
            <a:endParaRPr sz="1200">
              <a:solidFill>
                <a:schemeClr val="dk1"/>
              </a:solidFill>
              <a:latin typeface="Old Standard TT"/>
              <a:ea typeface="Old Standard TT"/>
              <a:cs typeface="Old Standard TT"/>
              <a:sym typeface="Old Standard TT"/>
            </a:endParaRPr>
          </a:p>
        </p:txBody>
      </p:sp>
      <p:sp>
        <p:nvSpPr>
          <p:cNvPr id="1094" name="Google Shape;1094;p110"/>
          <p:cNvSpPr txBox="1"/>
          <p:nvPr/>
        </p:nvSpPr>
        <p:spPr>
          <a:xfrm>
            <a:off x="5441100" y="12612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1</a:t>
            </a:r>
            <a:endParaRPr sz="1200">
              <a:solidFill>
                <a:schemeClr val="dk1"/>
              </a:solidFill>
              <a:latin typeface="Old Standard TT"/>
              <a:ea typeface="Old Standard TT"/>
              <a:cs typeface="Old Standard TT"/>
              <a:sym typeface="Old Standard TT"/>
            </a:endParaRPr>
          </a:p>
        </p:txBody>
      </p:sp>
      <p:sp>
        <p:nvSpPr>
          <p:cNvPr id="1095" name="Google Shape;1095;p110"/>
          <p:cNvSpPr txBox="1"/>
          <p:nvPr/>
        </p:nvSpPr>
        <p:spPr>
          <a:xfrm>
            <a:off x="5288700" y="26328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1</a:t>
            </a:r>
            <a:endParaRPr sz="1200">
              <a:solidFill>
                <a:schemeClr val="dk1"/>
              </a:solidFill>
              <a:latin typeface="Old Standard TT"/>
              <a:ea typeface="Old Standard TT"/>
              <a:cs typeface="Old Standard TT"/>
              <a:sym typeface="Old Standard TT"/>
            </a:endParaRPr>
          </a:p>
        </p:txBody>
      </p:sp>
      <p:sp>
        <p:nvSpPr>
          <p:cNvPr id="1096" name="Google Shape;1096;p110"/>
          <p:cNvSpPr txBox="1"/>
          <p:nvPr/>
        </p:nvSpPr>
        <p:spPr>
          <a:xfrm>
            <a:off x="4602900" y="3945539"/>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1</a:t>
            </a:r>
            <a:endParaRPr sz="1200">
              <a:solidFill>
                <a:schemeClr val="dk1"/>
              </a:solidFill>
              <a:latin typeface="Old Standard TT"/>
              <a:ea typeface="Old Standard TT"/>
              <a:cs typeface="Old Standard TT"/>
              <a:sym typeface="Old Standard TT"/>
            </a:endParaRPr>
          </a:p>
        </p:txBody>
      </p:sp>
      <p:sp>
        <p:nvSpPr>
          <p:cNvPr id="1097" name="Google Shape;1097;p110"/>
          <p:cNvSpPr txBox="1"/>
          <p:nvPr/>
        </p:nvSpPr>
        <p:spPr>
          <a:xfrm>
            <a:off x="1319650" y="19709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098" name="Google Shape;1098;p110"/>
          <p:cNvSpPr txBox="1"/>
          <p:nvPr/>
        </p:nvSpPr>
        <p:spPr>
          <a:xfrm>
            <a:off x="1641739" y="2531884"/>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099" name="Google Shape;1099;p110"/>
          <p:cNvSpPr txBox="1"/>
          <p:nvPr/>
        </p:nvSpPr>
        <p:spPr>
          <a:xfrm>
            <a:off x="1319650" y="31139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0" name="Google Shape;1100;p110"/>
          <p:cNvSpPr txBox="1"/>
          <p:nvPr/>
        </p:nvSpPr>
        <p:spPr>
          <a:xfrm>
            <a:off x="4012584" y="18947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1" name="Google Shape;1101;p110"/>
          <p:cNvSpPr txBox="1"/>
          <p:nvPr/>
        </p:nvSpPr>
        <p:spPr>
          <a:xfrm>
            <a:off x="4215250" y="25805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2" name="Google Shape;1102;p110"/>
          <p:cNvSpPr txBox="1"/>
          <p:nvPr/>
        </p:nvSpPr>
        <p:spPr>
          <a:xfrm>
            <a:off x="3758050" y="31901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3" name="Google Shape;1103;p110"/>
          <p:cNvSpPr txBox="1"/>
          <p:nvPr/>
        </p:nvSpPr>
        <p:spPr>
          <a:xfrm>
            <a:off x="4062850" y="12851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4" name="Google Shape;1104;p110"/>
          <p:cNvSpPr txBox="1"/>
          <p:nvPr/>
        </p:nvSpPr>
        <p:spPr>
          <a:xfrm>
            <a:off x="3453250" y="38759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5" name="Google Shape;1105;p110"/>
          <p:cNvSpPr txBox="1"/>
          <p:nvPr/>
        </p:nvSpPr>
        <p:spPr>
          <a:xfrm>
            <a:off x="4909695" y="34187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6" name="Google Shape;1106;p110"/>
          <p:cNvSpPr txBox="1"/>
          <p:nvPr/>
        </p:nvSpPr>
        <p:spPr>
          <a:xfrm>
            <a:off x="6272650" y="33425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7" name="Google Shape;1107;p110"/>
          <p:cNvSpPr txBox="1"/>
          <p:nvPr/>
        </p:nvSpPr>
        <p:spPr>
          <a:xfrm>
            <a:off x="6425050" y="24281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1108" name="Google Shape;1108;p110"/>
          <p:cNvSpPr txBox="1"/>
          <p:nvPr/>
        </p:nvSpPr>
        <p:spPr>
          <a:xfrm>
            <a:off x="6653650" y="1742350"/>
            <a:ext cx="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1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Okey… y ahora?</a:t>
            </a:r>
            <a:endParaRPr/>
          </a:p>
        </p:txBody>
      </p:sp>
      <p:sp>
        <p:nvSpPr>
          <p:cNvPr id="1114" name="Google Shape;1114;p11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Ahora en s</a:t>
            </a:r>
            <a:r>
              <a:rPr lang="es"/>
              <a:t>í lo que necesitamos es el corte mínimo en esta red!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1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Aplicación II: Perfect Bipartite Matching</a:t>
            </a:r>
            <a:endParaRPr/>
          </a:p>
        </p:txBody>
      </p:sp>
      <p:sp>
        <p:nvSpPr>
          <p:cNvPr id="1120" name="Google Shape;1120;p112"/>
          <p:cNvSpPr txBox="1"/>
          <p:nvPr>
            <p:ph idx="1" type="body"/>
          </p:nvPr>
        </p:nvSpPr>
        <p:spPr>
          <a:xfrm>
            <a:off x="311700" y="1171600"/>
            <a:ext cx="51618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Dado un grafo no dirigido y bipartito, un match es un subconjunto de las aristas en el cual para todo vértice V a lo sumo una arista del match incide en V (en el match, tienen grado a lo sumo 1). Decimos que el vértice v está matcheado si hay alguna arista que incida en él (sino, está unmatcheado). El matching máximo es aquel en el que tenemos la mayor cantidad de aristas (matcheamos la mayor cantidad posible). </a:t>
            </a:r>
            <a:endParaRPr/>
          </a:p>
        </p:txBody>
      </p:sp>
      <p:pic>
        <p:nvPicPr>
          <p:cNvPr id="1121" name="Google Shape;1121;p112"/>
          <p:cNvPicPr preferRelativeResize="0"/>
          <p:nvPr/>
        </p:nvPicPr>
        <p:blipFill>
          <a:blip r:embed="rId3">
            <a:alphaModFix/>
          </a:blip>
          <a:stretch>
            <a:fillRect/>
          </a:stretch>
        </p:blipFill>
        <p:spPr>
          <a:xfrm>
            <a:off x="5752025" y="1171600"/>
            <a:ext cx="2990850" cy="3629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Solución</a:t>
            </a:r>
            <a:endParaRPr/>
          </a:p>
        </p:txBody>
      </p:sp>
      <p:pic>
        <p:nvPicPr>
          <p:cNvPr id="1131" name="Google Shape;1131;p114"/>
          <p:cNvPicPr preferRelativeResize="0"/>
          <p:nvPr/>
        </p:nvPicPr>
        <p:blipFill>
          <a:blip r:embed="rId3">
            <a:alphaModFix/>
          </a:blip>
          <a:stretch>
            <a:fillRect/>
          </a:stretch>
        </p:blipFill>
        <p:spPr>
          <a:xfrm>
            <a:off x="465622" y="1210625"/>
            <a:ext cx="8212757" cy="3780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Datazo</a:t>
            </a:r>
            <a:endParaRPr/>
          </a:p>
        </p:txBody>
      </p:sp>
      <p:sp>
        <p:nvSpPr>
          <p:cNvPr id="1137" name="Google Shape;1137;p11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Con Ford-Fulkerson encontramos solución a este problema en O(E*V)</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Aplicación III: Disjoint Paths</a:t>
            </a:r>
            <a:endParaRPr/>
          </a:p>
        </p:txBody>
      </p:sp>
      <p:sp>
        <p:nvSpPr>
          <p:cNvPr id="1143" name="Google Shape;1143;p1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Decimos que dos caminos son disjuntos si no comparten aristas (pueden compartir nodos). </a:t>
            </a:r>
            <a:endParaRPr/>
          </a:p>
          <a:p>
            <a:pPr indent="0" lvl="0" marL="0" rtl="0" algn="l">
              <a:spcBef>
                <a:spcPts val="1600"/>
              </a:spcBef>
              <a:spcAft>
                <a:spcPts val="0"/>
              </a:spcAft>
              <a:buNone/>
            </a:pPr>
            <a:r>
              <a:rPr lang="es"/>
              <a:t>Dado un grafo dirigido y dos vértices s y t, encontrar el máximo número de caminos disjuntos s-t en G. </a:t>
            </a:r>
            <a:endParaRPr/>
          </a:p>
          <a:p>
            <a:pPr indent="0" lvl="0" marL="0" rtl="0" algn="l">
              <a:spcBef>
                <a:spcPts val="1600"/>
              </a:spcBef>
              <a:spcAft>
                <a:spcPts val="1600"/>
              </a:spcAft>
              <a:buNone/>
            </a:pPr>
            <a:r>
              <a:rPr lang="es"/>
              <a:t>Pro-tip: recuerden cómo funciona FF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Solución</a:t>
            </a:r>
            <a:endParaRPr/>
          </a:p>
        </p:txBody>
      </p:sp>
      <p:pic>
        <p:nvPicPr>
          <p:cNvPr id="1149" name="Google Shape;1149;p117"/>
          <p:cNvPicPr preferRelativeResize="0"/>
          <p:nvPr/>
        </p:nvPicPr>
        <p:blipFill>
          <a:blip r:embed="rId3">
            <a:alphaModFix/>
          </a:blip>
          <a:stretch>
            <a:fillRect/>
          </a:stretch>
        </p:blipFill>
        <p:spPr>
          <a:xfrm>
            <a:off x="1273425" y="1424950"/>
            <a:ext cx="6499525" cy="25477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Datazo</a:t>
            </a:r>
            <a:endParaRPr/>
          </a:p>
        </p:txBody>
      </p:sp>
      <p:sp>
        <p:nvSpPr>
          <p:cNvPr id="1155" name="Google Shape;1155;p11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Con Ford-Fulkerson encontramos solución a este problema en O(E*V)</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Datazo</a:t>
            </a:r>
            <a:endParaRPr/>
          </a:p>
        </p:txBody>
      </p:sp>
      <p:sp>
        <p:nvSpPr>
          <p:cNvPr id="1161" name="Google Shape;1161;p11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cantidad máxima de Disjoint-Paths es igual a la cantidad mínima de aristas que habría que quitar de un grafo para que no exista camino entre s y t.</a:t>
            </a:r>
            <a:endParaRPr/>
          </a:p>
          <a:p>
            <a:pPr indent="0" lvl="0" marL="0" rtl="0" algn="l">
              <a:spcBef>
                <a:spcPts val="1600"/>
              </a:spcBef>
              <a:spcAft>
                <a:spcPts val="1600"/>
              </a:spcAft>
              <a:buNone/>
            </a:pPr>
            <a:r>
              <a:rPr lang="es"/>
              <a:t>¿Por qu</a:t>
            </a:r>
            <a:r>
              <a:rPr lang="es"/>
              <a:t>é?</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1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Aplicación III.2: Disjoint paths para Grafos no dirigidos</a:t>
            </a:r>
            <a:endParaRPr/>
          </a:p>
        </p:txBody>
      </p:sp>
      <p:sp>
        <p:nvSpPr>
          <p:cNvPr id="1167" name="Google Shape;1167;p120"/>
          <p:cNvSpPr txBox="1"/>
          <p:nvPr>
            <p:ph idx="1" type="body"/>
          </p:nvPr>
        </p:nvSpPr>
        <p:spPr>
          <a:xfrm>
            <a:off x="311700" y="1530075"/>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¿Y ahora cómo hacemos?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