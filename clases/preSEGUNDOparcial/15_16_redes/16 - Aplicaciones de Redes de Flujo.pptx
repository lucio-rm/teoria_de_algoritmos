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roxima Nova"/>
      <p:regular r:id="rId30"/>
      <p:bold r:id="rId31"/>
      <p:italic r:id="rId32"/>
      <p:boldItalic r:id="rId33"/>
    </p:embeddedFont>
    <p:embeddedFont>
      <p:font typeface="Old Standard TT"/>
      <p:regular r:id="rId34"/>
      <p:bold r:id="rId35"/>
      <p: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35" Type="http://schemas.openxmlformats.org/officeDocument/2006/relationships/font" Target="fonts/OldStandardTT-bold.fntdata"/><Relationship Id="rId12" Type="http://schemas.openxmlformats.org/officeDocument/2006/relationships/slide" Target="slides/slide7.xml"/><Relationship Id="rId34" Type="http://schemas.openxmlformats.org/officeDocument/2006/relationships/font" Target="fonts/OldStandardTT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ldStandardT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0875a66a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0875a66a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e18e79feb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e18e79feb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18e79feb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e18e79feb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442bc1c4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442bc1c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a025a45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a025a45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a025a455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a025a455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e19b5599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e19b5599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e18e79feb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e18e79feb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a025a45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a025a45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19c23e0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e19c23e0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18e79feb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e18e79fe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3778324a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3778324a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e18e79feb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e18e79feb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a025a455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a025a455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38a31457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38a31457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e18e79feb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e18e79feb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0f52855e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0f52855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38a314577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38a314577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e18e79feb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e18e79feb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3996cb64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3996cb64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3996cb645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3996cb64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38a314577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38a314577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3996cb645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3996cb645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3996cb645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3996cb645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Aplicaciones de Redes de Flujo</a:t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Redes de Flujo como Técnica de diseño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42712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Supongamos que tenemos varias "fuentes" con un suministro, y "sumideros" con una demanda. Ahora cada nodo tiene una demanda (positiva, negativa o 0).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Nuevas condiciones: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Condición de capacidad: 0 &lt;= f(e) &lt;= C</a:t>
            </a:r>
            <a:r>
              <a:rPr baseline="-25000" lang="es"/>
              <a:t>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Condición de demanda: f</a:t>
            </a:r>
            <a:r>
              <a:rPr baseline="-25000" lang="es"/>
              <a:t>in</a:t>
            </a:r>
            <a:r>
              <a:rPr lang="es"/>
              <a:t>(v) - f</a:t>
            </a:r>
            <a:r>
              <a:rPr baseline="-25000" lang="es"/>
              <a:t>out</a:t>
            </a:r>
            <a:r>
              <a:rPr lang="es"/>
              <a:t>(v) = d</a:t>
            </a:r>
            <a:r>
              <a:rPr baseline="-25000" lang="es"/>
              <a:t>v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Queremos ver si esto es factible y cómo.</a:t>
            </a:r>
            <a:endParaRPr/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Aplicación III: Circulaciones con demandas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238" y="152400"/>
            <a:ext cx="458353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825" y="300038"/>
            <a:ext cx="432435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238" y="152400"/>
            <a:ext cx="458353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Primera condición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71600"/>
            <a:ext cx="85206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</a:t>
            </a:r>
            <a:r>
              <a:rPr lang="es"/>
              <a:t>a suma de los suministros es igual a la suma de las demandas. 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688" y="1970473"/>
            <a:ext cx="3820625" cy="8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4002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Supongamos que tenemos un sistema de una facultad en el que cada alumno puede pedir hasta 10 libros de la biblioteca. La biblioteca tiene 3 copias de cada libro. Cada alumno desea pedir libros diferentes. Implementar un algoritmo que nos permita obtener la forma de asignar libros a alumnos de tal forma que la cantidad de préstamos sea máxima.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Creamos super fuente y super sumidero.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Para los sumideros, agregamos una arista de t a t* con capacidad = demanda.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Para las fuentes, agregamos una arista de s* a s con capacidad = suministro.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/>
          <p:cNvPicPr preferRelativeResize="0"/>
          <p:nvPr/>
        </p:nvPicPr>
        <p:blipFill rotWithShape="1">
          <a:blip r:embed="rId3">
            <a:alphaModFix/>
          </a:blip>
          <a:srcRect b="11393" l="7979" r="23650" t="13700"/>
          <a:stretch/>
        </p:blipFill>
        <p:spPr>
          <a:xfrm>
            <a:off x="1163613" y="478100"/>
            <a:ext cx="6816776" cy="42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#Datazo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71600"/>
            <a:ext cx="8520600" cy="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grafo G tiene una circulación factible con demandas sii para todos los cortes (A, B):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675" y="2089600"/>
            <a:ext cx="3208651" cy="103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Aplicación IV: Circulaciones con demandas y cotas mínimas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42712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para cada arista, además de tener una capacidad tenemos una cota inferior que debe cumplirse, y cada nodo puede tener una demanda.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Nuevas condiciones: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Condición de capacidad: </a:t>
            </a:r>
            <a:r>
              <a:rPr lang="es"/>
              <a:t>L</a:t>
            </a:r>
            <a:r>
              <a:rPr baseline="-25000" lang="es"/>
              <a:t>e</a:t>
            </a:r>
            <a:r>
              <a:rPr lang="es"/>
              <a:t> &lt;= f(e) &lt;= C</a:t>
            </a:r>
            <a:r>
              <a:rPr baseline="-25000" lang="es"/>
              <a:t>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Condición de demanda: f</a:t>
            </a:r>
            <a:r>
              <a:rPr baseline="-25000" lang="es"/>
              <a:t>in</a:t>
            </a:r>
            <a:r>
              <a:rPr lang="es"/>
              <a:t>(v) - f</a:t>
            </a:r>
            <a:r>
              <a:rPr baseline="-25000" lang="es"/>
              <a:t>out</a:t>
            </a:r>
            <a:r>
              <a:rPr lang="es"/>
              <a:t>(v) = d</a:t>
            </a:r>
            <a:r>
              <a:rPr baseline="-25000" lang="es"/>
              <a:t>v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63925"/>
            <a:ext cx="85206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Condición de capacidad: L</a:t>
            </a:r>
            <a:r>
              <a:rPr baseline="-25000" lang="es"/>
              <a:t>e</a:t>
            </a:r>
            <a:r>
              <a:rPr lang="es"/>
              <a:t> &lt;= f(e) &lt;= C</a:t>
            </a:r>
            <a:r>
              <a:rPr baseline="-25000" lang="es"/>
              <a:t>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Condición de demanda: f</a:t>
            </a:r>
            <a:r>
              <a:rPr baseline="-25000" lang="es"/>
              <a:t>in</a:t>
            </a:r>
            <a:r>
              <a:rPr lang="es"/>
              <a:t>(v) - f</a:t>
            </a:r>
            <a:r>
              <a:rPr baseline="-25000" lang="es"/>
              <a:t>out</a:t>
            </a:r>
            <a:r>
              <a:rPr lang="es"/>
              <a:t>(v) = d</a:t>
            </a:r>
            <a:r>
              <a:rPr baseline="-25000" lang="es"/>
              <a:t>v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Transformamos al problema en uno con demandas sin cotas inferiores: </a:t>
            </a:r>
            <a:br>
              <a:rPr lang="es"/>
            </a:b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Definimos un flujo que cumpla las cotas mínimas y capacidades máximas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Creamos un grafo nuevo con mismos vértices y aristas, con capacidad = C</a:t>
            </a:r>
            <a:r>
              <a:rPr baseline="-25000" lang="es"/>
              <a:t>v</a:t>
            </a:r>
            <a:r>
              <a:rPr lang="es"/>
              <a:t> - consumido, con las demandas actualizadas (salvo que la demanda se cumpla, entonces no ponemos al vértice y sus aristas).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Ejemplo: Diseño de encuestas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Suponer que tenemos una empresa que vende k productos y tenemos el historial de compras de cada cliente. Queremos enviar encuestas a n clientes para averiguar cuáles son los productos que </a:t>
            </a:r>
            <a:r>
              <a:rPr lang="es"/>
              <a:t>más les gustan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Consideraciones: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Cada cliente será consultado por un subset de productos (y siempre que él/ella hayan comprado).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La cantidad de preguntas a un cliente </a:t>
            </a:r>
            <a:r>
              <a:rPr i="1" lang="es"/>
              <a:t>i</a:t>
            </a:r>
            <a:r>
              <a:rPr lang="es"/>
              <a:t> debe estar entre C</a:t>
            </a:r>
            <a:r>
              <a:rPr baseline="-25000" lang="es"/>
              <a:t>i</a:t>
            </a:r>
            <a:r>
              <a:rPr lang="es"/>
              <a:t> y C</a:t>
            </a:r>
            <a:r>
              <a:rPr baseline="-25000" lang="es"/>
              <a:t>i</a:t>
            </a:r>
            <a:r>
              <a:rPr lang="es"/>
              <a:t>'.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Para cada producto </a:t>
            </a:r>
            <a:r>
              <a:rPr i="1" lang="es"/>
              <a:t>j</a:t>
            </a:r>
            <a:r>
              <a:rPr lang="es"/>
              <a:t> deben haber entre P</a:t>
            </a:r>
            <a:r>
              <a:rPr baseline="-25000" lang="es"/>
              <a:t>j</a:t>
            </a:r>
            <a:r>
              <a:rPr lang="es"/>
              <a:t> y P</a:t>
            </a:r>
            <a:r>
              <a:rPr baseline="-25000" lang="es"/>
              <a:t>j</a:t>
            </a:r>
            <a:r>
              <a:rPr lang="es"/>
              <a:t>' consultas.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8288" y="152400"/>
            <a:ext cx="624743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0"/>
          <p:cNvSpPr txBox="1"/>
          <p:nvPr/>
        </p:nvSpPr>
        <p:spPr>
          <a:xfrm>
            <a:off x="49950" y="788025"/>
            <a:ext cx="1512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¿Cuánto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flujo saldría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 s?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¿Se requiere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darle una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demanda?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" name="Google Shape;157;p30"/>
          <p:cNvSpPr txBox="1"/>
          <p:nvPr/>
        </p:nvSpPr>
        <p:spPr>
          <a:xfrm>
            <a:off x="7695725" y="2347600"/>
            <a:ext cx="1448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¿Cuánto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flujo llegaría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 t?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¿Se requiere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darle una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demanda?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Ejemplo: Airlines Scheduling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Suponer que queremos schedulear cómo los aviones van de un aeropuerto a otro para cumplir horarios y demás.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/>
              <a:t>Podemos decir que podemos usar un avión para un segmento/vuelo </a:t>
            </a:r>
            <a:r>
              <a:rPr i="1" lang="es" sz="1600"/>
              <a:t>i</a:t>
            </a:r>
            <a:r>
              <a:rPr lang="es" sz="1600"/>
              <a:t> y luego para otro </a:t>
            </a:r>
            <a:r>
              <a:rPr i="1" lang="es" sz="1600"/>
              <a:t>j</a:t>
            </a:r>
            <a:r>
              <a:rPr lang="es" sz="1600"/>
              <a:t> si: 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lphaLcPeriod"/>
            </a:pPr>
            <a:r>
              <a:rPr lang="es" sz="1600"/>
              <a:t>El destino de </a:t>
            </a:r>
            <a:r>
              <a:rPr i="1" lang="es" sz="1600"/>
              <a:t>i</a:t>
            </a:r>
            <a:r>
              <a:rPr lang="es" sz="1600"/>
              <a:t> y el origen de </a:t>
            </a:r>
            <a:r>
              <a:rPr i="1" lang="es" sz="1600"/>
              <a:t>j</a:t>
            </a:r>
            <a:r>
              <a:rPr lang="es" sz="1600"/>
              <a:t> son el mismo.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s" sz="1600"/>
              <a:t>Podemos agregar un vuelo desde el destino de </a:t>
            </a:r>
            <a:r>
              <a:rPr i="1" lang="es" sz="1600"/>
              <a:t>i</a:t>
            </a:r>
            <a:r>
              <a:rPr lang="es" sz="1600"/>
              <a:t> al origen de </a:t>
            </a:r>
            <a:r>
              <a:rPr i="1" lang="es" sz="1600"/>
              <a:t>j</a:t>
            </a:r>
            <a:r>
              <a:rPr lang="es" sz="1600"/>
              <a:t> con tiempo suficiente.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/>
              <a:t>Decimos que el vuelo </a:t>
            </a:r>
            <a:r>
              <a:rPr i="1" lang="es" sz="1600"/>
              <a:t>j</a:t>
            </a:r>
            <a:r>
              <a:rPr lang="es" sz="1600"/>
              <a:t> es alcanzable desde el vuelo </a:t>
            </a:r>
            <a:r>
              <a:rPr i="1" lang="es" sz="1600"/>
              <a:t>i</a:t>
            </a:r>
            <a:r>
              <a:rPr lang="es" sz="1600"/>
              <a:t> si es posible usar el avión del vuelo </a:t>
            </a:r>
            <a:r>
              <a:rPr i="1" lang="es" sz="1600"/>
              <a:t>i</a:t>
            </a:r>
            <a:r>
              <a:rPr lang="es" sz="1600"/>
              <a:t> y después para el vuelo </a:t>
            </a:r>
            <a:r>
              <a:rPr i="1" lang="es" sz="1600"/>
              <a:t>j</a:t>
            </a:r>
            <a:r>
              <a:rPr lang="es" sz="1600"/>
              <a:t>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600"/>
              <a:t>Problema: ¿Podemos cumplir con los </a:t>
            </a:r>
            <a:r>
              <a:rPr i="1" lang="es" sz="1600"/>
              <a:t>m</a:t>
            </a:r>
            <a:r>
              <a:rPr lang="es" sz="1600"/>
              <a:t> vuelos usando a lo sumo </a:t>
            </a:r>
            <a:r>
              <a:rPr i="1" lang="es" sz="1600"/>
              <a:t>k</a:t>
            </a:r>
            <a:r>
              <a:rPr lang="es" sz="1600"/>
              <a:t> aviones?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pic>
        <p:nvPicPr>
          <p:cNvPr id="169" name="Google Shape;16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374" y="733600"/>
            <a:ext cx="6003950" cy="42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Generando el grafo y yendo a Flujo</a:t>
            </a:r>
            <a:endParaRPr/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Nuestras unidades de flujo son literalmente los aviones.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Ponemos las aristas de los vuelos que queremos si o si cumplir con cota mínima y capacidad = 1 (para forzar que se usen).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Si otro vuelo es alcanzable por las reglas anteriores, ponemos otra arista de capacidad 1.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Ponemos una fuente con aristas de capacidad 1 a los orígenes.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Ponemos un sumidero con aristas de capacidad 1 desde los destinos.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Se une fuente y sumidero con capacidad 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La fuente tiene demanda -K y el sumidero K.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Ejemplo: Project Selection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Tenemos proyectos que podemos realizar. Algunos dan ganancia positiva y otros negativa. Hay dependencias: puede que para hacer un proyecto </a:t>
            </a:r>
            <a:r>
              <a:rPr i="1" lang="es"/>
              <a:t>i</a:t>
            </a:r>
            <a:r>
              <a:rPr lang="es"/>
              <a:t> también tengamos que hacer un proyecto </a:t>
            </a:r>
            <a:r>
              <a:rPr i="1" lang="es"/>
              <a:t>j</a:t>
            </a:r>
            <a:r>
              <a:rPr lang="es"/>
              <a:t>, sin ciclos.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Por supuesto un proyecto con ganancia negativa sin otro proyecto (positivo) que dependa de este, no se hará.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Un proyecto que tiene ganancia positiva y no depende de uno negativo, se hará.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Ahora… ¿y los demás?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Pro tip: Ahora usemos corte mínimo.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Creamos el grafo</a:t>
            </a:r>
            <a:endParaRPr/>
          </a:p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Ponemos vértices = proyectos. Arista </a:t>
            </a:r>
            <a:r>
              <a:rPr i="1" lang="es"/>
              <a:t>(i, j)</a:t>
            </a:r>
            <a:r>
              <a:rPr lang="es"/>
              <a:t> cuando el proyecto </a:t>
            </a:r>
            <a:r>
              <a:rPr i="1" lang="es"/>
              <a:t>i</a:t>
            </a:r>
            <a:r>
              <a:rPr lang="es"/>
              <a:t> depende del </a:t>
            </a:r>
            <a:r>
              <a:rPr i="1" lang="es"/>
              <a:t>j</a:t>
            </a:r>
            <a:r>
              <a:rPr lang="es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Ponemos fuente, y unimos a proyectos positivos con capacidad igual al beneficio del proyecto.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Ponemos sumidero, y unimos los proyectos negativos con capacidad -beneficio del proyecto.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 las aristas de las dependencias le ponemos "capacidad infinita" (o la suma de los proyectos positivos + 1).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Obtenemos el corte mínimo (A', B') y nos quedamos con A' - {fuente}.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900" y="152400"/>
            <a:ext cx="779219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