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embeddedFontLst>
    <p:embeddedFont>
      <p:font typeface="Proxima Nova"/>
      <p:regular r:id="rId48"/>
      <p:bold r:id="rId49"/>
      <p:italic r:id="rId50"/>
      <p:boldItalic r:id="rId51"/>
    </p:embeddedFont>
    <p:embeddedFont>
      <p:font typeface="Old Standard TT"/>
      <p:regular r:id="rId52"/>
      <p:bold r:id="rId53"/>
      <p: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roximaNova-regular.fntdata"/><Relationship Id="rId47" Type="http://schemas.openxmlformats.org/officeDocument/2006/relationships/slide" Target="slides/slide42.xml"/><Relationship Id="rId49" Type="http://schemas.openxmlformats.org/officeDocument/2006/relationships/font" Target="fonts/ProximaNov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roximaNova-boldItalic.fntdata"/><Relationship Id="rId50" Type="http://schemas.openxmlformats.org/officeDocument/2006/relationships/font" Target="fonts/ProximaNova-italic.fntdata"/><Relationship Id="rId53" Type="http://schemas.openxmlformats.org/officeDocument/2006/relationships/font" Target="fonts/OldStandardTT-bold.fntdata"/><Relationship Id="rId52" Type="http://schemas.openxmlformats.org/officeDocument/2006/relationships/font" Target="fonts/OldStandardTT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font" Target="fonts/OldStandardT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9b03970d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9b03970d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86193dca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86193dca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1d0c6e39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1d0c6e39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0c674a736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0c674a736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dceb505b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dceb505b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c26792c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c26792c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c26792c7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c26792c7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c26792c7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c26792c7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0c674a73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0c674a73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0c674a736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0c674a736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0c674a736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0c674a736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0c674a736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0c674a736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0c674a736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0c674a736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e930ea62e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e930ea62e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dd4a7b13a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dd4a7b13a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2f81c205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2f81c205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0c674a736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0c674a736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0c674a736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0c674a736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0c4fe1f2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0c4fe1f2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dd812012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dd812012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0c674a7361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0c674a736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0c674a736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0c674a736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dd653c144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dd653c144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Max </a:t>
            </a:r>
            <a:r>
              <a:rPr lang="es"/>
              <a:t>independent</a:t>
            </a:r>
            <a:r>
              <a:rPr lang="es"/>
              <a:t> set: 1, 4, 5, 6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Min Vertex Cover: 2,3, 7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da9a2c6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8da9a2c6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Max independent set: 1, 4, 5, 6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Min Vertex Cover: 2,3, 7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da9a2c66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8da9a2c66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Max independent set: 1, 4, 5, 6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Min Vertex Cover: 2,3, 7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dd4a7b13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dd4a7b13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Vertex cover: un conjunto de vértices tal que todas las aristas tienen un extremo en dicho conjunto.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dd4a7b13a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dd4a7b13a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0c674a736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0c674a736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dd4a7b13a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dd4a7b13a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dd653c144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1dd653c144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dd653c144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dd653c144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dd653c144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1dd653c144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dd653c144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1dd653c144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86193dca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a86193dca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dd653c144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dd653c144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dd653c144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1dd653c144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dd653c144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dd653c144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dd653c144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dd653c144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dd653c144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dd653c144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dd653c144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dd653c144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dd653c14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dd653c14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dd6bb4a5a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dd6bb4a5a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roxima Nova"/>
              <a:buNone/>
              <a:defRPr sz="4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roxima Nova"/>
              <a:buNone/>
              <a:defRPr sz="24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Proxima Nova"/>
              <a:buNone/>
              <a:defRPr sz="54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rgbClr val="EFEF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9" Type="http://schemas.openxmlformats.org/officeDocument/2006/relationships/image" Target="../media/image27.png"/><Relationship Id="rId5" Type="http://schemas.openxmlformats.org/officeDocument/2006/relationships/image" Target="../media/image22.png"/><Relationship Id="rId6" Type="http://schemas.openxmlformats.org/officeDocument/2006/relationships/image" Target="../media/image18.png"/><Relationship Id="rId7" Type="http://schemas.openxmlformats.org/officeDocument/2006/relationships/image" Target="../media/image25.png"/><Relationship Id="rId8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drive.google.com/drive/u/3/folders/12v-eTh8bpYRcbMW36_TZY5WCK6Kqc1Z2" TargetMode="External"/><Relationship Id="rId4" Type="http://schemas.openxmlformats.org/officeDocument/2006/relationships/hyperlink" Target="https://github.com/algoritmos-rw/tda_ejemplos/tree/main/reducciones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Reducciones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Teoría de Algoritmos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80" l="0" r="0" t="70"/>
          <a:stretch/>
        </p:blipFill>
        <p:spPr>
          <a:xfrm>
            <a:off x="7060492" y="4349400"/>
            <a:ext cx="2079858" cy="78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 rotWithShape="1">
          <a:blip r:embed="rId4">
            <a:alphaModFix/>
          </a:blip>
          <a:srcRect b="2372" l="0" r="0" t="0"/>
          <a:stretch/>
        </p:blipFill>
        <p:spPr>
          <a:xfrm>
            <a:off x="4325225" y="1724075"/>
            <a:ext cx="4069524" cy="223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 rotWithShape="1">
          <a:blip r:embed="rId5">
            <a:alphaModFix/>
          </a:blip>
          <a:srcRect b="3138" l="0" r="0" t="0"/>
          <a:stretch/>
        </p:blipFill>
        <p:spPr>
          <a:xfrm>
            <a:off x="5221350" y="1873300"/>
            <a:ext cx="3319451" cy="2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momento prometido</a:t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6252" y="1210625"/>
            <a:ext cx="5051497" cy="37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Pregunta…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¿Nunca les pasó que vieron un problema y dijeron "ah, es igual a este otro"?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O…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¿Nunca les pasó que vieron un problema, y como saben resolver uno en realidad más difícil, entonces trataron de volcar el más fácil al difícil?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Hagamos una primera recta de dificultad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Hasta ahora venimos viendo diferentes clases de problemas, sus soluciones, la eficiencia.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Ahora vamos a empezar a hablar de problemas "fáciles" y "difíciles", los "más difíciles entre los difíciles" y cosas así.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Pero antes, necesitamos una herramienta que nos va a servir mucho: Reducciones.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216425"/>
            <a:ext cx="85206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Comparemos dos problemas en un escenario de la vida real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9275" y="1047250"/>
            <a:ext cx="3118125" cy="33141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2998850" y="1184375"/>
            <a:ext cx="58335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Nos presentamos a rendir un parcial: Al rendirlo me doy cuenta de que sí estudié lo necesario para resolver el </a:t>
            </a:r>
            <a:r>
              <a:rPr b="1"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ejercicio X </a:t>
            </a: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(que me evalúa un tema)</a:t>
            </a:r>
            <a:r>
              <a:rPr lang="es" sz="1200">
                <a:solidFill>
                  <a:srgbClr val="353B41"/>
                </a:solidFill>
              </a:rPr>
              <a:t>.</a:t>
            </a:r>
            <a:br>
              <a:rPr lang="es" sz="1200">
                <a:solidFill>
                  <a:srgbClr val="353B41"/>
                </a:solidFill>
              </a:rPr>
            </a:br>
            <a:endParaRPr sz="1200">
              <a:solidFill>
                <a:srgbClr val="353B41"/>
              </a:solidFill>
            </a:endParaRPr>
          </a:p>
          <a:p>
            <a:pPr indent="-3048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Sin embargo, no nos fue tan bien en el resto del examen. Por lo cual tendré que ir al recuperatorio y decido no estudiar más de ese mismo tema.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216425"/>
            <a:ext cx="85206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Comparemos dos problemas en un escenario de la vida real</a:t>
            </a:r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3450175" y="1184375"/>
            <a:ext cx="5149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 el recuperatorio (para ese tema) presentaron </a:t>
            </a:r>
            <a:r>
              <a:rPr b="1"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el ejercicio Y</a:t>
            </a:r>
            <a:br>
              <a:rPr b="1"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b="1"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 alguna forma pude </a:t>
            </a:r>
            <a:r>
              <a:rPr b="1"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usar </a:t>
            </a: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 que me permitió resolver el </a:t>
            </a:r>
            <a:r>
              <a:rPr b="1"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ejercicio X para resolver el ejercicio Y</a:t>
            </a:r>
            <a:endParaRPr b="1"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1" name="Google Shape;101;p19" title="Captura de pantalla 2025-05-19 144956.png"/>
          <p:cNvPicPr preferRelativeResize="0"/>
          <p:nvPr/>
        </p:nvPicPr>
        <p:blipFill rotWithShape="1">
          <a:blip r:embed="rId3">
            <a:alphaModFix/>
          </a:blip>
          <a:srcRect b="0" l="5761" r="31413" t="4288"/>
          <a:stretch/>
        </p:blipFill>
        <p:spPr>
          <a:xfrm>
            <a:off x="0" y="1295825"/>
            <a:ext cx="3526200" cy="275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 title="Captura de pantalla 2025-05-19 1452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3">
            <a:off x="7363364" y="796254"/>
            <a:ext cx="1717147" cy="172259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1441525" y="3927425"/>
            <a:ext cx="1820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4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b="1" lang="es" sz="1700">
                <a:solidFill>
                  <a:srgbClr val="353B41"/>
                </a:solidFill>
              </a:rPr>
              <a:t>ejercicio Y</a:t>
            </a:r>
            <a:endParaRPr b="1" sz="1700">
              <a:solidFill>
                <a:srgbClr val="353B41"/>
              </a:solidFill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3862200" y="3585575"/>
            <a:ext cx="4893000" cy="12030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 base a esta experiencia ¿Qué comparación podríamos establecer entre el ejercicio X y el ejercicio Y? </a:t>
            </a:r>
            <a:endParaRPr sz="160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216425"/>
            <a:ext cx="85206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Comparemos dos problemas en un escenario de la vida real</a:t>
            </a:r>
            <a:endParaRPr/>
          </a:p>
        </p:txBody>
      </p:sp>
      <p:pic>
        <p:nvPicPr>
          <p:cNvPr id="110" name="Google Shape;110;p20" title="Captura de pantalla 2025-05-19 144956.png"/>
          <p:cNvPicPr preferRelativeResize="0"/>
          <p:nvPr/>
        </p:nvPicPr>
        <p:blipFill rotWithShape="1">
          <a:blip r:embed="rId3">
            <a:alphaModFix/>
          </a:blip>
          <a:srcRect b="0" l="5761" r="31413" t="4288"/>
          <a:stretch/>
        </p:blipFill>
        <p:spPr>
          <a:xfrm>
            <a:off x="0" y="1295825"/>
            <a:ext cx="3526200" cy="275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/>
        </p:nvSpPr>
        <p:spPr>
          <a:xfrm>
            <a:off x="1441525" y="3927425"/>
            <a:ext cx="1820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4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b="1" lang="es" sz="1700">
                <a:solidFill>
                  <a:srgbClr val="353B41"/>
                </a:solidFill>
              </a:rPr>
              <a:t>ejercicio Y</a:t>
            </a:r>
            <a:endParaRPr b="1" sz="1700">
              <a:solidFill>
                <a:srgbClr val="353B41"/>
              </a:solidFill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3475525" y="1056375"/>
            <a:ext cx="5356800" cy="15792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Si con lo necesario para X pude resolver Y entonces </a:t>
            </a:r>
            <a:r>
              <a:rPr b="1" i="1" lang="es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 resultó igualmente o más </a:t>
            </a:r>
            <a:r>
              <a:rPr b="1" i="1" lang="es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difícil</a:t>
            </a:r>
            <a:r>
              <a:rPr b="1" i="1" lang="es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que Y</a:t>
            </a:r>
            <a:endParaRPr b="1" i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(Y podría haber sido </a:t>
            </a: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más</a:t>
            </a: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sencillo y con lo que usé </a:t>
            </a: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para</a:t>
            </a: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X iba “sobrado”)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3592350" y="2829925"/>
            <a:ext cx="5423700" cy="17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Entonces podríamos decir a grandes rasgos que:</a:t>
            </a:r>
            <a:b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b="1"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Y </a:t>
            </a: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≤ </a:t>
            </a:r>
            <a:r>
              <a:rPr b="1"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Pues </a:t>
            </a:r>
            <a:r>
              <a:rPr b="1"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Y</a:t>
            </a: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se pudo “reducir” a resolver </a:t>
            </a:r>
            <a:r>
              <a:rPr b="1"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 </a:t>
            </a: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(que tendría que ser un problema igual o un poco más complejo)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una reducción?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71600"/>
            <a:ext cx="8520600" cy="37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una herramienta para comparar la dificultad entre problemas.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Indica: "Si podemos reducir el problema Y al problema X, el problema Y es a lo sumo tan difícil de resolver como el problema X".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¿Cómo lo hacemos?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Vamos a asumir que tenemos una caja negra que resuelve X, y vamos a probar que por tener esta caja ya podemos resolver Y.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La dificultad de resolver el problema Y se reduce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a usar la caja que resuelve X</a:t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 rotWithShape="1">
          <a:blip r:embed="rId3">
            <a:alphaModFix/>
          </a:blip>
          <a:srcRect b="5362" l="5212" r="4462" t="5859"/>
          <a:stretch/>
        </p:blipFill>
        <p:spPr>
          <a:xfrm>
            <a:off x="5772300" y="3504300"/>
            <a:ext cx="1872250" cy="149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 rotWithShape="1">
          <a:blip r:embed="rId4">
            <a:alphaModFix/>
          </a:blip>
          <a:srcRect b="0" l="0" r="0" t="4389"/>
          <a:stretch/>
        </p:blipFill>
        <p:spPr>
          <a:xfrm>
            <a:off x="7383545" y="0"/>
            <a:ext cx="1388729" cy="177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171600"/>
            <a:ext cx="8520600" cy="15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/>
              <a:t>Una instancia arbitraria del problema Y, ¿puede ser resuelta por una cantidad de pasos polinómicos y una cantidad de llamados polinómicos a la caja que resuelve X?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Si es así, entonces se dice que "Y es reducible polinomialmente a X".</a:t>
            </a:r>
            <a:endParaRPr/>
          </a:p>
        </p:txBody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Más formalmente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3305200"/>
            <a:ext cx="8520600" cy="16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También se puede leer en criollo como "Resolver Y se reduce a resolver X y hacer cosas para que coincida".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"Resolver Y podía parecer muy difícil, pero esa dificultad se reduce a </a:t>
            </a:r>
            <a:r>
              <a:rPr lang="es"/>
              <a:t>resolver X y hacer cosas para que coincida"</a:t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7113" y="2917773"/>
            <a:ext cx="1149775" cy="34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¿Y esto para qué sirve?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Como Y es a lo sumo tan difícil como X, si X se puede resolver en tiempo polinomial, entonces Y </a:t>
            </a:r>
            <a:r>
              <a:rPr b="1" lang="es"/>
              <a:t>también puede resolverse en tiempo polinomial.</a:t>
            </a:r>
            <a:r>
              <a:rPr lang="es"/>
              <a:t> </a:t>
            </a:r>
            <a:endParaRPr/>
          </a:p>
        </p:txBody>
      </p:sp>
      <p:pic>
        <p:nvPicPr>
          <p:cNvPr id="136" name="Google Shape;136;p23"/>
          <p:cNvPicPr preferRelativeResize="0"/>
          <p:nvPr/>
        </p:nvPicPr>
        <p:blipFill rotWithShape="1">
          <a:blip r:embed="rId3">
            <a:alphaModFix/>
          </a:blip>
          <a:srcRect b="4224" l="0" r="0" t="0"/>
          <a:stretch/>
        </p:blipFill>
        <p:spPr>
          <a:xfrm>
            <a:off x="439500" y="1936800"/>
            <a:ext cx="3810000" cy="27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 txBox="1"/>
          <p:nvPr/>
        </p:nvSpPr>
        <p:spPr>
          <a:xfrm>
            <a:off x="4446900" y="2316100"/>
            <a:ext cx="4009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3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</a:t>
            </a:r>
            <a:r>
              <a:rPr b="1" lang="es" sz="3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ame ejemplos que no entiendo</a:t>
            </a:r>
            <a:endParaRPr b="1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9940" y="3542906"/>
            <a:ext cx="162000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-33700" y="1171600"/>
            <a:ext cx="91440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</a:t>
            </a:r>
            <a:r>
              <a:rPr lang="es"/>
              <a:t>Se puede reducir el problema de </a:t>
            </a:r>
            <a:r>
              <a:rPr i="1" lang="es"/>
              <a:t>Encontrar el máximo de un arreglo</a:t>
            </a:r>
            <a:r>
              <a:rPr lang="es"/>
              <a:t> al problema de </a:t>
            </a:r>
            <a:r>
              <a:rPr i="1" lang="es"/>
              <a:t>Ordenar</a:t>
            </a:r>
            <a:r>
              <a:rPr lang="es"/>
              <a:t>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Si no sabemos encontrar el máximo (skill issues), ese gran problema se reduce a ordenar y ver una </a:t>
            </a:r>
            <a:r>
              <a:rPr i="1" lang="es"/>
              <a:t>posición.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Entonces: Ordenar es </a:t>
            </a:r>
            <a:r>
              <a:rPr i="1" lang="es"/>
              <a:t>al menos</a:t>
            </a:r>
            <a:r>
              <a:rPr lang="es"/>
              <a:t> tan difícil como encontrar el máximo en un arreglo.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Además, sabemos que hay un algoritmo polinomial para ordenar → encontrar el máximo también se puede resolver en tiempo polinomial. </a:t>
            </a:r>
            <a:endParaRPr/>
          </a:p>
        </p:txBody>
      </p:sp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I: Ordenar vs Encontrar el Máximo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II: Bipartite Matching</a:t>
            </a:r>
            <a:endParaRPr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Resolvimos este problema literalmente con una reducción!</a:t>
            </a:r>
            <a:endParaRPr/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413" y="1854900"/>
            <a:ext cx="3167175" cy="232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III: Problema del Caballo y Camino Hamiltoniano</a:t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767650"/>
            <a:ext cx="8520600" cy="28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¿Reducir </a:t>
            </a:r>
            <a:r>
              <a:rPr lang="es"/>
              <a:t>Problema del Caballo</a:t>
            </a:r>
            <a:r>
              <a:rPr lang="es"/>
              <a:t> a </a:t>
            </a:r>
            <a:r>
              <a:rPr lang="es"/>
              <a:t>Camino Hamiltoniano</a:t>
            </a:r>
            <a:r>
              <a:rPr lang="es"/>
              <a:t>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¿Reducir </a:t>
            </a:r>
            <a:r>
              <a:rPr lang="es"/>
              <a:t>Camino Hamiltoniano</a:t>
            </a:r>
            <a:r>
              <a:rPr lang="es"/>
              <a:t> a </a:t>
            </a:r>
            <a:r>
              <a:rPr lang="es"/>
              <a:t>Problema del Caballo</a:t>
            </a:r>
            <a:r>
              <a:rPr lang="es"/>
              <a:t>?</a:t>
            </a:r>
            <a:endParaRPr/>
          </a:p>
        </p:txBody>
      </p:sp>
      <p:pic>
        <p:nvPicPr>
          <p:cNvPr id="158" name="Google Shape;1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4776" y="1537037"/>
            <a:ext cx="2684475" cy="32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IV: Independent Set y N-Reinas</a:t>
            </a:r>
            <a:endParaRPr/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¿Reducir N-Reinas a Independent Set?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¿Reducir Independent Set a N-Reinas?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V: Subset Sum y Problema de la mochila</a:t>
            </a:r>
            <a:endParaRPr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 que importa es el concepto</a:t>
            </a:r>
            <a:endParaRPr/>
          </a:p>
        </p:txBody>
      </p:sp>
      <p:sp>
        <p:nvSpPr>
          <p:cNvPr id="176" name="Google Shape;176;p2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Esta idea de "puedo transformar este problema en otro".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Muchos problemas en realidad "son lo mismo que este otro" (formalmente, se reducen ida y vuelta).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Llevamos el nivel de abstracción un nivel más allá.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Practiquemos un poco</a:t>
            </a:r>
            <a:endParaRPr/>
          </a:p>
        </p:txBody>
      </p:sp>
      <p:sp>
        <p:nvSpPr>
          <p:cNvPr id="182" name="Google Shape;182;p3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VI: búsquedas I</a:t>
            </a:r>
            <a:endParaRPr/>
          </a:p>
        </p:txBody>
      </p:sp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¿Podemos reducir polinomialmente el problema de "Buscar un elemento en un arreglo ordenado" a "Buscar un elemento en un arreglo (desordenado)?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¿Podemos al revés?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VI: búsquedas II</a:t>
            </a:r>
            <a:endParaRPr/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¿Podemos reducir </a:t>
            </a:r>
            <a:r>
              <a:rPr lang="es"/>
              <a:t>polinomialmente la búsqueda</a:t>
            </a:r>
            <a:r>
              <a:rPr i="1" lang="es"/>
              <a:t> del máximo de un arreglo</a:t>
            </a:r>
            <a:r>
              <a:rPr lang="es"/>
              <a:t> </a:t>
            </a:r>
            <a:r>
              <a:rPr lang="es"/>
              <a:t>a la búsqueda</a:t>
            </a:r>
            <a:r>
              <a:rPr i="1" lang="es"/>
              <a:t> de un elemento</a:t>
            </a:r>
            <a:r>
              <a:rPr lang="es"/>
              <a:t> </a:t>
            </a:r>
            <a:r>
              <a:rPr i="1" lang="es"/>
              <a:t>en un arreglo</a:t>
            </a:r>
            <a:r>
              <a:rPr lang="es"/>
              <a:t>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VII</a:t>
            </a:r>
            <a:endParaRPr/>
          </a:p>
        </p:txBody>
      </p:sp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Supongamos </a:t>
            </a:r>
            <a:r>
              <a:rPr lang="es"/>
              <a:t>que tenemos</a:t>
            </a:r>
            <a:r>
              <a:rPr lang="es"/>
              <a:t> una caja negra que eleva al cuadrado.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¿Cómo podemos reducir "a * b" al problema de elevar al cuadrado?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0" y="2401653"/>
            <a:ext cx="4571999" cy="103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Detalle → Problemas de decisión</a:t>
            </a:r>
            <a:endParaRPr/>
          </a:p>
        </p:txBody>
      </p:sp>
      <p:sp>
        <p:nvSpPr>
          <p:cNvPr id="207" name="Google Shape;207;p3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 partir de ahora vamos a plantear los problemas de una forma </a:t>
            </a:r>
            <a:r>
              <a:rPr i="1" lang="es"/>
              <a:t>más booleana/binaria</a:t>
            </a:r>
            <a:r>
              <a:rPr lang="es"/>
              <a:t>. Por ejemplo, en Independent Set el problema original (de optimizaci</a:t>
            </a:r>
            <a:r>
              <a:rPr lang="es"/>
              <a:t>ón)</a:t>
            </a:r>
            <a:r>
              <a:rPr lang="es"/>
              <a:t> es encontrar el set independiente más grande, pero vamos a plantear </a:t>
            </a:r>
            <a:r>
              <a:rPr i="1" lang="es"/>
              <a:t>si existe un set de (al menos) tamaño k</a:t>
            </a:r>
            <a:r>
              <a:rPr lang="es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Notar: con esto resolveer</a:t>
            </a:r>
            <a:r>
              <a:rPr lang="es"/>
              <a:t>íamos</a:t>
            </a:r>
            <a:r>
              <a:rPr lang="es"/>
              <a:t> el problema más general, y podemos usar búsqueda binaria para buscar el máximo k (nunca se hace esto, es ineficiente, pero se puede).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Si planteo el problema de IS a </a:t>
            </a:r>
            <a:r>
              <a:rPr i="1" lang="es"/>
              <a:t>a lo sumo </a:t>
            </a:r>
            <a:r>
              <a:rPr lang="es"/>
              <a:t>k v</a:t>
            </a:r>
            <a:r>
              <a:rPr lang="es"/>
              <a:t>értices, ¿cómo se resolvería?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Independent Set vs Vertex Cover</a:t>
            </a:r>
            <a:endParaRPr/>
          </a:p>
        </p:txBody>
      </p:sp>
      <p:pic>
        <p:nvPicPr>
          <p:cNvPr id="213" name="Google Shape;21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8875" y="1210625"/>
            <a:ext cx="4286250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Nociones Preliminares</a:t>
            </a:r>
            <a:endParaRPr/>
          </a:p>
        </p:txBody>
      </p:sp>
      <p:sp>
        <p:nvSpPr>
          <p:cNvPr id="219" name="Google Shape;219;p36"/>
          <p:cNvSpPr txBox="1"/>
          <p:nvPr>
            <p:ph idx="1" type="body"/>
          </p:nvPr>
        </p:nvSpPr>
        <p:spPr>
          <a:xfrm>
            <a:off x="311700" y="1171600"/>
            <a:ext cx="85206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Dado un grafo G=(V,E), podemos generalizar cada una de una de sus aristas como la conexi</a:t>
            </a:r>
            <a:r>
              <a:rPr lang="es"/>
              <a:t>ón entre los vértices v y w unidos por la arista 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424425" y="3966400"/>
            <a:ext cx="85206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Esto se cumple ∀t: t ∈ 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221" name="Google Shape;22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0750" y="2101300"/>
            <a:ext cx="5622501" cy="171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Nociones Preliminares</a:t>
            </a:r>
            <a:endParaRPr/>
          </a:p>
        </p:txBody>
      </p:sp>
      <p:sp>
        <p:nvSpPr>
          <p:cNvPr id="227" name="Google Shape;227;p37"/>
          <p:cNvSpPr txBox="1"/>
          <p:nvPr>
            <p:ph idx="1" type="body"/>
          </p:nvPr>
        </p:nvSpPr>
        <p:spPr>
          <a:xfrm>
            <a:off x="311700" y="1171600"/>
            <a:ext cx="85206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Supongamos que elegimos un subconjunto S del grafo que queremos ver si es un IS/VC v</a:t>
            </a:r>
            <a:r>
              <a:rPr lang="es"/>
              <a:t>álido: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228" name="Google Shape;22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925" y="2183100"/>
            <a:ext cx="2551760" cy="7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7725" y="2183113"/>
            <a:ext cx="2551751" cy="777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925" y="3438950"/>
            <a:ext cx="2551760" cy="7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7725" y="3438962"/>
            <a:ext cx="2551753" cy="777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" name="Google Shape;232;p37"/>
          <p:cNvCxnSpPr/>
          <p:nvPr/>
        </p:nvCxnSpPr>
        <p:spPr>
          <a:xfrm>
            <a:off x="4545550" y="1948900"/>
            <a:ext cx="0" cy="27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3" name="Google Shape;233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57116" y="2071688"/>
            <a:ext cx="1529777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89063" y="2071701"/>
            <a:ext cx="1529775" cy="1000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89073" y="3327538"/>
            <a:ext cx="1529763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57124" y="3327538"/>
            <a:ext cx="1529775" cy="1000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VIII: Independent Set y Vertex Cover</a:t>
            </a:r>
            <a:endParaRPr/>
          </a:p>
        </p:txBody>
      </p:sp>
      <p:sp>
        <p:nvSpPr>
          <p:cNvPr id="242" name="Google Shape;242;p38"/>
          <p:cNvSpPr txBox="1"/>
          <p:nvPr>
            <p:ph idx="1" type="body"/>
          </p:nvPr>
        </p:nvSpPr>
        <p:spPr>
          <a:xfrm>
            <a:off x="311700" y="1171600"/>
            <a:ext cx="8520600" cy="35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/>
              <a:t>Sabemos</a:t>
            </a:r>
            <a:r>
              <a:rPr lang="es"/>
              <a:t> que no podemos resolver ambos en tiempo polinomial, pero ¿y su dificultad relativa?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Momento teorema: S es un set independiente de G sii V - S es vertex cover de G.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Demostración: Si tengo un IS </a:t>
            </a:r>
            <a:r>
              <a:rPr i="1" lang="es"/>
              <a:t>S</a:t>
            </a:r>
            <a:r>
              <a:rPr lang="es"/>
              <a:t>, si agarro una arista cualquiera (v, w), no pueden estar ambos en S (por ser IS), entonces necesariamente al menos uno de ellos tiene que estar en V-</a:t>
            </a:r>
            <a:r>
              <a:rPr i="1" lang="es"/>
              <a:t>S</a:t>
            </a:r>
            <a:r>
              <a:rPr lang="es"/>
              <a:t> → pasa para todas las aristas → V-</a:t>
            </a:r>
            <a:r>
              <a:rPr i="1" lang="es"/>
              <a:t>S</a:t>
            </a:r>
            <a:r>
              <a:rPr lang="es"/>
              <a:t> es VC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Suponemos un VC (V-</a:t>
            </a:r>
            <a:r>
              <a:rPr i="1" lang="es"/>
              <a:t>S</a:t>
            </a:r>
            <a:r>
              <a:rPr lang="es"/>
              <a:t>), y agarramos un par de vértices cualesquiera en </a:t>
            </a:r>
            <a:r>
              <a:rPr i="1" lang="es"/>
              <a:t>S</a:t>
            </a:r>
            <a:r>
              <a:rPr lang="es"/>
              <a:t>. Supongo que están unidos por una arista (</a:t>
            </a:r>
            <a:r>
              <a:rPr i="1" lang="es"/>
              <a:t>suponer</a:t>
            </a:r>
            <a:r>
              <a:rPr lang="es"/>
              <a:t> que no es IS), pero entonces habría una arista no cubierta por V-</a:t>
            </a:r>
            <a:r>
              <a:rPr i="1" lang="es"/>
              <a:t>S</a:t>
            </a:r>
            <a:r>
              <a:rPr lang="es"/>
              <a:t> → mi </a:t>
            </a:r>
            <a:r>
              <a:rPr i="1" lang="es"/>
              <a:t>suposición</a:t>
            </a:r>
            <a:r>
              <a:rPr lang="es"/>
              <a:t> genera el absurdo.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Reducimos usando teorema</a:t>
            </a:r>
            <a:endParaRPr/>
          </a:p>
        </p:txBody>
      </p:sp>
      <p:sp>
        <p:nvSpPr>
          <p:cNvPr id="248" name="Google Shape;248;p3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Reducimos: IS &lt;= VC → Si tenemos una caja negra que resuelve si un Grafo tiene un VC de tamaño a lo sumo k, para ver si tiene un IS de tamaño X, le consultamos a la caja negra si el mismo grafo tiene un VC de tamaño a lo sumo k = n - X.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Hacemos similar al revés.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Como IS ≤</a:t>
            </a:r>
            <a:r>
              <a:rPr baseline="-25000" lang="es"/>
              <a:t>p</a:t>
            </a:r>
            <a:r>
              <a:rPr lang="es"/>
              <a:t> VC y VC ≤</a:t>
            </a:r>
            <a:r>
              <a:rPr baseline="-25000" lang="es"/>
              <a:t>p</a:t>
            </a:r>
            <a:r>
              <a:rPr lang="es"/>
              <a:t> IS, son igual de </a:t>
            </a:r>
            <a:r>
              <a:rPr i="1" lang="es"/>
              <a:t>difíciles. </a:t>
            </a:r>
            <a:endParaRPr i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¿Y esto para </a:t>
            </a:r>
            <a:r>
              <a:rPr lang="es"/>
              <a:t>qué</a:t>
            </a:r>
            <a:r>
              <a:rPr lang="es"/>
              <a:t> sirve? II</a:t>
            </a:r>
            <a:endParaRPr/>
          </a:p>
        </p:txBody>
      </p:sp>
      <p:sp>
        <p:nvSpPr>
          <p:cNvPr id="254" name="Google Shape;254;p4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Así como puede servir saber que X se puede resolver en tiempo polinomial → Y también, podemos llegar a utilizar la contraria: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Si sabemos que Y "no puede" resolverse en tiempo polinomial, entonces X tampoco.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Vamos a usar esto bastante, reduciendo problemas conocidamente difíciles a otros, para demostrar que ese otro es </a:t>
            </a:r>
            <a:r>
              <a:rPr i="1" lang="es"/>
              <a:t>difícil</a:t>
            </a:r>
            <a:r>
              <a:rPr lang="es"/>
              <a:t>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¿Y esto para qué sirve? </a:t>
            </a:r>
            <a:r>
              <a:rPr lang="es"/>
              <a:t>III</a:t>
            </a:r>
            <a:endParaRPr/>
          </a:p>
        </p:txBody>
      </p:sp>
      <p:sp>
        <p:nvSpPr>
          <p:cNvPr id="260" name="Google Shape;260;p4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Supongamos que encontramos una solución polinomial para Independent Set, ¿Qué implicaría para Vertex Cover?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SAT y 3-SAT (</a:t>
            </a:r>
            <a:r>
              <a:rPr lang="es"/>
              <a:t>satisfacibilidad)</a:t>
            </a:r>
            <a:endParaRPr/>
          </a:p>
        </p:txBody>
      </p:sp>
      <p:sp>
        <p:nvSpPr>
          <p:cNvPr id="266" name="Google Shape;266;p4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(Hagamos dibujitos)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Demostración que son Equivalentes</a:t>
            </a:r>
            <a:endParaRPr/>
          </a:p>
        </p:txBody>
      </p:sp>
      <p:sp>
        <p:nvSpPr>
          <p:cNvPr id="272" name="Google Shape;272;p4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3-SAT ≤</a:t>
            </a:r>
            <a:r>
              <a:rPr baseline="-25000" lang="es"/>
              <a:t>p</a:t>
            </a:r>
            <a:r>
              <a:rPr lang="es"/>
              <a:t> SAT → trivial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SAT </a:t>
            </a:r>
            <a:r>
              <a:rPr lang="es"/>
              <a:t>≤</a:t>
            </a:r>
            <a:r>
              <a:rPr baseline="-25000" lang="es"/>
              <a:t>p</a:t>
            </a:r>
            <a:r>
              <a:rPr lang="es"/>
              <a:t> 3-SAT →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Cláusulas con 2 términos (w, y): reemplazar por (y ⋁ w ⋁ z) y (y ⋁ w ⋁ z)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Cláusulas con 1 término (y): Reemplazamos esa cláusula por (y ⋁ z</a:t>
            </a:r>
            <a:r>
              <a:rPr baseline="-25000" lang="es"/>
              <a:t>1</a:t>
            </a:r>
            <a:r>
              <a:rPr lang="es"/>
              <a:t> ⋁ z</a:t>
            </a:r>
            <a:r>
              <a:rPr baseline="-25000" lang="es"/>
              <a:t>2</a:t>
            </a:r>
            <a:r>
              <a:rPr lang="es"/>
              <a:t>) y demás variantes (4)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Cláusulas con 3 términos: nada que hacer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Cláusulas con más de 3: </a:t>
            </a:r>
            <a:endParaRPr/>
          </a:p>
        </p:txBody>
      </p:sp>
      <p:cxnSp>
        <p:nvCxnSpPr>
          <p:cNvPr id="273" name="Google Shape;273;p43"/>
          <p:cNvCxnSpPr/>
          <p:nvPr/>
        </p:nvCxnSpPr>
        <p:spPr>
          <a:xfrm>
            <a:off x="7735500" y="2311200"/>
            <a:ext cx="170100" cy="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4" name="Google Shape;274;p43"/>
          <p:cNvPicPr preferRelativeResize="0"/>
          <p:nvPr/>
        </p:nvPicPr>
        <p:blipFill rotWithShape="1">
          <a:blip r:embed="rId3">
            <a:alphaModFix/>
          </a:blip>
          <a:srcRect b="13902" l="0" r="0" t="11914"/>
          <a:stretch/>
        </p:blipFill>
        <p:spPr>
          <a:xfrm>
            <a:off x="366100" y="3928500"/>
            <a:ext cx="8411800" cy="25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¿3-SAT </a:t>
            </a:r>
            <a:r>
              <a:rPr lang="es"/>
              <a:t>≤</a:t>
            </a:r>
            <a:r>
              <a:rPr baseline="-25000" lang="es"/>
              <a:t>p</a:t>
            </a:r>
            <a:r>
              <a:rPr lang="es"/>
              <a:t> Independent Set?</a:t>
            </a:r>
            <a:endParaRPr/>
          </a:p>
        </p:txBody>
      </p:sp>
      <p:sp>
        <p:nvSpPr>
          <p:cNvPr id="280" name="Google Shape;280;p4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Ponemos nodos = términos (3k nodos) de cada cláusula.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Creamos triángulos por cada cláusula.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Ponemos aristas en posibles conflictos (variables opuestas)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Se puede demostrar que G tiene un set independiente de tamaño k sii el 3-SAT es </a:t>
            </a:r>
            <a:r>
              <a:rPr lang="es"/>
              <a:t>satisfacible</a:t>
            </a:r>
            <a:r>
              <a:rPr lang="es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¿Pero, no podrían dos variables estar en 1 dentro de la misma cláusula?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Si, pero no estamos buscando resolver el problema, sólo saber si se puede resolver. Y ese caso es compatible con </a:t>
            </a:r>
            <a:r>
              <a:rPr lang="es"/>
              <a:t>que</a:t>
            </a:r>
            <a:r>
              <a:rPr lang="es"/>
              <a:t> exista solución.</a:t>
            </a:r>
            <a:endParaRPr/>
          </a:p>
        </p:txBody>
      </p:sp>
      <p:pic>
        <p:nvPicPr>
          <p:cNvPr id="281" name="Google Shape;28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6704" y="60900"/>
            <a:ext cx="1650000" cy="206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Demostramos ese sii</a:t>
            </a:r>
            <a:endParaRPr/>
          </a:p>
        </p:txBody>
      </p:sp>
      <p:sp>
        <p:nvSpPr>
          <p:cNvPr id="287" name="Google Shape;287;p4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 Hay 3-SAT, hay Independent Set: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 es satisfacible, al menos 1 nodo de cada triángulo es True/1. Agarramos un vértice de cada triángulo tal que valga True/1 → Ese set es independiente (no puede generar conflictos)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Si hay Independent Set, hay 3-SAT: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Por cada x</a:t>
            </a:r>
            <a:r>
              <a:rPr baseline="-25000" lang="es"/>
              <a:t>i</a:t>
            </a:r>
            <a:r>
              <a:rPr lang="es"/>
              <a:t>, si está en el set, va 1, si está el complemento va el 0, si no hay ninguno, ponemos alguno en 0 y otro en 1 (no pueden estar ambos). Como hay es un independent set </a:t>
            </a:r>
            <a:r>
              <a:rPr b="1" lang="es"/>
              <a:t>de tamaño k</a:t>
            </a:r>
            <a:r>
              <a:rPr lang="es"/>
              <a:t> → necesariamente hay al menos un 1 por cada triángulo → se cumple 3-SAT.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Ok pero… ac</a:t>
            </a:r>
            <a:r>
              <a:rPr lang="es"/>
              <a:t>á estamos charlando muchas cosas</a:t>
            </a:r>
            <a:endParaRPr/>
          </a:p>
        </p:txBody>
      </p:sp>
      <p:sp>
        <p:nvSpPr>
          <p:cNvPr id="293" name="Google Shape;293;p4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</a:t>
            </a:r>
            <a:r>
              <a:rPr lang="es"/>
              <a:t>ómo puedo ver bien completo cómo plantear las cosas?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Armamos esto para 2026: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https://drive.google.com/drive/u/3/folders/12v-eTh8bpYRcbMW36_TZY5WCK6Kqc1Z2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Si notan algún error (o quieren que agreguemos algún faltante), </a:t>
            </a:r>
            <a:r>
              <a:rPr lang="es" u="sng">
                <a:solidFill>
                  <a:schemeClr val="hlink"/>
                </a:solidFill>
                <a:hlinkClick r:id="rId4"/>
              </a:rPr>
              <a:t>crear un issue en este repo donde están los fuentes</a:t>
            </a:r>
            <a:r>
              <a:rPr lang="es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#datazo</a:t>
            </a:r>
            <a:endParaRPr/>
          </a:p>
        </p:txBody>
      </p:sp>
      <p:sp>
        <p:nvSpPr>
          <p:cNvPr id="299" name="Google Shape;299;p4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notación </a:t>
            </a:r>
            <a:r>
              <a:rPr lang="es"/>
              <a:t>≤</a:t>
            </a:r>
            <a:r>
              <a:rPr baseline="-25000" lang="es"/>
              <a:t>p</a:t>
            </a:r>
            <a:r>
              <a:rPr lang="es"/>
              <a:t> es transitiva.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3-SAT ≤</a:t>
            </a:r>
            <a:r>
              <a:rPr baseline="-25000" lang="es"/>
              <a:t>p</a:t>
            </a:r>
            <a:r>
              <a:rPr lang="es"/>
              <a:t> Independent Set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Independent Set ≤</a:t>
            </a:r>
            <a:r>
              <a:rPr baseline="-25000" lang="es"/>
              <a:t>p</a:t>
            </a:r>
            <a:r>
              <a:rPr lang="es"/>
              <a:t> Vertex Cover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Bastante útil → No necesitamos demostrar que 3-SAT ≤</a:t>
            </a:r>
            <a:r>
              <a:rPr baseline="-25000" lang="es"/>
              <a:t>p</a:t>
            </a:r>
            <a:r>
              <a:rPr lang="es"/>
              <a:t> Vertex Cover.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Problemas vs Algoritmos vs Chequeos</a:t>
            </a:r>
            <a:endParaRPr/>
          </a:p>
        </p:txBody>
      </p:sp>
      <p:sp>
        <p:nvSpPr>
          <p:cNvPr id="305" name="Google Shape;305;p4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problema puede tener diferentes soluciones (algoritmos) → tomamos lo más eficiente.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Dado un problema un Algoritmo nos da una solución.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Dado un problema y una solución, deberíamos poder también tener un </a:t>
            </a:r>
            <a:r>
              <a:rPr i="1" lang="es"/>
              <a:t>validador. 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Decimos que tenemos un </a:t>
            </a:r>
            <a:r>
              <a:rPr i="1" lang="es"/>
              <a:t>certificador eficiente</a:t>
            </a:r>
            <a:r>
              <a:rPr lang="es"/>
              <a:t>, si dicho validador es correcto y ejecuta en tiempo polinomial.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Clases de Complejidad</a:t>
            </a:r>
            <a:endParaRPr/>
          </a:p>
        </p:txBody>
      </p:sp>
      <p:sp>
        <p:nvSpPr>
          <p:cNvPr id="311" name="Google Shape;311;p4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P: problemas que se pueden resolver en tiempo polinomial (</a:t>
            </a:r>
            <a:r>
              <a:rPr i="1" lang="es"/>
              <a:t>de forma eficiente</a:t>
            </a:r>
            <a:r>
              <a:rPr lang="es"/>
              <a:t>)</a:t>
            </a:r>
            <a:r>
              <a:rPr lang="es"/>
              <a:t>. → Pueden ser resueltos en tiempo polinomial por una máquina de Turing determinística.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NP: problemas para los que existe un </a:t>
            </a:r>
            <a:r>
              <a:rPr i="1" lang="es"/>
              <a:t>certificador eficiente</a:t>
            </a:r>
            <a:r>
              <a:rPr lang="es"/>
              <a:t> → se pueden validar en tiempo polinomial.  → Pueden ser resueltos en tiempo polinomial por una máquina de Turing indeterminística. 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¿Están los problemas que vimos en NP?</a:t>
            </a:r>
            <a:endParaRPr/>
          </a:p>
        </p:txBody>
      </p:sp>
      <p:sp>
        <p:nvSpPr>
          <p:cNvPr id="317" name="Google Shape;317;p50"/>
          <p:cNvSpPr txBox="1"/>
          <p:nvPr>
            <p:ph idx="1" type="body"/>
          </p:nvPr>
        </p:nvSpPr>
        <p:spPr>
          <a:xfrm>
            <a:off x="311700" y="1171600"/>
            <a:ext cx="8520600" cy="36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Búsqueda del máximo en un arreglo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Determinar si un grafo es bipartito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Problema de Scheduling (hablemos de decisión vs optimización)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Puntos más cercanos en un plano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Flujo en una 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Problema de la mochila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 reinas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Independent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Vertex Cover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3-SAT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Contraseñas?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¿P ⊆ NP?</a:t>
            </a:r>
            <a:endParaRPr/>
          </a:p>
        </p:txBody>
      </p:sp>
      <p:sp>
        <p:nvSpPr>
          <p:cNvPr id="323" name="Google Shape;323;p5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¿P ⊇ NP?</a:t>
            </a:r>
            <a:endParaRPr/>
          </a:p>
        </p:txBody>
      </p:sp>
      <p:sp>
        <p:nvSpPr>
          <p:cNvPr id="329" name="Google Shape;329;p5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Sigamos con nuestra recta – Clases de Complejidad</a:t>
            </a:r>
            <a:endParaRPr/>
          </a:p>
        </p:txBody>
      </p:sp>
      <p:sp>
        <p:nvSpPr>
          <p:cNvPr id="335" name="Google Shape;335;p5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Conclusiones del día</a:t>
            </a:r>
            <a:endParaRPr/>
          </a:p>
        </p:txBody>
      </p:sp>
      <p:sp>
        <p:nvSpPr>
          <p:cNvPr id="341" name="Google Shape;341;p5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Podemos comparar la dificultad de problemas transformando, reduciendo unos a otros.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Reducir Y a X implica que X es al menos tan complicado como Y</a:t>
            </a:r>
            <a:r>
              <a:rPr lang="es"/>
              <a:t>. No dice cuán complicado es Y (aunque dice que es a lo sumo tan complicado como X).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Hay problemas fáciles, difíciles y </a:t>
            </a:r>
            <a:r>
              <a:rPr i="1" lang="es"/>
              <a:t>los más difíciles</a:t>
            </a:r>
            <a:r>
              <a:rPr lang="es"/>
              <a:t>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Vimos clases de complejidad (un inicio) → Problemas NP-Completos → cualquier cosa a la que los podamos reducir son NP-Completos.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Vamos a seguir laburando con esto, que no es fácil.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