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5143500" cx="9144000"/>
  <p:notesSz cx="6858000" cy="9144000"/>
  <p:embeddedFontLst>
    <p:embeddedFont>
      <p:font typeface="Proxima Nova"/>
      <p:regular r:id="rId57"/>
      <p:bold r:id="rId58"/>
      <p:italic r:id="rId59"/>
      <p:boldItalic r:id="rId60"/>
    </p:embeddedFont>
    <p:embeddedFont>
      <p:font typeface="Old Standard TT"/>
      <p:regular r:id="rId61"/>
      <p:bold r:id="rId62"/>
      <p: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OldStandardTT-bold.fntdata"/><Relationship Id="rId61" Type="http://schemas.openxmlformats.org/officeDocument/2006/relationships/font" Target="fonts/OldStandardTT-regular.fntdata"/><Relationship Id="rId20" Type="http://schemas.openxmlformats.org/officeDocument/2006/relationships/slide" Target="slides/slide14.xml"/><Relationship Id="rId63" Type="http://schemas.openxmlformats.org/officeDocument/2006/relationships/font" Target="fonts/OldStandardTT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ProximaNova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ProximaNova-regular.fntdata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ProximaNova-italic.fntdata"/><Relationship Id="rId14" Type="http://schemas.openxmlformats.org/officeDocument/2006/relationships/slide" Target="slides/slide8.xml"/><Relationship Id="rId58" Type="http://schemas.openxmlformats.org/officeDocument/2006/relationships/font" Target="fonts/ProximaNova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9b03970d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9b03970d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ce59c4b51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ce59c4b51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ce59c4b51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5ce59c4b51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02d15695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02d15695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02d15695b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02d15695b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02d15695b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02d15695b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02d15695bb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02d15695bb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02d15695bb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02d15695bb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d4c2aef466_2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d4c2aef466_2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02d15695bb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02d15695bb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d4c2aef466_2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d4c2aef466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02d15695bb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02d15695bb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02d15695bb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02d15695b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ce59c4b51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5ce59c4b51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dbda0dfa16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dbda0dfa16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dbda0dfa16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dbda0dfa16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dbda0dfa16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dbda0dfa16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dbda0dfa16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dbda0dfa16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dbda0dfa16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dbda0dfa16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dbda0dfa16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dbda0dfa16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dbda0dfa16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dbda0dfa16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dbda0dfa16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dbda0dfa16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dbda0dfa16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dbda0dfa16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dbda0dfa16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dbda0dfa16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235dfad9f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235dfad9f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28b069b7b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28b069b7b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28b069b7b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28b069b7b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28b069b7b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28b069b7b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28b069b7b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28b069b7b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28b069b7b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28b069b7b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28b069bda6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28b069bda6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e20be4643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e20be4643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3cb29a91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3cb29a91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e20be4643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e20be4643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Competitive Facility Location Problem: 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dado un grafo, donde en cada vértice hay valores b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 En cada turno cada jugador debe elegir un nodo, tal que todos los nodos que viene eligiendo forman un Set independiente. El jugador 1 gana si llega a obtener B puntos. El jugador 2 gana si logra evitarlo. </a:t>
            </a:r>
            <a:endParaRPr sz="12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3cb29a91e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23cb29a91e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e20be464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1e20be464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e20be4643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e20be4643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3cb29a91e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3cb29a91e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3cb29a91e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23cb29a91e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3cb29a91e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3cb29a91e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3cb29a91e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3cb29a91e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e20be4643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1e20be4643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Un bfs se puede "ver" que podríamos encolar todo → espacio exponencial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3cb29a91eb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23cb29a91e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3cb29a91e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23cb29a91e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3cb29a91eb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23cb29a91eb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3cb29a91eb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23cb29a91e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3cb29a91eb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3cb29a91e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3cb29a91eb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23cb29a91eb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e20be4643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1e20be4643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44b5deac7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244b5deac7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roxima Nova"/>
              <a:buNone/>
              <a:defRPr sz="4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roxima Nova"/>
              <a:buNone/>
              <a:defRPr sz="24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Proxima Nova"/>
              <a:buNone/>
              <a:defRPr sz="54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14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4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roxima Nova"/>
              <a:buNone/>
              <a:defRPr sz="4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roxima Nova"/>
              <a:buNone/>
              <a:defRPr sz="24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15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Proxima Nova"/>
              <a:buNone/>
              <a:defRPr sz="54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8" name="Google Shape;8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" name="Google Shape;91;p21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21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3" name="Google Shape;93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4" name="Google Shape;94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5" name="Google Shape;9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8" name="Google Shape;9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101" name="Google Shape;101;p23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2" name="Google Shape;10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rgbClr val="EFEFE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rgbClr val="EFEFE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9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Relationship Id="rId4" Type="http://schemas.openxmlformats.org/officeDocument/2006/relationships/image" Target="../media/image17.png"/><Relationship Id="rId5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Relationship Id="rId4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youtu.be/KEHpjagEvQI?t=5170" TargetMode="External"/><Relationship Id="rId4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30.png"/><Relationship Id="rId6" Type="http://schemas.openxmlformats.org/officeDocument/2006/relationships/image" Target="../media/image2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Ejercitaci</a:t>
            </a:r>
            <a:r>
              <a:rPr lang="es"/>
              <a:t>ón de Reducciones y </a:t>
            </a:r>
            <a:r>
              <a:rPr lang="es"/>
              <a:t>PSPACE</a:t>
            </a:r>
            <a:endParaRPr/>
          </a:p>
        </p:txBody>
      </p:sp>
      <p:sp>
        <p:nvSpPr>
          <p:cNvPr id="110" name="Google Shape;110;p25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Teoría de Algoritmos</a:t>
            </a:r>
            <a:endParaRPr/>
          </a:p>
        </p:txBody>
      </p:sp>
      <p:pic>
        <p:nvPicPr>
          <p:cNvPr id="111" name="Google Shape;111;p25"/>
          <p:cNvPicPr preferRelativeResize="0"/>
          <p:nvPr/>
        </p:nvPicPr>
        <p:blipFill rotWithShape="1">
          <a:blip r:embed="rId3">
            <a:alphaModFix/>
          </a:blip>
          <a:srcRect b="80" l="0" r="0" t="70"/>
          <a:stretch/>
        </p:blipFill>
        <p:spPr>
          <a:xfrm>
            <a:off x="7060492" y="4349400"/>
            <a:ext cx="2079858" cy="78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Recordemos, ¿qué hay que hacer para ver si un problema es NP completo?</a:t>
            </a:r>
            <a:endParaRPr/>
          </a:p>
        </p:txBody>
      </p:sp>
      <p:sp>
        <p:nvSpPr>
          <p:cNvPr id="117" name="Google Shape;117;p26"/>
          <p:cNvSpPr txBox="1"/>
          <p:nvPr>
            <p:ph idx="1" type="body"/>
          </p:nvPr>
        </p:nvSpPr>
        <p:spPr>
          <a:xfrm>
            <a:off x="311700" y="14764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¿Eso quiere decir que tenemos que demostrar todo, y la doble implicaci</a:t>
            </a:r>
            <a:r>
              <a:rPr lang="es"/>
              <a:t>ón de la reducción</a:t>
            </a:r>
            <a:r>
              <a:rPr lang="es"/>
              <a:t>?</a:t>
            </a:r>
            <a:endParaRPr/>
          </a:p>
        </p:txBody>
      </p:sp>
      <p:sp>
        <p:nvSpPr>
          <p:cNvPr id="123" name="Google Shape;123;p27"/>
          <p:cNvSpPr txBox="1"/>
          <p:nvPr>
            <p:ph idx="1" type="body"/>
          </p:nvPr>
        </p:nvSpPr>
        <p:spPr>
          <a:xfrm>
            <a:off x="311700" y="14473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Ja.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Yes.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Tak.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Wi.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Sim.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¿Y si no lo hago? → No va a estar bien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Antes… ejercitemos un poquito</a:t>
            </a:r>
            <a:endParaRPr/>
          </a:p>
        </p:txBody>
      </p:sp>
      <p:sp>
        <p:nvSpPr>
          <p:cNvPr id="129" name="Google Shape;129;p2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Dominating Set: Dado un grafo, el DS es un subconjunto en el que todos los vértices o bien están en el conjunto, o son adyacentes a alguno de los vértices del conjunto.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Problema de decisión: Dado un grafo y un número k, ¿existe un conjunto de a lo sumo k vértices que sea dominante?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Demostramos que Dominant Set es NP-Completo</a:t>
            </a:r>
            <a:endParaRPr/>
          </a:p>
        </p:txBody>
      </p:sp>
      <p:sp>
        <p:nvSpPr>
          <p:cNvPr id="135" name="Google Shape;135;p29"/>
          <p:cNvSpPr txBox="1"/>
          <p:nvPr>
            <p:ph idx="1" type="body"/>
          </p:nvPr>
        </p:nvSpPr>
        <p:spPr>
          <a:xfrm>
            <a:off x="311700" y="1095400"/>
            <a:ext cx="86508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¿Está en NP?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¿Qué problema puede llegar a funcionar?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Demostramos que Dominant Set es NP-Completo</a:t>
            </a:r>
            <a:endParaRPr/>
          </a:p>
        </p:txBody>
      </p:sp>
      <p:sp>
        <p:nvSpPr>
          <p:cNvPr id="141" name="Google Shape;141;p3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Vamos con Vertex Cover: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Tenemos nuestro grafo original G, y vamos a construir otro grafo. Este nuevo grafo va a tener los mismos vértices que el original.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Aparte, tenemos un vértice por cada arista del grafo original. Unimos los vértices adicionales con los vértices que originalmente unían (como poner un vértice en el medio).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Ahora resulta que si el grafo original tiene un vertex cover de tamaño K, entonces esos mismos vértices forman un dominant set en el nuevo grafo (*) → si hay un dominant set de tamaño k, hay un vertex cover de tamaño k →  pudimos reducir VC a DS → DS es NP Completo.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(*) K + cantidad de vértices sueltos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Reducción</a:t>
            </a:r>
            <a:endParaRPr/>
          </a:p>
        </p:txBody>
      </p:sp>
      <p:pic>
        <p:nvPicPr>
          <p:cNvPr id="147" name="Google Shape;14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7869" y="1210625"/>
            <a:ext cx="6148262" cy="37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Demostramos que Dominant Set es NP-Completo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Demostramos que Dominant Set es NP-Completo</a:t>
            </a:r>
            <a:endParaRPr/>
          </a:p>
        </p:txBody>
      </p:sp>
      <p:sp>
        <p:nvSpPr>
          <p:cNvPr id="158" name="Google Shape;158;p3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¿Y si vemos por 3-SAT? (tenemos n variables y m cl</a:t>
            </a:r>
            <a:r>
              <a:rPr lang="es"/>
              <a:t>áusulas)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Partimos de tener n variables y m cláusulas. Creamos un grafo de 3n + m nodos: Tenemos un nodo por cada variable (x</a:t>
            </a:r>
            <a:r>
              <a:rPr baseline="-25000" lang="es"/>
              <a:t>i</a:t>
            </a:r>
            <a:r>
              <a:rPr lang="es"/>
              <a:t>), por cada complemento, y uno extra (u</a:t>
            </a:r>
            <a:r>
              <a:rPr baseline="-25000" lang="es"/>
              <a:t>i</a:t>
            </a:r>
            <a:r>
              <a:rPr lang="es"/>
              <a:t>), y uno por cada cláusula.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Formamos triángulos entre el vértice de x</a:t>
            </a:r>
            <a:r>
              <a:rPr baseline="-25000" lang="es"/>
              <a:t>i</a:t>
            </a:r>
            <a:r>
              <a:rPr lang="es"/>
              <a:t>, su complemento y su extra → El extra sólo se une a variable o complemento → uno de los dos debe quedar seleccionado (si es u</a:t>
            </a:r>
            <a:r>
              <a:rPr baseline="-25000" lang="es"/>
              <a:t>i</a:t>
            </a:r>
            <a:r>
              <a:rPr lang="es"/>
              <a:t>, es que puede ser cualquiera).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Unimos vértices de variables/complementos a los de las cláusulas a las que integran.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Hay Dominating Set de cantidad de vértices a lo sumo k = n sii el problema de 3-SAT se puede satisfacer.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Reducción</a:t>
            </a:r>
            <a:endParaRPr/>
          </a:p>
        </p:txBody>
      </p:sp>
      <p:pic>
        <p:nvPicPr>
          <p:cNvPr id="164" name="Google Shape;16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048" y="1210625"/>
            <a:ext cx="7001905" cy="37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pasaría si no ponemos un vértice por cada cláusula?</a:t>
            </a:r>
            <a:endParaRPr/>
          </a:p>
        </p:txBody>
      </p:sp>
      <p:sp>
        <p:nvSpPr>
          <p:cNvPr id="170" name="Google Shape;170;p35"/>
          <p:cNvSpPr txBox="1"/>
          <p:nvPr>
            <p:ph idx="1" type="body"/>
          </p:nvPr>
        </p:nvSpPr>
        <p:spPr>
          <a:xfrm>
            <a:off x="311700" y="14764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Unimos entre sí vértices que comparten cláusula.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Contraejemplo: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(A, B, C)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(A, B, D)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(A, B, 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0000"/>
                </a:solidFill>
              </a:rPr>
              <a:t>(C, D, E)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Hay Dominating Set → Hay 3-SAT</a:t>
            </a:r>
            <a:endParaRPr/>
          </a:p>
        </p:txBody>
      </p:sp>
      <p:sp>
        <p:nvSpPr>
          <p:cNvPr id="176" name="Google Shape;176;p3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Tenemos n triángulos donde un vértice (extra) sólo se une a 2 de estos → al menos uno de esos 3 debe quedar seleccionado (similar a 3-SAT &lt;=</a:t>
            </a:r>
            <a:r>
              <a:rPr baseline="-25000" lang="es"/>
              <a:t>p</a:t>
            </a:r>
            <a:r>
              <a:rPr lang="es"/>
              <a:t>Independent Set), pero no puede haber más de 1 por triángulo porque podemos seleccionar hasta n, sino es imposible dominar las variables extra.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Luego, para que los vértices de cláusulas queden dominados, alguna de sus variables deben quedar en el conjunto → si hay Dominating Set, esta asignación permite que todas las cláusulas del 3-SAT sean satisfechas.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Hay 3-SAT → Hay Dominating Set</a:t>
            </a:r>
            <a:endParaRPr/>
          </a:p>
        </p:txBody>
      </p:sp>
      <p:sp>
        <p:nvSpPr>
          <p:cNvPr id="182" name="Google Shape;182;p3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Si tenemos una asignación de variables/complementos valiendo true/false, puedo poner los que están en true como parte del dominating set, y eso va a tener que dominar uno por triángulo, y necesariamente va a haber al menos una variable por cláusula dominándola.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tranqui</a:t>
            </a:r>
            <a:endParaRPr/>
          </a:p>
        </p:txBody>
      </p:sp>
      <p:pic>
        <p:nvPicPr>
          <p:cNvPr id="188" name="Google Shape;188;p38" title="Screenshot 2025-05-24 at 8.08.2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46200"/>
            <a:ext cx="8839203" cy="153281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8"/>
          <p:cNvSpPr txBox="1"/>
          <p:nvPr/>
        </p:nvSpPr>
        <p:spPr>
          <a:xfrm>
            <a:off x="1429650" y="3086100"/>
            <a:ext cx="628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Recomendación: hagan primero el ejercicio 23, y luego el 20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9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Todo lo que brilla… ¿es NP?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pequeño problema con NP</a:t>
            </a:r>
            <a:endParaRPr/>
          </a:p>
        </p:txBody>
      </p:sp>
      <p:sp>
        <p:nvSpPr>
          <p:cNvPr id="200" name="Google Shape;200;p4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La definición nos indica que es fácil probar que algo es una solución...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Ej: ¿cómo demostramos que un determinado camino suma a lo sumo 100 en un TSP?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Pero... y ¿si no la hay?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¿Cómo demostramos que NO hay un camino de a lo sumo costo 100 en un TSP?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Complemento a un problema</a:t>
            </a:r>
            <a:endParaRPr/>
          </a:p>
        </p:txBody>
      </p:sp>
      <p:sp>
        <p:nvSpPr>
          <p:cNvPr id="206" name="Google Shape;206;p4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es un problema donde algo que tenga solución en      no la tiene en     y viceversa.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547" y="1294063"/>
            <a:ext cx="217850" cy="20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2123" y="1306147"/>
            <a:ext cx="217850" cy="181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8300" y="1281988"/>
            <a:ext cx="217850" cy="20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Complemento a un problema</a:t>
            </a:r>
            <a:endParaRPr/>
          </a:p>
        </p:txBody>
      </p:sp>
      <p:sp>
        <p:nvSpPr>
          <p:cNvPr id="215" name="Google Shape;215;p4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es un problema donde algo que tenga solución en      no la tiene en     y viceversa.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Notar que si</a:t>
            </a:r>
            <a:endParaRPr/>
          </a:p>
        </p:txBody>
      </p:sp>
      <p:pic>
        <p:nvPicPr>
          <p:cNvPr id="216" name="Google Shape;21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547" y="1294063"/>
            <a:ext cx="217850" cy="20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2123" y="1306147"/>
            <a:ext cx="217850" cy="181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8300" y="1281988"/>
            <a:ext cx="217850" cy="20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4925" y="2135275"/>
            <a:ext cx="1649001" cy="2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Complemento a un problema</a:t>
            </a:r>
            <a:endParaRPr/>
          </a:p>
        </p:txBody>
      </p:sp>
      <p:sp>
        <p:nvSpPr>
          <p:cNvPr id="225" name="Google Shape;225;p4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es un problema donde algo que tenga solución en      no la tiene en     y viceversa.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Notar que si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Y si                 … ¿                ?</a:t>
            </a:r>
            <a:endParaRPr/>
          </a:p>
        </p:txBody>
      </p:sp>
      <p:pic>
        <p:nvPicPr>
          <p:cNvPr id="226" name="Google Shape;22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547" y="1294063"/>
            <a:ext cx="217850" cy="20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2123" y="1306147"/>
            <a:ext cx="217850" cy="181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8300" y="1281988"/>
            <a:ext cx="217850" cy="20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4925" y="2135275"/>
            <a:ext cx="1649001" cy="20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1700" y="2659075"/>
            <a:ext cx="939550" cy="20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97438" y="2659075"/>
            <a:ext cx="863971" cy="2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Complemento a un problema</a:t>
            </a:r>
            <a:endParaRPr/>
          </a:p>
        </p:txBody>
      </p:sp>
      <p:sp>
        <p:nvSpPr>
          <p:cNvPr id="237" name="Google Shape;237;p4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es un problema donde algo que tenga solución en      no la tiene en     y viceversa.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Notar que si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Y si                 … ¿                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Ahora en vez de "existe algún camino/selección/partición etc..." lo caracterizamos como "para todo camino/selección/..." sucede que no hay solución.</a:t>
            </a:r>
            <a:endParaRPr/>
          </a:p>
        </p:txBody>
      </p:sp>
      <p:pic>
        <p:nvPicPr>
          <p:cNvPr id="238" name="Google Shape;23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547" y="1294063"/>
            <a:ext cx="217850" cy="20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2123" y="1306147"/>
            <a:ext cx="217850" cy="181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8300" y="1281988"/>
            <a:ext cx="217850" cy="20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4925" y="2135275"/>
            <a:ext cx="1649001" cy="20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1700" y="2659075"/>
            <a:ext cx="939550" cy="20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97438" y="2659075"/>
            <a:ext cx="863971" cy="2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Clase co-NP</a:t>
            </a:r>
            <a:endParaRPr/>
          </a:p>
        </p:txBody>
      </p:sp>
      <p:sp>
        <p:nvSpPr>
          <p:cNvPr id="249" name="Google Shape;249;p4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 un problema pertenece a NP → es fácil demostrar cuando algo es solución.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Si un problema pertenece a co-NP → es fácil demostrar que algo no es solución/no tiene solución ("No existe un camino de largo como mucho N", etc…).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6"/>
          <p:cNvSpPr txBox="1"/>
          <p:nvPr>
            <p:ph idx="1" type="body"/>
          </p:nvPr>
        </p:nvSpPr>
        <p:spPr>
          <a:xfrm>
            <a:off x="357150" y="3069575"/>
            <a:ext cx="8520600" cy="5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Y también:</a:t>
            </a:r>
            <a:endParaRPr/>
          </a:p>
        </p:txBody>
      </p:sp>
      <p:sp>
        <p:nvSpPr>
          <p:cNvPr id="255" name="Google Shape;255;p4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¿NP = co-NP?</a:t>
            </a:r>
            <a:endParaRPr/>
          </a:p>
        </p:txBody>
      </p:sp>
      <p:sp>
        <p:nvSpPr>
          <p:cNvPr id="256" name="Google Shape;256;p46"/>
          <p:cNvSpPr txBox="1"/>
          <p:nvPr>
            <p:ph idx="1" type="body"/>
          </p:nvPr>
        </p:nvSpPr>
        <p:spPr>
          <a:xfrm>
            <a:off x="311700" y="1171600"/>
            <a:ext cx="8520600" cy="5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No sabemos… se cree que no, y además si </a:t>
            </a:r>
            <a:endParaRPr/>
          </a:p>
        </p:txBody>
      </p:sp>
      <p:pic>
        <p:nvPicPr>
          <p:cNvPr id="257" name="Google Shape;25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0375" y="1296025"/>
            <a:ext cx="3644675" cy="2974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46"/>
          <p:cNvSpPr txBox="1"/>
          <p:nvPr>
            <p:ph idx="1" type="body"/>
          </p:nvPr>
        </p:nvSpPr>
        <p:spPr>
          <a:xfrm>
            <a:off x="311700" y="1705000"/>
            <a:ext cx="8520600" cy="5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Demostramos por método indirecto (asumimos que P = NP y llegamos a que NP = co-NP).</a:t>
            </a:r>
            <a:endParaRPr/>
          </a:p>
        </p:txBody>
      </p:sp>
      <p:pic>
        <p:nvPicPr>
          <p:cNvPr id="259" name="Google Shape;25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150" y="2676550"/>
            <a:ext cx="4149000" cy="29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2699950"/>
            <a:ext cx="4110906" cy="29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7150" y="3593376"/>
            <a:ext cx="4519106" cy="29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60100" y="3593382"/>
            <a:ext cx="4095542" cy="29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4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7150" y="4295055"/>
            <a:ext cx="4816047" cy="29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49393" y="4295050"/>
            <a:ext cx="2293325" cy="29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clase</a:t>
            </a:r>
            <a:endParaRPr/>
          </a:p>
        </p:txBody>
      </p:sp>
      <p:sp>
        <p:nvSpPr>
          <p:cNvPr id="270" name="Google Shape;270;p4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 un problema está en ambas clases = Copado. Ej: problemas en P.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Entonces… ¿P =                          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No sabemos, y hay menos consenso en general.</a:t>
            </a:r>
            <a:endParaRPr/>
          </a:p>
        </p:txBody>
      </p:sp>
      <p:pic>
        <p:nvPicPr>
          <p:cNvPr id="271" name="Google Shape;27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0217" y="593138"/>
            <a:ext cx="2193026" cy="31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565" y="1818229"/>
            <a:ext cx="1401276" cy="20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¿Hay algo más allá de NP?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Más allá de NP</a:t>
            </a:r>
            <a:endParaRPr/>
          </a:p>
        </p:txBody>
      </p:sp>
      <p:sp>
        <p:nvSpPr>
          <p:cNvPr id="283" name="Google Shape;283;p4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Hasta ahora nos centramos en el tiempo... cuando nos centramos en el espacio, de repente NP (y co-NP) nos queda corto. </a:t>
            </a:r>
            <a:endParaRPr/>
          </a:p>
        </p:txBody>
      </p:sp>
      <p:pic>
        <p:nvPicPr>
          <p:cNvPr id="284" name="Google Shape;28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7200" y="2423198"/>
            <a:ext cx="4889601" cy="2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PSPACE</a:t>
            </a:r>
            <a:endParaRPr/>
          </a:p>
        </p:txBody>
      </p:sp>
      <p:sp>
        <p:nvSpPr>
          <p:cNvPr id="290" name="Google Shape;290;p5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Problemas que se resuelven con un algoritmo que consume una cantidad polinomial de </a:t>
            </a:r>
            <a:r>
              <a:rPr lang="es" u="sng"/>
              <a:t>espacio</a:t>
            </a:r>
            <a:r>
              <a:rPr lang="es"/>
              <a:t>.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¿Mergesort está en PSPACE?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¿Fibonacci está en PSPACE?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¿P está en PSPACE?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Momento...</a:t>
            </a:r>
            <a:endParaRPr/>
          </a:p>
        </p:txBody>
      </p:sp>
      <p:sp>
        <p:nvSpPr>
          <p:cNvPr id="296" name="Google Shape;296;p5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Supongamos que contamos de 0 a 2</a:t>
            </a:r>
            <a:r>
              <a:rPr baseline="30000" lang="es"/>
              <a:t>n</a:t>
            </a:r>
            <a:r>
              <a:rPr lang="es"/>
              <a:t> - 1 de a 1…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¿Cuánto demora?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¿Cuánta memoria consume?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Fumanchamo filosofía</a:t>
            </a:r>
            <a:endParaRPr/>
          </a:p>
        </p:txBody>
      </p:sp>
      <p:sp>
        <p:nvSpPr>
          <p:cNvPr id="302" name="Google Shape;302;p5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El problema anterior es falopa, pero falopa de la </a:t>
            </a:r>
            <a:r>
              <a:rPr lang="es"/>
              <a:t>buena</a:t>
            </a:r>
            <a:r>
              <a:rPr lang="es"/>
              <a:t>: demuestra una característica intrínseca de los recursos que manejamos.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s"/>
              <a:t>El espacio se puede reutilizar, pero el tiempo no. 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s"/>
              <a:t>– </a:t>
            </a:r>
            <a:r>
              <a:rPr i="1" lang="es"/>
              <a:t>Martín, volado en Aristóteles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03" name="Google Shape;30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9951" y="1997050"/>
            <a:ext cx="203490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Nos empiezan a temblar las manitos</a:t>
            </a:r>
            <a:endParaRPr/>
          </a:p>
        </p:txBody>
      </p:sp>
      <p:sp>
        <p:nvSpPr>
          <p:cNvPr id="309" name="Google Shape;309;p5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Podemos resolver 3-SAT en espacio polinomial... básicamente como el problema anterior probando con el contador de 2</a:t>
            </a:r>
            <a:r>
              <a:rPr baseline="30000" lang="es"/>
              <a:t>n</a:t>
            </a:r>
            <a:r>
              <a:rPr lang="es"/>
              <a:t> - 1 bits.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Es tiempo exponencial claramente, pero espacio polinomial…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Como 3-SAT es NP-completo, y se puede resolver en espacio polinomial…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10" name="Google Shape;31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4025" y="3128519"/>
            <a:ext cx="3615950" cy="49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5050" y="2951675"/>
            <a:ext cx="2465501" cy="195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1175" y="3128517"/>
            <a:ext cx="2357774" cy="177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3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3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3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¿P ≠ PSPACE?</a:t>
            </a:r>
            <a:endParaRPr/>
          </a:p>
        </p:txBody>
      </p:sp>
      <p:sp>
        <p:nvSpPr>
          <p:cNvPr id="318" name="Google Shape;318;p54"/>
          <p:cNvSpPr txBox="1"/>
          <p:nvPr>
            <p:ph idx="1" type="body"/>
          </p:nvPr>
        </p:nvSpPr>
        <p:spPr>
          <a:xfrm>
            <a:off x="311700" y="1171600"/>
            <a:ext cx="3585600" cy="4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Ni eso se pudo demostrar…</a:t>
            </a:r>
            <a:endParaRPr/>
          </a:p>
        </p:txBody>
      </p:sp>
      <p:pic>
        <p:nvPicPr>
          <p:cNvPr id="319" name="Google Shape;31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8121" y="507275"/>
            <a:ext cx="4461326" cy="4402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875" y="1888800"/>
            <a:ext cx="3537450" cy="252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Problemas en PSPACE que "no son NP": Problemas PSPACE Completos</a:t>
            </a:r>
            <a:endParaRPr/>
          </a:p>
        </p:txBody>
      </p:sp>
      <p:sp>
        <p:nvSpPr>
          <p:cNvPr id="326" name="Google Shape;326;p55"/>
          <p:cNvSpPr txBox="1"/>
          <p:nvPr>
            <p:ph idx="1" type="body"/>
          </p:nvPr>
        </p:nvSpPr>
        <p:spPr>
          <a:xfrm>
            <a:off x="311700" y="14764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A continuación hay unas 15 diapos salteadas para quien le interese ver más del tema (o </a:t>
            </a:r>
            <a:r>
              <a:rPr lang="es" u="sng">
                <a:solidFill>
                  <a:schemeClr val="hlink"/>
                </a:solidFill>
                <a:hlinkClick r:id="rId3"/>
              </a:rPr>
              <a:t>pueden ver una grabación de un cuatrimestre anterior</a:t>
            </a:r>
            <a:r>
              <a:rPr lang="es"/>
              <a:t>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27" name="Google Shape;327;p55"/>
          <p:cNvPicPr preferRelativeResize="0"/>
          <p:nvPr/>
        </p:nvPicPr>
        <p:blipFill rotWithShape="1">
          <a:blip r:embed="rId4">
            <a:alphaModFix/>
          </a:blip>
          <a:srcRect b="4635" l="0" r="0" t="0"/>
          <a:stretch/>
        </p:blipFill>
        <p:spPr>
          <a:xfrm>
            <a:off x="2737825" y="2311375"/>
            <a:ext cx="3668350" cy="258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Cuantificación (QSAT)</a:t>
            </a:r>
            <a:endParaRPr/>
          </a:p>
        </p:txBody>
      </p:sp>
      <p:sp>
        <p:nvSpPr>
          <p:cNvPr id="333" name="Google Shape;333;p56"/>
          <p:cNvSpPr txBox="1"/>
          <p:nvPr>
            <p:ph idx="1" type="body"/>
          </p:nvPr>
        </p:nvSpPr>
        <p:spPr>
          <a:xfrm>
            <a:off x="311700" y="1171600"/>
            <a:ext cx="85206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Volvemos a 3-SAT: tenemos n variables, y una fórmula booleana que es una disyunción de conjunciones de 3 términos.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3-SAT Pregunta:</a:t>
            </a:r>
            <a:endParaRPr/>
          </a:p>
        </p:txBody>
      </p:sp>
      <p:sp>
        <p:nvSpPr>
          <p:cNvPr id="334" name="Google Shape;334;p56"/>
          <p:cNvSpPr txBox="1"/>
          <p:nvPr/>
        </p:nvSpPr>
        <p:spPr>
          <a:xfrm>
            <a:off x="311700" y="2481075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Planteamos Quantified 3-SAT (= QSAT): 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35" name="Google Shape;33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350" y="1981200"/>
            <a:ext cx="4589843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5122" y="2479013"/>
            <a:ext cx="4179592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56"/>
          <p:cNvSpPr txBox="1"/>
          <p:nvPr/>
        </p:nvSpPr>
        <p:spPr>
          <a:xfrm>
            <a:off x="311700" y="3090675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Ejemplo: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38" name="Google Shape;338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704775"/>
            <a:ext cx="8839201" cy="505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95608" y="4338875"/>
            <a:ext cx="3752784" cy="61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Resolución</a:t>
            </a:r>
            <a:endParaRPr/>
          </a:p>
        </p:txBody>
      </p:sp>
      <p:sp>
        <p:nvSpPr>
          <p:cNvPr id="345" name="Google Shape;345;p5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 usáramos dos arreglos en cada paso de la recursividad: S(n) = 2 S(n-1) + p(n)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Pero podemos reutilizar → S(n) = S(n-1) + p(n)  &lt;= n p(n) → QSAT está en PSPACE.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Juegos de 2 jugadores</a:t>
            </a:r>
            <a:endParaRPr/>
          </a:p>
        </p:txBody>
      </p:sp>
      <p:sp>
        <p:nvSpPr>
          <p:cNvPr id="351" name="Google Shape;351;p5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Ajedrez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Go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Competitive Facility Location Problem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con Competitive Facility Location</a:t>
            </a:r>
            <a:endParaRPr/>
          </a:p>
        </p:txBody>
      </p:sp>
      <p:sp>
        <p:nvSpPr>
          <p:cNvPr id="357" name="Google Shape;357;p5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Acá es lo mismo, paso a paso reutilizamos el mismo arreglo que indica "qué movimiento se hace", resultando también en S(n) = S(n-1) + p(n)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→ Competitive Facility Location está en PSPACE.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Problemas de planificación</a:t>
            </a:r>
            <a:endParaRPr/>
          </a:p>
        </p:txBody>
      </p:sp>
      <p:sp>
        <p:nvSpPr>
          <p:cNvPr id="363" name="Google Shape;363;p6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Operaciones logísticas con diferentes recursos (materiales y/o humanos)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Ayudas en escenarios de desastres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Operaciones militares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Juegos (de 1 jugador) como cubo Rubik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Generalización</a:t>
            </a:r>
            <a:endParaRPr/>
          </a:p>
        </p:txBody>
      </p:sp>
      <p:sp>
        <p:nvSpPr>
          <p:cNvPr id="369" name="Google Shape;369;p6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Tengo un conjunto C</a:t>
            </a:r>
            <a:r>
              <a:rPr baseline="-25000" lang="es"/>
              <a:t>0</a:t>
            </a:r>
            <a:r>
              <a:rPr lang="es"/>
              <a:t> de condiciones iniciales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Tengo un conjunto C* de condiciones finales al que queremos llegar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Tengo un conjunto de operaciones/operadores O</a:t>
            </a:r>
            <a:r>
              <a:rPr baseline="-25000" lang="es"/>
              <a:t>1</a:t>
            </a:r>
            <a:r>
              <a:rPr lang="es"/>
              <a:t>, …, O</a:t>
            </a:r>
            <a:r>
              <a:rPr baseline="-25000" lang="es"/>
              <a:t>k</a:t>
            </a:r>
            <a:r>
              <a:rPr lang="es"/>
              <a:t>, con cada Operador </a:t>
            </a:r>
            <a:r>
              <a:rPr i="1" lang="es"/>
              <a:t>i</a:t>
            </a:r>
            <a:r>
              <a:rPr lang="es"/>
              <a:t> con pre-requisitos P</a:t>
            </a:r>
            <a:r>
              <a:rPr baseline="-25000" lang="es"/>
              <a:t>i</a:t>
            </a:r>
            <a:r>
              <a:rPr lang="es"/>
              <a:t>, una "add-list" A</a:t>
            </a:r>
            <a:r>
              <a:rPr baseline="-25000" lang="es"/>
              <a:t>i</a:t>
            </a:r>
            <a:r>
              <a:rPr lang="es"/>
              <a:t> y una "delete list" D</a:t>
            </a:r>
            <a:r>
              <a:rPr baseline="-25000" lang="es"/>
              <a:t>i</a:t>
            </a:r>
            <a:r>
              <a:rPr lang="es"/>
              <a:t>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¿Es posible aplicar una secuencia de operaciones desde C</a:t>
            </a:r>
            <a:r>
              <a:rPr baseline="-25000" lang="es"/>
              <a:t>0</a:t>
            </a:r>
            <a:r>
              <a:rPr lang="es"/>
              <a:t> tal que lleguemos a C*?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Pensemos en un juego: </a:t>
            </a:r>
            <a:r>
              <a:rPr lang="es"/>
              <a:t>Jarras</a:t>
            </a:r>
            <a:endParaRPr/>
          </a:p>
        </p:txBody>
      </p:sp>
      <p:pic>
        <p:nvPicPr>
          <p:cNvPr id="375" name="Google Shape;37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250" y="1116825"/>
            <a:ext cx="4381500" cy="32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Jarras</a:t>
            </a:r>
            <a:endParaRPr/>
          </a:p>
        </p:txBody>
      </p:sp>
      <p:sp>
        <p:nvSpPr>
          <p:cNvPr id="381" name="Google Shape;381;p6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Si tengo un grafo </a:t>
            </a:r>
            <a:r>
              <a:rPr i="1" lang="es" sz="1800"/>
              <a:t>implícito</a:t>
            </a:r>
            <a:r>
              <a:rPr lang="es" sz="1800"/>
              <a:t> para el pasaje de estados: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800"/>
              <a:t>(x, y) → </a:t>
            </a:r>
            <a:endParaRPr sz="18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(5, y)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(x, 3)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(0, y)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(x, 0)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( max(x - (3 - y), 0), min(y + x, 3))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( min(x + y, 5), max(y - (5 - x), 0))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1800"/>
              <a:t>Queremos pasar del estado (0, 0) al estado (4, 0)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Seguimiento de BFS</a:t>
            </a:r>
            <a:endParaRPr/>
          </a:p>
        </p:txBody>
      </p:sp>
      <p:sp>
        <p:nvSpPr>
          <p:cNvPr id="387" name="Google Shape;387;p6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(0, 0) → </a:t>
            </a:r>
            <a:endParaRPr sz="18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(5, 0); (0, 3) → </a:t>
            </a:r>
            <a:endParaRPr sz="18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(2, 3); (5, 3); (3, 0) → </a:t>
            </a:r>
            <a:endParaRPr sz="18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(2; 0); (3; 3) → </a:t>
            </a:r>
            <a:endParaRPr sz="18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(0, 2); (5, 1) → </a:t>
            </a:r>
            <a:endParaRPr sz="18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(5, 2); (0, 1) → </a:t>
            </a:r>
            <a:endParaRPr sz="18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(4, 3); (1, 0)</a:t>
            </a:r>
            <a:endParaRPr sz="18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Vemos que conseguimos: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(0, 0) → (5, 0) → (2, 3) → (2, 0) → (0, 2) → (5, 2) → (4, 3)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Vemos que por DFS podríamos haber conseguido también: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(0, 0) → (0, 3) → (3, 0) → (3, 3) → (5, 1) → (0, 1) → (1, 0) → (1, 3) → (4, 0)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Modelando nuestro problema</a:t>
            </a:r>
            <a:endParaRPr/>
          </a:p>
        </p:txBody>
      </p:sp>
      <p:sp>
        <p:nvSpPr>
          <p:cNvPr id="393" name="Google Shape;393;p6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Podemos decir que hay un grafo (dirigido) </a:t>
            </a:r>
            <a:r>
              <a:rPr b="1" lang="es"/>
              <a:t>implícito</a:t>
            </a:r>
            <a:r>
              <a:rPr lang="es"/>
              <a:t> de nodo = todas las 2</a:t>
            </a:r>
            <a:r>
              <a:rPr baseline="30000" lang="es"/>
              <a:t>n</a:t>
            </a:r>
            <a:r>
              <a:rPr lang="es"/>
              <a:t> configuraciones posibles (todos los posibles subsets de C), con arista de C' a C'' sii existe un operador que nos lleve de C' a C'</a:t>
            </a:r>
            <a:r>
              <a:rPr lang="es"/>
              <a:t>'.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En el marco de nuestro problema, … ¿Existe un camino de C</a:t>
            </a:r>
            <a:r>
              <a:rPr baseline="-25000" lang="es"/>
              <a:t>0</a:t>
            </a:r>
            <a:r>
              <a:rPr lang="es"/>
              <a:t> a C*?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En el peor de los casos tenemos que pasar por todos los estados posibles (→ O(</a:t>
            </a:r>
            <a:r>
              <a:rPr lang="es"/>
              <a:t>2</a:t>
            </a:r>
            <a:r>
              <a:rPr baseline="30000" lang="es"/>
              <a:t>n</a:t>
            </a:r>
            <a:r>
              <a:rPr lang="es"/>
              <a:t>))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[Si fueran de un tamaño polinomial, estaría en NP porque validarlo se hace en tiempo polinomial]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Resolvamos…</a:t>
            </a:r>
            <a:endParaRPr/>
          </a:p>
        </p:txBody>
      </p:sp>
      <p:sp>
        <p:nvSpPr>
          <p:cNvPr id="399" name="Google Shape;399;p6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¿Creamos el grafo de las configuraciones?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¿Hacemos un BFS/DFS simulando el comportamiento?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¿Y entonces para qué vimos lo de las jarras?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¿Cagamos?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Solución de Savitch</a:t>
            </a:r>
            <a:endParaRPr/>
          </a:p>
        </p:txBody>
      </p:sp>
      <p:sp>
        <p:nvSpPr>
          <p:cNvPr id="405" name="Google Shape;405;p6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BFS y DFS mantienen un historial muy grande, y no reusan espacio lo suficiente.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Vamos a hacer algo "simil D&amp;C" → dividir el problema en dos partes, resolver una, tirar (casi) todo el trabajo intermedio y resolver la otra.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Definimos Path(C</a:t>
            </a:r>
            <a:r>
              <a:rPr baseline="-25000" lang="es"/>
              <a:t>1</a:t>
            </a:r>
            <a:r>
              <a:rPr lang="es"/>
              <a:t>, C</a:t>
            </a:r>
            <a:r>
              <a:rPr baseline="-25000" lang="es"/>
              <a:t>2</a:t>
            </a:r>
            <a:r>
              <a:rPr lang="es"/>
              <a:t>, L) que determina si existe camino de largo a lo sumo L.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Nuestro problema comienza con Path(C</a:t>
            </a:r>
            <a:r>
              <a:rPr baseline="-25000" lang="es"/>
              <a:t>0</a:t>
            </a:r>
            <a:r>
              <a:rPr lang="es"/>
              <a:t>, C*, </a:t>
            </a:r>
            <a:r>
              <a:rPr lang="es"/>
              <a:t>2</a:t>
            </a:r>
            <a:r>
              <a:rPr baseline="30000" lang="es"/>
              <a:t>n</a:t>
            </a:r>
            <a:r>
              <a:rPr lang="es"/>
              <a:t>).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de BFS</a:t>
            </a:r>
            <a:endParaRPr/>
          </a:p>
        </p:txBody>
      </p:sp>
      <p:sp>
        <p:nvSpPr>
          <p:cNvPr id="411" name="Google Shape;411;p6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versión BFS hasta podría verse como un pseudo Programación dinámica → Para obtener Path(C</a:t>
            </a:r>
            <a:r>
              <a:rPr baseline="-25000" lang="es"/>
              <a:t>1</a:t>
            </a:r>
            <a:r>
              <a:rPr lang="es"/>
              <a:t>, C</a:t>
            </a:r>
            <a:r>
              <a:rPr baseline="-25000" lang="es"/>
              <a:t>2</a:t>
            </a:r>
            <a:r>
              <a:rPr lang="es"/>
              <a:t>, L) calcula Path(C', C</a:t>
            </a:r>
            <a:r>
              <a:rPr baseline="-25000" lang="es"/>
              <a:t>2</a:t>
            </a:r>
            <a:r>
              <a:rPr lang="es"/>
              <a:t>, L-1) tal que C</a:t>
            </a:r>
            <a:r>
              <a:rPr baseline="-25000" lang="es"/>
              <a:t>1</a:t>
            </a:r>
            <a:r>
              <a:rPr lang="es"/>
              <a:t> tenga arista a C'.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→ BFS genera una enorme cantidad de configuraciones para sólo reducir en 1 a L.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Ahora… ¿por qué tenemos que ir por adyacentes?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Veamos puntos intermedios</a:t>
            </a:r>
            <a:endParaRPr/>
          </a:p>
        </p:txBody>
      </p:sp>
      <p:sp>
        <p:nvSpPr>
          <p:cNvPr id="417" name="Google Shape;417;p6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cada posible C' vemos si podemos llegar de C</a:t>
            </a:r>
            <a:r>
              <a:rPr baseline="-25000" lang="es"/>
              <a:t>1</a:t>
            </a:r>
            <a:r>
              <a:rPr lang="es"/>
              <a:t> a C' en hasta L/2 pasos, y de C' a C</a:t>
            </a:r>
            <a:r>
              <a:rPr baseline="-25000" lang="es"/>
              <a:t>2</a:t>
            </a:r>
            <a:r>
              <a:rPr lang="es"/>
              <a:t> en L/2 pasos.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Como sólo nos importa el true/false, se descarta cualquier otra cosa.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Entonces, se hacen hasta log</a:t>
            </a:r>
            <a:r>
              <a:rPr baseline="-25000" lang="es"/>
              <a:t>2</a:t>
            </a:r>
            <a:r>
              <a:rPr lang="es"/>
              <a:t>(L) = n llamados recursivos (= consumo de memoria → espacio polinomial), aparte puede depender de un polinomio de n y k.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→ Planning está en PSPACE.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Problemas PSPACE-Completo</a:t>
            </a:r>
            <a:endParaRPr/>
          </a:p>
        </p:txBody>
      </p:sp>
      <p:sp>
        <p:nvSpPr>
          <p:cNvPr id="423" name="Google Shape;423;p7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Cook y Levin demostraron que Satisfiability es NP-Completo…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Stockmeyer y Meyer demostraron que QSAT es PSPACE-completo.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7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QSAT vs Juegos</a:t>
            </a:r>
            <a:endParaRPr/>
          </a:p>
        </p:txBody>
      </p:sp>
      <p:sp>
        <p:nvSpPr>
          <p:cNvPr id="429" name="Google Shape;429;p71"/>
          <p:cNvSpPr txBox="1"/>
          <p:nvPr>
            <p:ph idx="1" type="body"/>
          </p:nvPr>
        </p:nvSpPr>
        <p:spPr>
          <a:xfrm>
            <a:off x="311700" y="1171600"/>
            <a:ext cx="8520600" cy="18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Definimos Competitive 3-SAT: el jugador 1 elige el valor de x</a:t>
            </a:r>
            <a:r>
              <a:rPr baseline="-25000" lang="es"/>
              <a:t>1</a:t>
            </a:r>
            <a:r>
              <a:rPr lang="es"/>
              <a:t>, el jugador 2 elige el valor de x</a:t>
            </a:r>
            <a:r>
              <a:rPr baseline="-25000" lang="es"/>
              <a:t>2</a:t>
            </a:r>
            <a:r>
              <a:rPr lang="es"/>
              <a:t>, jugador 1 x</a:t>
            </a:r>
            <a:r>
              <a:rPr baseline="-25000" lang="es"/>
              <a:t>3</a:t>
            </a:r>
            <a:r>
              <a:rPr lang="es"/>
              <a:t>, …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Si la cláusula evalúa a 1, gana el jugador 1, sino el jugador 2.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Básicamente: </a:t>
            </a:r>
            <a:endParaRPr/>
          </a:p>
        </p:txBody>
      </p:sp>
      <p:pic>
        <p:nvPicPr>
          <p:cNvPr id="430" name="Google Shape;43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9275" y="2571743"/>
            <a:ext cx="3739475" cy="34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71"/>
          <p:cNvSpPr txBox="1"/>
          <p:nvPr>
            <p:ph idx="1" type="body"/>
          </p:nvPr>
        </p:nvSpPr>
        <p:spPr>
          <a:xfrm>
            <a:off x="311700" y="3000400"/>
            <a:ext cx="8520600" cy="18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→ QSAT &lt;=</a:t>
            </a:r>
            <a:r>
              <a:rPr baseline="-25000" lang="es"/>
              <a:t>P</a:t>
            </a:r>
            <a:r>
              <a:rPr lang="es"/>
              <a:t> Competitive 3-SAT y Competitive 3-SAT &lt;=</a:t>
            </a:r>
            <a:r>
              <a:rPr baseline="-25000" lang="es"/>
              <a:t>P</a:t>
            </a:r>
            <a:r>
              <a:rPr lang="es"/>
              <a:t> QSAT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QSAT → Competitive Facility Location</a:t>
            </a:r>
            <a:endParaRPr/>
          </a:p>
        </p:txBody>
      </p:sp>
      <p:sp>
        <p:nvSpPr>
          <p:cNvPr id="437" name="Google Shape;437;p7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Se puede reducir (*) QSAT a CFL, por lo que CFL también es PSPACE-completo.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Pregunta de cierre…</a:t>
            </a:r>
            <a:endParaRPr/>
          </a:p>
        </p:txBody>
      </p:sp>
      <p:sp>
        <p:nvSpPr>
          <p:cNvPr id="443" name="Google Shape;443;p7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problema PSPACE-Completo, ¿Es NP-Completo?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No son NP-Completo, sino NP-difícil.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(Esto vale también para problemas de optimización, porque "NP-Completo" es una terminología para problemas de decisión, y salvo que P = NP no podr</a:t>
            </a:r>
            <a:r>
              <a:rPr lang="es"/>
              <a:t>íamos tener un validador polinomial</a:t>
            </a:r>
            <a:r>
              <a:rPr lang="es"/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¿Y qué le sigue a PSPACE?</a:t>
            </a:r>
            <a:endParaRPr/>
          </a:p>
        </p:txBody>
      </p:sp>
      <p:sp>
        <p:nvSpPr>
          <p:cNvPr id="449" name="Google Shape;449;p7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EXP/EXPTIME → Problemas que se resuelven en tiempo O(2</a:t>
            </a:r>
            <a:r>
              <a:rPr baseline="30000" lang="es"/>
              <a:t>p(n)</a:t>
            </a:r>
            <a:r>
              <a:rPr lang="es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NEXP/NEXPTIME → Problemas que se resuelven en tiempo O(2</a:t>
            </a:r>
            <a:r>
              <a:rPr baseline="30000" lang="es"/>
              <a:t>n^O(1)</a:t>
            </a:r>
            <a:r>
              <a:rPr lang="es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EXPSPACE → Problemas que se resuelven en espacio </a:t>
            </a:r>
            <a:r>
              <a:rPr lang="es"/>
              <a:t>O(2</a:t>
            </a:r>
            <a:r>
              <a:rPr baseline="30000" lang="es"/>
              <a:t>p(n)</a:t>
            </a:r>
            <a:r>
              <a:rPr lang="es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 → Problemas que se pueden resolver (hablamos más tarde de esto).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