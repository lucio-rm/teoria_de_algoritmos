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Proxima Nova"/>
      <p:regular r:id="rId48"/>
      <p:bold r:id="rId49"/>
      <p:italic r:id="rId50"/>
      <p:boldItalic r:id="rId51"/>
    </p:embeddedFont>
    <p:embeddedFont>
      <p:font typeface="Old Standard TT"/>
      <p:regular r:id="rId52"/>
      <p:bold r:id="rId53"/>
      <p: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roximaNova-regular.fntdata"/><Relationship Id="rId47" Type="http://schemas.openxmlformats.org/officeDocument/2006/relationships/slide" Target="slides/slide42.xml"/><Relationship Id="rId49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roximaNova-boldItalic.fntdata"/><Relationship Id="rId50" Type="http://schemas.openxmlformats.org/officeDocument/2006/relationships/font" Target="fonts/ProximaNova-italic.fntdata"/><Relationship Id="rId53" Type="http://schemas.openxmlformats.org/officeDocument/2006/relationships/font" Target="fonts/OldStandardTT-bold.fntdata"/><Relationship Id="rId52" Type="http://schemas.openxmlformats.org/officeDocument/2006/relationships/font" Target="fonts/OldStandardTT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OldStandardT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9b03970d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9b03970d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e990ab17f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e990ab17f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e28388858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e28388858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e28388858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e28388858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e28388858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e28388858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e28388858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e28388858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e28388858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e28388858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e28388858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e28388858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e28388858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e28388858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235dfad9f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235dfad9f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0ec26fb8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0ec26fb8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235dfad9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235dfad9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e990ab17f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e990ab17f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235dfad9f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235dfad9f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7f996890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7f996890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10ec26fb8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10ec26fb8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10ec26fb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10ec26fb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10ec26fb8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10ec26fb8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10ec26fb8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10ec26fb8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10ec26fb8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10ec26fb8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Simplemente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10ec26fb8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10ec26fb8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10ec26fb8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10ec26fb8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10ec26fb8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10ec26fb8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dbdd0fe66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dbdd0fe66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10ec26fb8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10ec26fb8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10ec26fb8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10ec26fb8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Nos creamos un grafo de A+B nodos que formen un ciclo, aristas de peso 1, vemos que exista un TSP de costo C. 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10ec26fb8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10ec26fb8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235dfad9f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235dfad9f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235dfad9f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235dfad9f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235dfad9f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235dfad9f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(*) Para que tengan valores diferentes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(**) Base tiene un color → las variables y complementos no pueden tomar ese color.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235dfad9f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235dfad9f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235dfad9f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235dfad9f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235dfad9f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235dfad9f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10ec26fb89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10ec26fb8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235dfad9f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235dfad9f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235dfad9f5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235dfad9f5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10ec26fb8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10ec26fb8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268af267d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268af267d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268af267d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268af267d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10ec26fb8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10ec26fb8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268af267d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268af267d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268af267d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268af267d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l.acm.org/doi/10.1145/101340.101343" TargetMode="External"/><Relationship Id="rId4" Type="http://schemas.openxmlformats.org/officeDocument/2006/relationships/hyperlink" Target="https://dl.acm.org/doi/10.1145/122319.122322" TargetMode="External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Reducciones (II) y Problemas NP Completos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 rotWithShape="1">
          <a:blip r:embed="rId4">
            <a:alphaModFix/>
          </a:blip>
          <a:srcRect b="0" l="16280" r="36117" t="0"/>
          <a:stretch/>
        </p:blipFill>
        <p:spPr>
          <a:xfrm>
            <a:off x="4969575" y="3316075"/>
            <a:ext cx="1447124" cy="183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Recordamos el concepto de reducción (polinomial)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476400"/>
            <a:ext cx="8520600" cy="5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¿Qué recuerdan? </a:t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1300" y="1171600"/>
            <a:ext cx="3781400" cy="37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3997" cy="5143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Recordemos: </a:t>
            </a:r>
            <a:r>
              <a:rPr lang="es"/>
              <a:t>Clases de Complejidad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P: problemas que se pueden resolver en tiempo polinomial (</a:t>
            </a:r>
            <a:r>
              <a:rPr i="1" lang="es"/>
              <a:t>de forma eficiente</a:t>
            </a:r>
            <a:r>
              <a:rPr lang="es"/>
              <a:t>) → Pueden ser resueltos en tiempo polinomial por una máquina de Turing determinística.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NP: problemas para los que existe un </a:t>
            </a:r>
            <a:r>
              <a:rPr i="1" lang="es"/>
              <a:t>certificador eficiente</a:t>
            </a:r>
            <a:r>
              <a:rPr lang="es"/>
              <a:t> → se pueden validar en tiempo polinomial.  → Pueden ser resueltos en tiempo polinomial por una máquina de Turing no determinística. 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Problemas NP-Completos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matemático: X ∈ NP-Completo sii: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X ∈ NP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∀ Y ∈ NP, Y ≤</a:t>
            </a:r>
            <a:r>
              <a:rPr baseline="-25000" lang="es"/>
              <a:t>p</a:t>
            </a:r>
            <a:r>
              <a:rPr lang="es"/>
              <a:t>X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En Argentino:</a:t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850" y="3053700"/>
            <a:ext cx="2618400" cy="196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Si X es un problema NP-Completo, sólo puede resolverse en tiempo polinomial sii P = NP.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Si al menos un problema NP-Completo puede resolverse en tiempo polinomial, entonces todos pueden y P = NP.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No es obvio que un problema NP-Completo exista siquiera.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Consecuencias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200" y="2784509"/>
            <a:ext cx="3398800" cy="2264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4550" y="2930281"/>
            <a:ext cx="3252074" cy="16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Bueno, ¿pero cuál es un problema NP-Completo?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71600"/>
            <a:ext cx="8520600" cy="4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Teorema de Cook &amp; Levin: Circuit Satisfiability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0729" y="1804900"/>
            <a:ext cx="5242541" cy="31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Ahora podemos laburar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logramos reducir un problema NP-Completo a otro problema X → X es NP-Completo (por propiedad de transitividad).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Se puede reducir Circuit Satisfiability a 3-SAT transformando el problema a SAT con hasta 3 términos, y luego pasar a 3-SAT como vimos antes. 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Si el nodo v es ~ con entrada desde u → x</a:t>
            </a:r>
            <a:r>
              <a:rPr baseline="-25000" lang="es" sz="1400"/>
              <a:t>v</a:t>
            </a:r>
            <a:r>
              <a:rPr lang="es" sz="1400"/>
              <a:t> = ~x</a:t>
            </a:r>
            <a:r>
              <a:rPr baseline="-25000" lang="es" sz="1400"/>
              <a:t>u</a:t>
            </a:r>
            <a:r>
              <a:rPr lang="es" sz="1400"/>
              <a:t> → agregamos cláusulas (x</a:t>
            </a:r>
            <a:r>
              <a:rPr baseline="-25000" lang="es" sz="1400"/>
              <a:t>u</a:t>
            </a:r>
            <a:r>
              <a:rPr lang="es" sz="1400"/>
              <a:t>⋁ x</a:t>
            </a:r>
            <a:r>
              <a:rPr baseline="-25000" lang="es" sz="1400"/>
              <a:t>v</a:t>
            </a:r>
            <a:r>
              <a:rPr lang="es" sz="1400"/>
              <a:t>) y (~x</a:t>
            </a:r>
            <a:r>
              <a:rPr baseline="-25000" lang="es" sz="1400"/>
              <a:t>u</a:t>
            </a:r>
            <a:r>
              <a:rPr lang="es" sz="1400"/>
              <a:t>⋁ ~x</a:t>
            </a:r>
            <a:r>
              <a:rPr baseline="-25000" lang="es" sz="1400"/>
              <a:t>v</a:t>
            </a:r>
            <a:r>
              <a:rPr lang="es" sz="1400"/>
              <a:t>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Si el nodo v es ⋁ con entradas u y w → x</a:t>
            </a:r>
            <a:r>
              <a:rPr baseline="-25000" lang="es" sz="1400"/>
              <a:t>v</a:t>
            </a:r>
            <a:r>
              <a:rPr lang="es" sz="1400"/>
              <a:t> = x</a:t>
            </a:r>
            <a:r>
              <a:rPr baseline="-25000" lang="es" sz="1400"/>
              <a:t>u</a:t>
            </a:r>
            <a:r>
              <a:rPr lang="es" sz="1400"/>
              <a:t> ⋁ x</a:t>
            </a:r>
            <a:r>
              <a:rPr baseline="-25000" lang="es" sz="1400"/>
              <a:t>w</a:t>
            </a:r>
            <a:r>
              <a:rPr lang="es" sz="1400"/>
              <a:t> → agregamos (x</a:t>
            </a:r>
            <a:r>
              <a:rPr baseline="-25000" lang="es" sz="1400"/>
              <a:t>v </a:t>
            </a:r>
            <a:r>
              <a:rPr lang="es" sz="1400"/>
              <a:t>⋁ ~x</a:t>
            </a:r>
            <a:r>
              <a:rPr baseline="-25000" lang="es" sz="1400"/>
              <a:t>u</a:t>
            </a:r>
            <a:r>
              <a:rPr lang="es" sz="1400"/>
              <a:t>), (x</a:t>
            </a:r>
            <a:r>
              <a:rPr baseline="-25000" lang="es" sz="1400"/>
              <a:t>v </a:t>
            </a:r>
            <a:r>
              <a:rPr lang="es" sz="1400"/>
              <a:t>⋁ ~x</a:t>
            </a:r>
            <a:r>
              <a:rPr baseline="-25000" lang="es" sz="1400"/>
              <a:t>u</a:t>
            </a:r>
            <a:r>
              <a:rPr lang="es" sz="1400"/>
              <a:t>) y (~x</a:t>
            </a:r>
            <a:r>
              <a:rPr baseline="-25000" lang="es" sz="1400"/>
              <a:t>v </a:t>
            </a:r>
            <a:r>
              <a:rPr lang="es" sz="1400"/>
              <a:t>⋁ x</a:t>
            </a:r>
            <a:r>
              <a:rPr baseline="-25000" lang="es" sz="1400"/>
              <a:t>u</a:t>
            </a:r>
            <a:r>
              <a:rPr lang="es" sz="1400"/>
              <a:t>⋁ x</a:t>
            </a:r>
            <a:r>
              <a:rPr baseline="-25000" lang="es" sz="1400"/>
              <a:t>w</a:t>
            </a:r>
            <a:r>
              <a:rPr lang="es" sz="1400"/>
              <a:t>).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Si el nodo v es ∧ con entradas u y w → x</a:t>
            </a:r>
            <a:r>
              <a:rPr baseline="-25000" lang="es" sz="1400"/>
              <a:t>v</a:t>
            </a:r>
            <a:r>
              <a:rPr lang="es" sz="1400"/>
              <a:t> = x</a:t>
            </a:r>
            <a:r>
              <a:rPr baseline="-25000" lang="es" sz="1400"/>
              <a:t>u</a:t>
            </a:r>
            <a:r>
              <a:rPr lang="es" sz="1400"/>
              <a:t> ∧ x</a:t>
            </a:r>
            <a:r>
              <a:rPr baseline="-25000" lang="es" sz="1400"/>
              <a:t>w</a:t>
            </a:r>
            <a:r>
              <a:rPr lang="es" sz="1400"/>
              <a:t> → agregamos (~x</a:t>
            </a:r>
            <a:r>
              <a:rPr baseline="-25000" lang="es" sz="1400"/>
              <a:t>v</a:t>
            </a:r>
            <a:r>
              <a:rPr lang="es" sz="1400"/>
              <a:t> ⋁ x</a:t>
            </a:r>
            <a:r>
              <a:rPr baseline="-25000" lang="es" sz="1400"/>
              <a:t>u</a:t>
            </a:r>
            <a:r>
              <a:rPr lang="es" sz="1400"/>
              <a:t>), (~x</a:t>
            </a:r>
            <a:r>
              <a:rPr baseline="-25000" lang="es" sz="1400"/>
              <a:t>v</a:t>
            </a:r>
            <a:r>
              <a:rPr lang="es" sz="1400"/>
              <a:t> ⋁ x</a:t>
            </a:r>
            <a:r>
              <a:rPr baseline="-25000" lang="es" sz="1400"/>
              <a:t>w</a:t>
            </a:r>
            <a:r>
              <a:rPr lang="es" sz="1400"/>
              <a:t>) y (x</a:t>
            </a:r>
            <a:r>
              <a:rPr baseline="-25000" lang="es" sz="1400"/>
              <a:t>v</a:t>
            </a:r>
            <a:r>
              <a:rPr lang="es" sz="1400"/>
              <a:t> ⋁ ~x</a:t>
            </a:r>
            <a:r>
              <a:rPr baseline="-25000" lang="es" sz="1400"/>
              <a:t>u </a:t>
            </a:r>
            <a:r>
              <a:rPr lang="es" sz="1400"/>
              <a:t>⋁ ~x</a:t>
            </a:r>
            <a:r>
              <a:rPr baseline="-25000" lang="es" sz="1400"/>
              <a:t>w</a:t>
            </a:r>
            <a:r>
              <a:rPr lang="es" sz="1400"/>
              <a:t>).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Si el nodo v es una constante → Agregamos (x</a:t>
            </a:r>
            <a:r>
              <a:rPr baseline="-25000" lang="es" sz="1400"/>
              <a:t>v</a:t>
            </a:r>
            <a:r>
              <a:rPr lang="es" sz="1400"/>
              <a:t>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→ 3-SAT es NP-Completo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Haciendo memoria… 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71600"/>
            <a:ext cx="85206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Como vimos antes: 3-SAT ≤</a:t>
            </a:r>
            <a:r>
              <a:rPr baseline="-25000" lang="es"/>
              <a:t>p</a:t>
            </a:r>
            <a:r>
              <a:rPr lang="es"/>
              <a:t> Independent Set </a:t>
            </a:r>
            <a:r>
              <a:rPr baseline="-25000" lang="es"/>
              <a:t> </a:t>
            </a:r>
            <a:r>
              <a:rPr lang="es"/>
              <a:t>≤</a:t>
            </a:r>
            <a:r>
              <a:rPr baseline="-25000" lang="es"/>
              <a:t>p </a:t>
            </a:r>
            <a:r>
              <a:rPr lang="es"/>
              <a:t>Vertex Cover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→ Independent Set y Vertex Cover también son NP-Completos.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8381" y="2339800"/>
            <a:ext cx="2127239" cy="265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Volviendo al problema de las N-Reinas… ¿es NP-Completo?</a:t>
            </a:r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2744850" y="1838150"/>
            <a:ext cx="365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3"/>
              </a:rPr>
              <a:t>https://dl.acm.org/doi/10.1145/101340.101343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https://dl.acm.org/doi/10.1145/122319.122322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52044" y="2606150"/>
            <a:ext cx="4239912" cy="23849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/>
          <p:nvPr/>
        </p:nvSpPr>
        <p:spPr>
          <a:xfrm>
            <a:off x="5434000" y="3221100"/>
            <a:ext cx="1025400" cy="435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Ejercitemos un poco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10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Reduzcamos: </a:t>
            </a:r>
            <a:r>
              <a:rPr i="1" lang="es"/>
              <a:t>ver si un número es múltiplo de otro</a:t>
            </a:r>
            <a:r>
              <a:rPr lang="es"/>
              <a:t> a: </a:t>
            </a:r>
            <a:r>
              <a:rPr i="1" lang="es"/>
              <a:t>ver si un elemento está en una lista</a:t>
            </a:r>
            <a:endParaRPr i="1"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531975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Vemos si K-clique es NP-Completo usando Independent Set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552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¿Está K-Clique en NP?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¿Qué tenemos que reducir a qué?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Ok, tenemos que poder resolver cualquier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problema de IS con un resolvedor de K-Clique.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Visualicen un grafo, y un IS…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¿Qué propiedad cumplen esos nodos entre sí?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775" y="2537800"/>
            <a:ext cx="2704249" cy="23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Reduciendo Independent Set a K-Clique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Obtenemos el grafo "complemento" → Aristas que </a:t>
            </a:r>
            <a:r>
              <a:rPr b="1" lang="es"/>
              <a:t>no</a:t>
            </a:r>
            <a:r>
              <a:rPr lang="es"/>
              <a:t> están en G.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Definimos que hay un Independent Set de al menos K vértices sii hay un clique de al menos K vértices en el grafo complemento.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¿Es K-Clique un problema NP-Completo?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Estrategias para reducir en general</a:t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Reducción por equivalencia simple (Independent Set y Vertex Cover, o lo que acabamos de hacer con K-Clique)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Reducción de caso especial a caso general (N reinas a Independent Set)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Reducción por encodeo de características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Veamos Programación Lineal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Pará, ¿PL no era una forma de resolver problemas? ¿Ahora PL es un problema?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¿Está Programación Lineal en NP?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¿Es NP-Completo?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¿Y Programación lineal</a:t>
            </a:r>
            <a:r>
              <a:rPr b="1" lang="es"/>
              <a:t> entera</a:t>
            </a:r>
            <a:r>
              <a:rPr lang="es"/>
              <a:t>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Pero… y no podemos resolver un problema NP-Completo con PL (no entera)?</a:t>
            </a:r>
            <a:endParaRPr/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2637" y="3665550"/>
            <a:ext cx="1738725" cy="133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Seguimos con nuestra programación habitual</a:t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Veamos otro tipo de problema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Vertex Cover e Independent Set son problemas de selección de subset.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Ahora podemos ver un problema de permutaciones: elegir un orden.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del viajante (TSP)</a:t>
            </a:r>
            <a:endParaRPr/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5078700" y="1171600"/>
            <a:ext cx="3753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 necesariamente no-dirigido, no necesariamente cumpliendo la desigualdad triangular.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Lo planteamos como un problema de decisión: ¿existe un camino de costo/distancia como máximo D?</a:t>
            </a:r>
            <a:endParaRPr/>
          </a:p>
        </p:txBody>
      </p:sp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3587" l="5418" r="3986" t="3717"/>
          <a:stretch/>
        </p:blipFill>
        <p:spPr>
          <a:xfrm>
            <a:off x="396900" y="1344600"/>
            <a:ext cx="4090500" cy="3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Ciclo Hamiltoniano</a:t>
            </a:r>
            <a:endParaRPr/>
          </a:p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311700" y="1171600"/>
            <a:ext cx="85206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Recordamos…</a:t>
            </a:r>
            <a:endParaRPr/>
          </a:p>
        </p:txBody>
      </p:sp>
      <p:pic>
        <p:nvPicPr>
          <p:cNvPr id="183" name="Google Shape;18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21100"/>
            <a:ext cx="8839204" cy="2835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1176" y="356404"/>
            <a:ext cx="5753626" cy="291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Reduzcamos Ciclo Hamiltoniano a TSP!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¿TSP está en NP? ¿Y Ciclo Hamiltoniano?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Creamos un Grafo dirigido completo, con "los mismos vértices" que el original.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Las aristas del grafo anterior tienen peso 1 cuando existen en el original, y peso 2 si no existen en el original.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Existe un ciclo Hamiltoniano en el grafo original, sii existe </a:t>
            </a:r>
            <a:r>
              <a:rPr lang="es"/>
              <a:t>un camino TSP en el nuevo grafo de a lo sumo (y exactamente) n = cantidad de vértices.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No puede ser menor que 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Si es mayor que n, debe haber utilizado una arista de peso 2 → uso una arista que no existe en el original.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Ok, pero esto no dice que sean NP-Completos…</a:t>
            </a:r>
            <a:endParaRPr/>
          </a:p>
        </p:txBody>
      </p:sp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 redu</a:t>
            </a:r>
            <a:r>
              <a:rPr lang="es"/>
              <a:t>jéra</a:t>
            </a:r>
            <a:r>
              <a:rPr lang="es"/>
              <a:t>mos un NP-Completo a TSP, ¿Qué diría sobre cada uno de estos problemas?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¿Y si redujéramos un NP-Completo a Ciclo Hamiltoniano?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Reduzcamos 3-SAT a Ciclo Hamiltoniano</a:t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171600"/>
            <a:ext cx="8520600" cy="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¿Por qué reducimos 3-SAT y no otra cosa?</a:t>
            </a:r>
            <a:endParaRPr/>
          </a:p>
        </p:txBody>
      </p:sp>
      <p:sp>
        <p:nvSpPr>
          <p:cNvPr id="203" name="Google Shape;203;p34"/>
          <p:cNvSpPr txBox="1"/>
          <p:nvPr/>
        </p:nvSpPr>
        <p:spPr>
          <a:xfrm>
            <a:off x="311700" y="1919700"/>
            <a:ext cx="561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Básicamente… ¿tienen alguna mejor idea?</a:t>
            </a:r>
            <a:endParaRPr/>
          </a:p>
        </p:txBody>
      </p:sp>
      <p:pic>
        <p:nvPicPr>
          <p:cNvPr id="204" name="Google Shape;204;p34"/>
          <p:cNvPicPr preferRelativeResize="0"/>
          <p:nvPr/>
        </p:nvPicPr>
        <p:blipFill rotWithShape="1">
          <a:blip r:embed="rId3">
            <a:alphaModFix/>
          </a:blip>
          <a:srcRect b="2698" l="0" r="0" t="16278"/>
          <a:stretch/>
        </p:blipFill>
        <p:spPr>
          <a:xfrm>
            <a:off x="6068438" y="1034250"/>
            <a:ext cx="2820975" cy="19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4"/>
          <p:cNvSpPr txBox="1"/>
          <p:nvPr/>
        </p:nvSpPr>
        <p:spPr>
          <a:xfrm>
            <a:off x="311700" y="2917600"/>
            <a:ext cx="56133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Cuando no tenemos una idea clara, 3-SAT es una buena idea porque su naturaleza combinatoria es bastante simple. </a:t>
            </a:r>
            <a:endParaRPr/>
          </a:p>
        </p:txBody>
      </p:sp>
      <p:sp>
        <p:nvSpPr>
          <p:cNvPr id="206" name="Google Shape;206;p34"/>
          <p:cNvSpPr txBox="1"/>
          <p:nvPr/>
        </p:nvSpPr>
        <p:spPr>
          <a:xfrm>
            <a:off x="3513225" y="3868550"/>
            <a:ext cx="56133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Dado un problema 3-SAT cualquiera (variables, cláusulas) como definimos si es satisfacible por tener una caja resolvedora de Ciclo Hamiltoniano?</a:t>
            </a:r>
            <a:endParaRPr/>
          </a:p>
        </p:txBody>
      </p:sp>
      <p:pic>
        <p:nvPicPr>
          <p:cNvPr id="207" name="Google Shape;20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5513" y="1058225"/>
            <a:ext cx="2346800" cy="19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3925" y="1310663"/>
            <a:ext cx="2095500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Ok, entonces… </a:t>
            </a:r>
            <a:endParaRPr/>
          </a:p>
        </p:txBody>
      </p:sp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La demostración la dejamos, pero </a:t>
            </a:r>
            <a:r>
              <a:rPr i="1" lang="es"/>
              <a:t>es por ahí</a:t>
            </a:r>
            <a:r>
              <a:rPr lang="es"/>
              <a:t>.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Momento de tomarse un descanso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Ahora veamos si </a:t>
            </a:r>
            <a:r>
              <a:rPr b="1" lang="es"/>
              <a:t>camino</a:t>
            </a:r>
            <a:r>
              <a:rPr lang="es"/>
              <a:t> Hamiltoniano es NP-Completo</a:t>
            </a:r>
            <a:endParaRPr/>
          </a:p>
        </p:txBody>
      </p:sp>
      <p:sp>
        <p:nvSpPr>
          <p:cNvPr id="226" name="Google Shape;226;p37"/>
          <p:cNvSpPr txBox="1"/>
          <p:nvPr>
            <p:ph idx="1" type="body"/>
          </p:nvPr>
        </p:nvSpPr>
        <p:spPr>
          <a:xfrm>
            <a:off x="311700" y="161785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¿Está en NP?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Reducimos Ciclo Hamiltoniano a Camino Hamiltoniano: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Agarramos un vértice al azar y lo reemplazamos por v' y v''. Todas las aristas salientes de v ahora salen de v', todas las entrantes entran a v''.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Existe Ciclo Hamiltoniano en el original sii existe Camino Hamiltoniano en el nuevo (ese camino necesariamente empieza en v' y termina en v''). </a:t>
            </a:r>
            <a:endParaRPr/>
          </a:p>
        </p:txBody>
      </p:sp>
      <p:pic>
        <p:nvPicPr>
          <p:cNvPr id="227" name="Google Shape;22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1175" y="3118275"/>
            <a:ext cx="2399051" cy="184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tranqui III, un descanso</a:t>
            </a:r>
            <a:endParaRPr/>
          </a:p>
        </p:txBody>
      </p:sp>
      <p:sp>
        <p:nvSpPr>
          <p:cNvPr id="233" name="Google Shape;233;p3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Problema: dado tres enteros números a, b y c, determinar si a + b = c.</a:t>
            </a:r>
            <a:endParaRPr i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¿Este problema está en NP?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¿Este problema está en P?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¿Se puede reducir este problema a TSP?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¿Cómo reducimos este problema a TSP?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¿Que implica que hayamos reducido este problema a TSP?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¿Cómo reducimos TSP a este problema?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Problemas de Particionamiento</a:t>
            </a:r>
            <a:endParaRPr/>
          </a:p>
        </p:txBody>
      </p:sp>
      <p:sp>
        <p:nvSpPr>
          <p:cNvPr id="239" name="Google Shape;239;p3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Problemas en donde buscamos dividir un conjunto de objetos/datos/vértices/etc…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Coloreo de Grafos</a:t>
            </a:r>
            <a:endParaRPr/>
          </a:p>
        </p:txBody>
      </p:sp>
      <p:sp>
        <p:nvSpPr>
          <p:cNvPr id="245" name="Google Shape;245;p40"/>
          <p:cNvSpPr txBox="1"/>
          <p:nvPr>
            <p:ph idx="1" type="body"/>
          </p:nvPr>
        </p:nvSpPr>
        <p:spPr>
          <a:xfrm>
            <a:off x="311700" y="1171600"/>
            <a:ext cx="8520600" cy="10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Cuando k = 2 → Problema de grafo bipartito → Fácil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Cuando k = 3 → Ya nos fuimos a NP-Completo.</a:t>
            </a:r>
            <a:endParaRPr/>
          </a:p>
        </p:txBody>
      </p:sp>
      <p:pic>
        <p:nvPicPr>
          <p:cNvPr id="246" name="Google Shape;24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363" y="2221950"/>
            <a:ext cx="4333274" cy="245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¿3-Coloring es NP-Completo?</a:t>
            </a:r>
            <a:endParaRPr/>
          </a:p>
        </p:txBody>
      </p:sp>
      <p:sp>
        <p:nvSpPr>
          <p:cNvPr id="252" name="Google Shape;252;p41"/>
          <p:cNvSpPr txBox="1"/>
          <p:nvPr>
            <p:ph idx="1" type="body"/>
          </p:nvPr>
        </p:nvSpPr>
        <p:spPr>
          <a:xfrm>
            <a:off x="311700" y="1171600"/>
            <a:ext cx="85206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¿Está en NP?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Como es difícil de comparar Coloreo a otro problema… vamos a la vieja y confiable 3-SAT → Reducimos 3-SAT a Coloreo (de 3 Colores). </a:t>
            </a:r>
            <a:endParaRPr/>
          </a:p>
        </p:txBody>
      </p:sp>
      <p:pic>
        <p:nvPicPr>
          <p:cNvPr id="253" name="Google Shape;25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1880" y="2354800"/>
            <a:ext cx="4687440" cy="263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550" y="2571750"/>
            <a:ext cx="1767499" cy="210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1"/>
          <p:cNvSpPr/>
          <p:nvPr/>
        </p:nvSpPr>
        <p:spPr>
          <a:xfrm>
            <a:off x="2644475" y="3379300"/>
            <a:ext cx="1296000" cy="556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Primeros Pasos</a:t>
            </a:r>
            <a:endParaRPr/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Creamos un nodo por cada variable x</a:t>
            </a:r>
            <a:r>
              <a:rPr baseline="-25000" lang="es"/>
              <a:t>i</a:t>
            </a:r>
            <a:r>
              <a:rPr lang="es"/>
              <a:t> y un nodo por su complemento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Unimos los vértices de variables con sus complementos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Creamos 3 nodos especiales: True, False y Base.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Unimos a cada variable y complemento con Base, para formar triángulos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Unimos True y False con Base para formar otro triángulo.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Hasta acá: v</a:t>
            </a:r>
            <a:r>
              <a:rPr baseline="-25000" lang="es"/>
              <a:t>i</a:t>
            </a:r>
            <a:r>
              <a:rPr lang="es"/>
              <a:t> y su complemento tienen diferente color y es diferente al de Base, y tanto True como False también son diferentes a Base.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Nos faltan ahora las cláusulas.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Cómo nos está quedando…</a:t>
            </a:r>
            <a:endParaRPr/>
          </a:p>
        </p:txBody>
      </p:sp>
      <p:pic>
        <p:nvPicPr>
          <p:cNvPr id="267" name="Google Shape;26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1729" y="1210625"/>
            <a:ext cx="4320543" cy="37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Vamos por las expresiones</a:t>
            </a:r>
            <a:endParaRPr/>
          </a:p>
        </p:txBody>
      </p:sp>
      <p:sp>
        <p:nvSpPr>
          <p:cNvPr id="273" name="Google Shape;273;p44"/>
          <p:cNvSpPr txBox="1"/>
          <p:nvPr>
            <p:ph idx="1" type="body"/>
          </p:nvPr>
        </p:nvSpPr>
        <p:spPr>
          <a:xfrm>
            <a:off x="311700" y="1171600"/>
            <a:ext cx="8520600" cy="10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Supongamos que tenemos la expresión x</a:t>
            </a:r>
            <a:r>
              <a:rPr baseline="-25000" lang="es"/>
              <a:t>1</a:t>
            </a:r>
            <a:r>
              <a:rPr lang="es"/>
              <a:t> ⋁ x</a:t>
            </a:r>
            <a:r>
              <a:rPr baseline="-25000" lang="es"/>
              <a:t>2</a:t>
            </a:r>
            <a:r>
              <a:rPr lang="es"/>
              <a:t> ⋁ x</a:t>
            </a:r>
            <a:r>
              <a:rPr baseline="-25000" lang="es"/>
              <a:t>3</a:t>
            </a:r>
            <a:endParaRPr baseline="-25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Al menos 1 debe ser True → Al menos 1 debe tener el color de True.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cxnSp>
        <p:nvCxnSpPr>
          <p:cNvPr id="274" name="Google Shape;274;p44"/>
          <p:cNvCxnSpPr/>
          <p:nvPr/>
        </p:nvCxnSpPr>
        <p:spPr>
          <a:xfrm>
            <a:off x="4867150" y="1310400"/>
            <a:ext cx="19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5" name="Google Shape;27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7700" y="2336500"/>
            <a:ext cx="5108601" cy="26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Ahora resolvemos</a:t>
            </a:r>
            <a:endParaRPr/>
          </a:p>
        </p:txBody>
      </p:sp>
      <p:sp>
        <p:nvSpPr>
          <p:cNvPr id="281" name="Google Shape;281;p4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Con esta configuración → La configuración es satisfacible sii este grafo es coloreable por 3 colores.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tranqui IV: reducir bipartito a 3-coloreo</a:t>
            </a:r>
            <a:endParaRPr/>
          </a:p>
        </p:txBody>
      </p:sp>
      <p:sp>
        <p:nvSpPr>
          <p:cNvPr id="287" name="Google Shape;287;p4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Agregamos k-3 nodos que se unen entre sí y a todos los vértices originales;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El grafo resultante es k-coloreable sii el original grafo es 3-coloreable.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→ Para todo K &gt; 3 también es NP-Completo</a:t>
            </a:r>
            <a:endParaRPr/>
          </a:p>
        </p:txBody>
      </p:sp>
      <p:sp>
        <p:nvSpPr>
          <p:cNvPr id="293" name="Google Shape;293;p47"/>
          <p:cNvSpPr txBox="1"/>
          <p:nvPr>
            <p:ph type="title"/>
          </p:nvPr>
        </p:nvSpPr>
        <p:spPr>
          <a:xfrm>
            <a:off x="311700" y="445025"/>
            <a:ext cx="87363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generalizar → reducimos 3-coloreo a k-coloreo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Conjetura/Teorema de los 4 colores</a:t>
            </a:r>
            <a:endParaRPr/>
          </a:p>
        </p:txBody>
      </p:sp>
      <p:pic>
        <p:nvPicPr>
          <p:cNvPr id="299" name="Google Shape;299;p48"/>
          <p:cNvPicPr preferRelativeResize="0"/>
          <p:nvPr/>
        </p:nvPicPr>
        <p:blipFill rotWithShape="1">
          <a:blip r:embed="rId3">
            <a:alphaModFix/>
          </a:blip>
          <a:srcRect b="7910" l="0" r="0" t="0"/>
          <a:stretch/>
        </p:blipFill>
        <p:spPr>
          <a:xfrm>
            <a:off x="2479275" y="1493900"/>
            <a:ext cx="4185450" cy="3128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8"/>
          <p:cNvSpPr txBox="1"/>
          <p:nvPr/>
        </p:nvSpPr>
        <p:spPr>
          <a:xfrm>
            <a:off x="4383057" y="1845507"/>
            <a:ext cx="138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highlight>
                  <a:schemeClr val="dk1"/>
                </a:highlight>
                <a:latin typeface="Proxima Nova"/>
                <a:ea typeface="Proxima Nova"/>
                <a:cs typeface="Proxima Nova"/>
                <a:sym typeface="Proxima Nova"/>
              </a:rPr>
              <a:t>INGENIEROS</a:t>
            </a:r>
            <a:endParaRPr sz="1600">
              <a:solidFill>
                <a:schemeClr val="lt1"/>
              </a:solidFill>
              <a:highlight>
                <a:schemeClr val="dk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Problemas Numéricos: Subset sum</a:t>
            </a:r>
            <a:endParaRPr/>
          </a:p>
        </p:txBody>
      </p:sp>
      <p:sp>
        <p:nvSpPr>
          <p:cNvPr id="306" name="Google Shape;306;p4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Recordamos el problema: un conjunto de n elementos y un peso W, ¿existe un subconjunto que sume exactamente W?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Por programación dinámica: O(nW) → pseudopolinomial → No depende del tamaño de la entrada sino de los valores (y termina siendo exponencial). Salvo que W = Polinomio(n).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¿Es tan problemático que sea "pseudopolinomial" realmente?  </a:t>
            </a:r>
            <a:r>
              <a:rPr lang="es"/>
              <a:t>¿No podría haber algún algoritmo polinomial para resolverlo?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Subset Sum es NP-Completo</a:t>
            </a:r>
            <a:endParaRPr/>
          </a:p>
        </p:txBody>
      </p:sp>
      <p:sp>
        <p:nvSpPr>
          <p:cNvPr id="312" name="Google Shape;312;p5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¿Es NP?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Luego, podemos reducir otro problema (3-dimensional-matching) a este → es NP-Completo.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Problema de la mochila es NP-Completo</a:t>
            </a:r>
            <a:endParaRPr/>
          </a:p>
        </p:txBody>
      </p:sp>
      <p:sp>
        <p:nvSpPr>
          <p:cNvPr id="318" name="Google Shape;318;p5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Easy </a:t>
            </a:r>
            <a:r>
              <a:rPr lang="es"/>
              <a:t>peasy</a:t>
            </a:r>
            <a:r>
              <a:rPr lang="es"/>
              <a:t>: subset sum es un caso particular del problema de la mochila → reducción por generalidad → Mochila es al menos tan difícil como subset sum → NP-Completo.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2"/>
          <p:cNvSpPr txBox="1"/>
          <p:nvPr>
            <p:ph type="title"/>
          </p:nvPr>
        </p:nvSpPr>
        <p:spPr>
          <a:xfrm>
            <a:off x="311700" y="1402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dificultad de algunos problemas de scheduling</a:t>
            </a:r>
            <a:endParaRPr/>
          </a:p>
        </p:txBody>
      </p:sp>
      <p:sp>
        <p:nvSpPr>
          <p:cNvPr id="324" name="Google Shape;324;p52"/>
          <p:cNvSpPr txBox="1"/>
          <p:nvPr>
            <p:ph idx="1" type="body"/>
          </p:nvPr>
        </p:nvSpPr>
        <p:spPr>
          <a:xfrm>
            <a:off x="311700" y="866800"/>
            <a:ext cx="8520600" cy="18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más general: No tenemos sólo deadlines y duración, sino también release times (momento en el cual la tarea comienza a estar disponible)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El problema de decisión pregunta si se pueden cumplir todas las tareas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Bueno… este problema es NP-Completo. </a:t>
            </a:r>
            <a:endParaRPr/>
          </a:p>
        </p:txBody>
      </p:sp>
      <p:pic>
        <p:nvPicPr>
          <p:cNvPr id="325" name="Google Shape;32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3812" y="2824600"/>
            <a:ext cx="3136375" cy="216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Demostramos</a:t>
            </a:r>
            <a:endParaRPr/>
          </a:p>
        </p:txBody>
      </p:sp>
      <p:sp>
        <p:nvSpPr>
          <p:cNvPr id="331" name="Google Shape;331;p5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¿Es NP?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Reducimos SubsetSum a este: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Definimos a S como la suma de todos los elementos. Creamos las tareas: la tarea i tiene duración w</a:t>
            </a:r>
            <a:r>
              <a:rPr baseline="-25000" lang="es"/>
              <a:t>i</a:t>
            </a:r>
            <a:r>
              <a:rPr lang="es"/>
              <a:t>, release de 0 y deadline S+1 (entonces se los puede ordenar a todos).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Creamos una n-ésima+1 tarea con release time W y deadline W+1, de duración 1.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Si el problema de scheduling puede resolverse, es únicamente porque se pudieron poner cosas que sumen W justo antes de esta tarea, y luego todas las demás. Además no puede haber tiempo al pedo porque todo suma S, y teníamos S+1 de tiempo total, con 1 ya consumido por esta tarea.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OJO</a:t>
            </a:r>
            <a:endParaRPr/>
          </a:p>
        </p:txBody>
      </p:sp>
      <p:sp>
        <p:nvSpPr>
          <p:cNvPr id="337" name="Google Shape;337;p5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Reducir desde el caso particular donde empecemos con un SubsetSum con W = Polinomio(n) no implica nada → Este caso no es NP-Completo.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