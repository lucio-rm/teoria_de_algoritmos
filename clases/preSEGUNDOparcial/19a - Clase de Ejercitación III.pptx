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Proxima Nova"/>
      <p:regular r:id="rId30"/>
      <p:bold r:id="rId31"/>
      <p:italic r:id="rId32"/>
      <p:boldItalic r:id="rId33"/>
    </p:embeddedFont>
    <p:embeddedFont>
      <p:font typeface="Old Standard TT"/>
      <p:regular r:id="rId34"/>
      <p:bold r:id="rId35"/>
      <p: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bold.fntdata"/><Relationship Id="rId30" Type="http://schemas.openxmlformats.org/officeDocument/2006/relationships/font" Target="fonts/ProximaNova-regular.fntdata"/><Relationship Id="rId11" Type="http://schemas.openxmlformats.org/officeDocument/2006/relationships/slide" Target="slides/slide6.xml"/><Relationship Id="rId33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32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35" Type="http://schemas.openxmlformats.org/officeDocument/2006/relationships/font" Target="fonts/OldStandardTT-bold.fntdata"/><Relationship Id="rId12" Type="http://schemas.openxmlformats.org/officeDocument/2006/relationships/slide" Target="slides/slide7.xml"/><Relationship Id="rId34" Type="http://schemas.openxmlformats.org/officeDocument/2006/relationships/font" Target="fonts/OldStandardTT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OldStandardT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c7a43fd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2c7a43fd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924a774eb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924a774eb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0302f592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0302f592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0302f592a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0302f592a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f772724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0f772724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0302f592a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0302f592a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9afdc97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9afdc97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ce5e2983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ce5e2983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ce5e2983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ce5e2983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ce5e2983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ce5e2983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0302f592a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0302f592a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ce5e2983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ce5e2983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0302f592a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0302f592a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0302f592ab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0302f592ab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0302f592ab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0302f592ab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0302f592ab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0302f592ab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ce5e2983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ce5e2983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0302f592ab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0302f592ab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0302f592ab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0302f592ab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0302f592ab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0302f592ab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924a774eb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924a774eb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65316931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365316931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65316931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365316931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0302f592ab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0302f592ab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google.com/document/d/12Li9W7FIn_WeJ5fXO8-DqmgNCz0N7ft9vlln__ORslY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6778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 PL, Flujo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Temas de hoy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71600"/>
            <a:ext cx="8520600" cy="3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Programación Lineal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Redes de Flujo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(algo de reducciones)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Programación lineal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I - Vertex Cover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71600"/>
            <a:ext cx="85206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Minimizar la cantidad de vértices a utilizar. ¿Cómo lo planteamos?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587" y="1975825"/>
            <a:ext cx="6002826" cy="21693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1186950" y="3732900"/>
            <a:ext cx="143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¿Problema?</a:t>
            </a:r>
            <a:endParaRPr sz="18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</a:t>
            </a:r>
            <a:r>
              <a:rPr lang="es"/>
              <a:t>ómo reducimos cantidad de inecuaciones?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950" y="1645400"/>
            <a:ext cx="4800975" cy="96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950" y="2962675"/>
            <a:ext cx="5867525" cy="86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7"/>
          <p:cNvCxnSpPr/>
          <p:nvPr/>
        </p:nvCxnSpPr>
        <p:spPr>
          <a:xfrm>
            <a:off x="548950" y="2052875"/>
            <a:ext cx="48009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II - Flujo máximo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050" y="1210625"/>
            <a:ext cx="6863900" cy="3268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III: Problema de Osvaldo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3440525"/>
            <a:ext cx="8185800" cy="9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Opci</a:t>
            </a:r>
            <a:r>
              <a:rPr lang="es"/>
              <a:t>ón 1: 2 variables enteras (C: cuándo compro, V: cuándo vendo), es claro que C &lt; V… y ahora cómo hago para relacionar su valor con el precio?</a:t>
            </a:r>
            <a:endParaRPr/>
          </a:p>
        </p:txBody>
      </p:sp>
      <p:pic>
        <p:nvPicPr>
          <p:cNvPr id="101" name="Google Shape;101;p19" title="Screenshot 2025-05-24 at 7.21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2025"/>
            <a:ext cx="7713986" cy="229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Opci</a:t>
            </a:r>
            <a:r>
              <a:rPr lang="es"/>
              <a:t>ón 2: variables binarias</a:t>
            </a:r>
            <a:endParaRPr/>
          </a:p>
        </p:txBody>
      </p:sp>
      <p:pic>
        <p:nvPicPr>
          <p:cNvPr id="107" name="Google Shape;107;p20" title="Screenshot 2025-05-24 at 7.27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25" y="1752700"/>
            <a:ext cx="8839201" cy="465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Screenshot 2025-05-24 at 7.26.0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925" y="1162621"/>
            <a:ext cx="8839202" cy="485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Screenshot 2025-05-24 at 7.27.1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370321"/>
            <a:ext cx="205740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 title="Screenshot 2025-05-24 at 7.28.47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2200" y="2370321"/>
            <a:ext cx="50673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 title="Screenshot 2025-05-27 at 3.19.08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62200" y="3665721"/>
            <a:ext cx="38862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Bueno… y ahora c</a:t>
            </a:r>
            <a:r>
              <a:rPr lang="es"/>
              <a:t>ómo hacemos para que se compre antes que se venda? 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491450"/>
            <a:ext cx="8520600" cy="23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¿Ser</a:t>
            </a:r>
            <a:r>
              <a:rPr lang="es"/>
              <a:t>ía correcto poner una i &lt; j?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¿Sería correcto poner dos variables i y j enteras, que i &lt; j, y luego poner restricciones sobre V</a:t>
            </a:r>
            <a:r>
              <a:rPr baseline="-25000" lang="es"/>
              <a:t>j</a:t>
            </a:r>
            <a:r>
              <a:rPr lang="es"/>
              <a:t> y C</a:t>
            </a:r>
            <a:r>
              <a:rPr baseline="-25000" lang="es"/>
              <a:t>i</a:t>
            </a:r>
            <a:r>
              <a:rPr lang="es"/>
              <a:t>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Dos formas para resolver. Opción 1: obtenemos qué día compramos y qué día vendemos: </a:t>
            </a:r>
            <a:endParaRPr/>
          </a:p>
        </p:txBody>
      </p:sp>
      <p:pic>
        <p:nvPicPr>
          <p:cNvPr id="118" name="Google Shape;118;p21" title="Screenshot 2025-05-24 at 7.36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7325" y="3320400"/>
            <a:ext cx="1860675" cy="170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 title="Screenshot 2025-05-24 at 7.36.3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2050" y="3558450"/>
            <a:ext cx="348615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Otra forma, poner restricci</a:t>
            </a:r>
            <a:r>
              <a:rPr lang="es"/>
              <a:t>ón día por día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2878625"/>
            <a:ext cx="8520600" cy="3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Gran desventaja: tenemos </a:t>
            </a:r>
            <a:r>
              <a:rPr i="1" lang="es"/>
              <a:t>n</a:t>
            </a:r>
            <a:r>
              <a:rPr lang="es"/>
              <a:t> restricciones extra en vez de 1. </a:t>
            </a:r>
            <a:endParaRPr/>
          </a:p>
        </p:txBody>
      </p:sp>
      <p:pic>
        <p:nvPicPr>
          <p:cNvPr id="126" name="Google Shape;126;p22" title="Screenshot 2026-01-11 at 5.41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837" y="1058225"/>
            <a:ext cx="4292326" cy="190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IV (si hay tiempo) - Subset sum máximo (sin pasarnos)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476400"/>
            <a:ext cx="8520600" cy="21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Tenemos un conjunto de números v</a:t>
            </a:r>
            <a:r>
              <a:rPr baseline="-25000" lang="es"/>
              <a:t>1</a:t>
            </a:r>
            <a:r>
              <a:rPr lang="es"/>
              <a:t>, v</a:t>
            </a:r>
            <a:r>
              <a:rPr baseline="-25000" lang="es"/>
              <a:t>2</a:t>
            </a:r>
            <a:r>
              <a:rPr lang="es"/>
              <a:t>, … v</a:t>
            </a:r>
            <a:r>
              <a:rPr baseline="-25000" lang="es"/>
              <a:t>n</a:t>
            </a:r>
            <a:r>
              <a:rPr lang="es"/>
              <a:t>, y queremos obtener un subconjunto de todos esos números cuya suma sea igual a un valor V, o bien aproximar lo mayor posible a ese valor V.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En definitiva quisiéramos maximizar la suma de los elementos del subconjunto sin exceder el valor V.</a:t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725" y="3083475"/>
            <a:ext cx="5367000" cy="192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</a:t>
            </a:r>
            <a:r>
              <a:rPr lang="es"/>
              <a:t>é ejercicios recomendamos?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7 y 8, y ya un poco m</a:t>
            </a:r>
            <a:r>
              <a:rPr lang="es"/>
              <a:t>ás difícil el 10.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Redes de Flujo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Algoritmo de Ford-Fulkerson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Esquema general: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def flujo(grafo, s, t):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	inicializamos el flujo por toda arista a 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	Mientras haya un camino en la red residual: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		aumentamos el flujo acorde al camino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Algoritmo de Ford-Fulkerson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6900" y="961225"/>
            <a:ext cx="9321900" cy="36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def flujo(grafo, s, t):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	flujo = {}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	for v in grafo: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		for w in grafo.adyacentes(v):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			flujo[(v, w)] = 0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	grafo_residual = copiar(grafo)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	while (camino = obtener_camino(grafo_residual, s, t)) is not None: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		cap_residual_camino = min_peso(grafo_residual, camino)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		for i in range(1, len(camino)):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			if grafo.hay_arista(camino[i-1], camino[i]):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				flujo[(camino[i-1], camino[i])] += capacidad_residual_camino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			else: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				flujo[(camino[i], camino[i-1])] -= capacidad_residual_camino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			actualizar_grafo_residual(grafo_residual, camino[i-1], camino[i], cap_residual_camino)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	return flujo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Algoritmo de Ford-Fulkerson</a:t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6900" y="1171600"/>
            <a:ext cx="9087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def actualizar_grafo_residual(grafo_residual, u, v, valor):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peso_anterior = grafo_residual.peso(u, v)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if peso_anterior == valor: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	grafo_residual.remover_arista(u, v)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else: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	grafo_residual.cambiar_peso(u, v, peso_anterior - valor)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if not grafo_residual.hay_arista(v, u):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	grafo_residual.agregar_arista(v, u, valor)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else: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	grafo_residual.cambiar_peso(v, u, peso_anterior + valor)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Aclaraci</a:t>
            </a:r>
            <a:r>
              <a:rPr lang="es"/>
              <a:t>ón necesaria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Recuerden revisar el doc de criterios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8839202" cy="345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2222" y="1509125"/>
            <a:ext cx="4612525" cy="34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V - Seguimiento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00" y="1274775"/>
            <a:ext cx="8839200" cy="70351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VI - Modificación al flujo máximo</a:t>
            </a:r>
            <a:endParaRPr/>
          </a:p>
        </p:txBody>
      </p:sp>
      <p:sp>
        <p:nvSpPr>
          <p:cNvPr id="182" name="Google Shape;182;p31"/>
          <p:cNvSpPr txBox="1"/>
          <p:nvPr/>
        </p:nvSpPr>
        <p:spPr>
          <a:xfrm>
            <a:off x="1619250" y="2194850"/>
            <a:ext cx="45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¿Qué problema puede tener este enunciado?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00" y="1274775"/>
            <a:ext cx="8839200" cy="70351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VI - Modificación al flujo máximo</a:t>
            </a:r>
            <a:endParaRPr/>
          </a:p>
        </p:txBody>
      </p:sp>
      <p:sp>
        <p:nvSpPr>
          <p:cNvPr id="189" name="Google Shape;189;p32"/>
          <p:cNvSpPr txBox="1"/>
          <p:nvPr/>
        </p:nvSpPr>
        <p:spPr>
          <a:xfrm>
            <a:off x="7754950" y="952500"/>
            <a:ext cx="96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 1 unidad</a:t>
            </a:r>
            <a:endParaRPr sz="12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90" name="Google Shape;190;p32"/>
          <p:cNvSpPr/>
          <p:nvPr/>
        </p:nvSpPr>
        <p:spPr>
          <a:xfrm>
            <a:off x="7953375" y="1293825"/>
            <a:ext cx="254000" cy="142875"/>
          </a:xfrm>
          <a:custGeom>
            <a:rect b="b" l="l" r="r" t="t"/>
            <a:pathLst>
              <a:path extrusionOk="0" h="5715" w="10160">
                <a:moveTo>
                  <a:pt x="10160" y="5715"/>
                </a:moveTo>
                <a:cubicBezTo>
                  <a:pt x="8005" y="2481"/>
                  <a:pt x="3886" y="0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1" name="Google Shape;191;p32"/>
          <p:cNvSpPr/>
          <p:nvPr/>
        </p:nvSpPr>
        <p:spPr>
          <a:xfrm>
            <a:off x="8215325" y="1238250"/>
            <a:ext cx="277800" cy="174625"/>
          </a:xfrm>
          <a:custGeom>
            <a:rect b="b" l="l" r="r" t="t"/>
            <a:pathLst>
              <a:path extrusionOk="0" h="6985" w="11112">
                <a:moveTo>
                  <a:pt x="0" y="6985"/>
                </a:moveTo>
                <a:cubicBezTo>
                  <a:pt x="2734" y="3569"/>
                  <a:pt x="6962" y="1386"/>
                  <a:pt x="11112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3"/>
          <p:cNvPicPr preferRelativeResize="0"/>
          <p:nvPr/>
        </p:nvPicPr>
        <p:blipFill rotWithShape="1">
          <a:blip r:embed="rId3">
            <a:alphaModFix/>
          </a:blip>
          <a:srcRect b="46715" l="0" r="0" t="0"/>
          <a:stretch/>
        </p:blipFill>
        <p:spPr>
          <a:xfrm>
            <a:off x="152400" y="1524000"/>
            <a:ext cx="8839199" cy="108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</a:t>
            </a:r>
            <a:r>
              <a:rPr lang="es"/>
              <a:t> - Ejercicio VII - Los hijos de Carlos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- Ejercicio VII - Los hijos de Carlos</a:t>
            </a:r>
            <a:endParaRPr/>
          </a:p>
        </p:txBody>
      </p:sp>
      <p:sp>
        <p:nvSpPr>
          <p:cNvPr id="203" name="Google Shape;203;p34"/>
          <p:cNvSpPr txBox="1"/>
          <p:nvPr/>
        </p:nvSpPr>
        <p:spPr>
          <a:xfrm>
            <a:off x="510025" y="1197450"/>
            <a:ext cx="497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Pensemos que las calles ya vienen modelada como un grafo no dirigido…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¿Cómo resolvemos?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4" name="Google Shape;204;p34"/>
          <p:cNvSpPr/>
          <p:nvPr/>
        </p:nvSpPr>
        <p:spPr>
          <a:xfrm>
            <a:off x="207475" y="2715625"/>
            <a:ext cx="7176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casa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5" name="Google Shape;205;p34"/>
          <p:cNvSpPr/>
          <p:nvPr/>
        </p:nvSpPr>
        <p:spPr>
          <a:xfrm>
            <a:off x="1449075" y="2331050"/>
            <a:ext cx="4755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1449075" y="3191125"/>
            <a:ext cx="4755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07" name="Google Shape;207;p34"/>
          <p:cNvCxnSpPr>
            <a:stCxn id="204" idx="7"/>
            <a:endCxn id="205" idx="2"/>
          </p:cNvCxnSpPr>
          <p:nvPr/>
        </p:nvCxnSpPr>
        <p:spPr>
          <a:xfrm flipH="1" rot="10800000">
            <a:off x="819985" y="2568660"/>
            <a:ext cx="629100" cy="21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34"/>
          <p:cNvCxnSpPr>
            <a:stCxn id="205" idx="6"/>
            <a:endCxn id="209" idx="1"/>
          </p:cNvCxnSpPr>
          <p:nvPr/>
        </p:nvCxnSpPr>
        <p:spPr>
          <a:xfrm>
            <a:off x="1924575" y="2568800"/>
            <a:ext cx="616200" cy="21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34"/>
          <p:cNvCxnSpPr>
            <a:stCxn id="204" idx="5"/>
            <a:endCxn id="206" idx="2"/>
          </p:cNvCxnSpPr>
          <p:nvPr/>
        </p:nvCxnSpPr>
        <p:spPr>
          <a:xfrm>
            <a:off x="819985" y="3121490"/>
            <a:ext cx="629100" cy="3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34"/>
          <p:cNvCxnSpPr>
            <a:stCxn id="206" idx="6"/>
            <a:endCxn id="209" idx="3"/>
          </p:cNvCxnSpPr>
          <p:nvPr/>
        </p:nvCxnSpPr>
        <p:spPr>
          <a:xfrm flipH="1" rot="10800000">
            <a:off x="1924575" y="3121375"/>
            <a:ext cx="616200" cy="3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34"/>
          <p:cNvSpPr/>
          <p:nvPr/>
        </p:nvSpPr>
        <p:spPr>
          <a:xfrm>
            <a:off x="2448650" y="2715625"/>
            <a:ext cx="6291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Esc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2" name="Google Shape;212;p34"/>
          <p:cNvSpPr/>
          <p:nvPr/>
        </p:nvSpPr>
        <p:spPr>
          <a:xfrm>
            <a:off x="4673175" y="2764300"/>
            <a:ext cx="7176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casa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3" name="Google Shape;213;p34"/>
          <p:cNvSpPr/>
          <p:nvPr/>
        </p:nvSpPr>
        <p:spPr>
          <a:xfrm>
            <a:off x="5914775" y="2379725"/>
            <a:ext cx="4755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p34"/>
          <p:cNvSpPr/>
          <p:nvPr/>
        </p:nvSpPr>
        <p:spPr>
          <a:xfrm>
            <a:off x="5914775" y="3239800"/>
            <a:ext cx="4755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5" name="Google Shape;215;p34"/>
          <p:cNvSpPr/>
          <p:nvPr/>
        </p:nvSpPr>
        <p:spPr>
          <a:xfrm>
            <a:off x="6914350" y="2764300"/>
            <a:ext cx="6291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Esc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16" name="Google Shape;216;p34"/>
          <p:cNvCxnSpPr>
            <a:stCxn id="205" idx="4"/>
            <a:endCxn id="206" idx="0"/>
          </p:cNvCxnSpPr>
          <p:nvPr/>
        </p:nvCxnSpPr>
        <p:spPr>
          <a:xfrm>
            <a:off x="1686825" y="2806550"/>
            <a:ext cx="0" cy="38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34"/>
          <p:cNvCxnSpPr>
            <a:stCxn id="212" idx="7"/>
            <a:endCxn id="213" idx="2"/>
          </p:cNvCxnSpPr>
          <p:nvPr/>
        </p:nvCxnSpPr>
        <p:spPr>
          <a:xfrm flipH="1" rot="10800000">
            <a:off x="5285685" y="2617335"/>
            <a:ext cx="629100" cy="21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34"/>
          <p:cNvCxnSpPr>
            <a:stCxn id="213" idx="6"/>
            <a:endCxn id="215" idx="1"/>
          </p:cNvCxnSpPr>
          <p:nvPr/>
        </p:nvCxnSpPr>
        <p:spPr>
          <a:xfrm>
            <a:off x="6390275" y="2617475"/>
            <a:ext cx="616200" cy="21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4"/>
          <p:cNvCxnSpPr>
            <a:stCxn id="212" idx="5"/>
            <a:endCxn id="214" idx="2"/>
          </p:cNvCxnSpPr>
          <p:nvPr/>
        </p:nvCxnSpPr>
        <p:spPr>
          <a:xfrm>
            <a:off x="5285685" y="3170165"/>
            <a:ext cx="629100" cy="3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34"/>
          <p:cNvCxnSpPr>
            <a:stCxn id="214" idx="6"/>
            <a:endCxn id="215" idx="3"/>
          </p:cNvCxnSpPr>
          <p:nvPr/>
        </p:nvCxnSpPr>
        <p:spPr>
          <a:xfrm flipH="1" rot="10800000">
            <a:off x="6390275" y="3170050"/>
            <a:ext cx="616200" cy="3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34"/>
          <p:cNvCxnSpPr>
            <a:stCxn id="213" idx="3"/>
            <a:endCxn id="214" idx="0"/>
          </p:cNvCxnSpPr>
          <p:nvPr/>
        </p:nvCxnSpPr>
        <p:spPr>
          <a:xfrm flipH="1" rot="-5400000">
            <a:off x="5841310" y="2928690"/>
            <a:ext cx="454200" cy="168000"/>
          </a:xfrm>
          <a:prstGeom prst="curvedConnector3">
            <a:avLst>
              <a:gd fmla="val 57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34"/>
          <p:cNvCxnSpPr>
            <a:stCxn id="214" idx="7"/>
            <a:endCxn id="213" idx="4"/>
          </p:cNvCxnSpPr>
          <p:nvPr/>
        </p:nvCxnSpPr>
        <p:spPr>
          <a:xfrm flipH="1" rot="5400000">
            <a:off x="6009540" y="2998335"/>
            <a:ext cx="454200" cy="168000"/>
          </a:xfrm>
          <a:prstGeom prst="curvedConnector3">
            <a:avLst>
              <a:gd fmla="val 57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34"/>
          <p:cNvSpPr/>
          <p:nvPr/>
        </p:nvSpPr>
        <p:spPr>
          <a:xfrm>
            <a:off x="3475100" y="2731675"/>
            <a:ext cx="1016400" cy="50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24" name="Google Shape;224;p34"/>
          <p:cNvSpPr/>
          <p:nvPr/>
        </p:nvSpPr>
        <p:spPr>
          <a:xfrm>
            <a:off x="2463375" y="3983500"/>
            <a:ext cx="7176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casa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5" name="Google Shape;225;p34"/>
          <p:cNvSpPr/>
          <p:nvPr/>
        </p:nvSpPr>
        <p:spPr>
          <a:xfrm>
            <a:off x="3704975" y="3598925"/>
            <a:ext cx="4755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3704975" y="4459000"/>
            <a:ext cx="4755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7" name="Google Shape;227;p34"/>
          <p:cNvSpPr/>
          <p:nvPr/>
        </p:nvSpPr>
        <p:spPr>
          <a:xfrm>
            <a:off x="5542750" y="4135900"/>
            <a:ext cx="6291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Esc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28" name="Google Shape;228;p34"/>
          <p:cNvCxnSpPr>
            <a:stCxn id="224" idx="7"/>
            <a:endCxn id="225" idx="2"/>
          </p:cNvCxnSpPr>
          <p:nvPr/>
        </p:nvCxnSpPr>
        <p:spPr>
          <a:xfrm flipH="1" rot="10800000">
            <a:off x="3075885" y="3836535"/>
            <a:ext cx="629100" cy="21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34"/>
          <p:cNvCxnSpPr>
            <a:stCxn id="225" idx="6"/>
            <a:endCxn id="227" idx="1"/>
          </p:cNvCxnSpPr>
          <p:nvPr/>
        </p:nvCxnSpPr>
        <p:spPr>
          <a:xfrm>
            <a:off x="4180475" y="3836675"/>
            <a:ext cx="1454400" cy="36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34"/>
          <p:cNvCxnSpPr>
            <a:stCxn id="224" idx="5"/>
            <a:endCxn id="226" idx="2"/>
          </p:cNvCxnSpPr>
          <p:nvPr/>
        </p:nvCxnSpPr>
        <p:spPr>
          <a:xfrm>
            <a:off x="3075885" y="4389365"/>
            <a:ext cx="629100" cy="3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34"/>
          <p:cNvCxnSpPr>
            <a:stCxn id="226" idx="6"/>
            <a:endCxn id="227" idx="3"/>
          </p:cNvCxnSpPr>
          <p:nvPr/>
        </p:nvCxnSpPr>
        <p:spPr>
          <a:xfrm flipH="1" rot="10800000">
            <a:off x="4180475" y="4541650"/>
            <a:ext cx="1454400" cy="15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34"/>
          <p:cNvCxnSpPr>
            <a:stCxn id="225" idx="3"/>
            <a:endCxn id="226" idx="0"/>
          </p:cNvCxnSpPr>
          <p:nvPr/>
        </p:nvCxnSpPr>
        <p:spPr>
          <a:xfrm flipH="1" rot="-5400000">
            <a:off x="3631510" y="4147890"/>
            <a:ext cx="454200" cy="168000"/>
          </a:xfrm>
          <a:prstGeom prst="curvedConnector3">
            <a:avLst>
              <a:gd fmla="val 57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p34"/>
          <p:cNvSpPr/>
          <p:nvPr/>
        </p:nvSpPr>
        <p:spPr>
          <a:xfrm>
            <a:off x="4536225" y="4059700"/>
            <a:ext cx="4755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34" name="Google Shape;234;p34"/>
          <p:cNvCxnSpPr>
            <a:stCxn id="226" idx="6"/>
            <a:endCxn id="233" idx="3"/>
          </p:cNvCxnSpPr>
          <p:nvPr/>
        </p:nvCxnSpPr>
        <p:spPr>
          <a:xfrm flipH="1" rot="10800000">
            <a:off x="4180475" y="4465450"/>
            <a:ext cx="425400" cy="2313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34"/>
          <p:cNvCxnSpPr>
            <a:stCxn id="233" idx="2"/>
            <a:endCxn id="225" idx="4"/>
          </p:cNvCxnSpPr>
          <p:nvPr/>
        </p:nvCxnSpPr>
        <p:spPr>
          <a:xfrm rot="10800000">
            <a:off x="3942825" y="4074550"/>
            <a:ext cx="593400" cy="222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34"/>
          <p:cNvSpPr/>
          <p:nvPr/>
        </p:nvSpPr>
        <p:spPr>
          <a:xfrm rot="10800000">
            <a:off x="6634375" y="3477665"/>
            <a:ext cx="717600" cy="613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- Ejercicio VII - Los hijos de Carlos</a:t>
            </a:r>
            <a:endParaRPr/>
          </a:p>
        </p:txBody>
      </p:sp>
      <p:sp>
        <p:nvSpPr>
          <p:cNvPr id="242" name="Google Shape;242;p35"/>
          <p:cNvSpPr txBox="1"/>
          <p:nvPr/>
        </p:nvSpPr>
        <p:spPr>
          <a:xfrm>
            <a:off x="510025" y="1197450"/>
            <a:ext cx="163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Problema…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3" name="Google Shape;243;p35"/>
          <p:cNvSpPr/>
          <p:nvPr/>
        </p:nvSpPr>
        <p:spPr>
          <a:xfrm>
            <a:off x="354100" y="2081700"/>
            <a:ext cx="7176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casa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4" name="Google Shape;244;p35"/>
          <p:cNvSpPr/>
          <p:nvPr/>
        </p:nvSpPr>
        <p:spPr>
          <a:xfrm>
            <a:off x="1595700" y="1697125"/>
            <a:ext cx="4755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5" name="Google Shape;245;p35"/>
          <p:cNvSpPr/>
          <p:nvPr/>
        </p:nvSpPr>
        <p:spPr>
          <a:xfrm>
            <a:off x="1595700" y="2557200"/>
            <a:ext cx="4755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6" name="Google Shape;246;p35"/>
          <p:cNvSpPr/>
          <p:nvPr/>
        </p:nvSpPr>
        <p:spPr>
          <a:xfrm>
            <a:off x="3433475" y="2234100"/>
            <a:ext cx="6291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Esc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47" name="Google Shape;247;p35"/>
          <p:cNvCxnSpPr>
            <a:stCxn id="243" idx="7"/>
            <a:endCxn id="244" idx="2"/>
          </p:cNvCxnSpPr>
          <p:nvPr/>
        </p:nvCxnSpPr>
        <p:spPr>
          <a:xfrm flipH="1" rot="10800000">
            <a:off x="966610" y="1934735"/>
            <a:ext cx="629100" cy="216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35"/>
          <p:cNvCxnSpPr>
            <a:stCxn id="244" idx="6"/>
            <a:endCxn id="246" idx="1"/>
          </p:cNvCxnSpPr>
          <p:nvPr/>
        </p:nvCxnSpPr>
        <p:spPr>
          <a:xfrm>
            <a:off x="2071200" y="1934875"/>
            <a:ext cx="1454400" cy="369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35"/>
          <p:cNvCxnSpPr>
            <a:stCxn id="243" idx="5"/>
            <a:endCxn id="245" idx="2"/>
          </p:cNvCxnSpPr>
          <p:nvPr/>
        </p:nvCxnSpPr>
        <p:spPr>
          <a:xfrm>
            <a:off x="966610" y="2487565"/>
            <a:ext cx="629100" cy="307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35"/>
          <p:cNvCxnSpPr>
            <a:stCxn id="245" idx="6"/>
            <a:endCxn id="246" idx="3"/>
          </p:cNvCxnSpPr>
          <p:nvPr/>
        </p:nvCxnSpPr>
        <p:spPr>
          <a:xfrm flipH="1" rot="10800000">
            <a:off x="2071200" y="2639850"/>
            <a:ext cx="1454400" cy="15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35"/>
          <p:cNvCxnSpPr>
            <a:stCxn id="244" idx="3"/>
            <a:endCxn id="245" idx="0"/>
          </p:cNvCxnSpPr>
          <p:nvPr/>
        </p:nvCxnSpPr>
        <p:spPr>
          <a:xfrm flipH="1" rot="-5400000">
            <a:off x="1522235" y="2246090"/>
            <a:ext cx="454200" cy="168000"/>
          </a:xfrm>
          <a:prstGeom prst="curvedConnector3">
            <a:avLst>
              <a:gd fmla="val 57667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35"/>
          <p:cNvSpPr/>
          <p:nvPr/>
        </p:nvSpPr>
        <p:spPr>
          <a:xfrm>
            <a:off x="2426950" y="2157900"/>
            <a:ext cx="4755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53" name="Google Shape;253;p35"/>
          <p:cNvCxnSpPr>
            <a:stCxn id="245" idx="6"/>
            <a:endCxn id="252" idx="3"/>
          </p:cNvCxnSpPr>
          <p:nvPr/>
        </p:nvCxnSpPr>
        <p:spPr>
          <a:xfrm flipH="1" rot="10800000">
            <a:off x="2071200" y="2563650"/>
            <a:ext cx="425400" cy="231300"/>
          </a:xfrm>
          <a:prstGeom prst="curved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35"/>
          <p:cNvCxnSpPr>
            <a:stCxn id="252" idx="2"/>
            <a:endCxn id="244" idx="4"/>
          </p:cNvCxnSpPr>
          <p:nvPr/>
        </p:nvCxnSpPr>
        <p:spPr>
          <a:xfrm rot="10800000">
            <a:off x="1833550" y="2172750"/>
            <a:ext cx="593400" cy="222900"/>
          </a:xfrm>
          <a:prstGeom prst="curved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35"/>
          <p:cNvSpPr txBox="1"/>
          <p:nvPr/>
        </p:nvSpPr>
        <p:spPr>
          <a:xfrm>
            <a:off x="862800" y="3545575"/>
            <a:ext cx="163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Cómo resolvemos?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6" name="Google Shape;256;p35"/>
          <p:cNvSpPr/>
          <p:nvPr/>
        </p:nvSpPr>
        <p:spPr>
          <a:xfrm>
            <a:off x="2716300" y="3605700"/>
            <a:ext cx="7176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casa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7" name="Google Shape;257;p35"/>
          <p:cNvSpPr/>
          <p:nvPr/>
        </p:nvSpPr>
        <p:spPr>
          <a:xfrm>
            <a:off x="3957900" y="3221125"/>
            <a:ext cx="4755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8" name="Google Shape;258;p35"/>
          <p:cNvSpPr/>
          <p:nvPr/>
        </p:nvSpPr>
        <p:spPr>
          <a:xfrm>
            <a:off x="3957900" y="4081200"/>
            <a:ext cx="4755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9" name="Google Shape;259;p35"/>
          <p:cNvSpPr/>
          <p:nvPr/>
        </p:nvSpPr>
        <p:spPr>
          <a:xfrm>
            <a:off x="5795675" y="3758100"/>
            <a:ext cx="6291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Esc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60" name="Google Shape;260;p35"/>
          <p:cNvCxnSpPr>
            <a:stCxn id="256" idx="7"/>
            <a:endCxn id="257" idx="2"/>
          </p:cNvCxnSpPr>
          <p:nvPr/>
        </p:nvCxnSpPr>
        <p:spPr>
          <a:xfrm flipH="1" rot="10800000">
            <a:off x="3328810" y="3458735"/>
            <a:ext cx="629100" cy="216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35"/>
          <p:cNvCxnSpPr>
            <a:stCxn id="257" idx="6"/>
            <a:endCxn id="259" idx="1"/>
          </p:cNvCxnSpPr>
          <p:nvPr/>
        </p:nvCxnSpPr>
        <p:spPr>
          <a:xfrm>
            <a:off x="4433400" y="3458875"/>
            <a:ext cx="1454400" cy="369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35"/>
          <p:cNvCxnSpPr>
            <a:stCxn id="256" idx="5"/>
            <a:endCxn id="258" idx="2"/>
          </p:cNvCxnSpPr>
          <p:nvPr/>
        </p:nvCxnSpPr>
        <p:spPr>
          <a:xfrm>
            <a:off x="3328810" y="4011565"/>
            <a:ext cx="629100" cy="307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35"/>
          <p:cNvCxnSpPr>
            <a:stCxn id="258" idx="6"/>
            <a:endCxn id="259" idx="3"/>
          </p:cNvCxnSpPr>
          <p:nvPr/>
        </p:nvCxnSpPr>
        <p:spPr>
          <a:xfrm flipH="1" rot="10800000">
            <a:off x="4433400" y="4163850"/>
            <a:ext cx="1454400" cy="15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35"/>
          <p:cNvCxnSpPr>
            <a:stCxn id="257" idx="3"/>
            <a:endCxn id="258" idx="0"/>
          </p:cNvCxnSpPr>
          <p:nvPr/>
        </p:nvCxnSpPr>
        <p:spPr>
          <a:xfrm flipH="1" rot="-5400000">
            <a:off x="3884435" y="3770090"/>
            <a:ext cx="454200" cy="168000"/>
          </a:xfrm>
          <a:prstGeom prst="curvedConnector3">
            <a:avLst>
              <a:gd fmla="val 57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35"/>
          <p:cNvSpPr/>
          <p:nvPr/>
        </p:nvSpPr>
        <p:spPr>
          <a:xfrm>
            <a:off x="4789150" y="3681900"/>
            <a:ext cx="475500" cy="475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66" name="Google Shape;266;p35"/>
          <p:cNvCxnSpPr>
            <a:stCxn id="258" idx="6"/>
            <a:endCxn id="265" idx="3"/>
          </p:cNvCxnSpPr>
          <p:nvPr/>
        </p:nvCxnSpPr>
        <p:spPr>
          <a:xfrm flipH="1" rot="10800000">
            <a:off x="4433400" y="4087650"/>
            <a:ext cx="425400" cy="2313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35"/>
          <p:cNvCxnSpPr>
            <a:stCxn id="265" idx="2"/>
            <a:endCxn id="257" idx="4"/>
          </p:cNvCxnSpPr>
          <p:nvPr/>
        </p:nvCxnSpPr>
        <p:spPr>
          <a:xfrm rot="10800000">
            <a:off x="4195750" y="3696750"/>
            <a:ext cx="593400" cy="222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" name="Google Shape;268;p35"/>
          <p:cNvSpPr txBox="1"/>
          <p:nvPr/>
        </p:nvSpPr>
        <p:spPr>
          <a:xfrm>
            <a:off x="6424775" y="3032700"/>
            <a:ext cx="163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Volvemos a entender la red real!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VIII - Modelación usando Redes de Flujo</a:t>
            </a:r>
            <a:endParaRPr/>
          </a:p>
        </p:txBody>
      </p:sp>
      <p:pic>
        <p:nvPicPr>
          <p:cNvPr id="274" name="Google Shape;274;p36" title="Screenshot 2025-10-23 at 1.16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8839200" cy="1269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6" title="Screenshot 2025-10-23 at 1.16.1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3471" y="2632290"/>
            <a:ext cx="5437057" cy="23588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36"/>
          <p:cNvCxnSpPr/>
          <p:nvPr/>
        </p:nvCxnSpPr>
        <p:spPr>
          <a:xfrm rot="10800000">
            <a:off x="1443584" y="2074700"/>
            <a:ext cx="8040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