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5143500" cx="9144000"/>
  <p:notesSz cx="6858000" cy="9144000"/>
  <p:embeddedFontLst>
    <p:embeddedFont>
      <p:font typeface="Proxima Nova"/>
      <p:regular r:id="rId63"/>
      <p:bold r:id="rId64"/>
      <p:italic r:id="rId65"/>
      <p:boldItalic r:id="rId66"/>
    </p:embeddedFont>
    <p:embeddedFont>
      <p:font typeface="Old Standard TT"/>
      <p:regular r:id="rId67"/>
      <p:bold r:id="rId68"/>
      <p: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ProximaNova-bold.fntdata"/><Relationship Id="rId63" Type="http://schemas.openxmlformats.org/officeDocument/2006/relationships/font" Target="fonts/ProximaNova-regular.fntdata"/><Relationship Id="rId22" Type="http://schemas.openxmlformats.org/officeDocument/2006/relationships/slide" Target="slides/slide17.xml"/><Relationship Id="rId66" Type="http://schemas.openxmlformats.org/officeDocument/2006/relationships/font" Target="fonts/ProximaNova-boldItalic.fntdata"/><Relationship Id="rId21" Type="http://schemas.openxmlformats.org/officeDocument/2006/relationships/slide" Target="slides/slide16.xml"/><Relationship Id="rId65" Type="http://schemas.openxmlformats.org/officeDocument/2006/relationships/font" Target="fonts/ProximaNova-italic.fntdata"/><Relationship Id="rId24" Type="http://schemas.openxmlformats.org/officeDocument/2006/relationships/slide" Target="slides/slide19.xml"/><Relationship Id="rId68" Type="http://schemas.openxmlformats.org/officeDocument/2006/relationships/font" Target="fonts/OldStandardTT-bold.fntdata"/><Relationship Id="rId23" Type="http://schemas.openxmlformats.org/officeDocument/2006/relationships/slide" Target="slides/slide18.xml"/><Relationship Id="rId67" Type="http://schemas.openxmlformats.org/officeDocument/2006/relationships/font" Target="fonts/OldStandardTT-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ldStandardTT-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2c7a43fd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2c7a43fd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2c7a43fd5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2c7a43fd5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ea510f74e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ea510f74e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4645dd1bd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4645dd1bd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ea510f74e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ea510f74e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ea510f74e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ea510f74e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4645dd1bd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4645dd1bd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2c7a43fd5e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2c7a43fd5e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4645dd1bd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4645dd1bd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4645dd1bd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4645dd1bd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0961a6c4f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0961a6c4f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4645dd1bd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4645dd1bd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4645dd1bd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4645dd1bd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4645dd1bd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4645dd1bd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4645dd1bd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4645dd1bd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4645dd1bd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4645dd1bd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4645dd1bd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4645dd1bd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ea75f53a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ea75f53a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4645dd1bd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4645dd1bd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4645dd1bd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4645dd1bd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d55bb6c2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d55bb6c2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d55bb6c22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d55bb6c22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4645dd1bd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4645dd1bd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4645dd1bd7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4645dd1bd7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4645dd1bd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4645dd1bd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4645dd1bd7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4645dd1bd7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4645dd1bd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4645dd1bd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4645dd1bd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4645dd1bd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4645dd1bd7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4645dd1bd7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ea510f74e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ea510f74e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4645dd1bd7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4645dd1bd7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4645dd1bd7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4645dd1bd7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4645dd1bd7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4645dd1bd7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4645dd1bd7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4645dd1bd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4645dd1bd7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4645dd1bd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4645dd1bd7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4645dd1bd7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4645dd1bd7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4645dd1bd7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4645dd1bd7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4645dd1bd7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ea510f74e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ea510f74e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4645dd1bd7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4645dd1bd7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4645dd1bd7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4645dd1bd7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4645dd1bd7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4645dd1bd7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4645dd1bd7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4645dd1bd7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4645dd1bd7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4645dd1bd7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4645dd1bd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4645dd1bd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4645dd1bd7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4645dd1bd7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4645dd1bd7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4645dd1bd7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4645dd1bd7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4645dd1bd7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4645dd1bd7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4645dd1bd7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4645dd1bd7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4645dd1bd7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4645dd1bd7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4645dd1bd7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4645dd1bd7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4645dd1bd7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4645dd1bd7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24645dd1bd7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4645dd1bd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4645dd1bd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469b7363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469b7363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469b7363c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469b7363c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469b7363c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469b7363c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3.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7.png"/><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6.png"/><Relationship Id="rId6" Type="http://schemas.openxmlformats.org/officeDocument/2006/relationships/image" Target="../media/image32.png"/><Relationship Id="rId7"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38.png"/><Relationship Id="rId6"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9.png"/><Relationship Id="rId4" Type="http://schemas.openxmlformats.org/officeDocument/2006/relationships/image" Target="../media/image48.png"/><Relationship Id="rId5" Type="http://schemas.openxmlformats.org/officeDocument/2006/relationships/image" Target="../media/image37.png"/><Relationship Id="rId6" Type="http://schemas.openxmlformats.org/officeDocument/2006/relationships/image" Target="../media/image36.png"/><Relationship Id="rId7"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6.png"/><Relationship Id="rId4" Type="http://schemas.openxmlformats.org/officeDocument/2006/relationships/image" Target="../media/image53.png"/><Relationship Id="rId5"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7.png"/><Relationship Id="rId4"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2.png"/><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Algoritmos de Aproximación I</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Estado de la situación</a:t>
            </a:r>
            <a:endParaRPr sz="2700"/>
          </a:p>
        </p:txBody>
      </p:sp>
      <p:sp>
        <p:nvSpPr>
          <p:cNvPr id="67" name="Google Shape;67;p14"/>
          <p:cNvSpPr txBox="1"/>
          <p:nvPr>
            <p:ph idx="1" type="body"/>
          </p:nvPr>
        </p:nvSpPr>
        <p:spPr>
          <a:xfrm>
            <a:off x="311700" y="1171600"/>
            <a:ext cx="8520600" cy="37260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P = NP? P ≠ NP?</a:t>
            </a:r>
            <a:endParaRPr/>
          </a:p>
          <a:p>
            <a:pPr indent="-342900" lvl="0" marL="457200" rtl="0" algn="l">
              <a:lnSpc>
                <a:spcPct val="150000"/>
              </a:lnSpc>
              <a:spcBef>
                <a:spcPts val="0"/>
              </a:spcBef>
              <a:spcAft>
                <a:spcPts val="0"/>
              </a:spcAft>
              <a:buSzPts val="1800"/>
              <a:buChar char="●"/>
            </a:pPr>
            <a:r>
              <a:rPr lang="es"/>
              <a:t>Cómo diseñamos algoritmos para problemas en los que el tiempo polinomial es probablemente inconseguible?</a:t>
            </a:r>
            <a:endParaRPr/>
          </a:p>
          <a:p>
            <a:pPr indent="-342900" lvl="0" marL="457200" rtl="0" algn="l">
              <a:lnSpc>
                <a:spcPct val="150000"/>
              </a:lnSpc>
              <a:spcBef>
                <a:spcPts val="0"/>
              </a:spcBef>
              <a:spcAft>
                <a:spcPts val="0"/>
              </a:spcAft>
              <a:buSzPts val="1800"/>
              <a:buChar char="●"/>
            </a:pPr>
            <a:r>
              <a:rPr lang="es"/>
              <a:t>Los problemas vienen cada vez más intratables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animEffect filter="fade" transition="in">
                                      <p:cBhvr>
                                        <p:cTn dur="1000"/>
                                        <p:tgtEl>
                                          <p:spTgt spid="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animEffect filter="fade" transition="in">
                                      <p:cBhvr>
                                        <p:cTn dur="1000"/>
                                        <p:tgtEl>
                                          <p:spTgt spid="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animEffect filter="fade" transition="in">
                                      <p:cBhvr>
                                        <p:cTn dur="1000"/>
                                        <p:tgtEl>
                                          <p:spTgt spid="6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Estado de la situación</a:t>
            </a:r>
            <a:endParaRPr/>
          </a:p>
        </p:txBody>
      </p:sp>
      <p:sp>
        <p:nvSpPr>
          <p:cNvPr id="73" name="Google Shape;73;p1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P = NP? P ≠ NP?</a:t>
            </a:r>
            <a:endParaRPr/>
          </a:p>
          <a:p>
            <a:pPr indent="-342900" lvl="0" marL="457200" rtl="0" algn="l">
              <a:lnSpc>
                <a:spcPct val="150000"/>
              </a:lnSpc>
              <a:spcBef>
                <a:spcPts val="0"/>
              </a:spcBef>
              <a:spcAft>
                <a:spcPts val="0"/>
              </a:spcAft>
              <a:buSzPts val="1800"/>
              <a:buChar char="●"/>
            </a:pPr>
            <a:r>
              <a:rPr lang="es"/>
              <a:t>Los problemas vienen cada vez más intratables</a:t>
            </a:r>
            <a:endParaRPr/>
          </a:p>
          <a:p>
            <a:pPr indent="-342900" lvl="0" marL="457200" rtl="0" algn="l">
              <a:lnSpc>
                <a:spcPct val="150000"/>
              </a:lnSpc>
              <a:spcBef>
                <a:spcPts val="0"/>
              </a:spcBef>
              <a:spcAft>
                <a:spcPts val="0"/>
              </a:spcAft>
              <a:buSzPts val="1800"/>
              <a:buChar char="●"/>
            </a:pPr>
            <a:r>
              <a:rPr lang="es"/>
              <a:t>Cómo diseñamos algoritmos para problemas en los que el tiempo polinomial es probablemente inconseguible?</a:t>
            </a:r>
            <a:endParaRPr/>
          </a:p>
        </p:txBody>
      </p:sp>
      <p:grpSp>
        <p:nvGrpSpPr>
          <p:cNvPr id="74" name="Google Shape;74;p15"/>
          <p:cNvGrpSpPr/>
          <p:nvPr/>
        </p:nvGrpSpPr>
        <p:grpSpPr>
          <a:xfrm>
            <a:off x="1808123" y="1479725"/>
            <a:ext cx="7335876" cy="3663774"/>
            <a:chOff x="1808123" y="1479725"/>
            <a:chExt cx="7335876" cy="3663774"/>
          </a:xfrm>
        </p:grpSpPr>
        <p:pic>
          <p:nvPicPr>
            <p:cNvPr id="75" name="Google Shape;75;p15"/>
            <p:cNvPicPr preferRelativeResize="0"/>
            <p:nvPr/>
          </p:nvPicPr>
          <p:blipFill>
            <a:blip r:embed="rId3">
              <a:alphaModFix/>
            </a:blip>
            <a:stretch>
              <a:fillRect/>
            </a:stretch>
          </p:blipFill>
          <p:spPr>
            <a:xfrm>
              <a:off x="1808123" y="1479725"/>
              <a:ext cx="7335876" cy="3663774"/>
            </a:xfrm>
            <a:prstGeom prst="rect">
              <a:avLst/>
            </a:prstGeom>
            <a:noFill/>
            <a:ln>
              <a:noFill/>
            </a:ln>
          </p:spPr>
        </p:pic>
        <p:sp>
          <p:nvSpPr>
            <p:cNvPr id="76" name="Google Shape;76;p15"/>
            <p:cNvSpPr txBox="1"/>
            <p:nvPr/>
          </p:nvSpPr>
          <p:spPr>
            <a:xfrm>
              <a:off x="2697550" y="4406800"/>
              <a:ext cx="59745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600"/>
                </a:spcAft>
                <a:buNone/>
              </a:pPr>
              <a:r>
                <a:rPr lang="es" sz="1800">
                  <a:solidFill>
                    <a:schemeClr val="lt1"/>
                  </a:solidFill>
                  <a:latin typeface="Proxima Nova"/>
                  <a:ea typeface="Proxima Nova"/>
                  <a:cs typeface="Proxima Nova"/>
                  <a:sym typeface="Proxima Nova"/>
                </a:rPr>
                <a:t>Los problemas de ahora ya no se asustan con nada xdxd</a:t>
              </a:r>
              <a:endParaRPr>
                <a:solidFill>
                  <a:schemeClr val="lt1"/>
                </a:solidFill>
                <a:latin typeface="Old Standard TT"/>
                <a:ea typeface="Old Standard TT"/>
                <a:cs typeface="Old Standard TT"/>
                <a:sym typeface="Old Standard T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Algoritmos de Aproximación</a:t>
            </a:r>
            <a:endParaRPr sz="2700"/>
          </a:p>
        </p:txBody>
      </p:sp>
      <p:sp>
        <p:nvSpPr>
          <p:cNvPr id="82" name="Google Shape;82;p16"/>
          <p:cNvSpPr txBox="1"/>
          <p:nvPr>
            <p:ph idx="1" type="body"/>
          </p:nvPr>
        </p:nvSpPr>
        <p:spPr>
          <a:xfrm>
            <a:off x="311700" y="1171600"/>
            <a:ext cx="8520600" cy="37260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Diseñados para correr en tiempo polinomial</a:t>
            </a:r>
            <a:endParaRPr/>
          </a:p>
          <a:p>
            <a:pPr indent="-342900" lvl="0" marL="457200" rtl="0" algn="l">
              <a:lnSpc>
                <a:spcPct val="150000"/>
              </a:lnSpc>
              <a:spcBef>
                <a:spcPts val="0"/>
              </a:spcBef>
              <a:spcAft>
                <a:spcPts val="0"/>
              </a:spcAft>
              <a:buSzPts val="1800"/>
              <a:buChar char="●"/>
            </a:pPr>
            <a:r>
              <a:rPr lang="es"/>
              <a:t>Encuentran soluciones que </a:t>
            </a:r>
            <a:r>
              <a:rPr i="1" lang="es"/>
              <a:t>garantizan</a:t>
            </a:r>
            <a:r>
              <a:rPr lang="es"/>
              <a:t> estar </a:t>
            </a:r>
            <a:r>
              <a:rPr i="1" lang="es"/>
              <a:t>cerca</a:t>
            </a:r>
            <a:r>
              <a:rPr lang="es"/>
              <a:t> del óptimo</a:t>
            </a:r>
            <a:endParaRPr/>
          </a:p>
          <a:p>
            <a:pPr indent="-342900" lvl="0" marL="457200" rtl="0" algn="l">
              <a:lnSpc>
                <a:spcPct val="150000"/>
              </a:lnSpc>
              <a:spcBef>
                <a:spcPts val="0"/>
              </a:spcBef>
              <a:spcAft>
                <a:spcPts val="0"/>
              </a:spcAft>
              <a:buSzPts val="1800"/>
              <a:buChar char="●"/>
            </a:pPr>
            <a:r>
              <a:rPr lang="es"/>
              <a:t>Se puede </a:t>
            </a:r>
            <a:r>
              <a:rPr i="1" lang="es"/>
              <a:t>demostrar</a:t>
            </a:r>
            <a:r>
              <a:rPr lang="es"/>
              <a:t> que encontramos solución </a:t>
            </a:r>
            <a:r>
              <a:rPr i="1" lang="es"/>
              <a:t>cerca</a:t>
            </a:r>
            <a:r>
              <a:rPr lang="es"/>
              <a:t> del óptimo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Effect filter="fade" transition="in">
                                      <p:cBhvr>
                                        <p:cTn dur="1000"/>
                                        <p:tgtEl>
                                          <p:spTgt spid="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animEffect filter="fade" transition="in">
                                      <p:cBhvr>
                                        <p:cTn dur="1000"/>
                                        <p:tgtEl>
                                          <p:spTgt spid="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animEffect filter="fade" transition="in">
                                      <p:cBhvr>
                                        <p:cTn dur="1000"/>
                                        <p:tgtEl>
                                          <p:spTgt spid="8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152400"/>
            <a:ext cx="8520600" cy="10200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s" sz="2600"/>
              <a:t>Algoritmo exponencial: ¿qué tan buena es tu solución?</a:t>
            </a:r>
            <a:endParaRPr sz="2600"/>
          </a:p>
          <a:p>
            <a:pPr indent="-393700" lvl="0" marL="457200" rtl="0" algn="l">
              <a:spcBef>
                <a:spcPts val="0"/>
              </a:spcBef>
              <a:spcAft>
                <a:spcPts val="0"/>
              </a:spcAft>
              <a:buSzPts val="2600"/>
              <a:buChar char="-"/>
            </a:pPr>
            <a:r>
              <a:rPr lang="es" sz="2600"/>
              <a:t>Algoritmo aproximado:</a:t>
            </a:r>
            <a:endParaRPr sz="2600"/>
          </a:p>
        </p:txBody>
      </p:sp>
      <p:pic>
        <p:nvPicPr>
          <p:cNvPr id="88" name="Google Shape;88;p17"/>
          <p:cNvPicPr preferRelativeResize="0"/>
          <p:nvPr/>
        </p:nvPicPr>
        <p:blipFill>
          <a:blip r:embed="rId3">
            <a:alphaModFix/>
          </a:blip>
          <a:stretch>
            <a:fillRect/>
          </a:stretch>
        </p:blipFill>
        <p:spPr>
          <a:xfrm>
            <a:off x="694588" y="1233100"/>
            <a:ext cx="7754820" cy="3780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Algoritmos de Aproximación</a:t>
            </a:r>
            <a:endParaRPr sz="2700"/>
          </a:p>
        </p:txBody>
      </p:sp>
      <p:sp>
        <p:nvSpPr>
          <p:cNvPr id="94" name="Google Shape;94;p18"/>
          <p:cNvSpPr txBox="1"/>
          <p:nvPr>
            <p:ph idx="1" type="body"/>
          </p:nvPr>
        </p:nvSpPr>
        <p:spPr>
          <a:xfrm>
            <a:off x="311700" y="1171600"/>
            <a:ext cx="8520600" cy="37260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Diseñados para correr en tiempo polinomial</a:t>
            </a:r>
            <a:endParaRPr/>
          </a:p>
          <a:p>
            <a:pPr indent="-342900" lvl="0" marL="457200" rtl="0" algn="l">
              <a:lnSpc>
                <a:spcPct val="150000"/>
              </a:lnSpc>
              <a:spcBef>
                <a:spcPts val="0"/>
              </a:spcBef>
              <a:spcAft>
                <a:spcPts val="0"/>
              </a:spcAft>
              <a:buSzPts val="1800"/>
              <a:buChar char="●"/>
            </a:pPr>
            <a:r>
              <a:rPr lang="es"/>
              <a:t>Encuentran soluciones que </a:t>
            </a:r>
            <a:r>
              <a:rPr i="1" lang="es"/>
              <a:t>garantizan</a:t>
            </a:r>
            <a:r>
              <a:rPr lang="es"/>
              <a:t> estar </a:t>
            </a:r>
            <a:r>
              <a:rPr i="1" lang="es"/>
              <a:t>cerca</a:t>
            </a:r>
            <a:r>
              <a:rPr lang="es"/>
              <a:t> del óptimo</a:t>
            </a:r>
            <a:endParaRPr/>
          </a:p>
          <a:p>
            <a:pPr indent="-342900" lvl="0" marL="457200" rtl="0" algn="l">
              <a:lnSpc>
                <a:spcPct val="150000"/>
              </a:lnSpc>
              <a:spcBef>
                <a:spcPts val="0"/>
              </a:spcBef>
              <a:spcAft>
                <a:spcPts val="0"/>
              </a:spcAft>
              <a:buSzPts val="1800"/>
              <a:buChar char="●"/>
            </a:pPr>
            <a:r>
              <a:rPr lang="es"/>
              <a:t>Se puede </a:t>
            </a:r>
            <a:r>
              <a:rPr i="1" lang="es"/>
              <a:t>demostrar</a:t>
            </a:r>
            <a:r>
              <a:rPr lang="es"/>
              <a:t> que encontramos solución </a:t>
            </a:r>
            <a:r>
              <a:rPr i="1" lang="es"/>
              <a:t>cerca</a:t>
            </a:r>
            <a:r>
              <a:rPr lang="es"/>
              <a:t> del óptimo</a:t>
            </a:r>
            <a:endParaRPr/>
          </a:p>
          <a:p>
            <a:pPr indent="0" lvl="0" marL="0" rtl="0" algn="l">
              <a:lnSpc>
                <a:spcPct val="150000"/>
              </a:lnSpc>
              <a:spcBef>
                <a:spcPts val="1600"/>
              </a:spcBef>
              <a:spcAft>
                <a:spcPts val="0"/>
              </a:spcAft>
              <a:buNone/>
            </a:pPr>
            <a:r>
              <a:rPr lang="es"/>
              <a:t>¿Quieres ver un truco de magia?</a:t>
            </a:r>
            <a:endParaRPr/>
          </a:p>
          <a:p>
            <a:pPr indent="-342900" lvl="0" marL="457200" rtl="0" algn="l">
              <a:lnSpc>
                <a:spcPct val="150000"/>
              </a:lnSpc>
              <a:spcBef>
                <a:spcPts val="1600"/>
              </a:spcBef>
              <a:spcAft>
                <a:spcPts val="0"/>
              </a:spcAft>
              <a:buSzPts val="1800"/>
              <a:buChar char="●"/>
            </a:pPr>
            <a:r>
              <a:rPr lang="es"/>
              <a:t>La solución óptima es muy difícil de calcular</a:t>
            </a:r>
            <a:endParaRPr/>
          </a:p>
          <a:p>
            <a:pPr indent="-342900" lvl="0" marL="457200" rtl="0" algn="l">
              <a:lnSpc>
                <a:spcPct val="150000"/>
              </a:lnSpc>
              <a:spcBef>
                <a:spcPts val="0"/>
              </a:spcBef>
              <a:spcAft>
                <a:spcPts val="0"/>
              </a:spcAft>
              <a:buSzPts val="1800"/>
              <a:buChar char="●"/>
            </a:pPr>
            <a:r>
              <a:rPr lang="es"/>
              <a:t>Aún así vamos a poder demostrar la cercanía de la solución Aproximada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Algoritmos de Aproximación</a:t>
            </a:r>
            <a:endParaRPr sz="2700"/>
          </a:p>
        </p:txBody>
      </p:sp>
      <p:sp>
        <p:nvSpPr>
          <p:cNvPr id="100" name="Google Shape;100;p19"/>
          <p:cNvSpPr txBox="1"/>
          <p:nvPr>
            <p:ph idx="1" type="body"/>
          </p:nvPr>
        </p:nvSpPr>
        <p:spPr>
          <a:xfrm>
            <a:off x="311700" y="1171600"/>
            <a:ext cx="8520600" cy="2649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a:t>Metodologías para los Algoritmos de Aproximación</a:t>
            </a:r>
            <a:endParaRPr/>
          </a:p>
          <a:p>
            <a:pPr indent="-342900" lvl="0" marL="457200" rtl="0" algn="l">
              <a:lnSpc>
                <a:spcPct val="150000"/>
              </a:lnSpc>
              <a:spcBef>
                <a:spcPts val="1600"/>
              </a:spcBef>
              <a:spcAft>
                <a:spcPts val="0"/>
              </a:spcAft>
              <a:buSzPts val="1800"/>
              <a:buChar char="●"/>
            </a:pPr>
            <a:r>
              <a:rPr lang="es"/>
              <a:t>Algoritmos Greedy</a:t>
            </a:r>
            <a:endParaRPr/>
          </a:p>
          <a:p>
            <a:pPr indent="-342900" lvl="0" marL="457200" rtl="0" algn="l">
              <a:lnSpc>
                <a:spcPct val="150000"/>
              </a:lnSpc>
              <a:spcBef>
                <a:spcPts val="0"/>
              </a:spcBef>
              <a:spcAft>
                <a:spcPts val="0"/>
              </a:spcAft>
              <a:buSzPts val="1800"/>
              <a:buChar char="●"/>
            </a:pPr>
            <a:r>
              <a:rPr lang="es"/>
              <a:t>Pricing Method</a:t>
            </a:r>
            <a:endParaRPr/>
          </a:p>
          <a:p>
            <a:pPr indent="-342900" lvl="0" marL="457200" rtl="0" algn="l">
              <a:lnSpc>
                <a:spcPct val="150000"/>
              </a:lnSpc>
              <a:spcBef>
                <a:spcPts val="0"/>
              </a:spcBef>
              <a:spcAft>
                <a:spcPts val="0"/>
              </a:spcAft>
              <a:buSzPts val="1800"/>
              <a:buChar char="●"/>
            </a:pPr>
            <a:r>
              <a:rPr lang="es"/>
              <a:t>Programación Lineal, Redondeos, Programación Entera</a:t>
            </a:r>
            <a:endParaRPr/>
          </a:p>
          <a:p>
            <a:pPr indent="-342900" lvl="0" marL="457200" rtl="0" algn="l">
              <a:lnSpc>
                <a:spcPct val="150000"/>
              </a:lnSpc>
              <a:spcBef>
                <a:spcPts val="0"/>
              </a:spcBef>
              <a:spcAft>
                <a:spcPts val="0"/>
              </a:spcAft>
              <a:buSzPts val="1800"/>
              <a:buChar char="●"/>
            </a:pPr>
            <a:r>
              <a:rPr lang="es"/>
              <a:t>Programación Dinámica y Redondeos</a:t>
            </a:r>
            <a:endParaRPr/>
          </a:p>
        </p:txBody>
      </p:sp>
      <p:pic>
        <p:nvPicPr>
          <p:cNvPr id="101" name="Google Shape;101;p19"/>
          <p:cNvPicPr preferRelativeResize="0"/>
          <p:nvPr/>
        </p:nvPicPr>
        <p:blipFill>
          <a:blip r:embed="rId3">
            <a:alphaModFix/>
          </a:blip>
          <a:stretch>
            <a:fillRect/>
          </a:stretch>
        </p:blipFill>
        <p:spPr>
          <a:xfrm>
            <a:off x="3034702" y="2287700"/>
            <a:ext cx="1159150" cy="714600"/>
          </a:xfrm>
          <a:prstGeom prst="rect">
            <a:avLst/>
          </a:prstGeom>
          <a:noFill/>
          <a:ln>
            <a:noFill/>
          </a:ln>
        </p:spPr>
      </p:pic>
      <p:pic>
        <p:nvPicPr>
          <p:cNvPr id="102" name="Google Shape;102;p19"/>
          <p:cNvPicPr preferRelativeResize="0"/>
          <p:nvPr/>
        </p:nvPicPr>
        <p:blipFill>
          <a:blip r:embed="rId3">
            <a:alphaModFix/>
          </a:blip>
          <a:stretch>
            <a:fillRect/>
          </a:stretch>
        </p:blipFill>
        <p:spPr>
          <a:xfrm>
            <a:off x="3489050" y="3059750"/>
            <a:ext cx="1159150" cy="714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Effect filter="fade" transition="in">
                                      <p:cBhvr>
                                        <p:cTn dur="1000"/>
                                        <p:tgtEl>
                                          <p:spTgt spid="1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animEffect filter="fade" transition="in">
                                      <p:cBhvr>
                                        <p:cTn dur="1000"/>
                                        <p:tgtEl>
                                          <p:spTgt spid="1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animEffect filter="fade" transition="in">
                                      <p:cBhvr>
                                        <p:cTn dur="1000"/>
                                        <p:tgtEl>
                                          <p:spTgt spid="1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animEffect filter="fade" transition="in">
                                      <p:cBhvr>
                                        <p:cTn dur="1000"/>
                                        <p:tgtEl>
                                          <p:spTgt spid="1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animEffect filter="fade" transition="in">
                                      <p:cBhvr>
                                        <p:cTn dur="1000"/>
                                        <p:tgtEl>
                                          <p:spTgt spid="10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Balanceo de Carga</a:t>
            </a:r>
            <a:endParaRPr/>
          </a:p>
        </p:txBody>
      </p:sp>
      <p:sp>
        <p:nvSpPr>
          <p:cNvPr id="108" name="Google Shape;108;p20"/>
          <p:cNvSpPr txBox="1"/>
          <p:nvPr>
            <p:ph idx="1" type="body"/>
          </p:nvPr>
        </p:nvSpPr>
        <p:spPr>
          <a:xfrm>
            <a:off x="311700" y="1171600"/>
            <a:ext cx="8520600" cy="371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Dadas </a:t>
            </a:r>
            <a:r>
              <a:rPr b="1" lang="es"/>
              <a:t>m</a:t>
            </a:r>
            <a:r>
              <a:rPr lang="es"/>
              <a:t> Máquinas y un conjunto </a:t>
            </a:r>
            <a:r>
              <a:rPr b="1" lang="es"/>
              <a:t>n</a:t>
            </a:r>
            <a:r>
              <a:rPr lang="es"/>
              <a:t> de trabajos, donde cada trabajo j toma un tiempo t</a:t>
            </a:r>
            <a:r>
              <a:rPr b="1" baseline="-25000" lang="es"/>
              <a:t>j</a:t>
            </a:r>
            <a:r>
              <a:rPr lang="es"/>
              <a:t>, se desea asignar el trabajo en las Máquinas de forma balanceada.</a:t>
            </a:r>
            <a:endParaRPr/>
          </a:p>
          <a:p>
            <a:pPr indent="0" lvl="0" marL="0" rtl="0" algn="l">
              <a:spcBef>
                <a:spcPts val="1600"/>
              </a:spcBef>
              <a:spcAft>
                <a:spcPts val="0"/>
              </a:spcAft>
              <a:buNone/>
            </a:pPr>
            <a:r>
              <a:rPr lang="es"/>
              <a:t>Dada una asignación A(i) para la Máquina i, su tiempo de trabajo es</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s"/>
              <a:t>Y queremos encontrar la asignación que minimice el máx valor de </a:t>
            </a:r>
            <a:r>
              <a:rPr lang="es"/>
              <a:t>T</a:t>
            </a:r>
            <a:r>
              <a:rPr b="1" baseline="-25000" lang="es"/>
              <a:t>i</a:t>
            </a:r>
            <a:r>
              <a:rPr lang="es"/>
              <a:t>, que también representa el tiempo que se tardará en finalizar todos los trabajos</a:t>
            </a:r>
            <a:endParaRPr/>
          </a:p>
          <a:p>
            <a:pPr indent="0" lvl="0" marL="0" rtl="0" algn="l">
              <a:spcBef>
                <a:spcPts val="1600"/>
              </a:spcBef>
              <a:spcAft>
                <a:spcPts val="1600"/>
              </a:spcAft>
              <a:buNone/>
            </a:pPr>
            <a:r>
              <a:rPr lang="es"/>
              <a:t>El Problema de Balanceo de Carga es NP-difícil</a:t>
            </a:r>
            <a:endParaRPr/>
          </a:p>
        </p:txBody>
      </p:sp>
      <p:pic>
        <p:nvPicPr>
          <p:cNvPr id="109" name="Google Shape;109;p20"/>
          <p:cNvPicPr preferRelativeResize="0"/>
          <p:nvPr/>
        </p:nvPicPr>
        <p:blipFill>
          <a:blip r:embed="rId3">
            <a:alphaModFix/>
          </a:blip>
          <a:stretch>
            <a:fillRect/>
          </a:stretch>
        </p:blipFill>
        <p:spPr>
          <a:xfrm>
            <a:off x="3662350" y="2453638"/>
            <a:ext cx="1819275" cy="101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Metodología 1: Greedy</a:t>
            </a:r>
            <a:endParaRPr/>
          </a:p>
        </p:txBody>
      </p:sp>
      <p:sp>
        <p:nvSpPr>
          <p:cNvPr id="115" name="Google Shape;115;p21"/>
          <p:cNvSpPr txBox="1"/>
          <p:nvPr>
            <p:ph idx="1" type="body"/>
          </p:nvPr>
        </p:nvSpPr>
        <p:spPr>
          <a:xfrm>
            <a:off x="311700" y="1171600"/>
            <a:ext cx="8520600" cy="371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¿Ideas</a:t>
            </a:r>
            <a:r>
              <a:rPr lang="es"/>
              <a:t>?</a:t>
            </a:r>
            <a:endParaRPr/>
          </a:p>
          <a:p>
            <a:pPr indent="0" lvl="0" marL="0" rtl="0" algn="l">
              <a:spcBef>
                <a:spcPts val="1600"/>
              </a:spcBef>
              <a:spcAft>
                <a:spcPts val="0"/>
              </a:spcAft>
              <a:buNone/>
            </a:pPr>
            <a:r>
              <a:rPr lang="es"/>
              <a:t>Es posible que podamos encontrar estrategias, como Backtracking, para resolver el problema de forma óptima</a:t>
            </a:r>
            <a:endParaRPr/>
          </a:p>
          <a:p>
            <a:pPr indent="0" lvl="0" marL="0" rtl="0" algn="l">
              <a:spcBef>
                <a:spcPts val="1600"/>
              </a:spcBef>
              <a:spcAft>
                <a:spcPts val="0"/>
              </a:spcAft>
              <a:buNone/>
            </a:pPr>
            <a:r>
              <a:rPr lang="es"/>
              <a:t>Vamos con un Algoritmo Greedy para alcanzar tiempo polinomial</a:t>
            </a:r>
            <a:endParaRPr/>
          </a:p>
          <a:p>
            <a:pPr indent="-342900" lvl="0" marL="457200" rtl="0" algn="l">
              <a:spcBef>
                <a:spcPts val="1600"/>
              </a:spcBef>
              <a:spcAft>
                <a:spcPts val="0"/>
              </a:spcAft>
              <a:buSzPts val="1800"/>
              <a:buChar char="-"/>
            </a:pPr>
            <a:r>
              <a:rPr lang="es"/>
              <a:t>Iterar sobre todos los trabajos</a:t>
            </a:r>
            <a:endParaRPr/>
          </a:p>
          <a:p>
            <a:pPr indent="-342900" lvl="0" marL="457200" rtl="0" algn="l">
              <a:spcBef>
                <a:spcPts val="0"/>
              </a:spcBef>
              <a:spcAft>
                <a:spcPts val="0"/>
              </a:spcAft>
              <a:buSzPts val="1800"/>
              <a:buChar char="-"/>
            </a:pPr>
            <a:r>
              <a:rPr lang="es"/>
              <a:t>Para cada trabajo, </a:t>
            </a:r>
            <a:r>
              <a:rPr lang="es"/>
              <a:t>asignarlo</a:t>
            </a:r>
            <a:r>
              <a:rPr lang="es"/>
              <a:t> a la máquina con menos trabajo al momento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Balanceo de Carga</a:t>
            </a:r>
            <a:endParaRPr/>
          </a:p>
        </p:txBody>
      </p:sp>
      <p:sp>
        <p:nvSpPr>
          <p:cNvPr id="121" name="Google Shape;121;p22"/>
          <p:cNvSpPr txBox="1"/>
          <p:nvPr>
            <p:ph idx="1" type="body"/>
          </p:nvPr>
        </p:nvSpPr>
        <p:spPr>
          <a:xfrm>
            <a:off x="311700" y="1171600"/>
            <a:ext cx="8520600" cy="37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Greedy</a:t>
            </a:r>
            <a:endParaRPr/>
          </a:p>
          <a:p>
            <a:pPr indent="-342900" lvl="0" marL="457200" rtl="0" algn="l">
              <a:spcBef>
                <a:spcPts val="1600"/>
              </a:spcBef>
              <a:spcAft>
                <a:spcPts val="0"/>
              </a:spcAft>
              <a:buSzPts val="1800"/>
              <a:buChar char="-"/>
            </a:pPr>
            <a:r>
              <a:rPr lang="es"/>
              <a:t>Iterar sobre todos los trabajos</a:t>
            </a:r>
            <a:endParaRPr/>
          </a:p>
          <a:p>
            <a:pPr indent="-342900" lvl="0" marL="457200" rtl="0" algn="l">
              <a:spcBef>
                <a:spcPts val="0"/>
              </a:spcBef>
              <a:spcAft>
                <a:spcPts val="0"/>
              </a:spcAft>
              <a:buSzPts val="1800"/>
              <a:buChar char="-"/>
            </a:pPr>
            <a:r>
              <a:rPr lang="es"/>
              <a:t>Para cada trabajo, asignarlo a la máquina con menos trabajo al momento</a:t>
            </a:r>
            <a:endParaRPr/>
          </a:p>
          <a:p>
            <a:pPr indent="0" lvl="0" marL="0" rtl="0" algn="l">
              <a:spcBef>
                <a:spcPts val="1600"/>
              </a:spcBef>
              <a:spcAft>
                <a:spcPts val="0"/>
              </a:spcAft>
              <a:buNone/>
            </a:pPr>
            <a:r>
              <a:rPr lang="es"/>
              <a:t>Ejemplo:</a:t>
            </a:r>
            <a:endParaRPr/>
          </a:p>
          <a:p>
            <a:pPr indent="0" lvl="0" marL="0" rtl="0" algn="l">
              <a:spcBef>
                <a:spcPts val="1600"/>
              </a:spcBef>
              <a:spcAft>
                <a:spcPts val="0"/>
              </a:spcAft>
              <a:buNone/>
            </a:pPr>
            <a:r>
              <a:rPr lang="es"/>
              <a:t>2, 3, 4, 6, 2, 2</a:t>
            </a:r>
            <a:endParaRPr/>
          </a:p>
          <a:p>
            <a:pPr indent="0" lvl="0" marL="0" rtl="0" algn="l">
              <a:spcBef>
                <a:spcPts val="1600"/>
              </a:spcBef>
              <a:spcAft>
                <a:spcPts val="0"/>
              </a:spcAft>
              <a:buNone/>
            </a:pPr>
            <a:r>
              <a:rPr lang="es"/>
              <a:t>Pero si era</a:t>
            </a:r>
            <a:endParaRPr/>
          </a:p>
          <a:p>
            <a:pPr indent="0" lvl="0" marL="0" rtl="0" algn="l">
              <a:spcBef>
                <a:spcPts val="1600"/>
              </a:spcBef>
              <a:spcAft>
                <a:spcPts val="1600"/>
              </a:spcAft>
              <a:buNone/>
            </a:pPr>
            <a:r>
              <a:rPr lang="es"/>
              <a:t>6, 4, 3, 2, 2, 2</a:t>
            </a:r>
            <a:endParaRPr/>
          </a:p>
        </p:txBody>
      </p:sp>
      <p:pic>
        <p:nvPicPr>
          <p:cNvPr id="122" name="Google Shape;122;p22"/>
          <p:cNvPicPr preferRelativeResize="0"/>
          <p:nvPr/>
        </p:nvPicPr>
        <p:blipFill>
          <a:blip r:embed="rId3">
            <a:alphaModFix/>
          </a:blip>
          <a:stretch>
            <a:fillRect/>
          </a:stretch>
        </p:blipFill>
        <p:spPr>
          <a:xfrm>
            <a:off x="1930100" y="2462240"/>
            <a:ext cx="2641900" cy="2500760"/>
          </a:xfrm>
          <a:prstGeom prst="rect">
            <a:avLst/>
          </a:prstGeom>
          <a:noFill/>
          <a:ln>
            <a:noFill/>
          </a:ln>
        </p:spPr>
      </p:pic>
      <p:pic>
        <p:nvPicPr>
          <p:cNvPr id="123" name="Google Shape;123;p22"/>
          <p:cNvPicPr preferRelativeResize="0"/>
          <p:nvPr/>
        </p:nvPicPr>
        <p:blipFill>
          <a:blip r:embed="rId4">
            <a:alphaModFix/>
          </a:blip>
          <a:stretch>
            <a:fillRect/>
          </a:stretch>
        </p:blipFill>
        <p:spPr>
          <a:xfrm>
            <a:off x="5419700" y="2408950"/>
            <a:ext cx="2698174" cy="2554050"/>
          </a:xfrm>
          <a:prstGeom prst="rect">
            <a:avLst/>
          </a:prstGeom>
          <a:noFill/>
          <a:ln>
            <a:noFill/>
          </a:ln>
        </p:spPr>
      </p:pic>
      <p:pic>
        <p:nvPicPr>
          <p:cNvPr id="124" name="Google Shape;124;p22"/>
          <p:cNvPicPr preferRelativeResize="0"/>
          <p:nvPr/>
        </p:nvPicPr>
        <p:blipFill>
          <a:blip r:embed="rId5">
            <a:alphaModFix/>
          </a:blip>
          <a:stretch>
            <a:fillRect/>
          </a:stretch>
        </p:blipFill>
        <p:spPr>
          <a:xfrm>
            <a:off x="311701" y="3540351"/>
            <a:ext cx="1476175" cy="1128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Balanceo de Carga</a:t>
            </a:r>
            <a:endParaRPr/>
          </a:p>
        </p:txBody>
      </p:sp>
      <p:sp>
        <p:nvSpPr>
          <p:cNvPr id="130" name="Google Shape;130;p23"/>
          <p:cNvSpPr txBox="1"/>
          <p:nvPr>
            <p:ph idx="1" type="body"/>
          </p:nvPr>
        </p:nvSpPr>
        <p:spPr>
          <a:xfrm>
            <a:off x="311700" y="1171600"/>
            <a:ext cx="8520600" cy="38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Estoy de acuerdo, ordenar los trabajos de mayor a menor parecería mejor</a:t>
            </a:r>
            <a:endParaRPr/>
          </a:p>
          <a:p>
            <a:pPr indent="0" lvl="0" marL="0" rtl="0" algn="l">
              <a:spcBef>
                <a:spcPts val="1600"/>
              </a:spcBef>
              <a:spcAft>
                <a:spcPts val="0"/>
              </a:spcAft>
              <a:buNone/>
            </a:pPr>
            <a:r>
              <a:rPr lang="es"/>
              <a:t>Eso sí, Ordenar de mayor a menor no es suficiente</a:t>
            </a:r>
            <a:endParaRPr/>
          </a:p>
          <a:p>
            <a:pPr indent="-342900" lvl="0" marL="457200" rtl="0" algn="l">
              <a:spcBef>
                <a:spcPts val="1600"/>
              </a:spcBef>
              <a:spcAft>
                <a:spcPts val="0"/>
              </a:spcAft>
              <a:buSzPts val="1800"/>
              <a:buChar char="-"/>
            </a:pPr>
            <a:r>
              <a:rPr lang="es"/>
              <a:t>Ejemplo: para 3 máquinas, 5,4,3,3,3,3,3,3</a:t>
            </a:r>
            <a:endParaRPr/>
          </a:p>
          <a:p>
            <a:pPr indent="0" lvl="0" marL="0" rtl="0" algn="l">
              <a:spcBef>
                <a:spcPts val="1600"/>
              </a:spcBef>
              <a:spcAft>
                <a:spcPts val="0"/>
              </a:spcAft>
              <a:buNone/>
            </a:pPr>
            <a:r>
              <a:rPr lang="es"/>
              <a:t>Asigna:</a:t>
            </a:r>
            <a:br>
              <a:rPr lang="es"/>
            </a:br>
            <a:r>
              <a:rPr lang="es"/>
              <a:t>5,3 = 8</a:t>
            </a:r>
            <a:endParaRPr/>
          </a:p>
          <a:p>
            <a:pPr indent="0" lvl="0" marL="0" rtl="0" algn="l">
              <a:spcBef>
                <a:spcPts val="1600"/>
              </a:spcBef>
              <a:spcAft>
                <a:spcPts val="0"/>
              </a:spcAft>
              <a:buNone/>
            </a:pPr>
            <a:r>
              <a:rPr lang="es"/>
              <a:t>4,3,3 = 10</a:t>
            </a:r>
            <a:endParaRPr/>
          </a:p>
          <a:p>
            <a:pPr indent="0" lvl="0" marL="0" rtl="0" algn="l">
              <a:spcBef>
                <a:spcPts val="1600"/>
              </a:spcBef>
              <a:spcAft>
                <a:spcPts val="0"/>
              </a:spcAft>
              <a:buNone/>
            </a:pPr>
            <a:r>
              <a:rPr lang="es"/>
              <a:t>3,3,3 = 9</a:t>
            </a:r>
            <a:endParaRPr/>
          </a:p>
          <a:p>
            <a:pPr indent="0" lvl="0" marL="0" rtl="0" algn="l">
              <a:spcBef>
                <a:spcPts val="1600"/>
              </a:spcBef>
              <a:spcAft>
                <a:spcPts val="1600"/>
              </a:spcAft>
              <a:buNone/>
            </a:pPr>
            <a:r>
              <a:rPr lang="es"/>
              <a:t>Óptimo: [5,4] [3,3,3] [3,3,3]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Análisis de la Solución Greedy</a:t>
            </a:r>
            <a:endParaRPr sz="2700"/>
          </a:p>
        </p:txBody>
      </p:sp>
      <p:sp>
        <p:nvSpPr>
          <p:cNvPr id="136" name="Google Shape;136;p24"/>
          <p:cNvSpPr txBox="1"/>
          <p:nvPr>
            <p:ph idx="1" type="body"/>
          </p:nvPr>
        </p:nvSpPr>
        <p:spPr>
          <a:xfrm>
            <a:off x="311700" y="1171600"/>
            <a:ext cx="8520600" cy="25953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Tocaría comparar nuestra solución T con la solución óptima T*</a:t>
            </a:r>
            <a:endParaRPr/>
          </a:p>
          <a:p>
            <a:pPr indent="-342900" lvl="0" marL="457200" rtl="0" algn="l">
              <a:lnSpc>
                <a:spcPct val="150000"/>
              </a:lnSpc>
              <a:spcBef>
                <a:spcPts val="0"/>
              </a:spcBef>
              <a:spcAft>
                <a:spcPts val="0"/>
              </a:spcAft>
              <a:buSzPts val="1800"/>
              <a:buChar char="●"/>
            </a:pPr>
            <a:r>
              <a:rPr lang="es"/>
              <a:t>No conocemos la solución T* óptima!</a:t>
            </a:r>
            <a:endParaRPr/>
          </a:p>
          <a:p>
            <a:pPr indent="-342900" lvl="0" marL="457200" rtl="0" algn="l">
              <a:lnSpc>
                <a:spcPct val="150000"/>
              </a:lnSpc>
              <a:spcBef>
                <a:spcPts val="0"/>
              </a:spcBef>
              <a:spcAft>
                <a:spcPts val="0"/>
              </a:spcAft>
              <a:buSzPts val="1800"/>
              <a:buChar char="●"/>
            </a:pPr>
            <a:r>
              <a:rPr lang="es"/>
              <a:t>¡Que</a:t>
            </a:r>
            <a:r>
              <a:rPr lang="es"/>
              <a:t> comience la Matemática!</a:t>
            </a:r>
            <a:endParaRPr/>
          </a:p>
          <a:p>
            <a:pPr indent="-342900" lvl="0" marL="457200" rtl="0" algn="l">
              <a:lnSpc>
                <a:spcPct val="150000"/>
              </a:lnSpc>
              <a:spcBef>
                <a:spcPts val="0"/>
              </a:spcBef>
              <a:spcAft>
                <a:spcPts val="0"/>
              </a:spcAft>
              <a:buSzPts val="1800"/>
              <a:buChar char="●"/>
            </a:pPr>
            <a:r>
              <a:rPr lang="es"/>
              <a:t>La mejor asignación posible sería repartir para que cada máquina haga </a:t>
            </a:r>
            <a:r>
              <a:rPr lang="es"/>
              <a:t>exactamente</a:t>
            </a:r>
            <a:r>
              <a:rPr lang="es"/>
              <a:t> la misma cantidad de trabajo</a:t>
            </a:r>
            <a:endParaRPr/>
          </a:p>
          <a:p>
            <a:pPr indent="-342900" lvl="0" marL="457200" rtl="0" algn="l">
              <a:lnSpc>
                <a:spcPct val="150000"/>
              </a:lnSpc>
              <a:spcBef>
                <a:spcPts val="0"/>
              </a:spcBef>
              <a:spcAft>
                <a:spcPts val="0"/>
              </a:spcAft>
              <a:buSzPts val="1800"/>
              <a:buChar char="●"/>
            </a:pPr>
            <a:r>
              <a:rPr lang="es"/>
              <a:t>Además, nunca se puede terminar antes que el trabajo más largo</a:t>
            </a:r>
            <a:endParaRPr/>
          </a:p>
        </p:txBody>
      </p:sp>
      <p:pic>
        <p:nvPicPr>
          <p:cNvPr id="137" name="Google Shape;137;p24"/>
          <p:cNvPicPr preferRelativeResize="0"/>
          <p:nvPr/>
        </p:nvPicPr>
        <p:blipFill>
          <a:blip r:embed="rId3">
            <a:alphaModFix/>
          </a:blip>
          <a:stretch>
            <a:fillRect/>
          </a:stretch>
        </p:blipFill>
        <p:spPr>
          <a:xfrm>
            <a:off x="1644175" y="3679375"/>
            <a:ext cx="2276900" cy="1318200"/>
          </a:xfrm>
          <a:prstGeom prst="rect">
            <a:avLst/>
          </a:prstGeom>
          <a:noFill/>
          <a:ln>
            <a:noFill/>
          </a:ln>
        </p:spPr>
      </p:pic>
      <p:pic>
        <p:nvPicPr>
          <p:cNvPr id="138" name="Google Shape;138;p24"/>
          <p:cNvPicPr preferRelativeResize="0"/>
          <p:nvPr/>
        </p:nvPicPr>
        <p:blipFill>
          <a:blip r:embed="rId4">
            <a:alphaModFix/>
          </a:blip>
          <a:stretch>
            <a:fillRect/>
          </a:stretch>
        </p:blipFill>
        <p:spPr>
          <a:xfrm>
            <a:off x="5171800" y="3938425"/>
            <a:ext cx="2619375"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sz="2700"/>
          </a:p>
        </p:txBody>
      </p:sp>
      <p:sp>
        <p:nvSpPr>
          <p:cNvPr id="144" name="Google Shape;144;p25"/>
          <p:cNvSpPr txBox="1"/>
          <p:nvPr>
            <p:ph idx="1" type="body"/>
          </p:nvPr>
        </p:nvSpPr>
        <p:spPr>
          <a:xfrm>
            <a:off x="311700" y="1171600"/>
            <a:ext cx="8520600" cy="37587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Necesitamos comparar nuestra solución T con lo que sabemos del óptimo</a:t>
            </a:r>
            <a:endParaRPr/>
          </a:p>
          <a:p>
            <a:pPr indent="-342900" lvl="0" marL="457200" rtl="0" algn="l">
              <a:lnSpc>
                <a:spcPct val="150000"/>
              </a:lnSpc>
              <a:spcBef>
                <a:spcPts val="0"/>
              </a:spcBef>
              <a:spcAft>
                <a:spcPts val="0"/>
              </a:spcAft>
              <a:buSzPts val="1800"/>
              <a:buChar char="●"/>
            </a:pPr>
            <a:r>
              <a:rPr lang="es"/>
              <a:t>Una de nuestras Máquinas en T tuvo más carga que cualquier otra, ¿cómo?</a:t>
            </a:r>
            <a:endParaRPr/>
          </a:p>
          <a:p>
            <a:pPr indent="-342900" lvl="0" marL="457200" rtl="0" algn="l">
              <a:lnSpc>
                <a:spcPct val="150000"/>
              </a:lnSpc>
              <a:spcBef>
                <a:spcPts val="0"/>
              </a:spcBef>
              <a:spcAft>
                <a:spcPts val="0"/>
              </a:spcAft>
              <a:buSzPts val="1800"/>
              <a:buChar char="●"/>
            </a:pPr>
            <a:r>
              <a:rPr lang="es"/>
              <a:t>Habrá habido un último trabajo </a:t>
            </a:r>
            <a:r>
              <a:rPr lang="es"/>
              <a:t>T</a:t>
            </a:r>
            <a:r>
              <a:rPr b="1" baseline="-25000" lang="es"/>
              <a:t>j</a:t>
            </a:r>
            <a:r>
              <a:rPr lang="es"/>
              <a:t> en ser colocado en esa máquina</a:t>
            </a:r>
            <a:endParaRPr/>
          </a:p>
          <a:p>
            <a:pPr indent="-342900" lvl="0" marL="457200" rtl="0" algn="l">
              <a:lnSpc>
                <a:spcPct val="150000"/>
              </a:lnSpc>
              <a:spcBef>
                <a:spcPts val="0"/>
              </a:spcBef>
              <a:spcAft>
                <a:spcPts val="0"/>
              </a:spcAft>
              <a:buSzPts val="1800"/>
              <a:buChar char="●"/>
            </a:pPr>
            <a:r>
              <a:rPr lang="es"/>
              <a:t>Si ese trabajo </a:t>
            </a:r>
            <a:r>
              <a:rPr lang="es"/>
              <a:t>T</a:t>
            </a:r>
            <a:r>
              <a:rPr b="1" baseline="-25000" lang="es"/>
              <a:t>j</a:t>
            </a:r>
            <a:r>
              <a:rPr lang="es"/>
              <a:t> no es muy grande, entonces podemos acotar con</a:t>
            </a:r>
            <a:endParaRPr/>
          </a:p>
          <a:p>
            <a:pPr indent="-342900" lvl="0" marL="457200" rtl="0" algn="l">
              <a:lnSpc>
                <a:spcPct val="150000"/>
              </a:lnSpc>
              <a:spcBef>
                <a:spcPts val="0"/>
              </a:spcBef>
              <a:spcAft>
                <a:spcPts val="0"/>
              </a:spcAft>
              <a:buSzPts val="1800"/>
              <a:buChar char="●"/>
            </a:pPr>
            <a:r>
              <a:rPr lang="es"/>
              <a:t>Si ese trabajo </a:t>
            </a:r>
            <a:r>
              <a:rPr lang="es"/>
              <a:t>T</a:t>
            </a:r>
            <a:r>
              <a:rPr b="1" baseline="-25000" lang="es"/>
              <a:t>j</a:t>
            </a:r>
            <a:r>
              <a:rPr lang="es"/>
              <a:t> es bastante grande, usamos</a:t>
            </a:r>
            <a:endParaRPr/>
          </a:p>
        </p:txBody>
      </p:sp>
      <p:pic>
        <p:nvPicPr>
          <p:cNvPr id="145" name="Google Shape;145;p25"/>
          <p:cNvPicPr preferRelativeResize="0"/>
          <p:nvPr/>
        </p:nvPicPr>
        <p:blipFill>
          <a:blip r:embed="rId3">
            <a:alphaModFix/>
          </a:blip>
          <a:stretch>
            <a:fillRect/>
          </a:stretch>
        </p:blipFill>
        <p:spPr>
          <a:xfrm>
            <a:off x="7610125" y="2240000"/>
            <a:ext cx="1369874" cy="793075"/>
          </a:xfrm>
          <a:prstGeom prst="rect">
            <a:avLst/>
          </a:prstGeom>
          <a:noFill/>
          <a:ln>
            <a:noFill/>
          </a:ln>
        </p:spPr>
      </p:pic>
      <p:pic>
        <p:nvPicPr>
          <p:cNvPr id="146" name="Google Shape;146;p25"/>
          <p:cNvPicPr preferRelativeResize="0"/>
          <p:nvPr/>
        </p:nvPicPr>
        <p:blipFill>
          <a:blip r:embed="rId4">
            <a:alphaModFix/>
          </a:blip>
          <a:stretch>
            <a:fillRect/>
          </a:stretch>
        </p:blipFill>
        <p:spPr>
          <a:xfrm>
            <a:off x="5428400" y="2832250"/>
            <a:ext cx="1432000" cy="437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sz="2700"/>
          </a:p>
        </p:txBody>
      </p:sp>
      <p:sp>
        <p:nvSpPr>
          <p:cNvPr id="152" name="Google Shape;152;p26"/>
          <p:cNvSpPr txBox="1"/>
          <p:nvPr>
            <p:ph idx="1" type="body"/>
          </p:nvPr>
        </p:nvSpPr>
        <p:spPr>
          <a:xfrm>
            <a:off x="311700" y="1171600"/>
            <a:ext cx="8520600" cy="10947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Si ese trabajo </a:t>
            </a:r>
            <a:r>
              <a:rPr lang="es"/>
              <a:t>T</a:t>
            </a:r>
            <a:r>
              <a:rPr b="1" baseline="-25000" lang="es"/>
              <a:t>j</a:t>
            </a:r>
            <a:r>
              <a:rPr lang="es"/>
              <a:t> no es muy grande, entonces podemos acotar con</a:t>
            </a:r>
            <a:endParaRPr/>
          </a:p>
          <a:p>
            <a:pPr indent="-342900" lvl="0" marL="457200" rtl="0" algn="l">
              <a:lnSpc>
                <a:spcPct val="150000"/>
              </a:lnSpc>
              <a:spcBef>
                <a:spcPts val="0"/>
              </a:spcBef>
              <a:spcAft>
                <a:spcPts val="0"/>
              </a:spcAft>
              <a:buSzPts val="1800"/>
              <a:buChar char="●"/>
            </a:pPr>
            <a:r>
              <a:rPr lang="es"/>
              <a:t>Si ese trabajo </a:t>
            </a:r>
            <a:r>
              <a:rPr lang="es"/>
              <a:t>T</a:t>
            </a:r>
            <a:r>
              <a:rPr b="1" baseline="-25000" lang="es"/>
              <a:t>j</a:t>
            </a:r>
            <a:r>
              <a:rPr lang="es"/>
              <a:t> es bastante grande, usamos</a:t>
            </a:r>
            <a:endParaRPr/>
          </a:p>
        </p:txBody>
      </p:sp>
      <p:pic>
        <p:nvPicPr>
          <p:cNvPr id="153" name="Google Shape;153;p26"/>
          <p:cNvPicPr preferRelativeResize="0"/>
          <p:nvPr/>
        </p:nvPicPr>
        <p:blipFill>
          <a:blip r:embed="rId3">
            <a:alphaModFix/>
          </a:blip>
          <a:stretch>
            <a:fillRect/>
          </a:stretch>
        </p:blipFill>
        <p:spPr>
          <a:xfrm>
            <a:off x="7610125" y="944600"/>
            <a:ext cx="1369874" cy="793075"/>
          </a:xfrm>
          <a:prstGeom prst="rect">
            <a:avLst/>
          </a:prstGeom>
          <a:noFill/>
          <a:ln>
            <a:noFill/>
          </a:ln>
        </p:spPr>
      </p:pic>
      <p:pic>
        <p:nvPicPr>
          <p:cNvPr id="154" name="Google Shape;154;p26"/>
          <p:cNvPicPr preferRelativeResize="0"/>
          <p:nvPr/>
        </p:nvPicPr>
        <p:blipFill>
          <a:blip r:embed="rId4">
            <a:alphaModFix/>
          </a:blip>
          <a:stretch>
            <a:fillRect/>
          </a:stretch>
        </p:blipFill>
        <p:spPr>
          <a:xfrm>
            <a:off x="5428400" y="1602176"/>
            <a:ext cx="1432000" cy="437400"/>
          </a:xfrm>
          <a:prstGeom prst="rect">
            <a:avLst/>
          </a:prstGeom>
          <a:noFill/>
          <a:ln>
            <a:noFill/>
          </a:ln>
        </p:spPr>
      </p:pic>
      <p:pic>
        <p:nvPicPr>
          <p:cNvPr id="155" name="Google Shape;155;p26"/>
          <p:cNvPicPr preferRelativeResize="0"/>
          <p:nvPr/>
        </p:nvPicPr>
        <p:blipFill>
          <a:blip r:embed="rId5">
            <a:alphaModFix/>
          </a:blip>
          <a:stretch>
            <a:fillRect/>
          </a:stretch>
        </p:blipFill>
        <p:spPr>
          <a:xfrm>
            <a:off x="2602763" y="2115775"/>
            <a:ext cx="3938476" cy="2905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sz="2700"/>
          </a:p>
        </p:txBody>
      </p:sp>
      <p:sp>
        <p:nvSpPr>
          <p:cNvPr id="161" name="Google Shape;161;p27"/>
          <p:cNvSpPr txBox="1"/>
          <p:nvPr>
            <p:ph idx="1" type="body"/>
          </p:nvPr>
        </p:nvSpPr>
        <p:spPr>
          <a:xfrm>
            <a:off x="311700" y="1171600"/>
            <a:ext cx="8520600" cy="17241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Propiedad astuta de nuestro Greedy: siempre asigna trabajo a la Máquina con menor asignación. Por lo tanto podemos relacionar al tiempo total </a:t>
            </a:r>
            <a:r>
              <a:rPr lang="es"/>
              <a:t>T</a:t>
            </a:r>
            <a:r>
              <a:rPr b="1" baseline="-25000" lang="es"/>
              <a:t>i</a:t>
            </a:r>
            <a:r>
              <a:rPr lang="es"/>
              <a:t> con t</a:t>
            </a:r>
            <a:r>
              <a:rPr b="1" baseline="-25000" lang="es"/>
              <a:t>j</a:t>
            </a:r>
            <a:endParaRPr/>
          </a:p>
          <a:p>
            <a:pPr indent="-342900" lvl="0" marL="457200" rtl="0" algn="l">
              <a:lnSpc>
                <a:spcPct val="150000"/>
              </a:lnSpc>
              <a:spcBef>
                <a:spcPts val="0"/>
              </a:spcBef>
              <a:spcAft>
                <a:spcPts val="0"/>
              </a:spcAft>
              <a:buSzPts val="1800"/>
              <a:buChar char="●"/>
            </a:pPr>
            <a:r>
              <a:rPr lang="es"/>
              <a:t>T</a:t>
            </a:r>
            <a:r>
              <a:rPr b="1" baseline="-25000" lang="es"/>
              <a:t>i</a:t>
            </a:r>
            <a:r>
              <a:rPr lang="es"/>
              <a:t>- t</a:t>
            </a:r>
            <a:r>
              <a:rPr b="1" baseline="-25000" lang="es"/>
              <a:t>j</a:t>
            </a:r>
            <a:r>
              <a:rPr lang="es"/>
              <a:t> era el menor tiempo </a:t>
            </a:r>
            <a:r>
              <a:rPr lang="es"/>
              <a:t>T</a:t>
            </a:r>
            <a:r>
              <a:rPr b="1" baseline="-25000" lang="es"/>
              <a:t>k</a:t>
            </a:r>
            <a:r>
              <a:rPr lang="es"/>
              <a:t> para cualquier Máquina k. </a:t>
            </a:r>
            <a:r>
              <a:rPr b="1" lang="es"/>
              <a:t>Tk ≥ </a:t>
            </a:r>
            <a:r>
              <a:rPr b="1" lang="es"/>
              <a:t>T</a:t>
            </a:r>
            <a:r>
              <a:rPr b="1" baseline="-25000" lang="es"/>
              <a:t>i </a:t>
            </a:r>
            <a:r>
              <a:rPr b="1" lang="es"/>
              <a:t>- t</a:t>
            </a:r>
            <a:r>
              <a:rPr b="1" baseline="-25000" lang="es"/>
              <a:t>j</a:t>
            </a:r>
            <a:r>
              <a:rPr b="1" lang="es"/>
              <a:t> </a:t>
            </a:r>
            <a:endParaRPr b="1"/>
          </a:p>
          <a:p>
            <a:pPr indent="-342900" lvl="0" marL="457200" rtl="0" algn="l">
              <a:lnSpc>
                <a:spcPct val="150000"/>
              </a:lnSpc>
              <a:spcBef>
                <a:spcPts val="0"/>
              </a:spcBef>
              <a:spcAft>
                <a:spcPts val="0"/>
              </a:spcAft>
              <a:buSzPts val="1800"/>
              <a:buChar char="●"/>
            </a:pPr>
            <a:r>
              <a:rPr lang="es"/>
              <a:t>Sumando todos los tiempos asignados de las máquinas</a:t>
            </a:r>
            <a:endParaRPr/>
          </a:p>
        </p:txBody>
      </p:sp>
      <p:pic>
        <p:nvPicPr>
          <p:cNvPr id="162" name="Google Shape;162;p27"/>
          <p:cNvPicPr preferRelativeResize="0"/>
          <p:nvPr/>
        </p:nvPicPr>
        <p:blipFill>
          <a:blip r:embed="rId3">
            <a:alphaModFix/>
          </a:blip>
          <a:stretch>
            <a:fillRect/>
          </a:stretch>
        </p:blipFill>
        <p:spPr>
          <a:xfrm>
            <a:off x="6526697" y="2481500"/>
            <a:ext cx="2617300" cy="490300"/>
          </a:xfrm>
          <a:prstGeom prst="rect">
            <a:avLst/>
          </a:prstGeom>
          <a:noFill/>
          <a:ln>
            <a:noFill/>
          </a:ln>
        </p:spPr>
      </p:pic>
      <p:sp>
        <p:nvSpPr>
          <p:cNvPr id="163" name="Google Shape;163;p27"/>
          <p:cNvSpPr txBox="1"/>
          <p:nvPr>
            <p:ph idx="1" type="body"/>
          </p:nvPr>
        </p:nvSpPr>
        <p:spPr>
          <a:xfrm>
            <a:off x="311700" y="3687100"/>
            <a:ext cx="8520600" cy="490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La parte de la derecha era una de las que habíamos acotado por</a:t>
            </a:r>
            <a:endParaRPr/>
          </a:p>
        </p:txBody>
      </p:sp>
      <p:pic>
        <p:nvPicPr>
          <p:cNvPr id="164" name="Google Shape;164;p27"/>
          <p:cNvPicPr preferRelativeResize="0"/>
          <p:nvPr/>
        </p:nvPicPr>
        <p:blipFill>
          <a:blip r:embed="rId4">
            <a:alphaModFix/>
          </a:blip>
          <a:stretch>
            <a:fillRect/>
          </a:stretch>
        </p:blipFill>
        <p:spPr>
          <a:xfrm>
            <a:off x="3461563" y="2842546"/>
            <a:ext cx="2220875" cy="844550"/>
          </a:xfrm>
          <a:prstGeom prst="rect">
            <a:avLst/>
          </a:prstGeom>
          <a:noFill/>
          <a:ln>
            <a:noFill/>
          </a:ln>
        </p:spPr>
      </p:pic>
      <p:pic>
        <p:nvPicPr>
          <p:cNvPr id="165" name="Google Shape;165;p27"/>
          <p:cNvPicPr preferRelativeResize="0"/>
          <p:nvPr/>
        </p:nvPicPr>
        <p:blipFill>
          <a:blip r:embed="rId5">
            <a:alphaModFix/>
          </a:blip>
          <a:stretch>
            <a:fillRect/>
          </a:stretch>
        </p:blipFill>
        <p:spPr>
          <a:xfrm>
            <a:off x="7462425" y="3535663"/>
            <a:ext cx="1369874" cy="793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sz="2700"/>
          </a:p>
        </p:txBody>
      </p:sp>
      <p:sp>
        <p:nvSpPr>
          <p:cNvPr id="171" name="Google Shape;171;p28"/>
          <p:cNvSpPr txBox="1"/>
          <p:nvPr>
            <p:ph idx="1" type="body"/>
          </p:nvPr>
        </p:nvSpPr>
        <p:spPr>
          <a:xfrm>
            <a:off x="311700" y="1847575"/>
            <a:ext cx="8520600" cy="973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Nos interesa acotar el valor </a:t>
            </a:r>
            <a:r>
              <a:rPr lang="es"/>
              <a:t>T</a:t>
            </a:r>
            <a:r>
              <a:rPr b="1" baseline="-25000" lang="es"/>
              <a:t>i</a:t>
            </a:r>
            <a:r>
              <a:rPr lang="es"/>
              <a:t> porque nos condiciona nuestra solución T</a:t>
            </a:r>
            <a:endParaRPr/>
          </a:p>
          <a:p>
            <a:pPr indent="-342900" lvl="0" marL="457200" rtl="0" algn="l">
              <a:lnSpc>
                <a:spcPct val="150000"/>
              </a:lnSpc>
              <a:spcBef>
                <a:spcPts val="0"/>
              </a:spcBef>
              <a:spcAft>
                <a:spcPts val="0"/>
              </a:spcAft>
              <a:buSzPts val="1800"/>
              <a:buChar char="●"/>
            </a:pPr>
            <a:r>
              <a:rPr lang="es"/>
              <a:t>Además, tenemos acotado </a:t>
            </a:r>
            <a:r>
              <a:rPr lang="es"/>
              <a:t>T</a:t>
            </a:r>
            <a:r>
              <a:rPr b="1" baseline="-25000" lang="es"/>
              <a:t>j</a:t>
            </a:r>
            <a:r>
              <a:rPr lang="es"/>
              <a:t>, para sacarlo de esta ecuación</a:t>
            </a:r>
            <a:endParaRPr/>
          </a:p>
        </p:txBody>
      </p:sp>
      <p:pic>
        <p:nvPicPr>
          <p:cNvPr id="172" name="Google Shape;172;p28"/>
          <p:cNvPicPr preferRelativeResize="0"/>
          <p:nvPr/>
        </p:nvPicPr>
        <p:blipFill>
          <a:blip r:embed="rId3">
            <a:alphaModFix/>
          </a:blip>
          <a:stretch>
            <a:fillRect/>
          </a:stretch>
        </p:blipFill>
        <p:spPr>
          <a:xfrm>
            <a:off x="594577" y="1007775"/>
            <a:ext cx="2085424" cy="793050"/>
          </a:xfrm>
          <a:prstGeom prst="rect">
            <a:avLst/>
          </a:prstGeom>
          <a:noFill/>
          <a:ln>
            <a:noFill/>
          </a:ln>
        </p:spPr>
      </p:pic>
      <p:pic>
        <p:nvPicPr>
          <p:cNvPr id="173" name="Google Shape;173;p28"/>
          <p:cNvPicPr preferRelativeResize="0"/>
          <p:nvPr/>
        </p:nvPicPr>
        <p:blipFill>
          <a:blip r:embed="rId4">
            <a:alphaModFix/>
          </a:blip>
          <a:stretch>
            <a:fillRect/>
          </a:stretch>
        </p:blipFill>
        <p:spPr>
          <a:xfrm>
            <a:off x="2895600" y="1007763"/>
            <a:ext cx="1369874" cy="793075"/>
          </a:xfrm>
          <a:prstGeom prst="rect">
            <a:avLst/>
          </a:prstGeom>
          <a:noFill/>
          <a:ln>
            <a:noFill/>
          </a:ln>
        </p:spPr>
      </p:pic>
      <p:cxnSp>
        <p:nvCxnSpPr>
          <p:cNvPr id="174" name="Google Shape;174;p28"/>
          <p:cNvCxnSpPr/>
          <p:nvPr/>
        </p:nvCxnSpPr>
        <p:spPr>
          <a:xfrm>
            <a:off x="4493225" y="1396250"/>
            <a:ext cx="870000" cy="0"/>
          </a:xfrm>
          <a:prstGeom prst="straightConnector1">
            <a:avLst/>
          </a:prstGeom>
          <a:noFill/>
          <a:ln cap="flat" cmpd="sng" w="38100">
            <a:solidFill>
              <a:schemeClr val="dk2"/>
            </a:solidFill>
            <a:prstDash val="solid"/>
            <a:round/>
            <a:headEnd len="med" w="med" type="none"/>
            <a:tailEnd len="med" w="med" type="triangle"/>
          </a:ln>
        </p:spPr>
      </p:cxnSp>
      <p:pic>
        <p:nvPicPr>
          <p:cNvPr id="175" name="Google Shape;175;p28"/>
          <p:cNvPicPr preferRelativeResize="0"/>
          <p:nvPr/>
        </p:nvPicPr>
        <p:blipFill>
          <a:blip r:embed="rId5">
            <a:alphaModFix/>
          </a:blip>
          <a:stretch>
            <a:fillRect/>
          </a:stretch>
        </p:blipFill>
        <p:spPr>
          <a:xfrm>
            <a:off x="5590975" y="1166175"/>
            <a:ext cx="1714500" cy="476250"/>
          </a:xfrm>
          <a:prstGeom prst="rect">
            <a:avLst/>
          </a:prstGeom>
          <a:noFill/>
          <a:ln>
            <a:noFill/>
          </a:ln>
        </p:spPr>
      </p:pic>
      <p:pic>
        <p:nvPicPr>
          <p:cNvPr id="176" name="Google Shape;176;p28"/>
          <p:cNvPicPr preferRelativeResize="0"/>
          <p:nvPr/>
        </p:nvPicPr>
        <p:blipFill>
          <a:blip r:embed="rId6">
            <a:alphaModFix/>
          </a:blip>
          <a:stretch>
            <a:fillRect/>
          </a:stretch>
        </p:blipFill>
        <p:spPr>
          <a:xfrm>
            <a:off x="4394875" y="2810125"/>
            <a:ext cx="3352800" cy="476250"/>
          </a:xfrm>
          <a:prstGeom prst="rect">
            <a:avLst/>
          </a:prstGeom>
          <a:noFill/>
          <a:ln>
            <a:noFill/>
          </a:ln>
        </p:spPr>
      </p:pic>
      <p:sp>
        <p:nvSpPr>
          <p:cNvPr id="177" name="Google Shape;177;p28"/>
          <p:cNvSpPr txBox="1"/>
          <p:nvPr>
            <p:ph idx="1" type="body"/>
          </p:nvPr>
        </p:nvSpPr>
        <p:spPr>
          <a:xfrm>
            <a:off x="464100" y="3381000"/>
            <a:ext cx="8520600" cy="16146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Nuestro análisis empezó con </a:t>
            </a:r>
            <a:r>
              <a:rPr lang="es"/>
              <a:t>T</a:t>
            </a:r>
            <a:r>
              <a:rPr b="1" baseline="-25000" lang="es"/>
              <a:t>i</a:t>
            </a:r>
            <a:r>
              <a:rPr lang="es"/>
              <a:t> condicionando la solución T</a:t>
            </a:r>
            <a:endParaRPr/>
          </a:p>
          <a:p>
            <a:pPr indent="-342900" lvl="0" marL="457200" rtl="0" algn="l">
              <a:lnSpc>
                <a:spcPct val="150000"/>
              </a:lnSpc>
              <a:spcBef>
                <a:spcPts val="0"/>
              </a:spcBef>
              <a:spcAft>
                <a:spcPts val="0"/>
              </a:spcAft>
              <a:buSzPts val="1800"/>
              <a:buChar char="●"/>
            </a:pPr>
            <a:r>
              <a:rPr lang="es"/>
              <a:t>Hemos acotado </a:t>
            </a:r>
            <a:r>
              <a:rPr lang="es"/>
              <a:t>T</a:t>
            </a:r>
            <a:r>
              <a:rPr b="1" baseline="-25000" lang="es"/>
              <a:t>i</a:t>
            </a:r>
            <a:r>
              <a:rPr lang="es"/>
              <a:t>, y por lo tanto, acotado la solución T</a:t>
            </a:r>
            <a:endParaRPr/>
          </a:p>
          <a:p>
            <a:pPr indent="-342900" lvl="0" marL="457200" rtl="0" algn="l">
              <a:lnSpc>
                <a:spcPct val="150000"/>
              </a:lnSpc>
              <a:spcBef>
                <a:spcPts val="0"/>
              </a:spcBef>
              <a:spcAft>
                <a:spcPts val="0"/>
              </a:spcAft>
              <a:buSzPts val="1800"/>
              <a:buChar char="●"/>
            </a:pPr>
            <a:r>
              <a:rPr lang="es"/>
              <a:t>Cambio de paradigma: en vez de decir “me parece que mi Greedy anda bastante bien”, decimos “nunca es peor que el doble del óptimo”</a:t>
            </a:r>
            <a:endParaRPr/>
          </a:p>
        </p:txBody>
      </p:sp>
      <p:pic>
        <p:nvPicPr>
          <p:cNvPr id="178" name="Google Shape;178;p28"/>
          <p:cNvPicPr preferRelativeResize="0"/>
          <p:nvPr/>
        </p:nvPicPr>
        <p:blipFill>
          <a:blip r:embed="rId7">
            <a:alphaModFix/>
          </a:blip>
          <a:stretch>
            <a:fillRect/>
          </a:stretch>
        </p:blipFill>
        <p:spPr>
          <a:xfrm>
            <a:off x="921287" y="2882188"/>
            <a:ext cx="1432000" cy="437400"/>
          </a:xfrm>
          <a:prstGeom prst="rect">
            <a:avLst/>
          </a:prstGeom>
          <a:noFill/>
          <a:ln>
            <a:noFill/>
          </a:ln>
        </p:spPr>
      </p:pic>
      <p:cxnSp>
        <p:nvCxnSpPr>
          <p:cNvPr id="179" name="Google Shape;179;p28"/>
          <p:cNvCxnSpPr/>
          <p:nvPr/>
        </p:nvCxnSpPr>
        <p:spPr>
          <a:xfrm>
            <a:off x="2895600" y="3100900"/>
            <a:ext cx="870000" cy="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Balanceo de Carga</a:t>
            </a:r>
            <a:endParaRPr/>
          </a:p>
        </p:txBody>
      </p:sp>
      <p:pic>
        <p:nvPicPr>
          <p:cNvPr id="185" name="Google Shape;185;p29"/>
          <p:cNvPicPr preferRelativeResize="0"/>
          <p:nvPr/>
        </p:nvPicPr>
        <p:blipFill>
          <a:blip r:embed="rId3">
            <a:alphaModFix/>
          </a:blip>
          <a:stretch>
            <a:fillRect/>
          </a:stretch>
        </p:blipFill>
        <p:spPr>
          <a:xfrm>
            <a:off x="152400" y="1210625"/>
            <a:ext cx="8839201" cy="375323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Balanceo de Carga</a:t>
            </a:r>
            <a:endParaRPr/>
          </a:p>
        </p:txBody>
      </p:sp>
      <p:sp>
        <p:nvSpPr>
          <p:cNvPr id="191" name="Google Shape;191;p30"/>
          <p:cNvSpPr txBox="1"/>
          <p:nvPr>
            <p:ph idx="1" type="body"/>
          </p:nvPr>
        </p:nvSpPr>
        <p:spPr>
          <a:xfrm>
            <a:off x="311700" y="1171600"/>
            <a:ext cx="8520600" cy="38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Estoy de acuerdo, ordenar los trabajos de mayor a menor parecería mejor</a:t>
            </a:r>
            <a:endParaRPr/>
          </a:p>
          <a:p>
            <a:pPr indent="0" lvl="0" marL="0" rtl="0" algn="l">
              <a:spcBef>
                <a:spcPts val="1600"/>
              </a:spcBef>
              <a:spcAft>
                <a:spcPts val="0"/>
              </a:spcAft>
              <a:buNone/>
            </a:pPr>
            <a:r>
              <a:rPr lang="es"/>
              <a:t>Eso sí, Ordenar de mayor a menor no es suficiente</a:t>
            </a:r>
            <a:endParaRPr/>
          </a:p>
          <a:p>
            <a:pPr indent="-342900" lvl="0" marL="457200" rtl="0" algn="l">
              <a:spcBef>
                <a:spcPts val="1600"/>
              </a:spcBef>
              <a:spcAft>
                <a:spcPts val="0"/>
              </a:spcAft>
              <a:buSzPts val="1800"/>
              <a:buChar char="-"/>
            </a:pPr>
            <a:r>
              <a:rPr lang="es"/>
              <a:t>Ejemplo: para 3 máquinas, 5,4,3,3,3,3,3,3</a:t>
            </a:r>
            <a:endParaRPr/>
          </a:p>
          <a:p>
            <a:pPr indent="0" lvl="0" marL="0" rtl="0" algn="l">
              <a:spcBef>
                <a:spcPts val="1600"/>
              </a:spcBef>
              <a:spcAft>
                <a:spcPts val="0"/>
              </a:spcAft>
              <a:buNone/>
            </a:pPr>
            <a:r>
              <a:rPr lang="es"/>
              <a:t>Asigna:</a:t>
            </a:r>
            <a:br>
              <a:rPr lang="es"/>
            </a:br>
            <a:r>
              <a:rPr lang="es"/>
              <a:t>5,3 = 8</a:t>
            </a:r>
            <a:endParaRPr/>
          </a:p>
          <a:p>
            <a:pPr indent="0" lvl="0" marL="0" rtl="0" algn="l">
              <a:spcBef>
                <a:spcPts val="1600"/>
              </a:spcBef>
              <a:spcAft>
                <a:spcPts val="0"/>
              </a:spcAft>
              <a:buNone/>
            </a:pPr>
            <a:r>
              <a:rPr lang="es"/>
              <a:t>4,3,3 = 10</a:t>
            </a:r>
            <a:endParaRPr/>
          </a:p>
          <a:p>
            <a:pPr indent="0" lvl="0" marL="0" rtl="0" algn="l">
              <a:spcBef>
                <a:spcPts val="1600"/>
              </a:spcBef>
              <a:spcAft>
                <a:spcPts val="0"/>
              </a:spcAft>
              <a:buNone/>
            </a:pPr>
            <a:r>
              <a:rPr lang="es"/>
              <a:t>3,3,3 = 9</a:t>
            </a:r>
            <a:endParaRPr/>
          </a:p>
          <a:p>
            <a:pPr indent="0" lvl="0" marL="0" rtl="0" algn="l">
              <a:spcBef>
                <a:spcPts val="1600"/>
              </a:spcBef>
              <a:spcAft>
                <a:spcPts val="1600"/>
              </a:spcAft>
              <a:buNone/>
            </a:pPr>
            <a:r>
              <a:rPr lang="es"/>
              <a:t>Óptimo: [5,4] [3,3,3] [3,3,3]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Balanceo de Carga</a:t>
            </a:r>
            <a:endParaRPr/>
          </a:p>
        </p:txBody>
      </p:sp>
      <p:sp>
        <p:nvSpPr>
          <p:cNvPr id="197" name="Google Shape;197;p31"/>
          <p:cNvSpPr txBox="1"/>
          <p:nvPr>
            <p:ph idx="1" type="body"/>
          </p:nvPr>
        </p:nvSpPr>
        <p:spPr>
          <a:xfrm>
            <a:off x="311700" y="1171600"/>
            <a:ext cx="8520600" cy="2718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Estoy de acuerdo, ordenar los trabajos de mayor a menor parecería ser una buena estrategia. Pero aquí no estamos para adivinar</a:t>
            </a:r>
            <a:endParaRPr/>
          </a:p>
          <a:p>
            <a:pPr indent="-342900" lvl="0" marL="457200" rtl="0" algn="l">
              <a:spcBef>
                <a:spcPts val="0"/>
              </a:spcBef>
              <a:spcAft>
                <a:spcPts val="0"/>
              </a:spcAft>
              <a:buSzPts val="1800"/>
              <a:buChar char="●"/>
            </a:pPr>
            <a:r>
              <a:rPr lang="es"/>
              <a:t>Estamos para demostrar que hacemos buenas aproximaciones!</a:t>
            </a:r>
            <a:endParaRPr/>
          </a:p>
          <a:p>
            <a:pPr indent="-342900" lvl="0" marL="457200" rtl="0" algn="l">
              <a:spcBef>
                <a:spcPts val="0"/>
              </a:spcBef>
              <a:spcAft>
                <a:spcPts val="0"/>
              </a:spcAft>
              <a:buSzPts val="1800"/>
              <a:buChar char="●"/>
            </a:pPr>
            <a:r>
              <a:rPr lang="es"/>
              <a:t>Si m &gt;= n, Greedy es siempre óptimo</a:t>
            </a:r>
            <a:endParaRPr/>
          </a:p>
          <a:p>
            <a:pPr indent="-342900" lvl="0" marL="457200" rtl="0" algn="l">
              <a:spcBef>
                <a:spcPts val="0"/>
              </a:spcBef>
              <a:spcAft>
                <a:spcPts val="0"/>
              </a:spcAft>
              <a:buSzPts val="1800"/>
              <a:buChar char="●"/>
            </a:pPr>
            <a:r>
              <a:rPr lang="es"/>
              <a:t>Si n</a:t>
            </a:r>
            <a:r>
              <a:rPr lang="es"/>
              <a:t> &gt; m, para estos trabajos en orden, los primeros m+1 trabajos cuestan lo mismo o más que el trabajo m+1. Cualquier solución óptima debe asignar dos de esos trabajos a la misma máquina (demostrable por palomas y nidos)</a:t>
            </a:r>
            <a:endParaRPr/>
          </a:p>
          <a:p>
            <a:pPr indent="-342900" lvl="0" marL="457200" rtl="0" algn="l">
              <a:spcBef>
                <a:spcPts val="0"/>
              </a:spcBef>
              <a:spcAft>
                <a:spcPts val="0"/>
              </a:spcAft>
              <a:buSzPts val="1800"/>
              <a:buChar char="●"/>
            </a:pPr>
            <a:r>
              <a:rPr lang="es"/>
              <a:t>Encontramos otra cota de la solución óptima</a:t>
            </a:r>
            <a:endParaRPr/>
          </a:p>
        </p:txBody>
      </p:sp>
      <p:pic>
        <p:nvPicPr>
          <p:cNvPr id="198" name="Google Shape;198;p31"/>
          <p:cNvPicPr preferRelativeResize="0"/>
          <p:nvPr/>
        </p:nvPicPr>
        <p:blipFill>
          <a:blip r:embed="rId3">
            <a:alphaModFix/>
          </a:blip>
          <a:stretch>
            <a:fillRect/>
          </a:stretch>
        </p:blipFill>
        <p:spPr>
          <a:xfrm>
            <a:off x="3776650" y="4038725"/>
            <a:ext cx="1590675" cy="514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sz="2700"/>
          </a:p>
        </p:txBody>
      </p:sp>
      <p:sp>
        <p:nvSpPr>
          <p:cNvPr id="204" name="Google Shape;204;p32"/>
          <p:cNvSpPr txBox="1"/>
          <p:nvPr>
            <p:ph idx="1" type="body"/>
          </p:nvPr>
        </p:nvSpPr>
        <p:spPr>
          <a:xfrm>
            <a:off x="311700" y="1171600"/>
            <a:ext cx="8520600" cy="21168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El análisis es análogo: Una de nuestras Máquinas en T tuvo más carga que cualquier otra, ¿cómo?</a:t>
            </a:r>
            <a:endParaRPr/>
          </a:p>
          <a:p>
            <a:pPr indent="-342900" lvl="0" marL="457200" rtl="0" algn="l">
              <a:lnSpc>
                <a:spcPct val="150000"/>
              </a:lnSpc>
              <a:spcBef>
                <a:spcPts val="0"/>
              </a:spcBef>
              <a:spcAft>
                <a:spcPts val="0"/>
              </a:spcAft>
              <a:buSzPts val="1800"/>
              <a:buChar char="●"/>
            </a:pPr>
            <a:r>
              <a:rPr lang="es"/>
              <a:t>Habrá habido un último trabajo t</a:t>
            </a:r>
            <a:r>
              <a:rPr b="1" baseline="-25000" lang="es"/>
              <a:t>j</a:t>
            </a:r>
            <a:r>
              <a:rPr lang="es"/>
              <a:t> en ser colocado en esa máquina</a:t>
            </a:r>
            <a:endParaRPr/>
          </a:p>
          <a:p>
            <a:pPr indent="-342900" lvl="0" marL="457200" rtl="0" algn="l">
              <a:lnSpc>
                <a:spcPct val="150000"/>
              </a:lnSpc>
              <a:spcBef>
                <a:spcPts val="0"/>
              </a:spcBef>
              <a:spcAft>
                <a:spcPts val="0"/>
              </a:spcAft>
              <a:buSzPts val="1800"/>
              <a:buChar char="●"/>
            </a:pPr>
            <a:r>
              <a:rPr lang="es"/>
              <a:t>Ese trabajo debe tener índice mayor o igual a m+1, porque los primeros m trabajos se asignan a máquinas distintas, entonces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3"/>
          <p:cNvPicPr preferRelativeResize="0"/>
          <p:nvPr/>
        </p:nvPicPr>
        <p:blipFill>
          <a:blip r:embed="rId3">
            <a:alphaModFix/>
          </a:blip>
          <a:stretch>
            <a:fillRect/>
          </a:stretch>
        </p:blipFill>
        <p:spPr>
          <a:xfrm>
            <a:off x="2602763" y="2115775"/>
            <a:ext cx="3938476" cy="2905050"/>
          </a:xfrm>
          <a:prstGeom prst="rect">
            <a:avLst/>
          </a:prstGeom>
          <a:noFill/>
          <a:ln>
            <a:noFill/>
          </a:ln>
        </p:spPr>
      </p:pic>
      <p:sp>
        <p:nvSpPr>
          <p:cNvPr id="210" name="Google Shape;210;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sz="2700"/>
          </a:p>
        </p:txBody>
      </p:sp>
      <p:sp>
        <p:nvSpPr>
          <p:cNvPr id="211" name="Google Shape;211;p33"/>
          <p:cNvSpPr txBox="1"/>
          <p:nvPr>
            <p:ph idx="1" type="body"/>
          </p:nvPr>
        </p:nvSpPr>
        <p:spPr>
          <a:xfrm>
            <a:off x="311700" y="1171600"/>
            <a:ext cx="8520600" cy="21168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Ese trabajo debe tener índice mayor o igual a m+1, porque los primeros m trabajos se asignan a máquinas distintas, entonces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sz="2700"/>
          </a:p>
        </p:txBody>
      </p:sp>
      <p:sp>
        <p:nvSpPr>
          <p:cNvPr id="217" name="Google Shape;217;p34"/>
          <p:cNvSpPr txBox="1"/>
          <p:nvPr>
            <p:ph idx="1" type="body"/>
          </p:nvPr>
        </p:nvSpPr>
        <p:spPr>
          <a:xfrm>
            <a:off x="311700" y="1171600"/>
            <a:ext cx="8520600" cy="21168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s"/>
              <a:t>El análisis es análogo: Una de nuestras Máquinas en T tuvo más carga que cualquier otra, ¿cómo?</a:t>
            </a:r>
            <a:endParaRPr/>
          </a:p>
          <a:p>
            <a:pPr indent="-342900" lvl="0" marL="457200" rtl="0" algn="l">
              <a:lnSpc>
                <a:spcPct val="150000"/>
              </a:lnSpc>
              <a:spcBef>
                <a:spcPts val="0"/>
              </a:spcBef>
              <a:spcAft>
                <a:spcPts val="0"/>
              </a:spcAft>
              <a:buSzPts val="1800"/>
              <a:buChar char="●"/>
            </a:pPr>
            <a:r>
              <a:rPr lang="es"/>
              <a:t>Habrá habido un último trabajo t</a:t>
            </a:r>
            <a:r>
              <a:rPr b="1" baseline="-25000" lang="es"/>
              <a:t>j</a:t>
            </a:r>
            <a:r>
              <a:rPr lang="es"/>
              <a:t> en ser colocado en esa máquina</a:t>
            </a:r>
            <a:endParaRPr/>
          </a:p>
          <a:p>
            <a:pPr indent="-342900" lvl="0" marL="457200" rtl="0" algn="l">
              <a:lnSpc>
                <a:spcPct val="150000"/>
              </a:lnSpc>
              <a:spcBef>
                <a:spcPts val="0"/>
              </a:spcBef>
              <a:spcAft>
                <a:spcPts val="0"/>
              </a:spcAft>
              <a:buSzPts val="1800"/>
              <a:buChar char="●"/>
            </a:pPr>
            <a:r>
              <a:rPr lang="es"/>
              <a:t>Ese trabajo debe tener índice mayor o igual a m+1, porque los primeros m trabajos se asignan a máquinas distintas, entonces</a:t>
            </a:r>
            <a:endParaRPr/>
          </a:p>
        </p:txBody>
      </p:sp>
      <p:pic>
        <p:nvPicPr>
          <p:cNvPr id="218" name="Google Shape;218;p34"/>
          <p:cNvPicPr preferRelativeResize="0"/>
          <p:nvPr/>
        </p:nvPicPr>
        <p:blipFill>
          <a:blip r:embed="rId3">
            <a:alphaModFix/>
          </a:blip>
          <a:stretch>
            <a:fillRect/>
          </a:stretch>
        </p:blipFill>
        <p:spPr>
          <a:xfrm>
            <a:off x="6111475" y="2802625"/>
            <a:ext cx="2276475" cy="485775"/>
          </a:xfrm>
          <a:prstGeom prst="rect">
            <a:avLst/>
          </a:prstGeom>
          <a:noFill/>
          <a:ln>
            <a:noFill/>
          </a:ln>
        </p:spPr>
      </p:pic>
      <p:pic>
        <p:nvPicPr>
          <p:cNvPr id="219" name="Google Shape;219;p34"/>
          <p:cNvPicPr preferRelativeResize="0"/>
          <p:nvPr/>
        </p:nvPicPr>
        <p:blipFill>
          <a:blip r:embed="rId4">
            <a:alphaModFix/>
          </a:blip>
          <a:stretch>
            <a:fillRect/>
          </a:stretch>
        </p:blipFill>
        <p:spPr>
          <a:xfrm>
            <a:off x="311700" y="3656375"/>
            <a:ext cx="1714500" cy="476250"/>
          </a:xfrm>
          <a:prstGeom prst="rect">
            <a:avLst/>
          </a:prstGeom>
          <a:noFill/>
          <a:ln>
            <a:noFill/>
          </a:ln>
        </p:spPr>
      </p:pic>
      <p:pic>
        <p:nvPicPr>
          <p:cNvPr id="220" name="Google Shape;220;p34"/>
          <p:cNvPicPr preferRelativeResize="0"/>
          <p:nvPr/>
        </p:nvPicPr>
        <p:blipFill>
          <a:blip r:embed="rId5">
            <a:alphaModFix/>
          </a:blip>
          <a:stretch>
            <a:fillRect/>
          </a:stretch>
        </p:blipFill>
        <p:spPr>
          <a:xfrm>
            <a:off x="2559200" y="3603988"/>
            <a:ext cx="1228725" cy="581025"/>
          </a:xfrm>
          <a:prstGeom prst="rect">
            <a:avLst/>
          </a:prstGeom>
          <a:noFill/>
          <a:ln>
            <a:noFill/>
          </a:ln>
        </p:spPr>
      </p:pic>
      <p:cxnSp>
        <p:nvCxnSpPr>
          <p:cNvPr id="221" name="Google Shape;221;p34"/>
          <p:cNvCxnSpPr/>
          <p:nvPr/>
        </p:nvCxnSpPr>
        <p:spPr>
          <a:xfrm>
            <a:off x="4482350" y="3894500"/>
            <a:ext cx="870000" cy="0"/>
          </a:xfrm>
          <a:prstGeom prst="straightConnector1">
            <a:avLst/>
          </a:prstGeom>
          <a:noFill/>
          <a:ln cap="flat" cmpd="sng" w="38100">
            <a:solidFill>
              <a:schemeClr val="dk2"/>
            </a:solidFill>
            <a:prstDash val="solid"/>
            <a:round/>
            <a:headEnd len="med" w="med" type="none"/>
            <a:tailEnd len="med" w="med" type="triangle"/>
          </a:ln>
        </p:spPr>
      </p:cxnSp>
      <p:pic>
        <p:nvPicPr>
          <p:cNvPr id="222" name="Google Shape;222;p34"/>
          <p:cNvPicPr preferRelativeResize="0"/>
          <p:nvPr/>
        </p:nvPicPr>
        <p:blipFill>
          <a:blip r:embed="rId6">
            <a:alphaModFix/>
          </a:blip>
          <a:stretch>
            <a:fillRect/>
          </a:stretch>
        </p:blipFill>
        <p:spPr>
          <a:xfrm>
            <a:off x="5975750" y="3465888"/>
            <a:ext cx="1381125" cy="85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Set Cover</a:t>
            </a:r>
            <a:endParaRPr/>
          </a:p>
        </p:txBody>
      </p:sp>
      <p:sp>
        <p:nvSpPr>
          <p:cNvPr id="228" name="Google Shape;228;p35"/>
          <p:cNvSpPr txBox="1"/>
          <p:nvPr>
            <p:ph idx="1" type="body"/>
          </p:nvPr>
        </p:nvSpPr>
        <p:spPr>
          <a:xfrm>
            <a:off x="311700" y="1171600"/>
            <a:ext cx="8520600" cy="167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Tenemos un Set U de n elementos y un listado </a:t>
            </a:r>
            <a:r>
              <a:rPr lang="es"/>
              <a:t>S</a:t>
            </a:r>
            <a:r>
              <a:rPr b="1" baseline="-25000" lang="es"/>
              <a:t>1</a:t>
            </a:r>
            <a:r>
              <a:rPr lang="es"/>
              <a:t>, S</a:t>
            </a:r>
            <a:r>
              <a:rPr b="1" baseline="-25000" lang="es"/>
              <a:t>2</a:t>
            </a:r>
            <a:r>
              <a:rPr lang="es"/>
              <a:t>,..., S</a:t>
            </a:r>
            <a:r>
              <a:rPr b="1" baseline="-25000" lang="es"/>
              <a:t>m</a:t>
            </a:r>
            <a:r>
              <a:rPr lang="es"/>
              <a:t> de Subsets de U.</a:t>
            </a:r>
            <a:endParaRPr/>
          </a:p>
          <a:p>
            <a:pPr indent="0" lvl="0" marL="0" rtl="0" algn="l">
              <a:spcBef>
                <a:spcPts val="1600"/>
              </a:spcBef>
              <a:spcAft>
                <a:spcPts val="0"/>
              </a:spcAft>
              <a:buNone/>
            </a:pPr>
            <a:r>
              <a:rPr lang="es"/>
              <a:t>Un Set Cover es una colección de estos Subsets tal que la unión es U.</a:t>
            </a:r>
            <a:endParaRPr/>
          </a:p>
          <a:p>
            <a:pPr indent="0" lvl="0" marL="0" rtl="0" algn="l">
              <a:spcBef>
                <a:spcPts val="1600"/>
              </a:spcBef>
              <a:spcAft>
                <a:spcPts val="1600"/>
              </a:spcAft>
              <a:buNone/>
            </a:pPr>
            <a:r>
              <a:rPr lang="es"/>
              <a:t>El uso de cada Subset S</a:t>
            </a:r>
            <a:r>
              <a:rPr b="1" baseline="-25000" lang="es"/>
              <a:t>i</a:t>
            </a:r>
            <a:r>
              <a:rPr lang="es"/>
              <a:t> tiene un costo w</a:t>
            </a:r>
            <a:r>
              <a:rPr b="1" baseline="-25000" lang="es"/>
              <a:t>i</a:t>
            </a:r>
            <a:r>
              <a:rPr lang="es"/>
              <a:t>. Queremos minimizar:</a:t>
            </a:r>
            <a:endParaRPr/>
          </a:p>
        </p:txBody>
      </p:sp>
      <p:pic>
        <p:nvPicPr>
          <p:cNvPr id="229" name="Google Shape;229;p35"/>
          <p:cNvPicPr preferRelativeResize="0"/>
          <p:nvPr/>
        </p:nvPicPr>
        <p:blipFill>
          <a:blip r:embed="rId3">
            <a:alphaModFix/>
          </a:blip>
          <a:stretch>
            <a:fillRect/>
          </a:stretch>
        </p:blipFill>
        <p:spPr>
          <a:xfrm>
            <a:off x="6937825" y="2223175"/>
            <a:ext cx="1314450" cy="990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Set Cover</a:t>
            </a:r>
            <a:endParaRPr/>
          </a:p>
        </p:txBody>
      </p:sp>
      <p:sp>
        <p:nvSpPr>
          <p:cNvPr id="235" name="Google Shape;235;p36"/>
          <p:cNvSpPr txBox="1"/>
          <p:nvPr>
            <p:ph idx="1" type="body"/>
          </p:nvPr>
        </p:nvSpPr>
        <p:spPr>
          <a:xfrm>
            <a:off x="311700" y="1171600"/>
            <a:ext cx="8520600" cy="37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¿Ideas</a:t>
            </a:r>
            <a:r>
              <a:rPr lang="es"/>
              <a:t>?</a:t>
            </a:r>
            <a:endParaRPr/>
          </a:p>
          <a:p>
            <a:pPr indent="0" lvl="0" marL="0" rtl="0" algn="l">
              <a:spcBef>
                <a:spcPts val="1600"/>
              </a:spcBef>
              <a:spcAft>
                <a:spcPts val="0"/>
              </a:spcAft>
              <a:buNone/>
            </a:pPr>
            <a:r>
              <a:rPr lang="es"/>
              <a:t>Sí, directamente pensamos en el Algoritmo Greedy</a:t>
            </a:r>
            <a:endParaRPr/>
          </a:p>
          <a:p>
            <a:pPr indent="0" lvl="0" marL="0" rtl="0" algn="l">
              <a:spcBef>
                <a:spcPts val="1600"/>
              </a:spcBef>
              <a:spcAft>
                <a:spcPts val="0"/>
              </a:spcAft>
              <a:buNone/>
            </a:pPr>
            <a:r>
              <a:rPr lang="es"/>
              <a:t>Si analizamos Subsets de a uno por vez, nos interesa que el siguiente Subset a agregar a la solución sea aquel que más nos ayuda a acercarnos a la solución</a:t>
            </a:r>
            <a:endParaRPr/>
          </a:p>
          <a:p>
            <a:pPr indent="0" lvl="0" marL="0" rtl="0" algn="l">
              <a:spcBef>
                <a:spcPts val="1600"/>
              </a:spcBef>
              <a:spcAft>
                <a:spcPts val="0"/>
              </a:spcAft>
              <a:buNone/>
            </a:pPr>
            <a:r>
              <a:rPr lang="es"/>
              <a:t>Esto nos da la idea de seleccionar aquel que nos ayude con mayor </a:t>
            </a:r>
            <a:r>
              <a:rPr i="1" lang="es"/>
              <a:t>progreso</a:t>
            </a:r>
            <a:endParaRPr/>
          </a:p>
          <a:p>
            <a:pPr indent="0" lvl="0" marL="0" rtl="0" algn="l">
              <a:spcBef>
                <a:spcPts val="1600"/>
              </a:spcBef>
              <a:spcAft>
                <a:spcPts val="0"/>
              </a:spcAft>
              <a:buNone/>
            </a:pPr>
            <a:r>
              <a:rPr lang="es"/>
              <a:t>Esta medida de progreso debería considerar</a:t>
            </a:r>
            <a:endParaRPr/>
          </a:p>
          <a:p>
            <a:pPr indent="-342900" lvl="0" marL="457200" rtl="0" algn="l">
              <a:spcBef>
                <a:spcPts val="1600"/>
              </a:spcBef>
              <a:spcAft>
                <a:spcPts val="0"/>
              </a:spcAft>
              <a:buSzPts val="1800"/>
              <a:buChar char="-"/>
            </a:pPr>
            <a:r>
              <a:rPr lang="es"/>
              <a:t>el peso de los Subsets</a:t>
            </a:r>
            <a:endParaRPr/>
          </a:p>
          <a:p>
            <a:pPr indent="-342900" lvl="0" marL="457200" rtl="0" algn="l">
              <a:spcBef>
                <a:spcPts val="0"/>
              </a:spcBef>
              <a:spcAft>
                <a:spcPts val="0"/>
              </a:spcAft>
              <a:buSzPts val="1800"/>
              <a:buChar char="-"/>
            </a:pPr>
            <a:r>
              <a:rPr lang="es"/>
              <a:t>los elementos que ese Subset me ayuda a cubrir de 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Set Cover</a:t>
            </a:r>
            <a:endParaRPr/>
          </a:p>
        </p:txBody>
      </p:sp>
      <p:sp>
        <p:nvSpPr>
          <p:cNvPr id="241" name="Google Shape;241;p37"/>
          <p:cNvSpPr txBox="1"/>
          <p:nvPr>
            <p:ph idx="1" type="body"/>
          </p:nvPr>
        </p:nvSpPr>
        <p:spPr>
          <a:xfrm>
            <a:off x="311700" y="1171600"/>
            <a:ext cx="8520600" cy="37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Greedy</a:t>
            </a:r>
            <a:endParaRPr/>
          </a:p>
          <a:p>
            <a:pPr indent="-342900" lvl="0" marL="457200" rtl="0" algn="l">
              <a:spcBef>
                <a:spcPts val="1600"/>
              </a:spcBef>
              <a:spcAft>
                <a:spcPts val="0"/>
              </a:spcAft>
              <a:buSzPts val="1800"/>
              <a:buChar char="-"/>
            </a:pPr>
            <a:r>
              <a:rPr lang="es"/>
              <a:t>Empezando por el conjunto de Subsets vacío</a:t>
            </a:r>
            <a:endParaRPr/>
          </a:p>
          <a:p>
            <a:pPr indent="-342900" lvl="0" marL="457200" rtl="0" algn="l">
              <a:spcBef>
                <a:spcPts val="0"/>
              </a:spcBef>
              <a:spcAft>
                <a:spcPts val="0"/>
              </a:spcAft>
              <a:buSzPts val="1800"/>
              <a:buChar char="-"/>
            </a:pPr>
            <a:r>
              <a:rPr lang="es"/>
              <a:t>Encontrar que Subset me conviene agregar según la proporción: peso / #elem</a:t>
            </a:r>
            <a:endParaRPr/>
          </a:p>
          <a:p>
            <a:pPr indent="-342900" lvl="0" marL="457200" rtl="0" algn="l">
              <a:spcBef>
                <a:spcPts val="0"/>
              </a:spcBef>
              <a:spcAft>
                <a:spcPts val="0"/>
              </a:spcAft>
              <a:buSzPts val="1800"/>
              <a:buChar char="-"/>
            </a:pPr>
            <a:r>
              <a:rPr lang="es"/>
              <a:t>Iterar, recalculando la medida de progreso teniendo únicamente en cuenta aquellos elementos de U que no se han logrado incorporar</a:t>
            </a:r>
            <a:endParaRPr/>
          </a:p>
          <a:p>
            <a:pPr indent="-342900" lvl="0" marL="457200" rtl="0" algn="l">
              <a:spcBef>
                <a:spcPts val="0"/>
              </a:spcBef>
              <a:spcAft>
                <a:spcPts val="0"/>
              </a:spcAft>
              <a:buSzPts val="1800"/>
              <a:buChar char="-"/>
            </a:pPr>
            <a:r>
              <a:rPr lang="es"/>
              <a:t>Completar la iteración cuando hayamos cubierto todos los elementos de 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Set Cover</a:t>
            </a:r>
            <a:endParaRPr/>
          </a:p>
        </p:txBody>
      </p:sp>
      <p:pic>
        <p:nvPicPr>
          <p:cNvPr id="247" name="Google Shape;247;p38"/>
          <p:cNvPicPr preferRelativeResize="0"/>
          <p:nvPr/>
        </p:nvPicPr>
        <p:blipFill>
          <a:blip r:embed="rId3">
            <a:alphaModFix/>
          </a:blip>
          <a:stretch>
            <a:fillRect/>
          </a:stretch>
        </p:blipFill>
        <p:spPr>
          <a:xfrm>
            <a:off x="2956175" y="69613"/>
            <a:ext cx="3231650" cy="50042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Set Cover</a:t>
            </a:r>
            <a:endParaRPr/>
          </a:p>
        </p:txBody>
      </p:sp>
      <p:sp>
        <p:nvSpPr>
          <p:cNvPr id="253" name="Google Shape;253;p39"/>
          <p:cNvSpPr txBox="1"/>
          <p:nvPr>
            <p:ph idx="1" type="body"/>
          </p:nvPr>
        </p:nvSpPr>
        <p:spPr>
          <a:xfrm>
            <a:off x="311700" y="1171600"/>
            <a:ext cx="8520600" cy="37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¿Qué</a:t>
            </a:r>
            <a:r>
              <a:rPr lang="es"/>
              <a:t> tanto peor puede ser el resultado de este Algoritmo Greedy en comparación a la solución óptima?</a:t>
            </a:r>
            <a:endParaRPr/>
          </a:p>
          <a:p>
            <a:pPr indent="0" lvl="0" marL="0" rtl="0" algn="l">
              <a:spcBef>
                <a:spcPts val="1600"/>
              </a:spcBef>
              <a:spcAft>
                <a:spcPts val="0"/>
              </a:spcAft>
              <a:buNone/>
            </a:pPr>
            <a:r>
              <a:rPr lang="es"/>
              <a:t>Se puede demostrar (K&amp;T 11.3) que el peso obtenido es como mucho O(log n) veces el peso óptimo, para un set U de n cantidad de elementos</a:t>
            </a:r>
            <a:endParaRPr/>
          </a:p>
          <a:p>
            <a:pPr indent="0" lvl="0" marL="0" rtl="0" algn="l">
              <a:spcBef>
                <a:spcPts val="1600"/>
              </a:spcBef>
              <a:spcAft>
                <a:spcPts val="0"/>
              </a:spcAft>
              <a:buNone/>
            </a:pPr>
            <a:r>
              <a:rPr lang="es"/>
              <a:t>De hecho, es función H(d) (la función </a:t>
            </a:r>
            <a:r>
              <a:rPr lang="es"/>
              <a:t>armónica)</a:t>
            </a:r>
            <a:r>
              <a:rPr lang="es"/>
              <a:t> de veces </a:t>
            </a:r>
            <a:r>
              <a:rPr lang="es"/>
              <a:t>el peso óptimo como mucho, la cual es acotada por O(log n). Siendo d el Subset más grande</a:t>
            </a:r>
            <a:endParaRPr/>
          </a:p>
          <a:p>
            <a:pPr indent="0" lvl="0" marL="0" rtl="0" algn="l">
              <a:spcBef>
                <a:spcPts val="1600"/>
              </a:spcBef>
              <a:spcAft>
                <a:spcPts val="1600"/>
              </a:spcAft>
              <a:buNone/>
            </a:pPr>
            <a:r>
              <a:rPr lang="es"/>
              <a:t>Más aún, se ha demostrado que ningún algoritmo de complejidad polinomial puede dar una mejor aproximación… a menos que P = NP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Problema: Vertex Cover</a:t>
            </a:r>
            <a:endParaRPr/>
          </a:p>
        </p:txBody>
      </p:sp>
      <p:pic>
        <p:nvPicPr>
          <p:cNvPr id="259" name="Google Shape;259;p40"/>
          <p:cNvPicPr preferRelativeResize="0"/>
          <p:nvPr/>
        </p:nvPicPr>
        <p:blipFill>
          <a:blip r:embed="rId3">
            <a:alphaModFix/>
          </a:blip>
          <a:stretch>
            <a:fillRect/>
          </a:stretch>
        </p:blipFill>
        <p:spPr>
          <a:xfrm>
            <a:off x="2428875" y="1210625"/>
            <a:ext cx="4286250" cy="3752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Vertex Cover</a:t>
            </a:r>
            <a:endParaRPr/>
          </a:p>
        </p:txBody>
      </p:sp>
      <p:sp>
        <p:nvSpPr>
          <p:cNvPr id="265" name="Google Shape;265;p41"/>
          <p:cNvSpPr txBox="1"/>
          <p:nvPr>
            <p:ph idx="1" type="body"/>
          </p:nvPr>
        </p:nvSpPr>
        <p:spPr>
          <a:xfrm>
            <a:off x="311700" y="1171600"/>
            <a:ext cx="8520600" cy="18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Dado un Grafo, un Vertex Cover es el mínimo Subset de los vértices, tal que se cubran todas las aristas, es decir, que cada arista tenga por lo menos uno de sus bordes en el Vertex Cover.</a:t>
            </a:r>
            <a:endParaRPr/>
          </a:p>
          <a:p>
            <a:pPr indent="0" lvl="0" marL="0" rtl="0" algn="l">
              <a:spcBef>
                <a:spcPts val="1600"/>
              </a:spcBef>
              <a:spcAft>
                <a:spcPts val="1600"/>
              </a:spcAft>
              <a:buNone/>
            </a:pPr>
            <a:r>
              <a:rPr lang="es"/>
              <a:t>El uso de cada Vértice V</a:t>
            </a:r>
            <a:r>
              <a:rPr b="1" baseline="-25000" lang="es"/>
              <a:t>i</a:t>
            </a:r>
            <a:r>
              <a:rPr lang="es"/>
              <a:t> tiene un costo w</a:t>
            </a:r>
            <a:r>
              <a:rPr b="1" baseline="-25000" lang="es"/>
              <a:t>i</a:t>
            </a:r>
            <a:r>
              <a:rPr lang="es"/>
              <a:t>. Queremos minimizar:</a:t>
            </a:r>
            <a:endParaRPr/>
          </a:p>
        </p:txBody>
      </p:sp>
      <p:pic>
        <p:nvPicPr>
          <p:cNvPr id="266" name="Google Shape;266;p41"/>
          <p:cNvPicPr preferRelativeResize="0"/>
          <p:nvPr/>
        </p:nvPicPr>
        <p:blipFill>
          <a:blip r:embed="rId3">
            <a:alphaModFix/>
          </a:blip>
          <a:stretch>
            <a:fillRect/>
          </a:stretch>
        </p:blipFill>
        <p:spPr>
          <a:xfrm>
            <a:off x="6939463" y="2300275"/>
            <a:ext cx="2028825" cy="542925"/>
          </a:xfrm>
          <a:prstGeom prst="rect">
            <a:avLst/>
          </a:prstGeom>
          <a:noFill/>
          <a:ln>
            <a:noFill/>
          </a:ln>
        </p:spPr>
      </p:pic>
      <p:sp>
        <p:nvSpPr>
          <p:cNvPr id="267" name="Google Shape;267;p41"/>
          <p:cNvSpPr txBox="1"/>
          <p:nvPr>
            <p:ph idx="1" type="body"/>
          </p:nvPr>
        </p:nvSpPr>
        <p:spPr>
          <a:xfrm>
            <a:off x="311700" y="2950488"/>
            <a:ext cx="8520600" cy="18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puede reducir este problema a otro problema?</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s"/>
              <a:t>No se me achiquen</a:t>
            </a:r>
            <a:endParaRPr/>
          </a:p>
        </p:txBody>
      </p:sp>
      <p:pic>
        <p:nvPicPr>
          <p:cNvPr id="268" name="Google Shape;268;p41"/>
          <p:cNvPicPr preferRelativeResize="0"/>
          <p:nvPr/>
        </p:nvPicPr>
        <p:blipFill>
          <a:blip r:embed="rId4">
            <a:alphaModFix/>
          </a:blip>
          <a:stretch>
            <a:fillRect/>
          </a:stretch>
        </p:blipFill>
        <p:spPr>
          <a:xfrm>
            <a:off x="3003450" y="2843200"/>
            <a:ext cx="2091975" cy="2091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Problema: Vertex Cover</a:t>
            </a:r>
            <a:endParaRPr/>
          </a:p>
        </p:txBody>
      </p:sp>
      <p:pic>
        <p:nvPicPr>
          <p:cNvPr id="274" name="Google Shape;274;p42"/>
          <p:cNvPicPr preferRelativeResize="0"/>
          <p:nvPr/>
        </p:nvPicPr>
        <p:blipFill>
          <a:blip r:embed="rId3">
            <a:alphaModFix/>
          </a:blip>
          <a:stretch>
            <a:fillRect/>
          </a:stretch>
        </p:blipFill>
        <p:spPr>
          <a:xfrm>
            <a:off x="142875" y="1210625"/>
            <a:ext cx="4286250" cy="3752850"/>
          </a:xfrm>
          <a:prstGeom prst="rect">
            <a:avLst/>
          </a:prstGeom>
          <a:noFill/>
          <a:ln>
            <a:noFill/>
          </a:ln>
        </p:spPr>
      </p:pic>
      <p:sp>
        <p:nvSpPr>
          <p:cNvPr id="275" name="Google Shape;275;p42"/>
          <p:cNvSpPr txBox="1"/>
          <p:nvPr>
            <p:ph idx="1" type="body"/>
          </p:nvPr>
        </p:nvSpPr>
        <p:spPr>
          <a:xfrm>
            <a:off x="1877725" y="1210625"/>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a</a:t>
            </a:r>
            <a:endParaRPr sz="2600"/>
          </a:p>
        </p:txBody>
      </p:sp>
      <p:sp>
        <p:nvSpPr>
          <p:cNvPr id="276" name="Google Shape;276;p42"/>
          <p:cNvSpPr txBox="1"/>
          <p:nvPr>
            <p:ph idx="1" type="body"/>
          </p:nvPr>
        </p:nvSpPr>
        <p:spPr>
          <a:xfrm>
            <a:off x="552525" y="2007975"/>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b</a:t>
            </a:r>
            <a:endParaRPr sz="2600"/>
          </a:p>
        </p:txBody>
      </p:sp>
      <p:sp>
        <p:nvSpPr>
          <p:cNvPr id="277" name="Google Shape;277;p42"/>
          <p:cNvSpPr txBox="1"/>
          <p:nvPr>
            <p:ph idx="1" type="body"/>
          </p:nvPr>
        </p:nvSpPr>
        <p:spPr>
          <a:xfrm>
            <a:off x="1596950" y="1976225"/>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c</a:t>
            </a:r>
            <a:endParaRPr sz="2600"/>
          </a:p>
        </p:txBody>
      </p:sp>
      <p:sp>
        <p:nvSpPr>
          <p:cNvPr id="278" name="Google Shape;278;p42"/>
          <p:cNvSpPr txBox="1"/>
          <p:nvPr>
            <p:ph idx="1" type="body"/>
          </p:nvPr>
        </p:nvSpPr>
        <p:spPr>
          <a:xfrm>
            <a:off x="1529575" y="3245250"/>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e</a:t>
            </a:r>
            <a:endParaRPr sz="2600"/>
          </a:p>
        </p:txBody>
      </p:sp>
      <p:sp>
        <p:nvSpPr>
          <p:cNvPr id="279" name="Google Shape;279;p42"/>
          <p:cNvSpPr txBox="1"/>
          <p:nvPr>
            <p:ph idx="1" type="body"/>
          </p:nvPr>
        </p:nvSpPr>
        <p:spPr>
          <a:xfrm>
            <a:off x="653600" y="3570925"/>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d</a:t>
            </a:r>
            <a:endParaRPr sz="2600"/>
          </a:p>
        </p:txBody>
      </p:sp>
      <p:sp>
        <p:nvSpPr>
          <p:cNvPr id="280" name="Google Shape;280;p42"/>
          <p:cNvSpPr txBox="1"/>
          <p:nvPr>
            <p:ph idx="1" type="body"/>
          </p:nvPr>
        </p:nvSpPr>
        <p:spPr>
          <a:xfrm>
            <a:off x="1877725" y="4300875"/>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f</a:t>
            </a:r>
            <a:endParaRPr sz="2600"/>
          </a:p>
        </p:txBody>
      </p:sp>
      <p:sp>
        <p:nvSpPr>
          <p:cNvPr id="281" name="Google Shape;281;p42"/>
          <p:cNvSpPr txBox="1"/>
          <p:nvPr>
            <p:ph idx="1" type="body"/>
          </p:nvPr>
        </p:nvSpPr>
        <p:spPr>
          <a:xfrm>
            <a:off x="2888475" y="3346300"/>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g</a:t>
            </a:r>
            <a:endParaRPr sz="2600"/>
          </a:p>
        </p:txBody>
      </p:sp>
      <p:sp>
        <p:nvSpPr>
          <p:cNvPr id="282" name="Google Shape;282;p42"/>
          <p:cNvSpPr txBox="1"/>
          <p:nvPr>
            <p:ph idx="1" type="body"/>
          </p:nvPr>
        </p:nvSpPr>
        <p:spPr>
          <a:xfrm>
            <a:off x="3629675" y="3570925"/>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h</a:t>
            </a:r>
            <a:endParaRPr sz="2600"/>
          </a:p>
        </p:txBody>
      </p:sp>
      <p:sp>
        <p:nvSpPr>
          <p:cNvPr id="283" name="Google Shape;283;p42"/>
          <p:cNvSpPr txBox="1"/>
          <p:nvPr>
            <p:ph idx="1" type="body"/>
          </p:nvPr>
        </p:nvSpPr>
        <p:spPr>
          <a:xfrm>
            <a:off x="3629675" y="2066050"/>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j</a:t>
            </a:r>
            <a:endParaRPr sz="2600"/>
          </a:p>
        </p:txBody>
      </p:sp>
      <p:sp>
        <p:nvSpPr>
          <p:cNvPr id="284" name="Google Shape;284;p42"/>
          <p:cNvSpPr txBox="1"/>
          <p:nvPr>
            <p:ph idx="1" type="body"/>
          </p:nvPr>
        </p:nvSpPr>
        <p:spPr>
          <a:xfrm>
            <a:off x="2641375" y="2066050"/>
            <a:ext cx="584100" cy="61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2600"/>
              <a:t>i</a:t>
            </a:r>
            <a:endParaRPr sz="2600"/>
          </a:p>
        </p:txBody>
      </p:sp>
      <p:sp>
        <p:nvSpPr>
          <p:cNvPr id="285" name="Google Shape;285;p42"/>
          <p:cNvSpPr txBox="1"/>
          <p:nvPr>
            <p:ph idx="1" type="body"/>
          </p:nvPr>
        </p:nvSpPr>
        <p:spPr>
          <a:xfrm>
            <a:off x="4572000" y="970300"/>
            <a:ext cx="4286100" cy="399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100"/>
              <a:t>v1: {a, b}</a:t>
            </a:r>
            <a:endParaRPr sz="2100"/>
          </a:p>
          <a:p>
            <a:pPr indent="0" lvl="0" marL="0" rtl="0" algn="l">
              <a:spcBef>
                <a:spcPts val="1600"/>
              </a:spcBef>
              <a:spcAft>
                <a:spcPts val="0"/>
              </a:spcAft>
              <a:buNone/>
            </a:pPr>
            <a:r>
              <a:rPr lang="es" sz="2100"/>
              <a:t>v2: {a, c, i, j}</a:t>
            </a:r>
            <a:endParaRPr sz="2100"/>
          </a:p>
          <a:p>
            <a:pPr indent="0" lvl="0" marL="0" rtl="0" algn="l">
              <a:spcBef>
                <a:spcPts val="1600"/>
              </a:spcBef>
              <a:spcAft>
                <a:spcPts val="0"/>
              </a:spcAft>
              <a:buNone/>
            </a:pPr>
            <a:r>
              <a:rPr lang="es" sz="2100"/>
              <a:t>v3: {b, c, d, e}</a:t>
            </a:r>
            <a:endParaRPr sz="2100"/>
          </a:p>
          <a:p>
            <a:pPr indent="0" lvl="0" marL="0" rtl="0" algn="l">
              <a:spcBef>
                <a:spcPts val="1600"/>
              </a:spcBef>
              <a:spcAft>
                <a:spcPts val="0"/>
              </a:spcAft>
              <a:buNone/>
            </a:pPr>
            <a:r>
              <a:rPr lang="es" sz="2100"/>
              <a:t>v4: {g, i}</a:t>
            </a:r>
            <a:endParaRPr sz="2100"/>
          </a:p>
          <a:p>
            <a:pPr indent="0" lvl="0" marL="0" rtl="0" algn="l">
              <a:spcBef>
                <a:spcPts val="1600"/>
              </a:spcBef>
              <a:spcAft>
                <a:spcPts val="0"/>
              </a:spcAft>
              <a:buNone/>
            </a:pPr>
            <a:r>
              <a:rPr lang="es" sz="2100"/>
              <a:t>v5: {h, j}</a:t>
            </a:r>
            <a:endParaRPr sz="2100"/>
          </a:p>
          <a:p>
            <a:pPr indent="0" lvl="0" marL="0" rtl="0" algn="l">
              <a:spcBef>
                <a:spcPts val="1600"/>
              </a:spcBef>
              <a:spcAft>
                <a:spcPts val="0"/>
              </a:spcAft>
              <a:buNone/>
            </a:pPr>
            <a:r>
              <a:rPr lang="es" sz="2100"/>
              <a:t>v6: {d, f}</a:t>
            </a:r>
            <a:endParaRPr sz="2100"/>
          </a:p>
          <a:p>
            <a:pPr indent="0" lvl="0" marL="0" rtl="0" algn="l">
              <a:spcBef>
                <a:spcPts val="1600"/>
              </a:spcBef>
              <a:spcAft>
                <a:spcPts val="1600"/>
              </a:spcAft>
              <a:buClr>
                <a:schemeClr val="dk1"/>
              </a:buClr>
              <a:buSzPts val="1100"/>
              <a:buFont typeface="Arial"/>
              <a:buNone/>
            </a:pPr>
            <a:r>
              <a:rPr lang="es" sz="2100"/>
              <a:t>v7: {e, f, g, h}</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Reducción</a:t>
            </a:r>
            <a:endParaRPr/>
          </a:p>
        </p:txBody>
      </p:sp>
      <p:sp>
        <p:nvSpPr>
          <p:cNvPr id="291" name="Google Shape;291;p43"/>
          <p:cNvSpPr txBox="1"/>
          <p:nvPr>
            <p:ph idx="1" type="body"/>
          </p:nvPr>
        </p:nvSpPr>
        <p:spPr>
          <a:xfrm>
            <a:off x="311700" y="1008325"/>
            <a:ext cx="8520600" cy="392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Empezar pensando un buen problema hacia donde hacer la Reducción</a:t>
            </a:r>
            <a:endParaRPr/>
          </a:p>
          <a:p>
            <a:pPr indent="0" lvl="0" marL="0" rtl="0" algn="l">
              <a:spcBef>
                <a:spcPts val="1600"/>
              </a:spcBef>
              <a:spcAft>
                <a:spcPts val="0"/>
              </a:spcAft>
              <a:buNone/>
            </a:pPr>
            <a:r>
              <a:rPr lang="es"/>
              <a:t>Vertex Cover implica encontrar esos Vértices que cubran aristas</a:t>
            </a:r>
            <a:endParaRPr/>
          </a:p>
          <a:p>
            <a:pPr indent="0" lvl="0" marL="0" rtl="0" algn="l">
              <a:spcBef>
                <a:spcPts val="1600"/>
              </a:spcBef>
              <a:spcAft>
                <a:spcPts val="0"/>
              </a:spcAft>
              <a:buNone/>
            </a:pPr>
            <a:r>
              <a:rPr lang="es"/>
              <a:t>Set Cover encuentra Subconjuntos que cubran la totalidad de los elementos</a:t>
            </a:r>
            <a:endParaRPr/>
          </a:p>
          <a:p>
            <a:pPr indent="0" lvl="0" marL="0" rtl="0" algn="l">
              <a:spcBef>
                <a:spcPts val="1600"/>
              </a:spcBef>
              <a:spcAft>
                <a:spcPts val="0"/>
              </a:spcAft>
              <a:buNone/>
            </a:pPr>
            <a:r>
              <a:rPr lang="es"/>
              <a:t>¿Podemos plantear la reducción en tiempo polinomial? Hay que convertir la entrada de Vertex Cover a la entrada de Set Cover</a:t>
            </a:r>
            <a:endParaRPr/>
          </a:p>
          <a:p>
            <a:pPr indent="0" lvl="0" marL="0" rtl="0" algn="l">
              <a:spcBef>
                <a:spcPts val="1600"/>
              </a:spcBef>
              <a:spcAft>
                <a:spcPts val="0"/>
              </a:spcAft>
              <a:buNone/>
            </a:pPr>
            <a:r>
              <a:rPr lang="es"/>
              <a:t>Para cada Vértice se define el subconjunto del Vértice como todas las aristas que inciden al Vértice. Queremos encontrar una cobertura de E, todas las aristas.</a:t>
            </a:r>
            <a:endParaRPr/>
          </a:p>
          <a:p>
            <a:pPr indent="0" lvl="0" marL="0" rtl="0" algn="l">
              <a:spcBef>
                <a:spcPts val="1600"/>
              </a:spcBef>
              <a:spcAft>
                <a:spcPts val="1600"/>
              </a:spcAft>
              <a:buNone/>
            </a:pPr>
            <a:r>
              <a:rPr lang="es"/>
              <a:t>Set Cover encuentra la forma de cubrir todos los elementos. Los Subsets de aristas encontrados son los vértices a utilizar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Aproximación</a:t>
            </a:r>
            <a:endParaRPr/>
          </a:p>
        </p:txBody>
      </p:sp>
      <p:sp>
        <p:nvSpPr>
          <p:cNvPr id="297" name="Google Shape;297;p44"/>
          <p:cNvSpPr txBox="1"/>
          <p:nvPr>
            <p:ph idx="1" type="body"/>
          </p:nvPr>
        </p:nvSpPr>
        <p:spPr>
          <a:xfrm>
            <a:off x="311700" y="1613725"/>
            <a:ext cx="8520600" cy="331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Será posible aprovechar esta solución por Aproximación de Set Cover, para encontrar una solución Aproximada de Vertex Cover?</a:t>
            </a:r>
            <a:endParaRPr/>
          </a:p>
          <a:p>
            <a:pPr indent="0" lvl="0" marL="0" rtl="0" algn="l">
              <a:spcBef>
                <a:spcPts val="1600"/>
              </a:spcBef>
              <a:spcAft>
                <a:spcPts val="0"/>
              </a:spcAft>
              <a:buNone/>
            </a:pPr>
            <a:r>
              <a:rPr lang="es"/>
              <a:t>Tenemos que analizar qué representa la solución aproximada de Set Cover para el resultado de Vertex Cover.</a:t>
            </a:r>
            <a:endParaRPr/>
          </a:p>
          <a:p>
            <a:pPr indent="0" lvl="0" marL="0" rtl="0" algn="l">
              <a:spcBef>
                <a:spcPts val="1600"/>
              </a:spcBef>
              <a:spcAft>
                <a:spcPts val="0"/>
              </a:spcAft>
              <a:buNone/>
            </a:pPr>
            <a:r>
              <a:rPr lang="es"/>
              <a:t>Set Cover encuentra los Subsets a como mucho H(d) veces el óptimo. Siendo d el conjunto más grande, que representa en este caso el Vértice de mayor grado.</a:t>
            </a:r>
            <a:endParaRPr/>
          </a:p>
          <a:p>
            <a:pPr indent="0" lvl="0" marL="0" rtl="0" algn="l">
              <a:spcBef>
                <a:spcPts val="1600"/>
              </a:spcBef>
              <a:spcAft>
                <a:spcPts val="1600"/>
              </a:spcAft>
              <a:buNone/>
            </a:pPr>
            <a:r>
              <a:rPr lang="es"/>
              <a:t>Esto significa que esta aproximación nos da una solución </a:t>
            </a:r>
            <a:r>
              <a:rPr lang="es"/>
              <a:t>como mucho H(d) veces el óptimo para el Problema de Vertex Cover</a:t>
            </a:r>
            <a:endParaRPr/>
          </a:p>
        </p:txBody>
      </p:sp>
      <p:pic>
        <p:nvPicPr>
          <p:cNvPr id="298" name="Google Shape;298;p44"/>
          <p:cNvPicPr preferRelativeResize="0"/>
          <p:nvPr/>
        </p:nvPicPr>
        <p:blipFill>
          <a:blip r:embed="rId3">
            <a:alphaModFix/>
          </a:blip>
          <a:stretch>
            <a:fillRect/>
          </a:stretch>
        </p:blipFill>
        <p:spPr>
          <a:xfrm>
            <a:off x="2968925" y="1058225"/>
            <a:ext cx="3260425" cy="46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Independent Set</a:t>
            </a:r>
            <a:endParaRPr/>
          </a:p>
        </p:txBody>
      </p:sp>
      <p:pic>
        <p:nvPicPr>
          <p:cNvPr id="304" name="Google Shape;304;p45"/>
          <p:cNvPicPr preferRelativeResize="0"/>
          <p:nvPr/>
        </p:nvPicPr>
        <p:blipFill>
          <a:blip r:embed="rId3">
            <a:alphaModFix/>
          </a:blip>
          <a:stretch>
            <a:fillRect/>
          </a:stretch>
        </p:blipFill>
        <p:spPr>
          <a:xfrm>
            <a:off x="2428875" y="1210625"/>
            <a:ext cx="4286250" cy="3752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Problema: Independent Set</a:t>
            </a:r>
            <a:endParaRPr/>
          </a:p>
        </p:txBody>
      </p:sp>
      <p:sp>
        <p:nvSpPr>
          <p:cNvPr id="310" name="Google Shape;310;p46"/>
          <p:cNvSpPr txBox="1"/>
          <p:nvPr>
            <p:ph idx="1" type="body"/>
          </p:nvPr>
        </p:nvSpPr>
        <p:spPr>
          <a:xfrm>
            <a:off x="311700" y="1171600"/>
            <a:ext cx="8520600" cy="29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acuerdan de la relación</a:t>
            </a:r>
            <a:r>
              <a:rPr lang="es"/>
              <a:t> entre </a:t>
            </a:r>
            <a:r>
              <a:rPr lang="es"/>
              <a:t>Independent</a:t>
            </a:r>
            <a:r>
              <a:rPr lang="es"/>
              <a:t> Set y Vertex Cover?</a:t>
            </a:r>
            <a:endParaRPr/>
          </a:p>
          <a:p>
            <a:pPr indent="0" lvl="0" marL="0" rtl="0" algn="l">
              <a:spcBef>
                <a:spcPts val="1600"/>
              </a:spcBef>
              <a:spcAft>
                <a:spcPts val="0"/>
              </a:spcAft>
              <a:buNone/>
            </a:pPr>
            <a:r>
              <a:rPr lang="es"/>
              <a:t>Si encuentro un Vertex Cover, es cierto que el complemento (todos los vértices que no utilizo) es un Independent Set</a:t>
            </a:r>
            <a:endParaRPr/>
          </a:p>
          <a:p>
            <a:pPr indent="0" lvl="0" marL="0" rtl="0" algn="l">
              <a:spcBef>
                <a:spcPts val="1600"/>
              </a:spcBef>
              <a:spcAft>
                <a:spcPts val="0"/>
              </a:spcAft>
              <a:buNone/>
            </a:pPr>
            <a:r>
              <a:rPr lang="es"/>
              <a:t>Dada nuestra definición de Vertex Cover con peso, cómo minimizamos la cantidad de Vértices utilizados?</a:t>
            </a:r>
            <a:endParaRPr/>
          </a:p>
          <a:p>
            <a:pPr indent="0" lvl="0" marL="0" rtl="0" algn="l">
              <a:spcBef>
                <a:spcPts val="1600"/>
              </a:spcBef>
              <a:spcAft>
                <a:spcPts val="1600"/>
              </a:spcAft>
              <a:buNone/>
            </a:pPr>
            <a:r>
              <a:rPr lang="es"/>
              <a:t>Ajustando todos los pesos a 1, por lo tanto:</a:t>
            </a:r>
            <a:endParaRPr/>
          </a:p>
        </p:txBody>
      </p:sp>
      <p:pic>
        <p:nvPicPr>
          <p:cNvPr id="311" name="Google Shape;311;p46"/>
          <p:cNvPicPr preferRelativeResize="0"/>
          <p:nvPr/>
        </p:nvPicPr>
        <p:blipFill>
          <a:blip r:embed="rId3">
            <a:alphaModFix/>
          </a:blip>
          <a:stretch>
            <a:fillRect/>
          </a:stretch>
        </p:blipFill>
        <p:spPr>
          <a:xfrm>
            <a:off x="2333625" y="4279125"/>
            <a:ext cx="4476750" cy="409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Independent Set: Aproximación</a:t>
            </a:r>
            <a:endParaRPr/>
          </a:p>
        </p:txBody>
      </p:sp>
      <p:sp>
        <p:nvSpPr>
          <p:cNvPr id="317" name="Google Shape;317;p47"/>
          <p:cNvSpPr txBox="1"/>
          <p:nvPr>
            <p:ph idx="1" type="body"/>
          </p:nvPr>
        </p:nvSpPr>
        <p:spPr>
          <a:xfrm>
            <a:off x="311700" y="1171600"/>
            <a:ext cx="8661600" cy="367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Toca el momento de volver a </a:t>
            </a:r>
            <a:r>
              <a:rPr lang="es" sz="1600"/>
              <a:t>aprovechar</a:t>
            </a:r>
            <a:r>
              <a:rPr lang="es" sz="1600"/>
              <a:t> una aproximación obtenida de un problema para resolver otro problema por reducción.</a:t>
            </a:r>
            <a:endParaRPr sz="1600"/>
          </a:p>
          <a:p>
            <a:pPr indent="0" lvl="0" marL="0" rtl="0" algn="l">
              <a:spcBef>
                <a:spcPts val="1600"/>
              </a:spcBef>
              <a:spcAft>
                <a:spcPts val="0"/>
              </a:spcAft>
              <a:buNone/>
            </a:pPr>
            <a:r>
              <a:rPr lang="es" sz="1600"/>
              <a:t>Nos gustaría aprovechar la solución de Vertex Cover para resolver Independent Set</a:t>
            </a:r>
            <a:endParaRPr sz="1600"/>
          </a:p>
          <a:p>
            <a:pPr indent="0" lvl="0" marL="0" rtl="0" algn="l">
              <a:spcBef>
                <a:spcPts val="1600"/>
              </a:spcBef>
              <a:spcAft>
                <a:spcPts val="0"/>
              </a:spcAft>
              <a:buNone/>
            </a:pPr>
            <a:r>
              <a:rPr lang="es" sz="1600"/>
              <a:t>Imaginemos un Grafo que tiene la misma cantidad, |V|/2 vértices que pertenecen al Vertex Cover, y </a:t>
            </a:r>
            <a:r>
              <a:rPr lang="es" sz="1600"/>
              <a:t>|V|/2</a:t>
            </a:r>
            <a:r>
              <a:rPr lang="es" sz="1600"/>
              <a:t> vértices que forman el máximo Independent Set</a:t>
            </a:r>
            <a:endParaRPr sz="1600"/>
          </a:p>
          <a:p>
            <a:pPr indent="0" lvl="0" marL="0" rtl="0" algn="l">
              <a:spcBef>
                <a:spcPts val="1600"/>
              </a:spcBef>
              <a:spcAft>
                <a:spcPts val="0"/>
              </a:spcAft>
              <a:buNone/>
            </a:pPr>
            <a:r>
              <a:rPr lang="es" sz="1600"/>
              <a:t>Sucede que dado el margen de error de la aproximación de Vertex Cover, perfectamente podría ocurrir que el Vertex Cover obtenido sea todos los vértices V</a:t>
            </a:r>
            <a:endParaRPr sz="1600"/>
          </a:p>
          <a:p>
            <a:pPr indent="0" lvl="0" marL="0" rtl="0" algn="l">
              <a:spcBef>
                <a:spcPts val="1600"/>
              </a:spcBef>
              <a:spcAft>
                <a:spcPts val="0"/>
              </a:spcAft>
              <a:buNone/>
            </a:pPr>
            <a:r>
              <a:rPr lang="es" sz="1600"/>
              <a:t>Lo que nos dejaría con una </a:t>
            </a:r>
            <a:r>
              <a:rPr lang="es" sz="1600"/>
              <a:t>aproximación del máximo Independent Set de… Set Vacío</a:t>
            </a:r>
            <a:endParaRPr sz="1600"/>
          </a:p>
          <a:p>
            <a:pPr indent="0" lvl="0" marL="0" rtl="0" algn="l">
              <a:spcBef>
                <a:spcPts val="1600"/>
              </a:spcBef>
              <a:spcAft>
                <a:spcPts val="1600"/>
              </a:spcAft>
              <a:buNone/>
            </a:pPr>
            <a:r>
              <a:rPr lang="es" sz="1600"/>
              <a:t>La moraleja es que incluso cuando encontramos reducciones debemos analizar caso por caso</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Una mejor Aproximación</a:t>
            </a:r>
            <a:endParaRPr/>
          </a:p>
        </p:txBody>
      </p:sp>
      <p:sp>
        <p:nvSpPr>
          <p:cNvPr id="323" name="Google Shape;323;p4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Si bien ya tenemos una aproximación por reducción a Set Cover, se puede hacer mejor</a:t>
            </a:r>
            <a:endParaRPr sz="1600"/>
          </a:p>
          <a:p>
            <a:pPr indent="0" lvl="0" marL="0" rtl="0" algn="l">
              <a:spcBef>
                <a:spcPts val="1600"/>
              </a:spcBef>
              <a:spcAft>
                <a:spcPts val="0"/>
              </a:spcAft>
              <a:buNone/>
            </a:pPr>
            <a:r>
              <a:rPr lang="es" sz="1600"/>
              <a:t>La siguiente aproximación se basa en una perspectiva económica</a:t>
            </a:r>
            <a:endParaRPr sz="1600"/>
          </a:p>
          <a:p>
            <a:pPr indent="0" lvl="0" marL="0" rtl="0" algn="l">
              <a:spcBef>
                <a:spcPts val="1600"/>
              </a:spcBef>
              <a:spcAft>
                <a:spcPts val="0"/>
              </a:spcAft>
              <a:buNone/>
            </a:pPr>
            <a:r>
              <a:rPr lang="es" sz="1600"/>
              <a:t>Pensaremos los pesos de los nodos como </a:t>
            </a:r>
            <a:r>
              <a:rPr i="1" lang="es" sz="1600"/>
              <a:t>costos</a:t>
            </a:r>
            <a:r>
              <a:rPr lang="es" sz="1600"/>
              <a:t> a pagar por la utilización del nodo, y cada arista deberá pagar su </a:t>
            </a:r>
            <a:r>
              <a:rPr i="1" lang="es" sz="1600"/>
              <a:t>parte</a:t>
            </a:r>
            <a:r>
              <a:rPr lang="es" sz="1600"/>
              <a:t> del costo para el Vertex Cover encontrado</a:t>
            </a:r>
            <a:endParaRPr sz="1600"/>
          </a:p>
          <a:p>
            <a:pPr indent="0" lvl="0" marL="0" rtl="0" algn="l">
              <a:spcBef>
                <a:spcPts val="1600"/>
              </a:spcBef>
              <a:spcAft>
                <a:spcPts val="0"/>
              </a:spcAft>
              <a:buNone/>
            </a:pPr>
            <a:r>
              <a:rPr lang="es" sz="1600"/>
              <a:t>Las diferentes aristas serían </a:t>
            </a:r>
            <a:r>
              <a:rPr i="1" lang="es" sz="1600"/>
              <a:t>agentes</a:t>
            </a:r>
            <a:r>
              <a:rPr lang="es" sz="1600"/>
              <a:t> dispuestas a pagar por el nodo que las cubre</a:t>
            </a:r>
            <a:endParaRPr sz="1600"/>
          </a:p>
          <a:p>
            <a:pPr indent="0" lvl="0" marL="0" rtl="0" algn="l">
              <a:spcBef>
                <a:spcPts val="1600"/>
              </a:spcBef>
              <a:spcAft>
                <a:spcPts val="1600"/>
              </a:spcAft>
              <a:buNone/>
            </a:pPr>
            <a:r>
              <a:rPr lang="es" sz="1600"/>
              <a:t>El algoritmo encuentra el Vertex Cover, y los precios que cada arista paga. La sumatoria de esos precios será el peso total de </a:t>
            </a:r>
            <a:r>
              <a:rPr lang="es" sz="1600"/>
              <a:t>Vertex Cover Aproximado.</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Metodología 2: Pricing Method</a:t>
            </a:r>
            <a:endParaRPr/>
          </a:p>
        </p:txBody>
      </p:sp>
      <p:sp>
        <p:nvSpPr>
          <p:cNvPr id="329" name="Google Shape;329;p49"/>
          <p:cNvSpPr txBox="1"/>
          <p:nvPr>
            <p:ph idx="1" type="body"/>
          </p:nvPr>
        </p:nvSpPr>
        <p:spPr>
          <a:xfrm>
            <a:off x="311700" y="1171600"/>
            <a:ext cx="8770500" cy="21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El Pricing Method como metodología utiliza esta perspectiva económica de precios para llegar a la solución por Aproximación. Veamosla para Vertex Cover</a:t>
            </a:r>
            <a:endParaRPr sz="1600"/>
          </a:p>
          <a:p>
            <a:pPr indent="0" lvl="0" marL="0" rtl="0" algn="l">
              <a:spcBef>
                <a:spcPts val="1600"/>
              </a:spcBef>
              <a:spcAft>
                <a:spcPts val="0"/>
              </a:spcAft>
              <a:buNone/>
            </a:pPr>
            <a:r>
              <a:rPr lang="es" sz="1600"/>
              <a:t>Si las aristas son </a:t>
            </a:r>
            <a:r>
              <a:rPr i="1" lang="es" sz="1600"/>
              <a:t>agentes</a:t>
            </a:r>
            <a:r>
              <a:rPr lang="es" sz="1600"/>
              <a:t> de esta economía, debe haber algún tipo de idea que establezca qué precios son acordes (fairness) y están dispuestas a pagar, y qué precios serían excesivos (unfair)</a:t>
            </a:r>
            <a:endParaRPr sz="1600"/>
          </a:p>
          <a:p>
            <a:pPr indent="0" lvl="0" marL="0" rtl="0" algn="l">
              <a:spcBef>
                <a:spcPts val="1600"/>
              </a:spcBef>
              <a:spcAft>
                <a:spcPts val="1600"/>
              </a:spcAft>
              <a:buNone/>
            </a:pPr>
            <a:r>
              <a:rPr lang="es" sz="1600"/>
              <a:t>En este caso, los precio son acordes si, para cada vértice i, las aristas adyacentes a ese vértice no tienen que pagar más que el costo de ese vértice: </a:t>
            </a:r>
            <a:endParaRPr sz="1600"/>
          </a:p>
        </p:txBody>
      </p:sp>
      <p:pic>
        <p:nvPicPr>
          <p:cNvPr id="330" name="Google Shape;330;p49"/>
          <p:cNvPicPr preferRelativeResize="0"/>
          <p:nvPr/>
        </p:nvPicPr>
        <p:blipFill>
          <a:blip r:embed="rId3">
            <a:alphaModFix/>
          </a:blip>
          <a:stretch>
            <a:fillRect/>
          </a:stretch>
        </p:blipFill>
        <p:spPr>
          <a:xfrm>
            <a:off x="5176300" y="3046575"/>
            <a:ext cx="1497181" cy="269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Metodología 2: Pricing Method</a:t>
            </a:r>
            <a:endParaRPr/>
          </a:p>
        </p:txBody>
      </p:sp>
      <p:sp>
        <p:nvSpPr>
          <p:cNvPr id="336" name="Google Shape;336;p50"/>
          <p:cNvSpPr txBox="1"/>
          <p:nvPr>
            <p:ph idx="1" type="body"/>
          </p:nvPr>
        </p:nvSpPr>
        <p:spPr>
          <a:xfrm>
            <a:off x="311700" y="1171600"/>
            <a:ext cx="8770500" cy="8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La Metodología además nos provee una forma de medir qué tan buena es la Aproximación.</a:t>
            </a:r>
            <a:endParaRPr sz="1600"/>
          </a:p>
          <a:p>
            <a:pPr indent="0" lvl="0" marL="0" rtl="0" algn="l">
              <a:spcBef>
                <a:spcPts val="1600"/>
              </a:spcBef>
              <a:spcAft>
                <a:spcPts val="1600"/>
              </a:spcAft>
              <a:buNone/>
            </a:pPr>
            <a:r>
              <a:rPr lang="es" sz="1600"/>
              <a:t>Para cualquier solución S*, veamos si podemos ajustar la suma de los pesos utilizados:</a:t>
            </a:r>
            <a:endParaRPr sz="1600"/>
          </a:p>
        </p:txBody>
      </p:sp>
      <p:pic>
        <p:nvPicPr>
          <p:cNvPr id="337" name="Google Shape;337;p50"/>
          <p:cNvPicPr preferRelativeResize="0"/>
          <p:nvPr/>
        </p:nvPicPr>
        <p:blipFill>
          <a:blip r:embed="rId3">
            <a:alphaModFix/>
          </a:blip>
          <a:stretch>
            <a:fillRect/>
          </a:stretch>
        </p:blipFill>
        <p:spPr>
          <a:xfrm>
            <a:off x="3686275" y="2070400"/>
            <a:ext cx="3852000" cy="898800"/>
          </a:xfrm>
          <a:prstGeom prst="rect">
            <a:avLst/>
          </a:prstGeom>
          <a:noFill/>
          <a:ln>
            <a:noFill/>
          </a:ln>
        </p:spPr>
      </p:pic>
      <p:cxnSp>
        <p:nvCxnSpPr>
          <p:cNvPr id="338" name="Google Shape;338;p50"/>
          <p:cNvCxnSpPr/>
          <p:nvPr/>
        </p:nvCxnSpPr>
        <p:spPr>
          <a:xfrm>
            <a:off x="2675550" y="2400463"/>
            <a:ext cx="870000" cy="0"/>
          </a:xfrm>
          <a:prstGeom prst="straightConnector1">
            <a:avLst/>
          </a:prstGeom>
          <a:noFill/>
          <a:ln cap="flat" cmpd="sng" w="38100">
            <a:solidFill>
              <a:schemeClr val="dk2"/>
            </a:solidFill>
            <a:prstDash val="solid"/>
            <a:round/>
            <a:headEnd len="med" w="med" type="none"/>
            <a:tailEnd len="med" w="med" type="triangle"/>
          </a:ln>
        </p:spPr>
      </p:cxnSp>
      <p:pic>
        <p:nvPicPr>
          <p:cNvPr id="339" name="Google Shape;339;p50"/>
          <p:cNvPicPr preferRelativeResize="0"/>
          <p:nvPr/>
        </p:nvPicPr>
        <p:blipFill>
          <a:blip r:embed="rId4">
            <a:alphaModFix/>
          </a:blip>
          <a:stretch>
            <a:fillRect/>
          </a:stretch>
        </p:blipFill>
        <p:spPr>
          <a:xfrm>
            <a:off x="311700" y="3432725"/>
            <a:ext cx="3852000" cy="1141333"/>
          </a:xfrm>
          <a:prstGeom prst="rect">
            <a:avLst/>
          </a:prstGeom>
          <a:noFill/>
          <a:ln>
            <a:noFill/>
          </a:ln>
        </p:spPr>
      </p:pic>
      <p:cxnSp>
        <p:nvCxnSpPr>
          <p:cNvPr id="340" name="Google Shape;340;p50"/>
          <p:cNvCxnSpPr/>
          <p:nvPr/>
        </p:nvCxnSpPr>
        <p:spPr>
          <a:xfrm>
            <a:off x="4239900" y="4003375"/>
            <a:ext cx="870000" cy="0"/>
          </a:xfrm>
          <a:prstGeom prst="straightConnector1">
            <a:avLst/>
          </a:prstGeom>
          <a:noFill/>
          <a:ln cap="flat" cmpd="sng" w="38100">
            <a:solidFill>
              <a:schemeClr val="dk2"/>
            </a:solidFill>
            <a:prstDash val="solid"/>
            <a:round/>
            <a:headEnd len="med" w="med" type="none"/>
            <a:tailEnd len="med" w="med" type="triangle"/>
          </a:ln>
        </p:spPr>
      </p:cxnSp>
      <p:pic>
        <p:nvPicPr>
          <p:cNvPr id="341" name="Google Shape;341;p50"/>
          <p:cNvPicPr preferRelativeResize="0"/>
          <p:nvPr/>
        </p:nvPicPr>
        <p:blipFill>
          <a:blip r:embed="rId5">
            <a:alphaModFix/>
          </a:blip>
          <a:stretch>
            <a:fillRect/>
          </a:stretch>
        </p:blipFill>
        <p:spPr>
          <a:xfrm>
            <a:off x="5229300" y="3412825"/>
            <a:ext cx="2762250" cy="1181100"/>
          </a:xfrm>
          <a:prstGeom prst="rect">
            <a:avLst/>
          </a:prstGeom>
          <a:noFill/>
          <a:ln>
            <a:noFill/>
          </a:ln>
        </p:spPr>
      </p:pic>
      <p:grpSp>
        <p:nvGrpSpPr>
          <p:cNvPr id="342" name="Google Shape;342;p50"/>
          <p:cNvGrpSpPr/>
          <p:nvPr/>
        </p:nvGrpSpPr>
        <p:grpSpPr>
          <a:xfrm>
            <a:off x="311700" y="2183775"/>
            <a:ext cx="2180675" cy="705470"/>
            <a:chOff x="311700" y="2183775"/>
            <a:chExt cx="2180675" cy="705470"/>
          </a:xfrm>
        </p:grpSpPr>
        <p:pic>
          <p:nvPicPr>
            <p:cNvPr id="343" name="Google Shape;343;p50"/>
            <p:cNvPicPr preferRelativeResize="0"/>
            <p:nvPr/>
          </p:nvPicPr>
          <p:blipFill>
            <a:blip r:embed="rId6">
              <a:alphaModFix/>
            </a:blip>
            <a:stretch>
              <a:fillRect/>
            </a:stretch>
          </p:blipFill>
          <p:spPr>
            <a:xfrm>
              <a:off x="311700" y="2183775"/>
              <a:ext cx="2180675" cy="433375"/>
            </a:xfrm>
            <a:prstGeom prst="rect">
              <a:avLst/>
            </a:prstGeom>
            <a:noFill/>
            <a:ln>
              <a:noFill/>
            </a:ln>
          </p:spPr>
        </p:pic>
        <p:pic>
          <p:nvPicPr>
            <p:cNvPr id="344" name="Google Shape;344;p50"/>
            <p:cNvPicPr preferRelativeResize="0"/>
            <p:nvPr/>
          </p:nvPicPr>
          <p:blipFill>
            <a:blip r:embed="rId7">
              <a:alphaModFix/>
            </a:blip>
            <a:stretch>
              <a:fillRect/>
            </a:stretch>
          </p:blipFill>
          <p:spPr>
            <a:xfrm>
              <a:off x="1145000" y="2613870"/>
              <a:ext cx="514075" cy="27537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Vertex Cover</a:t>
            </a:r>
            <a:endParaRPr/>
          </a:p>
        </p:txBody>
      </p:sp>
      <p:pic>
        <p:nvPicPr>
          <p:cNvPr id="350" name="Google Shape;350;p51"/>
          <p:cNvPicPr preferRelativeResize="0"/>
          <p:nvPr/>
        </p:nvPicPr>
        <p:blipFill>
          <a:blip r:embed="rId3">
            <a:alphaModFix/>
          </a:blip>
          <a:stretch>
            <a:fillRect/>
          </a:stretch>
        </p:blipFill>
        <p:spPr>
          <a:xfrm>
            <a:off x="2428875" y="1210625"/>
            <a:ext cx="4286250" cy="37528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Algoritmo por Pricing Method</a:t>
            </a:r>
            <a:endParaRPr/>
          </a:p>
        </p:txBody>
      </p:sp>
      <p:sp>
        <p:nvSpPr>
          <p:cNvPr id="356" name="Google Shape;356;p52"/>
          <p:cNvSpPr txBox="1"/>
          <p:nvPr>
            <p:ph idx="1" type="body"/>
          </p:nvPr>
        </p:nvSpPr>
        <p:spPr>
          <a:xfrm>
            <a:off x="311700" y="1171600"/>
            <a:ext cx="8520600" cy="235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Buscamos un algoritmo que busque la aproximación y también fije los precios</a:t>
            </a:r>
            <a:endParaRPr/>
          </a:p>
          <a:p>
            <a:pPr indent="0" lvl="0" marL="0" rtl="0" algn="l">
              <a:spcBef>
                <a:spcPts val="1600"/>
              </a:spcBef>
              <a:spcAft>
                <a:spcPts val="0"/>
              </a:spcAft>
              <a:buNone/>
            </a:pPr>
            <a:r>
              <a:rPr lang="es"/>
              <a:t>La forma de asignar precios es Greedy</a:t>
            </a:r>
            <a:endParaRPr/>
          </a:p>
          <a:p>
            <a:pPr indent="0" lvl="0" marL="0" rtl="0" algn="l">
              <a:spcBef>
                <a:spcPts val="1600"/>
              </a:spcBef>
              <a:spcAft>
                <a:spcPts val="0"/>
              </a:spcAft>
              <a:buNone/>
            </a:pPr>
            <a:r>
              <a:rPr lang="es"/>
              <a:t>Usa los precios para seleccionar el Vertex Cover</a:t>
            </a:r>
            <a:endParaRPr/>
          </a:p>
          <a:p>
            <a:pPr indent="0" lvl="0" marL="0" rtl="0" algn="l">
              <a:spcBef>
                <a:spcPts val="1600"/>
              </a:spcBef>
              <a:spcAft>
                <a:spcPts val="1600"/>
              </a:spcAft>
              <a:buNone/>
            </a:pPr>
            <a:r>
              <a:rPr lang="es"/>
              <a:t>Un Vértice está </a:t>
            </a:r>
            <a:r>
              <a:rPr i="1" lang="es"/>
              <a:t>pago</a:t>
            </a:r>
            <a:r>
              <a:rPr lang="es"/>
              <a:t>, es decir, ya se alcanzó la sumatoria del peso a través de los costos de sus aristas incidentes, si </a:t>
            </a:r>
            <a:endParaRPr/>
          </a:p>
        </p:txBody>
      </p:sp>
      <p:pic>
        <p:nvPicPr>
          <p:cNvPr id="357" name="Google Shape;357;p52"/>
          <p:cNvPicPr preferRelativeResize="0"/>
          <p:nvPr/>
        </p:nvPicPr>
        <p:blipFill>
          <a:blip r:embed="rId3">
            <a:alphaModFix/>
          </a:blip>
          <a:stretch>
            <a:fillRect/>
          </a:stretch>
        </p:blipFill>
        <p:spPr>
          <a:xfrm>
            <a:off x="4001875" y="3190575"/>
            <a:ext cx="3190875" cy="60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Vertex Cover: Algoritmo por Pricing Method</a:t>
            </a:r>
            <a:endParaRPr/>
          </a:p>
        </p:txBody>
      </p:sp>
      <p:sp>
        <p:nvSpPr>
          <p:cNvPr id="363" name="Google Shape;363;p5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asignar todos los precios en 0</a:t>
            </a:r>
            <a:endParaRPr/>
          </a:p>
          <a:p>
            <a:pPr indent="-342900" lvl="0" marL="457200" rtl="0" algn="l">
              <a:spcBef>
                <a:spcPts val="0"/>
              </a:spcBef>
              <a:spcAft>
                <a:spcPts val="0"/>
              </a:spcAft>
              <a:buSzPts val="1800"/>
              <a:buChar char="-"/>
            </a:pPr>
            <a:r>
              <a:rPr lang="es"/>
              <a:t>Mientras haya una arista uniendo dos vértices que no estén “</a:t>
            </a:r>
            <a:r>
              <a:rPr i="1" lang="es"/>
              <a:t>pagos</a:t>
            </a:r>
            <a:r>
              <a:rPr lang="es"/>
              <a:t>”</a:t>
            </a:r>
            <a:endParaRPr/>
          </a:p>
          <a:p>
            <a:pPr indent="-330200" lvl="1" marL="914400" rtl="0" algn="l">
              <a:spcBef>
                <a:spcPts val="0"/>
              </a:spcBef>
              <a:spcAft>
                <a:spcPts val="0"/>
              </a:spcAft>
              <a:buSzPts val="1600"/>
              <a:buChar char="-"/>
            </a:pPr>
            <a:r>
              <a:rPr lang="es" sz="1600"/>
              <a:t>seleccionar esa arista</a:t>
            </a:r>
            <a:endParaRPr sz="1600"/>
          </a:p>
          <a:p>
            <a:pPr indent="-330200" lvl="1" marL="914400" rtl="0" algn="l">
              <a:spcBef>
                <a:spcPts val="0"/>
              </a:spcBef>
              <a:spcAft>
                <a:spcPts val="0"/>
              </a:spcAft>
              <a:buSzPts val="1600"/>
              <a:buChar char="-"/>
            </a:pPr>
            <a:r>
              <a:rPr lang="es" sz="1600"/>
              <a:t>incrementar el precio de esa arista dentro de un precio acorde, no excesivo</a:t>
            </a:r>
            <a:endParaRPr sz="1600"/>
          </a:p>
          <a:p>
            <a:pPr indent="-342900" lvl="0" marL="457200" rtl="0" algn="l">
              <a:spcBef>
                <a:spcPts val="0"/>
              </a:spcBef>
              <a:spcAft>
                <a:spcPts val="0"/>
              </a:spcAft>
              <a:buSzPts val="1800"/>
              <a:buChar char="-"/>
            </a:pPr>
            <a:r>
              <a:rPr lang="es"/>
              <a:t>La solución S será el set de todos los vértices “</a:t>
            </a:r>
            <a:r>
              <a:rPr i="1" lang="es"/>
              <a:t>pagos</a:t>
            </a:r>
            <a:r>
              <a:rPr lang="es"/>
              <a:t>”</a:t>
            </a:r>
            <a:endParaRPr/>
          </a:p>
          <a:p>
            <a:pPr indent="0" lvl="0" marL="0" rtl="0" algn="l">
              <a:spcBef>
                <a:spcPts val="1600"/>
              </a:spcBef>
              <a:spcAft>
                <a:spcPts val="1600"/>
              </a:spcAft>
              <a:buNone/>
            </a:pPr>
            <a:r>
              <a:rPr lang="es"/>
              <a:t>Lo primero que podemos ver es que el Algoritmo encuentra un Vertex Cover válido, ya que no deja de iterar hasta que cada arista tenga al menos uno de sus extremos completamente </a:t>
            </a:r>
            <a:r>
              <a:rPr i="1" lang="es"/>
              <a:t>pago</a:t>
            </a:r>
            <a:r>
              <a:rPr lang="es"/>
              <a:t>. Todos esos vértices pagos serán parte de la solución, y por lo tanto cubre a todas las aristas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Ejemplo de seguimiento</a:t>
            </a:r>
            <a:endParaRPr/>
          </a:p>
        </p:txBody>
      </p:sp>
      <p:pic>
        <p:nvPicPr>
          <p:cNvPr id="369" name="Google Shape;369;p54"/>
          <p:cNvPicPr preferRelativeResize="0"/>
          <p:nvPr/>
        </p:nvPicPr>
        <p:blipFill>
          <a:blip r:embed="rId3">
            <a:alphaModFix/>
          </a:blip>
          <a:stretch>
            <a:fillRect/>
          </a:stretch>
        </p:blipFill>
        <p:spPr>
          <a:xfrm>
            <a:off x="152400" y="1134425"/>
            <a:ext cx="2078975" cy="1605625"/>
          </a:xfrm>
          <a:prstGeom prst="rect">
            <a:avLst/>
          </a:prstGeom>
          <a:noFill/>
          <a:ln>
            <a:noFill/>
          </a:ln>
        </p:spPr>
      </p:pic>
      <p:pic>
        <p:nvPicPr>
          <p:cNvPr id="370" name="Google Shape;370;p54"/>
          <p:cNvPicPr preferRelativeResize="0"/>
          <p:nvPr/>
        </p:nvPicPr>
        <p:blipFill>
          <a:blip r:embed="rId4">
            <a:alphaModFix/>
          </a:blip>
          <a:stretch>
            <a:fillRect/>
          </a:stretch>
        </p:blipFill>
        <p:spPr>
          <a:xfrm>
            <a:off x="3069575" y="1134425"/>
            <a:ext cx="2078976" cy="1636299"/>
          </a:xfrm>
          <a:prstGeom prst="rect">
            <a:avLst/>
          </a:prstGeom>
          <a:noFill/>
          <a:ln>
            <a:noFill/>
          </a:ln>
        </p:spPr>
      </p:pic>
      <p:pic>
        <p:nvPicPr>
          <p:cNvPr id="371" name="Google Shape;371;p54"/>
          <p:cNvPicPr preferRelativeResize="0"/>
          <p:nvPr/>
        </p:nvPicPr>
        <p:blipFill>
          <a:blip r:embed="rId5">
            <a:alphaModFix/>
          </a:blip>
          <a:stretch>
            <a:fillRect/>
          </a:stretch>
        </p:blipFill>
        <p:spPr>
          <a:xfrm>
            <a:off x="6062950" y="1134425"/>
            <a:ext cx="2078975" cy="1567871"/>
          </a:xfrm>
          <a:prstGeom prst="rect">
            <a:avLst/>
          </a:prstGeom>
          <a:noFill/>
          <a:ln>
            <a:noFill/>
          </a:ln>
        </p:spPr>
      </p:pic>
      <p:pic>
        <p:nvPicPr>
          <p:cNvPr id="372" name="Google Shape;372;p54"/>
          <p:cNvPicPr preferRelativeResize="0"/>
          <p:nvPr/>
        </p:nvPicPr>
        <p:blipFill>
          <a:blip r:embed="rId6">
            <a:alphaModFix/>
          </a:blip>
          <a:stretch>
            <a:fillRect/>
          </a:stretch>
        </p:blipFill>
        <p:spPr>
          <a:xfrm>
            <a:off x="2675076" y="2941771"/>
            <a:ext cx="3032661" cy="20602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Puede encontrar el óptimo</a:t>
            </a:r>
            <a:endParaRPr/>
          </a:p>
        </p:txBody>
      </p:sp>
      <p:pic>
        <p:nvPicPr>
          <p:cNvPr id="378" name="Google Shape;378;p55"/>
          <p:cNvPicPr preferRelativeResize="0"/>
          <p:nvPr/>
        </p:nvPicPr>
        <p:blipFill>
          <a:blip r:embed="rId3">
            <a:alphaModFix/>
          </a:blip>
          <a:stretch>
            <a:fillRect/>
          </a:stretch>
        </p:blipFill>
        <p:spPr>
          <a:xfrm>
            <a:off x="1981200" y="1134425"/>
            <a:ext cx="4960650" cy="3831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a:p>
        </p:txBody>
      </p:sp>
      <p:pic>
        <p:nvPicPr>
          <p:cNvPr id="384" name="Google Shape;384;p56"/>
          <p:cNvPicPr preferRelativeResize="0"/>
          <p:nvPr/>
        </p:nvPicPr>
        <p:blipFill>
          <a:blip r:embed="rId3">
            <a:alphaModFix/>
          </a:blip>
          <a:stretch>
            <a:fillRect/>
          </a:stretch>
        </p:blipFill>
        <p:spPr>
          <a:xfrm>
            <a:off x="311712" y="1058229"/>
            <a:ext cx="5529925" cy="3756700"/>
          </a:xfrm>
          <a:prstGeom prst="rect">
            <a:avLst/>
          </a:prstGeom>
          <a:noFill/>
          <a:ln>
            <a:noFill/>
          </a:ln>
        </p:spPr>
      </p:pic>
      <p:sp>
        <p:nvSpPr>
          <p:cNvPr id="385" name="Google Shape;385;p56"/>
          <p:cNvSpPr txBox="1"/>
          <p:nvPr>
            <p:ph idx="1" type="body"/>
          </p:nvPr>
        </p:nvSpPr>
        <p:spPr>
          <a:xfrm>
            <a:off x="5885125" y="1058225"/>
            <a:ext cx="3258900" cy="375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suma total de los pagos: 6</a:t>
            </a:r>
            <a:endParaRPr/>
          </a:p>
          <a:p>
            <a:pPr indent="0" lvl="0" marL="0" rtl="0" algn="l">
              <a:spcBef>
                <a:spcPts val="1600"/>
              </a:spcBef>
              <a:spcAft>
                <a:spcPts val="0"/>
              </a:spcAft>
              <a:buClr>
                <a:schemeClr val="dk1"/>
              </a:buClr>
              <a:buSzPts val="1100"/>
              <a:buFont typeface="Arial"/>
              <a:buNone/>
            </a:pPr>
            <a:r>
              <a:rPr lang="es"/>
              <a:t>El peso total de la solución: 10</a:t>
            </a:r>
            <a:endParaRPr/>
          </a:p>
          <a:p>
            <a:pPr indent="0" lvl="0" marL="0" rtl="0" algn="l">
              <a:spcBef>
                <a:spcPts val="1600"/>
              </a:spcBef>
              <a:spcAft>
                <a:spcPts val="0"/>
              </a:spcAft>
              <a:buClr>
                <a:schemeClr val="dk1"/>
              </a:buClr>
              <a:buSzPts val="1100"/>
              <a:buFont typeface="Arial"/>
              <a:buNone/>
            </a:pPr>
            <a:r>
              <a:rPr lang="es"/>
              <a:t>¿Por qué no coinciden?</a:t>
            </a:r>
            <a:endParaRPr/>
          </a:p>
          <a:p>
            <a:pPr indent="0" lvl="0" marL="0" rtl="0" algn="l">
              <a:spcBef>
                <a:spcPts val="1600"/>
              </a:spcBef>
              <a:spcAft>
                <a:spcPts val="0"/>
              </a:spcAft>
              <a:buNone/>
            </a:pPr>
            <a:r>
              <a:rPr lang="es"/>
              <a:t>(</a:t>
            </a:r>
            <a:r>
              <a:rPr lang="es"/>
              <a:t>a</a:t>
            </a:r>
            <a:r>
              <a:rPr lang="es"/>
              <a:t>,</a:t>
            </a:r>
            <a:r>
              <a:rPr lang="es"/>
              <a:t>b</a:t>
            </a:r>
            <a:r>
              <a:rPr lang="es"/>
              <a:t>) y (a,d) aportan para pagar dos vértices</a:t>
            </a:r>
            <a:endParaRPr/>
          </a:p>
          <a:p>
            <a:pPr indent="0" lvl="0" marL="0" rtl="0" algn="l">
              <a:spcBef>
                <a:spcPts val="1600"/>
              </a:spcBef>
              <a:spcAft>
                <a:spcPts val="0"/>
              </a:spcAft>
              <a:buNone/>
            </a:pPr>
            <a:r>
              <a:rPr lang="es"/>
              <a:t>(a,b) paga a y b, faltaba ese 3</a:t>
            </a:r>
            <a:br>
              <a:rPr lang="es"/>
            </a:br>
            <a:r>
              <a:rPr lang="es"/>
              <a:t>(a,d) paga a y d, faltaba ese 1</a:t>
            </a:r>
            <a:endParaRPr/>
          </a:p>
          <a:p>
            <a:pPr indent="0" lvl="0" marL="0" rtl="0" algn="l">
              <a:spcBef>
                <a:spcPts val="1600"/>
              </a:spcBef>
              <a:spcAft>
                <a:spcPts val="1600"/>
              </a:spcAft>
              <a:buClr>
                <a:schemeClr val="dk1"/>
              </a:buClr>
              <a:buSzPts val="1100"/>
              <a:buFont typeface="Arial"/>
              <a:buNone/>
            </a:pPr>
            <a:r>
              <a:rPr lang="es"/>
              <a:t>Ahora sí da la suma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700"/>
              <a:t>Demostración: cuánto nos aproximamos</a:t>
            </a:r>
            <a:endParaRPr/>
          </a:p>
        </p:txBody>
      </p:sp>
      <p:sp>
        <p:nvSpPr>
          <p:cNvPr id="391" name="Google Shape;391;p5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nuestro análisis económico postulamos que </a:t>
            </a:r>
            <a:r>
              <a:rPr lang="es" sz="1600"/>
              <a:t> las aristas son </a:t>
            </a:r>
            <a:r>
              <a:rPr i="1" lang="es" sz="1600"/>
              <a:t>agentes</a:t>
            </a:r>
            <a:r>
              <a:rPr lang="es" sz="1600"/>
              <a:t> de esta economía, debe haber algún tipo de idea que establezca qué precios son acordes (fairness).</a:t>
            </a:r>
            <a:endParaRPr sz="1600"/>
          </a:p>
          <a:p>
            <a:pPr indent="0" lvl="0" marL="0" rtl="0" algn="l">
              <a:spcBef>
                <a:spcPts val="1600"/>
              </a:spcBef>
              <a:spcAft>
                <a:spcPts val="0"/>
              </a:spcAft>
              <a:buNone/>
            </a:pPr>
            <a:r>
              <a:rPr lang="es" sz="1600"/>
              <a:t>No parece justo (“fair”) que una arista pague por ambos de sus vértices. Pero esta “unfairness” es acotada, como mucho a cada arista se le cobra dos veces.</a:t>
            </a:r>
            <a:endParaRPr sz="1600"/>
          </a:p>
          <a:p>
            <a:pPr indent="0" lvl="0" marL="0" rtl="0" algn="l">
              <a:spcBef>
                <a:spcPts val="1600"/>
              </a:spcBef>
              <a:spcAft>
                <a:spcPts val="1600"/>
              </a:spcAft>
              <a:buNone/>
            </a:pPr>
            <a:r>
              <a:rPr lang="es" sz="1600"/>
              <a:t>Esto nos permite poder ajustar los vértices y dejarlos pagos sin incurrir en costos de las aristas por encima de una cota, y en consecuencia, acotará también qué tan lejos está la solución de una solución óptima</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Demostración: cuánto nos aproximamos</a:t>
            </a:r>
            <a:endParaRPr/>
          </a:p>
        </p:txBody>
      </p:sp>
      <p:pic>
        <p:nvPicPr>
          <p:cNvPr id="397" name="Google Shape;397;p58"/>
          <p:cNvPicPr preferRelativeResize="0"/>
          <p:nvPr/>
        </p:nvPicPr>
        <p:blipFill>
          <a:blip r:embed="rId3">
            <a:alphaModFix/>
          </a:blip>
          <a:stretch>
            <a:fillRect/>
          </a:stretch>
        </p:blipFill>
        <p:spPr>
          <a:xfrm>
            <a:off x="152400" y="1210625"/>
            <a:ext cx="2828925" cy="657225"/>
          </a:xfrm>
          <a:prstGeom prst="rect">
            <a:avLst/>
          </a:prstGeom>
          <a:noFill/>
          <a:ln>
            <a:noFill/>
          </a:ln>
        </p:spPr>
      </p:pic>
      <p:pic>
        <p:nvPicPr>
          <p:cNvPr id="398" name="Google Shape;398;p58"/>
          <p:cNvPicPr preferRelativeResize="0"/>
          <p:nvPr/>
        </p:nvPicPr>
        <p:blipFill>
          <a:blip r:embed="rId4">
            <a:alphaModFix/>
          </a:blip>
          <a:stretch>
            <a:fillRect/>
          </a:stretch>
        </p:blipFill>
        <p:spPr>
          <a:xfrm>
            <a:off x="4572000" y="1134425"/>
            <a:ext cx="3593129" cy="809625"/>
          </a:xfrm>
          <a:prstGeom prst="rect">
            <a:avLst/>
          </a:prstGeom>
          <a:noFill/>
          <a:ln>
            <a:noFill/>
          </a:ln>
        </p:spPr>
      </p:pic>
      <p:cxnSp>
        <p:nvCxnSpPr>
          <p:cNvPr id="399" name="Google Shape;399;p58"/>
          <p:cNvCxnSpPr/>
          <p:nvPr/>
        </p:nvCxnSpPr>
        <p:spPr>
          <a:xfrm>
            <a:off x="3341663" y="1539225"/>
            <a:ext cx="870000" cy="0"/>
          </a:xfrm>
          <a:prstGeom prst="straightConnector1">
            <a:avLst/>
          </a:prstGeom>
          <a:noFill/>
          <a:ln cap="flat" cmpd="sng" w="38100">
            <a:solidFill>
              <a:schemeClr val="dk2"/>
            </a:solidFill>
            <a:prstDash val="solid"/>
            <a:round/>
            <a:headEnd len="med" w="med" type="none"/>
            <a:tailEnd len="med" w="med" type="triangle"/>
          </a:ln>
        </p:spPr>
      </p:cxnSp>
      <p:sp>
        <p:nvSpPr>
          <p:cNvPr id="400" name="Google Shape;400;p58"/>
          <p:cNvSpPr txBox="1"/>
          <p:nvPr>
            <p:ph idx="1" type="body"/>
          </p:nvPr>
        </p:nvSpPr>
        <p:spPr>
          <a:xfrm>
            <a:off x="3286175" y="2020250"/>
            <a:ext cx="5857800" cy="690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600"/>
              <a:t>Una arista puede quedar incluida en la sumatoria de la derecha como mucho dos veces, una vez por cada vértice que conecta</a:t>
            </a:r>
            <a:endParaRPr sz="1600"/>
          </a:p>
        </p:txBody>
      </p:sp>
      <p:pic>
        <p:nvPicPr>
          <p:cNvPr id="401" name="Google Shape;401;p58"/>
          <p:cNvPicPr preferRelativeResize="0"/>
          <p:nvPr/>
        </p:nvPicPr>
        <p:blipFill>
          <a:blip r:embed="rId5">
            <a:alphaModFix/>
          </a:blip>
          <a:stretch>
            <a:fillRect/>
          </a:stretch>
        </p:blipFill>
        <p:spPr>
          <a:xfrm>
            <a:off x="2362388" y="2710850"/>
            <a:ext cx="4419226" cy="914850"/>
          </a:xfrm>
          <a:prstGeom prst="rect">
            <a:avLst/>
          </a:prstGeom>
          <a:noFill/>
          <a:ln>
            <a:noFill/>
          </a:ln>
        </p:spPr>
      </p:pic>
      <p:sp>
        <p:nvSpPr>
          <p:cNvPr id="402" name="Google Shape;402;p58"/>
          <p:cNvSpPr txBox="1"/>
          <p:nvPr>
            <p:ph idx="1" type="body"/>
          </p:nvPr>
        </p:nvSpPr>
        <p:spPr>
          <a:xfrm>
            <a:off x="311700" y="3696650"/>
            <a:ext cx="8520600" cy="374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600"/>
              <a:t>Ya estamos en condiciones de comparar con la cota que determinamos sobre el óptimo</a:t>
            </a:r>
            <a:endParaRPr sz="1600"/>
          </a:p>
        </p:txBody>
      </p:sp>
      <p:pic>
        <p:nvPicPr>
          <p:cNvPr id="403" name="Google Shape;403;p58"/>
          <p:cNvPicPr preferRelativeResize="0"/>
          <p:nvPr/>
        </p:nvPicPr>
        <p:blipFill>
          <a:blip r:embed="rId6">
            <a:alphaModFix/>
          </a:blip>
          <a:stretch>
            <a:fillRect/>
          </a:stretch>
        </p:blipFill>
        <p:spPr>
          <a:xfrm>
            <a:off x="540297" y="4143150"/>
            <a:ext cx="1893478" cy="809625"/>
          </a:xfrm>
          <a:prstGeom prst="rect">
            <a:avLst/>
          </a:prstGeom>
          <a:noFill/>
          <a:ln>
            <a:noFill/>
          </a:ln>
        </p:spPr>
      </p:pic>
      <p:cxnSp>
        <p:nvCxnSpPr>
          <p:cNvPr id="404" name="Google Shape;404;p58"/>
          <p:cNvCxnSpPr/>
          <p:nvPr/>
        </p:nvCxnSpPr>
        <p:spPr>
          <a:xfrm>
            <a:off x="2819588" y="4547963"/>
            <a:ext cx="870000" cy="0"/>
          </a:xfrm>
          <a:prstGeom prst="straightConnector1">
            <a:avLst/>
          </a:prstGeom>
          <a:noFill/>
          <a:ln cap="flat" cmpd="sng" w="38100">
            <a:solidFill>
              <a:schemeClr val="dk2"/>
            </a:solidFill>
            <a:prstDash val="solid"/>
            <a:round/>
            <a:headEnd len="med" w="med" type="none"/>
            <a:tailEnd len="med" w="med" type="triangle"/>
          </a:ln>
        </p:spPr>
      </p:cxnSp>
      <p:pic>
        <p:nvPicPr>
          <p:cNvPr id="405" name="Google Shape;405;p58"/>
          <p:cNvPicPr preferRelativeResize="0"/>
          <p:nvPr/>
        </p:nvPicPr>
        <p:blipFill>
          <a:blip r:embed="rId7">
            <a:alphaModFix/>
          </a:blip>
          <a:stretch>
            <a:fillRect/>
          </a:stretch>
        </p:blipFill>
        <p:spPr>
          <a:xfrm>
            <a:off x="3941401" y="4090550"/>
            <a:ext cx="3318950" cy="914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Metodología 3: Programación Lineal</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Programación Lineal: Problema de Decisión</a:t>
            </a:r>
            <a:endParaRPr/>
          </a:p>
        </p:txBody>
      </p:sp>
      <p:sp>
        <p:nvSpPr>
          <p:cNvPr id="416" name="Google Shape;416;p60"/>
          <p:cNvSpPr txBox="1"/>
          <p:nvPr>
            <p:ph idx="1" type="body"/>
          </p:nvPr>
        </p:nvSpPr>
        <p:spPr>
          <a:xfrm>
            <a:off x="311700" y="1171600"/>
            <a:ext cx="8618100" cy="356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Como problema de decisión, podemos plantear decidir si los valores de x pueden satisfacer todas las inecuaciones definidas, y que el objetivo a minimizar sea menor a cierto valor</a:t>
            </a:r>
            <a:endParaRPr/>
          </a:p>
          <a:p>
            <a:pPr indent="0" lvl="0" marL="0" rtl="0" algn="l">
              <a:spcBef>
                <a:spcPts val="1600"/>
              </a:spcBef>
              <a:spcAft>
                <a:spcPts val="0"/>
              </a:spcAft>
              <a:buNone/>
            </a:pPr>
            <a:r>
              <a:rPr lang="es"/>
              <a:t>Buenas noticias: tenemos algoritmos para resolver este problema en tiempo polinomial</a:t>
            </a:r>
            <a:endParaRPr/>
          </a:p>
          <a:p>
            <a:pPr indent="0" lvl="0" marL="0" rtl="0" algn="l">
              <a:spcBef>
                <a:spcPts val="1600"/>
              </a:spcBef>
              <a:spcAft>
                <a:spcPts val="0"/>
              </a:spcAft>
              <a:buNone/>
            </a:pPr>
            <a:r>
              <a:rPr lang="es"/>
              <a:t>En particular, un algoritmo muy utilizado es el Método Simplex, que si bien puede tener comportamiento exponencial, sucede en muy raras ocasiones</a:t>
            </a:r>
            <a:endParaRPr/>
          </a:p>
          <a:p>
            <a:pPr indent="0" lvl="0" marL="0" rtl="0" algn="l">
              <a:spcBef>
                <a:spcPts val="1600"/>
              </a:spcBef>
              <a:spcAft>
                <a:spcPts val="1600"/>
              </a:spcAft>
              <a:buNone/>
            </a:pPr>
            <a:r>
              <a:rPr lang="es"/>
              <a:t>En la práctica se considera que los problemas de programación lineal se resuelven en tiempo polinomial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Programación Lineal</a:t>
            </a:r>
            <a:endParaRPr/>
          </a:p>
        </p:txBody>
      </p:sp>
      <p:sp>
        <p:nvSpPr>
          <p:cNvPr id="422" name="Google Shape;422;p61"/>
          <p:cNvSpPr txBox="1"/>
          <p:nvPr>
            <p:ph idx="1" type="body"/>
          </p:nvPr>
        </p:nvSpPr>
        <p:spPr>
          <a:xfrm>
            <a:off x="311700" y="1171600"/>
            <a:ext cx="8520600" cy="18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Dado un Grafo, un Vertex Cover es el mínimo Subset de los vértices, tal que se cubran todas las aristas, es decir, que cada arista tenga por lo menos uno de sus bordes en el Vertex Cover.</a:t>
            </a:r>
            <a:endParaRPr/>
          </a:p>
          <a:p>
            <a:pPr indent="0" lvl="0" marL="0" rtl="0" algn="l">
              <a:spcBef>
                <a:spcPts val="1600"/>
              </a:spcBef>
              <a:spcAft>
                <a:spcPts val="1600"/>
              </a:spcAft>
              <a:buNone/>
            </a:pPr>
            <a:r>
              <a:rPr lang="es"/>
              <a:t>El uso de cada Vértice V</a:t>
            </a:r>
            <a:r>
              <a:rPr b="1" baseline="-25000" lang="es"/>
              <a:t>i</a:t>
            </a:r>
            <a:r>
              <a:rPr lang="es"/>
              <a:t> tiene un costo w</a:t>
            </a:r>
            <a:r>
              <a:rPr b="1" baseline="-25000" lang="es"/>
              <a:t>i</a:t>
            </a:r>
            <a:r>
              <a:rPr lang="es"/>
              <a:t>. Queremos minimizar:</a:t>
            </a:r>
            <a:endParaRPr/>
          </a:p>
        </p:txBody>
      </p:sp>
      <p:pic>
        <p:nvPicPr>
          <p:cNvPr id="423" name="Google Shape;423;p61"/>
          <p:cNvPicPr preferRelativeResize="0"/>
          <p:nvPr/>
        </p:nvPicPr>
        <p:blipFill>
          <a:blip r:embed="rId3">
            <a:alphaModFix/>
          </a:blip>
          <a:stretch>
            <a:fillRect/>
          </a:stretch>
        </p:blipFill>
        <p:spPr>
          <a:xfrm>
            <a:off x="6939463" y="2300275"/>
            <a:ext cx="2028825" cy="542925"/>
          </a:xfrm>
          <a:prstGeom prst="rect">
            <a:avLst/>
          </a:prstGeom>
          <a:noFill/>
          <a:ln>
            <a:noFill/>
          </a:ln>
        </p:spPr>
      </p:pic>
      <p:sp>
        <p:nvSpPr>
          <p:cNvPr id="424" name="Google Shape;424;p61"/>
          <p:cNvSpPr txBox="1"/>
          <p:nvPr>
            <p:ph idx="1" type="body"/>
          </p:nvPr>
        </p:nvSpPr>
        <p:spPr>
          <a:xfrm>
            <a:off x="311700" y="2950500"/>
            <a:ext cx="8748600" cy="187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¿Será</a:t>
            </a:r>
            <a:r>
              <a:rPr lang="es"/>
              <a:t> que tenemos un conjunto de ecuaciones que </a:t>
            </a:r>
            <a:r>
              <a:rPr lang="es"/>
              <a:t>modelan</a:t>
            </a:r>
            <a:r>
              <a:rPr lang="es"/>
              <a:t> el problema?</a:t>
            </a:r>
            <a:endParaRPr/>
          </a:p>
          <a:p>
            <a:pPr indent="0" lvl="0" marL="0" rtl="0" algn="l">
              <a:spcBef>
                <a:spcPts val="1600"/>
              </a:spcBef>
              <a:spcAft>
                <a:spcPts val="1600"/>
              </a:spcAft>
              <a:buNone/>
            </a:pPr>
            <a:r>
              <a:rPr lang="es"/>
              <a:t>Tenemos</a:t>
            </a:r>
            <a:endParaRPr/>
          </a:p>
        </p:txBody>
      </p:sp>
      <p:pic>
        <p:nvPicPr>
          <p:cNvPr id="425" name="Google Shape;425;p61"/>
          <p:cNvPicPr preferRelativeResize="0"/>
          <p:nvPr/>
        </p:nvPicPr>
        <p:blipFill>
          <a:blip r:embed="rId4">
            <a:alphaModFix/>
          </a:blip>
          <a:stretch>
            <a:fillRect/>
          </a:stretch>
        </p:blipFill>
        <p:spPr>
          <a:xfrm>
            <a:off x="1567425" y="3393225"/>
            <a:ext cx="2885925" cy="1623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Vertex Cover: Programación Lineal</a:t>
            </a:r>
            <a:endParaRPr/>
          </a:p>
        </p:txBody>
      </p:sp>
      <p:sp>
        <p:nvSpPr>
          <p:cNvPr id="431" name="Google Shape;431;p6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t>Cada variable de nuestro problema representará un Vértice</a:t>
            </a:r>
            <a:endParaRPr sz="1600"/>
          </a:p>
          <a:p>
            <a:pPr indent="0" lvl="0" marL="0" rtl="0" algn="l">
              <a:spcBef>
                <a:spcPts val="1600"/>
              </a:spcBef>
              <a:spcAft>
                <a:spcPts val="0"/>
              </a:spcAft>
              <a:buNone/>
            </a:pPr>
            <a:r>
              <a:rPr lang="es" sz="1600"/>
              <a:t>Las ecuaciones representarán las aristas. Para una arista entre vértices </a:t>
            </a:r>
            <a:r>
              <a:rPr lang="es" sz="1600"/>
              <a:t>x</a:t>
            </a:r>
            <a:r>
              <a:rPr b="1" baseline="-25000" lang="es" sz="1600"/>
              <a:t>i</a:t>
            </a:r>
            <a:r>
              <a:rPr lang="es" sz="1600"/>
              <a:t> </a:t>
            </a:r>
            <a:r>
              <a:rPr lang="es" sz="1600"/>
              <a:t>y x</a:t>
            </a:r>
            <a:r>
              <a:rPr b="1" baseline="-25000" lang="es" sz="1600"/>
              <a:t>j</a:t>
            </a:r>
            <a:endParaRPr sz="1600"/>
          </a:p>
          <a:p>
            <a:pPr indent="0" lvl="0" marL="0" rtl="0" algn="l">
              <a:spcBef>
                <a:spcPts val="1600"/>
              </a:spcBef>
              <a:spcAft>
                <a:spcPts val="0"/>
              </a:spcAft>
              <a:buNone/>
            </a:pPr>
            <a:r>
              <a:rPr lang="es" sz="1600"/>
              <a:t>se necesita que al menos uno de los dos vértices se utilice en el Vertex Cover</a:t>
            </a:r>
            <a:endParaRPr sz="1600"/>
          </a:p>
          <a:p>
            <a:pPr indent="0" lvl="0" marL="0" rtl="0" algn="l">
              <a:spcBef>
                <a:spcPts val="1600"/>
              </a:spcBef>
              <a:spcAft>
                <a:spcPts val="0"/>
              </a:spcAft>
              <a:buNone/>
            </a:pPr>
            <a:r>
              <a:rPr lang="es" sz="1600"/>
              <a:t>Podemos decir que cada x</a:t>
            </a:r>
            <a:r>
              <a:rPr b="1" baseline="-25000" lang="es" sz="1600"/>
              <a:t>i</a:t>
            </a:r>
            <a:r>
              <a:rPr lang="es" sz="1600"/>
              <a:t> vale 1 si pertenece al Vertex Cover, 0 si no</a:t>
            </a:r>
            <a:endParaRPr sz="1600"/>
          </a:p>
          <a:p>
            <a:pPr indent="0" lvl="0" marL="0" rtl="0" algn="l">
              <a:spcBef>
                <a:spcPts val="1600"/>
              </a:spcBef>
              <a:spcAft>
                <a:spcPts val="1600"/>
              </a:spcAft>
              <a:buNone/>
            </a:pPr>
            <a:r>
              <a:rPr lang="es" sz="1600"/>
              <a:t>Las desigualdades entonces se conformarán como x</a:t>
            </a:r>
            <a:r>
              <a:rPr b="1" baseline="-25000" lang="es" sz="1600"/>
              <a:t>i</a:t>
            </a:r>
            <a:r>
              <a:rPr lang="es" sz="1600"/>
              <a:t> + x</a:t>
            </a:r>
            <a:r>
              <a:rPr b="1" baseline="-25000" lang="es" sz="1600"/>
              <a:t>j</a:t>
            </a:r>
            <a:r>
              <a:rPr lang="es" sz="1600"/>
              <a:t> ≥ 1 para cada arista (i, j)</a:t>
            </a:r>
            <a:endParaRPr sz="1600"/>
          </a:p>
        </p:txBody>
      </p:sp>
      <p:pic>
        <p:nvPicPr>
          <p:cNvPr id="432" name="Google Shape;432;p62"/>
          <p:cNvPicPr preferRelativeResize="0"/>
          <p:nvPr/>
        </p:nvPicPr>
        <p:blipFill>
          <a:blip r:embed="rId3">
            <a:alphaModFix/>
          </a:blip>
          <a:stretch>
            <a:fillRect/>
          </a:stretch>
        </p:blipFill>
        <p:spPr>
          <a:xfrm>
            <a:off x="3001988" y="3527600"/>
            <a:ext cx="3140025" cy="1478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Programación Lineal</a:t>
            </a:r>
            <a:endParaRPr/>
          </a:p>
        </p:txBody>
      </p:sp>
      <p:sp>
        <p:nvSpPr>
          <p:cNvPr id="438" name="Google Shape;438;p6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s"/>
              <a:t>Podemos decir que cada xi vale 1 si pertenece al Vertex Cover, 0 si no</a:t>
            </a:r>
            <a:endParaRPr/>
          </a:p>
          <a:p>
            <a:pPr indent="0" lvl="0" marL="0" rtl="0" algn="l">
              <a:spcBef>
                <a:spcPts val="1600"/>
              </a:spcBef>
              <a:spcAft>
                <a:spcPts val="1600"/>
              </a:spcAft>
              <a:buNone/>
            </a:pPr>
            <a:r>
              <a:rPr lang="es"/>
              <a:t>Esto no es Programación Lineal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Programación Entera</a:t>
            </a:r>
            <a:endParaRPr/>
          </a:p>
        </p:txBody>
      </p:sp>
      <p:sp>
        <p:nvSpPr>
          <p:cNvPr id="444" name="Google Shape;444;p64"/>
          <p:cNvSpPr txBox="1"/>
          <p:nvPr>
            <p:ph idx="1" type="body"/>
          </p:nvPr>
        </p:nvSpPr>
        <p:spPr>
          <a:xfrm>
            <a:off x="311700" y="1171600"/>
            <a:ext cx="8520600" cy="10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s"/>
              <a:t>Podemos decir que cada xi vale 1 si pertenece al Vertex Cover, 0 si no</a:t>
            </a:r>
            <a:endParaRPr/>
          </a:p>
          <a:p>
            <a:pPr indent="0" lvl="0" marL="0" rtl="0" algn="l">
              <a:spcBef>
                <a:spcPts val="1600"/>
              </a:spcBef>
              <a:spcAft>
                <a:spcPts val="1600"/>
              </a:spcAft>
              <a:buNone/>
            </a:pPr>
            <a:r>
              <a:rPr lang="es"/>
              <a:t>Esto no es Programación Lineal</a:t>
            </a:r>
            <a:endParaRPr/>
          </a:p>
        </p:txBody>
      </p:sp>
      <p:sp>
        <p:nvSpPr>
          <p:cNvPr id="445" name="Google Shape;445;p64"/>
          <p:cNvSpPr txBox="1"/>
          <p:nvPr>
            <p:ph idx="1" type="body"/>
          </p:nvPr>
        </p:nvSpPr>
        <p:spPr>
          <a:xfrm>
            <a:off x="300900" y="2194675"/>
            <a:ext cx="8520600" cy="208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Esto es Programación Entera</a:t>
            </a:r>
            <a:endParaRPr/>
          </a:p>
          <a:p>
            <a:pPr indent="0" lvl="0" marL="0" rtl="0" algn="l">
              <a:spcBef>
                <a:spcPts val="1600"/>
              </a:spcBef>
              <a:spcAft>
                <a:spcPts val="0"/>
              </a:spcAft>
              <a:buNone/>
            </a:pPr>
            <a:r>
              <a:rPr lang="es"/>
              <a:t>Se trata de un problema similar, donde las variables solamente pueden tomar valores enteros</a:t>
            </a:r>
            <a:endParaRPr/>
          </a:p>
          <a:p>
            <a:pPr indent="0" lvl="0" marL="0" rtl="0" algn="l">
              <a:spcBef>
                <a:spcPts val="1600"/>
              </a:spcBef>
              <a:spcAft>
                <a:spcPts val="1600"/>
              </a:spcAft>
              <a:buNone/>
            </a:pPr>
            <a:r>
              <a:rPr lang="es"/>
              <a:t>Y resulta que para este problema, no hemos encontrado soluciones en tiempo polinomial. Lo cual es razonable, ya que acabamos de hacer una reducción</a:t>
            </a:r>
            <a:endParaRPr/>
          </a:p>
        </p:txBody>
      </p:sp>
      <p:pic>
        <p:nvPicPr>
          <p:cNvPr id="446" name="Google Shape;446;p64"/>
          <p:cNvPicPr preferRelativeResize="0"/>
          <p:nvPr/>
        </p:nvPicPr>
        <p:blipFill>
          <a:blip r:embed="rId3">
            <a:alphaModFix/>
          </a:blip>
          <a:stretch>
            <a:fillRect/>
          </a:stretch>
        </p:blipFill>
        <p:spPr>
          <a:xfrm>
            <a:off x="1856100" y="4386775"/>
            <a:ext cx="5410200" cy="476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Programación Lineal</a:t>
            </a:r>
            <a:endParaRPr/>
          </a:p>
        </p:txBody>
      </p:sp>
      <p:sp>
        <p:nvSpPr>
          <p:cNvPr id="452" name="Google Shape;452;p65"/>
          <p:cNvSpPr txBox="1"/>
          <p:nvPr>
            <p:ph idx="1" type="body"/>
          </p:nvPr>
        </p:nvSpPr>
        <p:spPr>
          <a:xfrm>
            <a:off x="311700" y="1171600"/>
            <a:ext cx="8520600" cy="95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Ok, se complica si las variables solamente pueden valer 0 o 1</a:t>
            </a:r>
            <a:endParaRPr/>
          </a:p>
          <a:p>
            <a:pPr indent="0" lvl="0" marL="0" rtl="0" algn="l">
              <a:spcBef>
                <a:spcPts val="1600"/>
              </a:spcBef>
              <a:spcAft>
                <a:spcPts val="1600"/>
              </a:spcAft>
              <a:buNone/>
            </a:pPr>
            <a:r>
              <a:rPr lang="es"/>
              <a:t>Probemos entonces que puedan tomar cualquier valor entre 0 y 1. Volvemos a LP</a:t>
            </a:r>
            <a:endParaRPr/>
          </a:p>
        </p:txBody>
      </p:sp>
      <p:grpSp>
        <p:nvGrpSpPr>
          <p:cNvPr id="453" name="Google Shape;453;p65"/>
          <p:cNvGrpSpPr/>
          <p:nvPr/>
        </p:nvGrpSpPr>
        <p:grpSpPr>
          <a:xfrm>
            <a:off x="3001988" y="2130725"/>
            <a:ext cx="3140025" cy="1478950"/>
            <a:chOff x="3001988" y="2130725"/>
            <a:chExt cx="3140025" cy="1478950"/>
          </a:xfrm>
        </p:grpSpPr>
        <p:pic>
          <p:nvPicPr>
            <p:cNvPr id="454" name="Google Shape;454;p65"/>
            <p:cNvPicPr preferRelativeResize="0"/>
            <p:nvPr/>
          </p:nvPicPr>
          <p:blipFill>
            <a:blip r:embed="rId3">
              <a:alphaModFix/>
            </a:blip>
            <a:stretch>
              <a:fillRect/>
            </a:stretch>
          </p:blipFill>
          <p:spPr>
            <a:xfrm>
              <a:off x="3001988" y="2130725"/>
              <a:ext cx="3140025" cy="1478950"/>
            </a:xfrm>
            <a:prstGeom prst="rect">
              <a:avLst/>
            </a:prstGeom>
            <a:noFill/>
            <a:ln>
              <a:noFill/>
            </a:ln>
          </p:spPr>
        </p:pic>
        <p:pic>
          <p:nvPicPr>
            <p:cNvPr id="455" name="Google Shape;455;p65"/>
            <p:cNvPicPr preferRelativeResize="0"/>
            <p:nvPr/>
          </p:nvPicPr>
          <p:blipFill>
            <a:blip r:embed="rId4">
              <a:alphaModFix/>
            </a:blip>
            <a:stretch>
              <a:fillRect/>
            </a:stretch>
          </p:blipFill>
          <p:spPr>
            <a:xfrm>
              <a:off x="3784400" y="3339775"/>
              <a:ext cx="1025620" cy="269900"/>
            </a:xfrm>
            <a:prstGeom prst="rect">
              <a:avLst/>
            </a:prstGeom>
            <a:noFill/>
            <a:ln>
              <a:noFill/>
            </a:ln>
          </p:spPr>
        </p:pic>
      </p:grpSp>
      <p:sp>
        <p:nvSpPr>
          <p:cNvPr id="456" name="Google Shape;456;p65"/>
          <p:cNvSpPr txBox="1"/>
          <p:nvPr>
            <p:ph idx="1" type="body"/>
          </p:nvPr>
        </p:nvSpPr>
        <p:spPr>
          <a:xfrm>
            <a:off x="311700" y="3686200"/>
            <a:ext cx="8520600" cy="808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Esta metodología siempre encuentra un valor de la función objetivo mejor o igual a la solución óptima de Vertex Cover</a:t>
            </a:r>
            <a:endParaRPr/>
          </a:p>
        </p:txBody>
      </p:sp>
      <p:pic>
        <p:nvPicPr>
          <p:cNvPr id="457" name="Google Shape;457;p65"/>
          <p:cNvPicPr preferRelativeResize="0"/>
          <p:nvPr/>
        </p:nvPicPr>
        <p:blipFill>
          <a:blip r:embed="rId5">
            <a:alphaModFix/>
          </a:blip>
          <a:stretch>
            <a:fillRect/>
          </a:stretch>
        </p:blipFill>
        <p:spPr>
          <a:xfrm>
            <a:off x="4076062" y="4035513"/>
            <a:ext cx="1714500" cy="523875"/>
          </a:xfrm>
          <a:prstGeom prst="rect">
            <a:avLst/>
          </a:prstGeom>
          <a:noFill/>
          <a:ln>
            <a:noFill/>
          </a:ln>
        </p:spPr>
      </p:pic>
      <p:sp>
        <p:nvSpPr>
          <p:cNvPr id="458" name="Google Shape;458;p65"/>
          <p:cNvSpPr txBox="1"/>
          <p:nvPr>
            <p:ph idx="1" type="body"/>
          </p:nvPr>
        </p:nvSpPr>
        <p:spPr>
          <a:xfrm>
            <a:off x="311700" y="4494700"/>
            <a:ext cx="8520600" cy="41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Pero así como está no soluciona el Vertex Cover, ¿qué significa que x valga 0.3?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Vertex Cover: Programación Lineal</a:t>
            </a:r>
            <a:endParaRPr/>
          </a:p>
        </p:txBody>
      </p:sp>
      <p:sp>
        <p:nvSpPr>
          <p:cNvPr id="464" name="Google Shape;464;p66"/>
          <p:cNvSpPr txBox="1"/>
          <p:nvPr>
            <p:ph idx="1" type="body"/>
          </p:nvPr>
        </p:nvSpPr>
        <p:spPr>
          <a:xfrm>
            <a:off x="311700" y="1171600"/>
            <a:ext cx="8520600" cy="257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a:t>
            </a:r>
            <a:r>
              <a:rPr lang="es"/>
              <a:t> aprovechamos la solución por LP para obtener una solución válida?</a:t>
            </a:r>
            <a:endParaRPr/>
          </a:p>
          <a:p>
            <a:pPr indent="0" lvl="0" marL="0" rtl="0" algn="l">
              <a:spcBef>
                <a:spcPts val="1600"/>
              </a:spcBef>
              <a:spcAft>
                <a:spcPts val="0"/>
              </a:spcAft>
              <a:buNone/>
            </a:pPr>
            <a:r>
              <a:rPr lang="es"/>
              <a:t>Utilizar los valores de la solución. Hay valores que se traducen trivialmente</a:t>
            </a:r>
            <a:endParaRPr/>
          </a:p>
          <a:p>
            <a:pPr indent="0" lvl="0" marL="0" rtl="0" algn="l">
              <a:spcBef>
                <a:spcPts val="1600"/>
              </a:spcBef>
              <a:spcAft>
                <a:spcPts val="0"/>
              </a:spcAft>
              <a:buNone/>
            </a:pPr>
            <a:r>
              <a:rPr lang="es"/>
              <a:t>Siguiendo esa lógica, podemos Redondear</a:t>
            </a:r>
            <a:endParaRPr/>
          </a:p>
          <a:p>
            <a:pPr indent="0" lvl="0" marL="0" rtl="0" algn="l">
              <a:spcBef>
                <a:spcPts val="1600"/>
              </a:spcBef>
              <a:spcAft>
                <a:spcPts val="0"/>
              </a:spcAft>
              <a:buNone/>
            </a:pPr>
            <a:r>
              <a:rPr lang="es"/>
              <a:t>Consideramos parte de la solución todo Vértice con coeficiente mayor o igual a ½</a:t>
            </a:r>
            <a:endParaRPr/>
          </a:p>
          <a:p>
            <a:pPr indent="0" lvl="0" marL="0" rtl="0" algn="l">
              <a:spcBef>
                <a:spcPts val="1600"/>
              </a:spcBef>
              <a:spcAft>
                <a:spcPts val="1600"/>
              </a:spcAft>
              <a:buNone/>
            </a:pPr>
            <a:r>
              <a:rPr lang="es"/>
              <a:t>Vale como Vertex Cover?</a:t>
            </a:r>
            <a:endParaRPr/>
          </a:p>
        </p:txBody>
      </p:sp>
      <p:pic>
        <p:nvPicPr>
          <p:cNvPr id="465" name="Google Shape;465;p66"/>
          <p:cNvPicPr preferRelativeResize="0"/>
          <p:nvPr/>
        </p:nvPicPr>
        <p:blipFill>
          <a:blip r:embed="rId3">
            <a:alphaModFix/>
          </a:blip>
          <a:stretch>
            <a:fillRect/>
          </a:stretch>
        </p:blipFill>
        <p:spPr>
          <a:xfrm>
            <a:off x="2305500" y="3858375"/>
            <a:ext cx="1485900" cy="457200"/>
          </a:xfrm>
          <a:prstGeom prst="rect">
            <a:avLst/>
          </a:prstGeom>
          <a:noFill/>
          <a:ln>
            <a:noFill/>
          </a:ln>
        </p:spPr>
      </p:pic>
      <p:pic>
        <p:nvPicPr>
          <p:cNvPr id="466" name="Google Shape;466;p66"/>
          <p:cNvPicPr preferRelativeResize="0"/>
          <p:nvPr/>
        </p:nvPicPr>
        <p:blipFill>
          <a:blip r:embed="rId4">
            <a:alphaModFix/>
          </a:blip>
          <a:stretch>
            <a:fillRect/>
          </a:stretch>
        </p:blipFill>
        <p:spPr>
          <a:xfrm>
            <a:off x="4517650" y="3825413"/>
            <a:ext cx="903579" cy="52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700"/>
              <a:t>Demostración: cuánto nos aproximamos</a:t>
            </a:r>
            <a:endParaRPr/>
          </a:p>
        </p:txBody>
      </p:sp>
      <p:sp>
        <p:nvSpPr>
          <p:cNvPr id="472" name="Google Shape;472;p67"/>
          <p:cNvSpPr txBox="1"/>
          <p:nvPr>
            <p:ph idx="1" type="body"/>
          </p:nvPr>
        </p:nvSpPr>
        <p:spPr>
          <a:xfrm>
            <a:off x="311700" y="1171600"/>
            <a:ext cx="8520600" cy="822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Podemos relacionar el valor del Vertex Cover redondeado con el valor obtenido por Programación Lineal. LP paga </a:t>
            </a:r>
            <a:r>
              <a:rPr lang="es"/>
              <a:t>½ o</a:t>
            </a:r>
            <a:r>
              <a:rPr lang="es"/>
              <a:t> más por w</a:t>
            </a:r>
            <a:r>
              <a:rPr b="1" baseline="-25000" lang="es" sz="1600"/>
              <a:t>i</a:t>
            </a:r>
            <a:r>
              <a:rPr lang="es"/>
              <a:t>, la solución S paga w</a:t>
            </a:r>
            <a:r>
              <a:rPr b="1" baseline="-25000" lang="es" sz="1600"/>
              <a:t>i</a:t>
            </a:r>
            <a:endParaRPr/>
          </a:p>
        </p:txBody>
      </p:sp>
      <p:pic>
        <p:nvPicPr>
          <p:cNvPr id="473" name="Google Shape;473;p67"/>
          <p:cNvPicPr preferRelativeResize="0"/>
          <p:nvPr/>
        </p:nvPicPr>
        <p:blipFill>
          <a:blip r:embed="rId3">
            <a:alphaModFix/>
          </a:blip>
          <a:stretch>
            <a:fillRect/>
          </a:stretch>
        </p:blipFill>
        <p:spPr>
          <a:xfrm>
            <a:off x="1613800" y="1918225"/>
            <a:ext cx="5916392" cy="822600"/>
          </a:xfrm>
          <a:prstGeom prst="rect">
            <a:avLst/>
          </a:prstGeom>
          <a:noFill/>
          <a:ln>
            <a:noFill/>
          </a:ln>
        </p:spPr>
      </p:pic>
      <p:sp>
        <p:nvSpPr>
          <p:cNvPr id="474" name="Google Shape;474;p67"/>
          <p:cNvSpPr txBox="1"/>
          <p:nvPr>
            <p:ph idx="1" type="body"/>
          </p:nvPr>
        </p:nvSpPr>
        <p:spPr>
          <a:xfrm>
            <a:off x="311700" y="2771800"/>
            <a:ext cx="8832300" cy="429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Como mucho el doble. Y además teníamos acotada la solución LP respecto al óptimo</a:t>
            </a:r>
            <a:endParaRPr/>
          </a:p>
        </p:txBody>
      </p:sp>
      <p:sp>
        <p:nvSpPr>
          <p:cNvPr id="475" name="Google Shape;475;p67"/>
          <p:cNvSpPr txBox="1"/>
          <p:nvPr>
            <p:ph idx="1" type="body"/>
          </p:nvPr>
        </p:nvSpPr>
        <p:spPr>
          <a:xfrm>
            <a:off x="311700" y="3762400"/>
            <a:ext cx="8832300" cy="91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Nuevamente logramos una solución que es como mucho el doble del óptimo.</a:t>
            </a:r>
            <a:endParaRPr/>
          </a:p>
          <a:p>
            <a:pPr indent="0" lvl="0" marL="0" rtl="0" algn="l">
              <a:spcBef>
                <a:spcPts val="1600"/>
              </a:spcBef>
              <a:spcAft>
                <a:spcPts val="1600"/>
              </a:spcAft>
              <a:buNone/>
            </a:pPr>
            <a:r>
              <a:rPr lang="es"/>
              <a:t>Una 2-Aproximación</a:t>
            </a:r>
            <a:endParaRPr/>
          </a:p>
        </p:txBody>
      </p:sp>
      <p:pic>
        <p:nvPicPr>
          <p:cNvPr id="476" name="Google Shape;476;p67"/>
          <p:cNvPicPr preferRelativeResize="0"/>
          <p:nvPr/>
        </p:nvPicPr>
        <p:blipFill>
          <a:blip r:embed="rId4">
            <a:alphaModFix/>
          </a:blip>
          <a:stretch>
            <a:fillRect/>
          </a:stretch>
        </p:blipFill>
        <p:spPr>
          <a:xfrm>
            <a:off x="3714750" y="3277600"/>
            <a:ext cx="1714500" cy="523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Ejercicio: </a:t>
            </a:r>
            <a:r>
              <a:rPr lang="es"/>
              <a:t>Problema de Scheduling</a:t>
            </a:r>
            <a:endParaRPr/>
          </a:p>
        </p:txBody>
      </p:sp>
      <p:sp>
        <p:nvSpPr>
          <p:cNvPr id="482" name="Google Shape;482;p6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Tengo un aula/sala donde quiero dar charlas. Las charlas tienen horario de inicio y fin. Quiero utilizar el aula para dar la mayor cantidad de charlas. </a:t>
            </a:r>
            <a:endParaRPr/>
          </a:p>
          <a:p>
            <a:pPr indent="0" lvl="0" marL="0" rtl="0" algn="l">
              <a:spcBef>
                <a:spcPts val="1600"/>
              </a:spcBef>
              <a:spcAft>
                <a:spcPts val="0"/>
              </a:spcAft>
              <a:buNone/>
            </a:pPr>
            <a:r>
              <a:rPr lang="es"/>
              <a:t>En nuestros intentos de hacerlo Greedy, surgieron al menos dos soluciones</a:t>
            </a:r>
            <a:endParaRPr/>
          </a:p>
          <a:p>
            <a:pPr indent="-342900" lvl="0" marL="457200" rtl="0" algn="l">
              <a:spcBef>
                <a:spcPts val="1600"/>
              </a:spcBef>
              <a:spcAft>
                <a:spcPts val="0"/>
              </a:spcAft>
              <a:buSzPts val="1800"/>
              <a:buChar char="-"/>
            </a:pPr>
            <a:r>
              <a:rPr lang="es"/>
              <a:t>la óptima: ordenar por charlas que terminan antes, siempre seleccionar la que termina antes sin superponerse</a:t>
            </a:r>
            <a:endParaRPr/>
          </a:p>
          <a:p>
            <a:pPr indent="-342900" lvl="0" marL="457200" rtl="0" algn="l">
              <a:spcBef>
                <a:spcPts val="0"/>
              </a:spcBef>
              <a:spcAft>
                <a:spcPts val="0"/>
              </a:spcAft>
              <a:buSzPts val="1800"/>
              <a:buChar char="-"/>
            </a:pPr>
            <a:r>
              <a:rPr lang="es"/>
              <a:t>una no óptima: siempre seleccionar la charla más corta sin superponerse</a:t>
            </a:r>
            <a:endParaRPr/>
          </a:p>
          <a:p>
            <a:pPr indent="0" lvl="0" marL="0" rtl="0" algn="l">
              <a:spcBef>
                <a:spcPts val="1600"/>
              </a:spcBef>
              <a:spcAft>
                <a:spcPts val="1600"/>
              </a:spcAft>
              <a:buNone/>
            </a:pPr>
            <a:r>
              <a:rPr lang="es"/>
              <a:t>Podremos, con nuestro conocimiento de aproximaciones, determinar qué </a:t>
            </a:r>
            <a:r>
              <a:rPr lang="es"/>
              <a:t>tan</a:t>
            </a:r>
            <a:r>
              <a:rPr lang="es"/>
              <a:t> mala es esta solución, </a:t>
            </a:r>
            <a:r>
              <a:rPr lang="es"/>
              <a:t>¿cuánto</a:t>
            </a:r>
            <a:r>
              <a:rPr lang="es"/>
              <a:t> nos aproximamos?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de Scheduling: Aproximación</a:t>
            </a:r>
            <a:endParaRPr/>
          </a:p>
        </p:txBody>
      </p:sp>
      <p:sp>
        <p:nvSpPr>
          <p:cNvPr id="488" name="Google Shape;488;p69"/>
          <p:cNvSpPr txBox="1"/>
          <p:nvPr>
            <p:ph idx="1" type="body"/>
          </p:nvPr>
        </p:nvSpPr>
        <p:spPr>
          <a:xfrm>
            <a:off x="67425" y="1846725"/>
            <a:ext cx="9014700" cy="31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t>El problema de elegir el más corto: quizás hay otros dos más largos que van mejor </a:t>
            </a:r>
            <a:r>
              <a:rPr lang="es" sz="1400"/>
              <a:t>¿Habrá</a:t>
            </a:r>
            <a:r>
              <a:rPr lang="es" sz="1400"/>
              <a:t> una peor situación?</a:t>
            </a:r>
            <a:endParaRPr sz="1400"/>
          </a:p>
          <a:p>
            <a:pPr indent="0" lvl="0" marL="0" rtl="0" algn="l">
              <a:spcBef>
                <a:spcPts val="1600"/>
              </a:spcBef>
              <a:spcAft>
                <a:spcPts val="0"/>
              </a:spcAft>
              <a:buNone/>
            </a:pPr>
            <a:r>
              <a:rPr lang="es" sz="1400"/>
              <a:t>Cada intervalo seleccionado por ser más corto, puede bloquear otros de la solución óptima. </a:t>
            </a:r>
            <a:r>
              <a:rPr lang="es" sz="1400"/>
              <a:t>¿Cuántos</a:t>
            </a:r>
            <a:r>
              <a:rPr lang="es" sz="1400"/>
              <a:t>?</a:t>
            </a:r>
            <a:endParaRPr sz="1400"/>
          </a:p>
          <a:p>
            <a:pPr indent="0" lvl="0" marL="0" rtl="0" algn="l">
              <a:spcBef>
                <a:spcPts val="1600"/>
              </a:spcBef>
              <a:spcAft>
                <a:spcPts val="0"/>
              </a:spcAft>
              <a:buNone/>
            </a:pPr>
            <a:r>
              <a:rPr lang="es" sz="1400"/>
              <a:t>1. </a:t>
            </a:r>
            <a:r>
              <a:rPr lang="es" sz="1400"/>
              <a:t>Demostrar: un intervalo de la solución A choca como máximo con dos intervalos de la óptima O (contradicción)</a:t>
            </a:r>
            <a:endParaRPr sz="1400"/>
          </a:p>
          <a:p>
            <a:pPr indent="0" lvl="0" marL="0" rtl="0" algn="l">
              <a:spcBef>
                <a:spcPts val="1600"/>
              </a:spcBef>
              <a:spcAft>
                <a:spcPts val="0"/>
              </a:spcAft>
              <a:buNone/>
            </a:pPr>
            <a:r>
              <a:rPr lang="es" sz="1400"/>
              <a:t>2. Cada intervalo en O puede estar también en A, o choca con un intervalo en A</a:t>
            </a:r>
            <a:endParaRPr sz="1400"/>
          </a:p>
          <a:p>
            <a:pPr indent="0" lvl="0" marL="0" rtl="0" algn="l">
              <a:spcBef>
                <a:spcPts val="1600"/>
              </a:spcBef>
              <a:spcAft>
                <a:spcPts val="0"/>
              </a:spcAft>
              <a:buNone/>
            </a:pPr>
            <a:r>
              <a:rPr lang="es" sz="1400"/>
              <a:t>Contemos todos los intervalos de O según su relación con A.</a:t>
            </a:r>
            <a:endParaRPr sz="1400"/>
          </a:p>
          <a:p>
            <a:pPr indent="-317500" lvl="0" marL="457200" rtl="0" algn="l">
              <a:spcBef>
                <a:spcPts val="1600"/>
              </a:spcBef>
              <a:spcAft>
                <a:spcPts val="0"/>
              </a:spcAft>
              <a:buSzPts val="1400"/>
              <a:buChar char="-"/>
            </a:pPr>
            <a:r>
              <a:rPr lang="es" sz="1400"/>
              <a:t>el intervalo </a:t>
            </a:r>
            <a:r>
              <a:rPr lang="es" sz="1400"/>
              <a:t>está</a:t>
            </a:r>
            <a:r>
              <a:rPr lang="es" sz="1400"/>
              <a:t> también en A, queda contabilizado</a:t>
            </a:r>
            <a:endParaRPr sz="1400"/>
          </a:p>
          <a:p>
            <a:pPr indent="-317500" lvl="0" marL="457200" rtl="0" algn="l">
              <a:spcBef>
                <a:spcPts val="0"/>
              </a:spcBef>
              <a:spcAft>
                <a:spcPts val="0"/>
              </a:spcAft>
              <a:buSzPts val="1400"/>
              <a:buChar char="-"/>
            </a:pPr>
            <a:r>
              <a:rPr lang="es" sz="1400"/>
              <a:t>A tiene otro intervalo corto que choca con 2, contamos esos 2</a:t>
            </a:r>
            <a:endParaRPr sz="1400"/>
          </a:p>
        </p:txBody>
      </p:sp>
      <p:pic>
        <p:nvPicPr>
          <p:cNvPr id="489" name="Google Shape;489;p69"/>
          <p:cNvPicPr preferRelativeResize="0"/>
          <p:nvPr/>
        </p:nvPicPr>
        <p:blipFill>
          <a:blip r:embed="rId3">
            <a:alphaModFix/>
          </a:blip>
          <a:stretch>
            <a:fillRect/>
          </a:stretch>
        </p:blipFill>
        <p:spPr>
          <a:xfrm>
            <a:off x="2199512" y="1058225"/>
            <a:ext cx="4744974" cy="846700"/>
          </a:xfrm>
          <a:prstGeom prst="rect">
            <a:avLst/>
          </a:prstGeom>
          <a:noFill/>
          <a:ln>
            <a:noFill/>
          </a:ln>
        </p:spPr>
      </p:pic>
      <p:cxnSp>
        <p:nvCxnSpPr>
          <p:cNvPr id="490" name="Google Shape;490;p69"/>
          <p:cNvCxnSpPr/>
          <p:nvPr/>
        </p:nvCxnSpPr>
        <p:spPr>
          <a:xfrm>
            <a:off x="5094263" y="4358625"/>
            <a:ext cx="870000" cy="0"/>
          </a:xfrm>
          <a:prstGeom prst="straightConnector1">
            <a:avLst/>
          </a:prstGeom>
          <a:noFill/>
          <a:ln cap="flat" cmpd="sng" w="38100">
            <a:solidFill>
              <a:schemeClr val="dk2"/>
            </a:solidFill>
            <a:prstDash val="solid"/>
            <a:round/>
            <a:headEnd len="med" w="med" type="none"/>
            <a:tailEnd len="med" w="med" type="triangle"/>
          </a:ln>
        </p:spPr>
      </p:cxnSp>
      <p:sp>
        <p:nvSpPr>
          <p:cNvPr id="491" name="Google Shape;491;p69"/>
          <p:cNvSpPr txBox="1"/>
          <p:nvPr>
            <p:ph idx="1" type="body"/>
          </p:nvPr>
        </p:nvSpPr>
        <p:spPr>
          <a:xfrm>
            <a:off x="6080700" y="3935325"/>
            <a:ext cx="3063300" cy="846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300"/>
              <a:t>En el peor de los casos, el conjunto A tiene la mitad de elementos que O, una 2-aproximación</a:t>
            </a:r>
            <a:endParaRPr sz="1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