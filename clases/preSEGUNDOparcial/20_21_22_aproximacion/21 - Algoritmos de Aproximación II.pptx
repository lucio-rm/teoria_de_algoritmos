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Proxima Nova"/>
      <p:regular r:id="rId37"/>
      <p:bold r:id="rId38"/>
      <p:italic r:id="rId39"/>
      <p:boldItalic r:id="rId40"/>
    </p:embeddedFont>
    <p:embeddedFont>
      <p:font typeface="Old Standard TT"/>
      <p:regular r:id="rId41"/>
      <p:bold r:id="rId42"/>
      <p: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roximaNova-boldItalic.fntdata"/><Relationship Id="rId20" Type="http://schemas.openxmlformats.org/officeDocument/2006/relationships/slide" Target="slides/slide15.xml"/><Relationship Id="rId42" Type="http://schemas.openxmlformats.org/officeDocument/2006/relationships/font" Target="fonts/OldStandardTT-bold.fntdata"/><Relationship Id="rId41" Type="http://schemas.openxmlformats.org/officeDocument/2006/relationships/font" Target="fonts/OldStandardTT-regular.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OldStandardTT-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ProximaNova-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ProximaNova-italic.fntdata"/><Relationship Id="rId16" Type="http://schemas.openxmlformats.org/officeDocument/2006/relationships/slide" Target="slides/slide11.xml"/><Relationship Id="rId38" Type="http://schemas.openxmlformats.org/officeDocument/2006/relationships/font" Target="fonts/ProximaNova-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47ddac291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247ddac291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4886d595b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4886d595b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4886d595be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4886d595be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4886d595be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4886d595be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4886d595be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4886d595be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4886d595be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4886d595be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4886d595be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4886d595be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4886d595be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4886d595be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4886d595be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4886d595be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4886d595be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4886d595be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0df7d9491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0df7d9491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0df7d9491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0df7d9491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4886d595be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4886d595be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4886d595be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4886d595be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4886d595be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4886d595be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4886d595be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4886d595be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4886d595be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4886d595be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469b7363ce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469b7363ce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469b7363ce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469b7363ce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0df7d9491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0df7d9491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47d216715d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47d216715d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47d216715d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47d216715d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4886d595be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4886d595be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4886d595be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4886d595be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47d216715d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247d216715d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4886d595be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24886d595be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9ec9f54699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9ec9f54699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4886d595be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24886d595be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4886d595be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4886d595be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4886d595be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4886d595be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4886d595be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4886d595be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rgbClr val="FFFFFF"/>
              </a:buClr>
              <a:buSzPts val="4200"/>
              <a:buFont typeface="Proxima Nova"/>
              <a:buNone/>
              <a:defRPr sz="4200">
                <a:solidFill>
                  <a:srgbClr val="FFFFFF"/>
                </a:solidFill>
                <a:latin typeface="Proxima Nova"/>
                <a:ea typeface="Proxima Nova"/>
                <a:cs typeface="Proxima Nova"/>
                <a:sym typeface="Proxima Nova"/>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2400"/>
              <a:buFont typeface="Proxima Nova"/>
              <a:buNone/>
              <a:defRPr sz="2400">
                <a:solidFill>
                  <a:schemeClr val="accent2"/>
                </a:solidFill>
                <a:latin typeface="Proxima Nova"/>
                <a:ea typeface="Proxima Nova"/>
                <a:cs typeface="Proxima Nova"/>
                <a:sym typeface="Proxima Nova"/>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Font typeface="Proxima Nova"/>
              <a:buChar char="●"/>
              <a:defRPr>
                <a:latin typeface="Proxima Nova"/>
                <a:ea typeface="Proxima Nova"/>
                <a:cs typeface="Proxima Nova"/>
                <a:sym typeface="Proxima Nova"/>
              </a:defRPr>
            </a:lvl1pPr>
            <a:lvl2pPr indent="-317500" lvl="1" marL="914400">
              <a:spcBef>
                <a:spcPts val="1600"/>
              </a:spcBef>
              <a:spcAft>
                <a:spcPts val="0"/>
              </a:spcAft>
              <a:buSzPts val="1400"/>
              <a:buFont typeface="Proxima Nova"/>
              <a:buChar char="○"/>
              <a:defRPr>
                <a:latin typeface="Proxima Nova"/>
                <a:ea typeface="Proxima Nova"/>
                <a:cs typeface="Proxima Nova"/>
                <a:sym typeface="Proxima Nova"/>
              </a:defRPr>
            </a:lvl2pPr>
            <a:lvl3pPr indent="-317500" lvl="2" marL="1371600">
              <a:spcBef>
                <a:spcPts val="1600"/>
              </a:spcBef>
              <a:spcAft>
                <a:spcPts val="0"/>
              </a:spcAft>
              <a:buSzPts val="1400"/>
              <a:buFont typeface="Proxima Nova"/>
              <a:buChar char="■"/>
              <a:defRPr>
                <a:latin typeface="Proxima Nova"/>
                <a:ea typeface="Proxima Nova"/>
                <a:cs typeface="Proxima Nova"/>
                <a:sym typeface="Proxima Nova"/>
              </a:defRPr>
            </a:lvl3pPr>
            <a:lvl4pPr indent="-317500" lvl="3" marL="1828800">
              <a:spcBef>
                <a:spcPts val="1600"/>
              </a:spcBef>
              <a:spcAft>
                <a:spcPts val="0"/>
              </a:spcAft>
              <a:buSzPts val="1400"/>
              <a:buFont typeface="Proxima Nova"/>
              <a:buChar char="●"/>
              <a:defRPr>
                <a:latin typeface="Proxima Nova"/>
                <a:ea typeface="Proxima Nova"/>
                <a:cs typeface="Proxima Nova"/>
                <a:sym typeface="Proxima Nova"/>
              </a:defRPr>
            </a:lvl4pPr>
            <a:lvl5pPr indent="-317500" lvl="4" marL="2286000">
              <a:spcBef>
                <a:spcPts val="1600"/>
              </a:spcBef>
              <a:spcAft>
                <a:spcPts val="0"/>
              </a:spcAft>
              <a:buSzPts val="1400"/>
              <a:buFont typeface="Proxima Nova"/>
              <a:buChar char="○"/>
              <a:defRPr>
                <a:latin typeface="Proxima Nova"/>
                <a:ea typeface="Proxima Nova"/>
                <a:cs typeface="Proxima Nova"/>
                <a:sym typeface="Proxima Nova"/>
              </a:defRPr>
            </a:lvl5pPr>
            <a:lvl6pPr indent="-317500" lvl="5" marL="2743200">
              <a:spcBef>
                <a:spcPts val="1600"/>
              </a:spcBef>
              <a:spcAft>
                <a:spcPts val="0"/>
              </a:spcAft>
              <a:buSzPts val="1400"/>
              <a:buFont typeface="Proxima Nova"/>
              <a:buChar char="■"/>
              <a:defRPr>
                <a:latin typeface="Proxima Nova"/>
                <a:ea typeface="Proxima Nova"/>
                <a:cs typeface="Proxima Nova"/>
                <a:sym typeface="Proxima Nova"/>
              </a:defRPr>
            </a:lvl6pPr>
            <a:lvl7pPr indent="-317500" lvl="6" marL="3200400">
              <a:spcBef>
                <a:spcPts val="1600"/>
              </a:spcBef>
              <a:spcAft>
                <a:spcPts val="0"/>
              </a:spcAft>
              <a:buSzPts val="1400"/>
              <a:buFont typeface="Proxima Nova"/>
              <a:buChar char="●"/>
              <a:defRPr>
                <a:latin typeface="Proxima Nova"/>
                <a:ea typeface="Proxima Nova"/>
                <a:cs typeface="Proxima Nova"/>
                <a:sym typeface="Proxima Nova"/>
              </a:defRPr>
            </a:lvl7pPr>
            <a:lvl8pPr indent="-317500" lvl="7" marL="3657600">
              <a:spcBef>
                <a:spcPts val="1600"/>
              </a:spcBef>
              <a:spcAft>
                <a:spcPts val="0"/>
              </a:spcAft>
              <a:buSzPts val="1400"/>
              <a:buFont typeface="Proxima Nova"/>
              <a:buChar char="○"/>
              <a:defRPr>
                <a:latin typeface="Proxima Nova"/>
                <a:ea typeface="Proxima Nova"/>
                <a:cs typeface="Proxima Nova"/>
                <a:sym typeface="Proxima Nova"/>
              </a:defRPr>
            </a:lvl8pPr>
            <a:lvl9pPr indent="-317500" lvl="8" marL="4114800">
              <a:spcBef>
                <a:spcPts val="1600"/>
              </a:spcBef>
              <a:spcAft>
                <a:spcPts val="1600"/>
              </a:spcAft>
              <a:buSzPts val="1400"/>
              <a:buFont typeface="Proxima Nova"/>
              <a:buChar char="■"/>
              <a:defRPr>
                <a:latin typeface="Proxima Nova"/>
                <a:ea typeface="Proxima Nova"/>
                <a:cs typeface="Proxima Nova"/>
                <a:sym typeface="Proxima Nova"/>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5400"/>
              <a:buFont typeface="Proxima Nova"/>
              <a:buNone/>
              <a:defRPr sz="5400">
                <a:solidFill>
                  <a:schemeClr val="accent1"/>
                </a:solidFill>
                <a:latin typeface="Proxima Nova"/>
                <a:ea typeface="Proxima Nova"/>
                <a:cs typeface="Proxima Nova"/>
                <a:sym typeface="Proxima Nova"/>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rgbClr val="EFEFE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8.png"/><Relationship Id="rId6" Type="http://schemas.openxmlformats.org/officeDocument/2006/relationships/image" Target="../media/image16.png"/><Relationship Id="rId7"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1.png"/><Relationship Id="rId4" Type="http://schemas.openxmlformats.org/officeDocument/2006/relationships/image" Target="../media/image16.png"/><Relationship Id="rId9" Type="http://schemas.openxmlformats.org/officeDocument/2006/relationships/image" Target="../media/image7.png"/><Relationship Id="rId5" Type="http://schemas.openxmlformats.org/officeDocument/2006/relationships/image" Target="../media/image12.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Algoritmos de Aproximación II</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Teoría de Algoritmos</a:t>
            </a:r>
            <a:endParaRPr/>
          </a:p>
        </p:txBody>
      </p:sp>
      <p:pic>
        <p:nvPicPr>
          <p:cNvPr id="61" name="Google Shape;61;p13"/>
          <p:cNvPicPr preferRelativeResize="0"/>
          <p:nvPr/>
        </p:nvPicPr>
        <p:blipFill rotWithShape="1">
          <a:blip r:embed="rId3">
            <a:alphaModFix/>
          </a:blip>
          <a:srcRect b="80" l="0" r="0" t="70"/>
          <a:stretch/>
        </p:blipFill>
        <p:spPr>
          <a:xfrm>
            <a:off x="7060492" y="4349400"/>
            <a:ext cx="2079858" cy="787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700"/>
              <a:t>Algoritmos de Aproximación</a:t>
            </a:r>
            <a:endParaRPr sz="2700"/>
          </a:p>
        </p:txBody>
      </p:sp>
      <p:sp>
        <p:nvSpPr>
          <p:cNvPr id="67" name="Google Shape;67;p14"/>
          <p:cNvSpPr txBox="1"/>
          <p:nvPr>
            <p:ph idx="1" type="body"/>
          </p:nvPr>
        </p:nvSpPr>
        <p:spPr>
          <a:xfrm>
            <a:off x="311700" y="1171600"/>
            <a:ext cx="8520600" cy="26496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s"/>
              <a:t>Metodologías para los Algoritmos de Aproximación</a:t>
            </a:r>
            <a:endParaRPr/>
          </a:p>
          <a:p>
            <a:pPr indent="-342900" lvl="0" marL="457200" rtl="0" algn="l">
              <a:lnSpc>
                <a:spcPct val="150000"/>
              </a:lnSpc>
              <a:spcBef>
                <a:spcPts val="1600"/>
              </a:spcBef>
              <a:spcAft>
                <a:spcPts val="0"/>
              </a:spcAft>
              <a:buSzPts val="1800"/>
              <a:buChar char="●"/>
            </a:pPr>
            <a:r>
              <a:rPr lang="es"/>
              <a:t>Algoritmos Greedy</a:t>
            </a:r>
            <a:endParaRPr/>
          </a:p>
          <a:p>
            <a:pPr indent="-342900" lvl="0" marL="457200" rtl="0" algn="l">
              <a:lnSpc>
                <a:spcPct val="150000"/>
              </a:lnSpc>
              <a:spcBef>
                <a:spcPts val="0"/>
              </a:spcBef>
              <a:spcAft>
                <a:spcPts val="0"/>
              </a:spcAft>
              <a:buSzPts val="1800"/>
              <a:buChar char="●"/>
            </a:pPr>
            <a:r>
              <a:rPr lang="es"/>
              <a:t>Pricing Method</a:t>
            </a:r>
            <a:endParaRPr/>
          </a:p>
          <a:p>
            <a:pPr indent="-342900" lvl="0" marL="457200" rtl="0" algn="l">
              <a:lnSpc>
                <a:spcPct val="150000"/>
              </a:lnSpc>
              <a:spcBef>
                <a:spcPts val="0"/>
              </a:spcBef>
              <a:spcAft>
                <a:spcPts val="0"/>
              </a:spcAft>
              <a:buSzPts val="1800"/>
              <a:buChar char="●"/>
            </a:pPr>
            <a:r>
              <a:rPr lang="es"/>
              <a:t>Programación Lineal, Redondeos, Programación Entera</a:t>
            </a:r>
            <a:endParaRPr/>
          </a:p>
          <a:p>
            <a:pPr indent="-342900" lvl="0" marL="457200" rtl="0" algn="l">
              <a:lnSpc>
                <a:spcPct val="150000"/>
              </a:lnSpc>
              <a:spcBef>
                <a:spcPts val="0"/>
              </a:spcBef>
              <a:spcAft>
                <a:spcPts val="0"/>
              </a:spcAft>
              <a:buSzPts val="1800"/>
              <a:buChar char="●"/>
            </a:pPr>
            <a:r>
              <a:rPr lang="es"/>
              <a:t>Programación Dinámica y Redondeos</a:t>
            </a:r>
            <a:endParaRPr/>
          </a:p>
        </p:txBody>
      </p:sp>
      <p:pic>
        <p:nvPicPr>
          <p:cNvPr id="68" name="Google Shape;68;p14"/>
          <p:cNvPicPr preferRelativeResize="0"/>
          <p:nvPr/>
        </p:nvPicPr>
        <p:blipFill>
          <a:blip r:embed="rId3">
            <a:alphaModFix/>
          </a:blip>
          <a:stretch>
            <a:fillRect/>
          </a:stretch>
        </p:blipFill>
        <p:spPr>
          <a:xfrm>
            <a:off x="3489975" y="3027275"/>
            <a:ext cx="1159150" cy="714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700"/>
              <a:t>Algoritmos de Aproximación</a:t>
            </a:r>
            <a:endParaRPr sz="2700"/>
          </a:p>
        </p:txBody>
      </p:sp>
      <p:sp>
        <p:nvSpPr>
          <p:cNvPr id="74" name="Google Shape;74;p15"/>
          <p:cNvSpPr txBox="1"/>
          <p:nvPr>
            <p:ph idx="1" type="body"/>
          </p:nvPr>
        </p:nvSpPr>
        <p:spPr>
          <a:xfrm>
            <a:off x="311700" y="1171600"/>
            <a:ext cx="8520600" cy="26496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s"/>
              <a:t>Metodologías para los Algoritmos de Aproximación</a:t>
            </a:r>
            <a:endParaRPr/>
          </a:p>
          <a:p>
            <a:pPr indent="-342900" lvl="0" marL="457200" rtl="0" algn="l">
              <a:lnSpc>
                <a:spcPct val="150000"/>
              </a:lnSpc>
              <a:spcBef>
                <a:spcPts val="1600"/>
              </a:spcBef>
              <a:spcAft>
                <a:spcPts val="0"/>
              </a:spcAft>
              <a:buSzPts val="1800"/>
              <a:buChar char="●"/>
            </a:pPr>
            <a:r>
              <a:rPr lang="es"/>
              <a:t>Algoritmos Greedy</a:t>
            </a:r>
            <a:endParaRPr/>
          </a:p>
          <a:p>
            <a:pPr indent="-342900" lvl="0" marL="457200" rtl="0" algn="l">
              <a:lnSpc>
                <a:spcPct val="150000"/>
              </a:lnSpc>
              <a:spcBef>
                <a:spcPts val="0"/>
              </a:spcBef>
              <a:spcAft>
                <a:spcPts val="0"/>
              </a:spcAft>
              <a:buSzPts val="1800"/>
              <a:buChar char="●"/>
            </a:pPr>
            <a:r>
              <a:rPr lang="es"/>
              <a:t>Pricing Method</a:t>
            </a:r>
            <a:endParaRPr/>
          </a:p>
          <a:p>
            <a:pPr indent="-342900" lvl="0" marL="457200" rtl="0" algn="l">
              <a:lnSpc>
                <a:spcPct val="150000"/>
              </a:lnSpc>
              <a:spcBef>
                <a:spcPts val="0"/>
              </a:spcBef>
              <a:spcAft>
                <a:spcPts val="0"/>
              </a:spcAft>
              <a:buSzPts val="1800"/>
              <a:buChar char="●"/>
            </a:pPr>
            <a:r>
              <a:rPr lang="es"/>
              <a:t>Programación Lineal, Redondeos, Programación Entera</a:t>
            </a:r>
            <a:endParaRPr/>
          </a:p>
          <a:p>
            <a:pPr indent="-342900" lvl="0" marL="457200" rtl="0" algn="l">
              <a:lnSpc>
                <a:spcPct val="150000"/>
              </a:lnSpc>
              <a:spcBef>
                <a:spcPts val="0"/>
              </a:spcBef>
              <a:spcAft>
                <a:spcPts val="0"/>
              </a:spcAft>
              <a:buSzPts val="1800"/>
              <a:buChar char="●"/>
            </a:pPr>
            <a:r>
              <a:rPr lang="es"/>
              <a:t>Programación Dinámica y Redondeos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2800"/>
              <a:t>Metodología 4: Programación Dinámica y Redondeos</a:t>
            </a:r>
            <a:endParaRPr sz="2800"/>
          </a:p>
        </p:txBody>
      </p:sp>
      <p:sp>
        <p:nvSpPr>
          <p:cNvPr id="80" name="Google Shape;80;p16"/>
          <p:cNvSpPr txBox="1"/>
          <p:nvPr>
            <p:ph idx="1" type="body"/>
          </p:nvPr>
        </p:nvSpPr>
        <p:spPr>
          <a:xfrm>
            <a:off x="311700" y="1171600"/>
            <a:ext cx="8520600" cy="3726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Ya vimos que, asumiendo P ≠ NP, todos los algoritmos NP-Completos son equivalentes a la hora de obtener una solución óptima en tiempo polinomial</a:t>
            </a:r>
            <a:endParaRPr/>
          </a:p>
          <a:p>
            <a:pPr indent="-342900" lvl="0" marL="457200" rtl="0" algn="l">
              <a:spcBef>
                <a:spcPts val="0"/>
              </a:spcBef>
              <a:spcAft>
                <a:spcPts val="0"/>
              </a:spcAft>
              <a:buSzPts val="1800"/>
              <a:buChar char="-"/>
            </a:pPr>
            <a:r>
              <a:rPr lang="es"/>
              <a:t>No es tal caso a la hora de obtener soluciones aproximadas</a:t>
            </a:r>
            <a:endParaRPr/>
          </a:p>
          <a:p>
            <a:pPr indent="-342900" lvl="0" marL="457200" rtl="0" algn="l">
              <a:spcBef>
                <a:spcPts val="0"/>
              </a:spcBef>
              <a:spcAft>
                <a:spcPts val="0"/>
              </a:spcAft>
              <a:buSzPts val="1800"/>
              <a:buChar char="-"/>
            </a:pPr>
            <a:r>
              <a:rPr lang="es"/>
              <a:t>Ejemplo: en el caso de Set Cover, la aproximación que vimos fue probada de estar muy cerca a la mejor posible</a:t>
            </a:r>
            <a:endParaRPr/>
          </a:p>
          <a:p>
            <a:pPr indent="-342900" lvl="0" marL="457200" rtl="0" algn="l">
              <a:spcBef>
                <a:spcPts val="0"/>
              </a:spcBef>
              <a:spcAft>
                <a:spcPts val="0"/>
              </a:spcAft>
              <a:buSzPts val="1800"/>
              <a:buChar char="-"/>
            </a:pPr>
            <a:r>
              <a:rPr lang="es"/>
              <a:t>Ejemplo: la 2-Aproximación de Vertex Cover, si bien no fue demostrada, es la mejor que se conoce</a:t>
            </a:r>
            <a:endParaRPr/>
          </a:p>
          <a:p>
            <a:pPr indent="-342900" lvl="0" marL="457200" rtl="0" algn="l">
              <a:spcBef>
                <a:spcPts val="0"/>
              </a:spcBef>
              <a:spcAft>
                <a:spcPts val="0"/>
              </a:spcAft>
              <a:buSzPts val="1800"/>
              <a:buChar char="-"/>
            </a:pPr>
            <a:r>
              <a:rPr lang="es"/>
              <a:t>Se siente aún así que están muy lejos a los pedidos que nos pueden llegar, como podrían ser “que el error no sea de más del 10%”</a:t>
            </a:r>
            <a:endParaRPr/>
          </a:p>
          <a:p>
            <a:pPr indent="-342900" lvl="0" marL="457200" rtl="0" algn="l">
              <a:spcBef>
                <a:spcPts val="0"/>
              </a:spcBef>
              <a:spcAft>
                <a:spcPts val="0"/>
              </a:spcAft>
              <a:buSzPts val="1800"/>
              <a:buChar char="-"/>
            </a:pPr>
            <a:r>
              <a:rPr lang="es"/>
              <a:t>Motivación: usar Programación Dinámica para hacer aproximaciones arbitrariamente buenas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800"/>
              <a:t>El Problema de la Mochila: El Problema Contraataca</a:t>
            </a:r>
            <a:endParaRPr sz="2800"/>
          </a:p>
        </p:txBody>
      </p:sp>
      <p:sp>
        <p:nvSpPr>
          <p:cNvPr id="86" name="Google Shape;86;p17"/>
          <p:cNvSpPr txBox="1"/>
          <p:nvPr>
            <p:ph idx="1" type="body"/>
          </p:nvPr>
        </p:nvSpPr>
        <p:spPr>
          <a:xfrm>
            <a:off x="311700" y="1171600"/>
            <a:ext cx="8520600" cy="3737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El Problema de la Mochila es NP-Difícil</a:t>
            </a:r>
            <a:endParaRPr/>
          </a:p>
          <a:p>
            <a:pPr indent="-342900" lvl="0" marL="457200" rtl="0" algn="l">
              <a:spcBef>
                <a:spcPts val="0"/>
              </a:spcBef>
              <a:spcAft>
                <a:spcPts val="0"/>
              </a:spcAft>
              <a:buSzPts val="1800"/>
              <a:buChar char="●"/>
            </a:pPr>
            <a:r>
              <a:rPr lang="es"/>
              <a:t>Tenemos una mochila con una </a:t>
            </a:r>
            <a:r>
              <a:rPr b="1" lang="es"/>
              <a:t>capacidad W</a:t>
            </a:r>
            <a:r>
              <a:rPr lang="es"/>
              <a:t>. Hay elementos a guardar. Cada elemento tiene un </a:t>
            </a:r>
            <a:r>
              <a:rPr b="1" lang="es"/>
              <a:t>peso</a:t>
            </a:r>
            <a:r>
              <a:rPr lang="es"/>
              <a:t> y un </a:t>
            </a:r>
            <a:r>
              <a:rPr b="1" lang="es"/>
              <a:t>valor</a:t>
            </a:r>
            <a:r>
              <a:rPr lang="es"/>
              <a:t>. Queremos maximizar el </a:t>
            </a:r>
            <a:r>
              <a:rPr b="1" lang="es"/>
              <a:t>valor</a:t>
            </a:r>
            <a:r>
              <a:rPr lang="es"/>
              <a:t> de lo </a:t>
            </a:r>
            <a:r>
              <a:rPr lang="es"/>
              <a:t>que llevamos</a:t>
            </a:r>
            <a:r>
              <a:rPr lang="es"/>
              <a:t> sin excedernos de la </a:t>
            </a:r>
            <a:r>
              <a:rPr b="1" lang="es"/>
              <a:t>capacidad W</a:t>
            </a:r>
            <a:r>
              <a:rPr lang="es"/>
              <a:t>.</a:t>
            </a:r>
            <a:endParaRPr/>
          </a:p>
          <a:p>
            <a:pPr indent="-342900" lvl="0" marL="457200" rtl="0" algn="l">
              <a:spcBef>
                <a:spcPts val="1600"/>
              </a:spcBef>
              <a:spcAft>
                <a:spcPts val="0"/>
              </a:spcAft>
              <a:buSzPts val="1800"/>
              <a:buChar char="●"/>
            </a:pPr>
            <a:r>
              <a:rPr lang="es"/>
              <a:t>Se agregará un parámetro de aproximación ε, medida de precisión</a:t>
            </a:r>
            <a:endParaRPr/>
          </a:p>
          <a:p>
            <a:pPr indent="-342900" lvl="0" marL="457200" rtl="0" algn="l">
              <a:spcBef>
                <a:spcPts val="1600"/>
              </a:spcBef>
              <a:spcAft>
                <a:spcPts val="0"/>
              </a:spcAft>
              <a:buSzPts val="1800"/>
              <a:buChar char="●"/>
            </a:pPr>
            <a:r>
              <a:rPr lang="es"/>
              <a:t>La solución debería entregar los elementos que no superen la capacidad W, y tenga una suma de valores como mucho a 1+ε de distancia al óptimo</a:t>
            </a:r>
            <a:endParaRPr/>
          </a:p>
          <a:p>
            <a:pPr indent="-342900" lvl="0" marL="457200" rtl="0" algn="l">
              <a:spcBef>
                <a:spcPts val="1600"/>
              </a:spcBef>
              <a:spcAft>
                <a:spcPts val="1600"/>
              </a:spcAft>
              <a:buSzPts val="1800"/>
              <a:buChar char="●"/>
            </a:pPr>
            <a:r>
              <a:rPr lang="es"/>
              <a:t>El algoritmo corre polinomialmente para un valor fijo de ε, pero muestra un crecimiento exponencial a medida se disminuye ε</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Esquema de Aproximación de Tiempo Polinomial</a:t>
            </a:r>
            <a:endParaRPr/>
          </a:p>
        </p:txBody>
      </p:sp>
      <p:sp>
        <p:nvSpPr>
          <p:cNvPr id="92" name="Google Shape;92;p1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lang="es"/>
              <a:t>Polynomial</a:t>
            </a:r>
            <a:r>
              <a:rPr lang="es"/>
              <a:t> Time Approximation Scheme</a:t>
            </a:r>
            <a:endParaRPr/>
          </a:p>
          <a:p>
            <a:pPr indent="-342900" lvl="0" marL="457200" marR="0" rtl="0" algn="l">
              <a:lnSpc>
                <a:spcPct val="115000"/>
              </a:lnSpc>
              <a:spcBef>
                <a:spcPts val="1600"/>
              </a:spcBef>
              <a:spcAft>
                <a:spcPts val="0"/>
              </a:spcAft>
              <a:buSzPts val="1800"/>
              <a:buChar char="●"/>
            </a:pPr>
            <a:r>
              <a:rPr lang="es"/>
              <a:t>El nivel de Aproximación alcanzable es más potente</a:t>
            </a:r>
            <a:endParaRPr/>
          </a:p>
          <a:p>
            <a:pPr indent="-342900" lvl="0" marL="457200" marR="0" rtl="0" algn="l">
              <a:lnSpc>
                <a:spcPct val="115000"/>
              </a:lnSpc>
              <a:spcBef>
                <a:spcPts val="1600"/>
              </a:spcBef>
              <a:spcAft>
                <a:spcPts val="0"/>
              </a:spcAft>
              <a:buSzPts val="1800"/>
              <a:buChar char="●"/>
            </a:pPr>
            <a:r>
              <a:rPr lang="es"/>
              <a:t>El algoritmo corre polinomialmente para un valor fijo de ε</a:t>
            </a:r>
            <a:endParaRPr/>
          </a:p>
          <a:p>
            <a:pPr indent="-342900" lvl="0" marL="457200" marR="0" rtl="0" algn="l">
              <a:lnSpc>
                <a:spcPct val="115000"/>
              </a:lnSpc>
              <a:spcBef>
                <a:spcPts val="1600"/>
              </a:spcBef>
              <a:spcAft>
                <a:spcPts val="0"/>
              </a:spcAft>
              <a:buSzPts val="1800"/>
              <a:buChar char="●"/>
            </a:pPr>
            <a:r>
              <a:rPr lang="es"/>
              <a:t>El problema es que, a medida que se achica el factor ε, el tiempo de ejecución crece en medidas exponenciales</a:t>
            </a:r>
            <a:endParaRPr/>
          </a:p>
          <a:p>
            <a:pPr indent="-342900" lvl="0" marL="457200" marR="0" rtl="0" algn="l">
              <a:lnSpc>
                <a:spcPct val="115000"/>
              </a:lnSpc>
              <a:spcBef>
                <a:spcPts val="1600"/>
              </a:spcBef>
              <a:spcAft>
                <a:spcPts val="1600"/>
              </a:spcAft>
              <a:buSzPts val="1800"/>
              <a:buChar char="●"/>
            </a:pPr>
            <a:r>
              <a:rPr lang="es"/>
              <a:t>Al momento en que definimos un valor de ε que haga que la solución sea la óptima garantizada, el algoritmo deja de ser polinomial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Problema de la Mochila</a:t>
            </a:r>
            <a:endParaRPr/>
          </a:p>
        </p:txBody>
      </p:sp>
      <p:sp>
        <p:nvSpPr>
          <p:cNvPr id="98" name="Google Shape;98;p19"/>
          <p:cNvSpPr txBox="1"/>
          <p:nvPr>
            <p:ph idx="1" type="body"/>
          </p:nvPr>
        </p:nvSpPr>
        <p:spPr>
          <a:xfrm>
            <a:off x="311700" y="1171600"/>
            <a:ext cx="8520600" cy="38241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lang="es"/>
              <a:t>Nuestra solución por Programación Dinámica funciona da la solución óptima en O(nW) con una dependencia Pseudo-Polinomial sobre W</a:t>
            </a:r>
            <a:endParaRPr/>
          </a:p>
          <a:p>
            <a:pPr indent="-342900" lvl="0" marL="457200" marR="0" rtl="0" algn="l">
              <a:lnSpc>
                <a:spcPct val="115000"/>
              </a:lnSpc>
              <a:spcBef>
                <a:spcPts val="1600"/>
              </a:spcBef>
              <a:spcAft>
                <a:spcPts val="0"/>
              </a:spcAft>
              <a:buSzPts val="1800"/>
              <a:buChar char="●"/>
            </a:pPr>
            <a:r>
              <a:rPr lang="es"/>
              <a:t>Si tanto la capacidad W y los pesos son pequeños, el algoritmo es rápido, aunque los valores sean muy grandes</a:t>
            </a:r>
            <a:endParaRPr/>
          </a:p>
          <a:p>
            <a:pPr indent="-342900" lvl="0" marL="457200" marR="0" rtl="0" algn="l">
              <a:lnSpc>
                <a:spcPct val="115000"/>
              </a:lnSpc>
              <a:spcBef>
                <a:spcPts val="1600"/>
              </a:spcBef>
              <a:spcAft>
                <a:spcPts val="0"/>
              </a:spcAft>
              <a:buSzPts val="1800"/>
              <a:buChar char="●"/>
            </a:pPr>
            <a:r>
              <a:rPr lang="es"/>
              <a:t>Por analogía, se puede obtener un algoritmo que sea rápido si los valores son pequeños, incluso si la capacidad W y los pesos son muy grandes</a:t>
            </a:r>
            <a:endParaRPr/>
          </a:p>
          <a:p>
            <a:pPr indent="-342900" lvl="0" marL="457200" marR="0" rtl="0" algn="l">
              <a:lnSpc>
                <a:spcPct val="115000"/>
              </a:lnSpc>
              <a:spcBef>
                <a:spcPts val="1600"/>
              </a:spcBef>
              <a:spcAft>
                <a:spcPts val="0"/>
              </a:spcAft>
              <a:buSzPts val="1800"/>
              <a:buChar char="●"/>
            </a:pPr>
            <a:r>
              <a:rPr lang="es"/>
              <a:t>Podemos aprovechar los algoritmos que son Pseudo-Polinomiales sobre los valores de los parámetros para diseñadr Esquemas de Aproximación</a:t>
            </a:r>
            <a:endParaRPr/>
          </a:p>
          <a:p>
            <a:pPr indent="-342900" lvl="0" marL="457200" marR="0" rtl="0" algn="l">
              <a:lnSpc>
                <a:spcPct val="115000"/>
              </a:lnSpc>
              <a:spcBef>
                <a:spcPts val="1600"/>
              </a:spcBef>
              <a:spcAft>
                <a:spcPts val="1600"/>
              </a:spcAft>
              <a:buSzPts val="1800"/>
              <a:buChar char="●"/>
            </a:pPr>
            <a:r>
              <a:rPr lang="es"/>
              <a:t>O(n</a:t>
            </a:r>
            <a:r>
              <a:rPr baseline="30000" lang="es"/>
              <a:t>2</a:t>
            </a:r>
            <a:r>
              <a:rPr lang="es"/>
              <a:t>. v∗), con v∗ = max</a:t>
            </a:r>
            <a:r>
              <a:rPr baseline="-25000" lang="es"/>
              <a:t>i</a:t>
            </a:r>
            <a:r>
              <a:rPr lang="es"/>
              <a:t> v</a:t>
            </a:r>
            <a:r>
              <a:rPr baseline="-25000" lang="es"/>
              <a:t>i</a:t>
            </a:r>
            <a:endParaRPr baseline="-25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Mochila: Solución por PD sobre los Valores</a:t>
            </a:r>
            <a:endParaRPr/>
          </a:p>
        </p:txBody>
      </p:sp>
      <p:sp>
        <p:nvSpPr>
          <p:cNvPr id="104" name="Google Shape;104;p20"/>
          <p:cNvSpPr txBox="1"/>
          <p:nvPr>
            <p:ph idx="1" type="body"/>
          </p:nvPr>
        </p:nvSpPr>
        <p:spPr>
          <a:xfrm>
            <a:off x="311700" y="1171600"/>
            <a:ext cx="8520600" cy="38241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s" sz="1600"/>
              <a:t>Nuestra solución original al problema de la mochila hace depender a los subproblemas sobre el valor de la capacidad disponible</a:t>
            </a:r>
            <a:endParaRPr sz="1600"/>
          </a:p>
          <a:p>
            <a:pPr indent="-330200" lvl="0" marL="457200" rtl="0" algn="l">
              <a:spcBef>
                <a:spcPts val="1600"/>
              </a:spcBef>
              <a:spcAft>
                <a:spcPts val="0"/>
              </a:spcAft>
              <a:buSzPts val="1600"/>
              <a:buChar char="●"/>
            </a:pPr>
            <a:r>
              <a:rPr lang="es" sz="1600"/>
              <a:t>Buscamos una versión que </a:t>
            </a:r>
            <a:r>
              <a:rPr lang="es" sz="1600"/>
              <a:t>funcione</a:t>
            </a:r>
            <a:r>
              <a:rPr lang="es" sz="1600"/>
              <a:t> bien para </a:t>
            </a:r>
            <a:r>
              <a:rPr b="1" lang="es" sz="1600"/>
              <a:t>valores</a:t>
            </a:r>
            <a:r>
              <a:rPr lang="es" sz="1600"/>
              <a:t> relativamente pequeños, independientemente de la capacidad de la mochila</a:t>
            </a:r>
            <a:endParaRPr sz="1600"/>
          </a:p>
          <a:p>
            <a:pPr indent="-330200" lvl="0" marL="457200" rtl="0" algn="l">
              <a:spcBef>
                <a:spcPts val="1600"/>
              </a:spcBef>
              <a:spcAft>
                <a:spcPts val="0"/>
              </a:spcAft>
              <a:buSzPts val="1600"/>
              <a:buChar char="●"/>
            </a:pPr>
            <a:r>
              <a:rPr lang="es" sz="1600"/>
              <a:t>Deberíamos condicionar los subproblemas no a la capacidad y los </a:t>
            </a:r>
            <a:r>
              <a:rPr lang="es" sz="1600"/>
              <a:t>pesos</a:t>
            </a:r>
            <a:r>
              <a:rPr lang="es" sz="1600"/>
              <a:t>, sino a los Valores</a:t>
            </a:r>
            <a:endParaRPr sz="1600"/>
          </a:p>
          <a:p>
            <a:pPr indent="-330200" lvl="0" marL="457200" rtl="0" algn="l">
              <a:spcBef>
                <a:spcPts val="1600"/>
              </a:spcBef>
              <a:spcAft>
                <a:spcPts val="0"/>
              </a:spcAft>
              <a:buSzPts val="1600"/>
              <a:buChar char="●"/>
            </a:pPr>
            <a:r>
              <a:rPr lang="es" sz="1600"/>
              <a:t>Guardamos en OPT(i, V) usando a lo sumo los primeros i elementos y para alcanzar (al menos) el valor de V, la capacidad más baja de W que lo logra</a:t>
            </a:r>
            <a:endParaRPr sz="1600"/>
          </a:p>
          <a:p>
            <a:pPr indent="-330200" lvl="0" marL="457200" rtl="0" algn="l">
              <a:spcBef>
                <a:spcPts val="1600"/>
              </a:spcBef>
              <a:spcAft>
                <a:spcPts val="1600"/>
              </a:spcAft>
              <a:buSzPts val="1600"/>
              <a:buChar char="●"/>
            </a:pPr>
            <a:r>
              <a:rPr lang="es" sz="1600"/>
              <a:t>El tamaño de la matriz necesaria para memorizar es: O(n</a:t>
            </a:r>
            <a:r>
              <a:rPr baseline="30000" lang="es" sz="1600"/>
              <a:t>2</a:t>
            </a:r>
            <a:r>
              <a:rPr lang="es" sz="1600"/>
              <a:t>v∗). Una dimensión de la matriz con los n elementos, la otra, a lo sumo n veces el valor del máximo v*</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Mochila: Solución por PD sobre los Valores</a:t>
            </a:r>
            <a:endParaRPr/>
          </a:p>
        </p:txBody>
      </p:sp>
      <p:grpSp>
        <p:nvGrpSpPr>
          <p:cNvPr id="110" name="Google Shape;110;p21"/>
          <p:cNvGrpSpPr/>
          <p:nvPr/>
        </p:nvGrpSpPr>
        <p:grpSpPr>
          <a:xfrm>
            <a:off x="197675" y="1753623"/>
            <a:ext cx="8247050" cy="1505850"/>
            <a:chOff x="197675" y="1194025"/>
            <a:chExt cx="8247050" cy="1505850"/>
          </a:xfrm>
        </p:grpSpPr>
        <p:cxnSp>
          <p:nvCxnSpPr>
            <p:cNvPr id="111" name="Google Shape;111;p21"/>
            <p:cNvCxnSpPr>
              <a:stCxn id="112" idx="3"/>
              <a:endCxn id="113" idx="1"/>
            </p:cNvCxnSpPr>
            <p:nvPr/>
          </p:nvCxnSpPr>
          <p:spPr>
            <a:xfrm flipH="1" rot="10800000">
              <a:off x="2176775" y="1417200"/>
              <a:ext cx="1259700" cy="477300"/>
            </a:xfrm>
            <a:prstGeom prst="straightConnector1">
              <a:avLst/>
            </a:prstGeom>
            <a:noFill/>
            <a:ln cap="flat" cmpd="sng" w="9525">
              <a:solidFill>
                <a:srgbClr val="00695C"/>
              </a:solidFill>
              <a:prstDash val="solid"/>
              <a:round/>
              <a:headEnd len="med" w="med" type="none"/>
              <a:tailEnd len="med" w="med" type="none"/>
            </a:ln>
          </p:spPr>
        </p:cxnSp>
        <p:cxnSp>
          <p:nvCxnSpPr>
            <p:cNvPr id="114" name="Google Shape;114;p21"/>
            <p:cNvCxnSpPr>
              <a:stCxn id="112" idx="3"/>
              <a:endCxn id="115" idx="1"/>
            </p:cNvCxnSpPr>
            <p:nvPr/>
          </p:nvCxnSpPr>
          <p:spPr>
            <a:xfrm>
              <a:off x="2176775" y="1894500"/>
              <a:ext cx="910500" cy="582300"/>
            </a:xfrm>
            <a:prstGeom prst="straightConnector1">
              <a:avLst/>
            </a:prstGeom>
            <a:noFill/>
            <a:ln cap="flat" cmpd="sng" w="9525">
              <a:solidFill>
                <a:srgbClr val="00695C"/>
              </a:solidFill>
              <a:prstDash val="solid"/>
              <a:round/>
              <a:headEnd len="med" w="med" type="none"/>
              <a:tailEnd len="med" w="med" type="none"/>
            </a:ln>
          </p:spPr>
        </p:cxnSp>
        <p:sp>
          <p:nvSpPr>
            <p:cNvPr id="115" name="Google Shape;115;p21"/>
            <p:cNvSpPr txBox="1"/>
            <p:nvPr/>
          </p:nvSpPr>
          <p:spPr>
            <a:xfrm>
              <a:off x="3087325" y="2253475"/>
              <a:ext cx="53574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latin typeface="Proxima Nova"/>
                  <a:ea typeface="Proxima Nova"/>
                  <a:cs typeface="Proxima Nova"/>
                  <a:sym typeface="Proxima Nova"/>
                </a:rPr>
                <a:t>usar el elemento: </a:t>
              </a:r>
              <a:r>
                <a:rPr lang="es" sz="1700">
                  <a:solidFill>
                    <a:schemeClr val="dk1"/>
                  </a:solidFill>
                  <a:latin typeface="Proxima Nova"/>
                  <a:ea typeface="Proxima Nova"/>
                  <a:cs typeface="Proxima Nova"/>
                  <a:sym typeface="Proxima Nova"/>
                </a:rPr>
                <a:t>P</a:t>
              </a:r>
              <a:r>
                <a:rPr baseline="-25000" lang="es" sz="1700">
                  <a:solidFill>
                    <a:schemeClr val="dk1"/>
                  </a:solidFill>
                  <a:latin typeface="Proxima Nova"/>
                  <a:ea typeface="Proxima Nova"/>
                  <a:cs typeface="Proxima Nova"/>
                  <a:sym typeface="Proxima Nova"/>
                </a:rPr>
                <a:t>i</a:t>
              </a:r>
              <a:r>
                <a:rPr lang="es" sz="1700">
                  <a:solidFill>
                    <a:schemeClr val="dk1"/>
                  </a:solidFill>
                  <a:latin typeface="Proxima Nova"/>
                  <a:ea typeface="Proxima Nova"/>
                  <a:cs typeface="Proxima Nova"/>
                  <a:sym typeface="Proxima Nova"/>
                </a:rPr>
                <a:t> + O</a:t>
              </a:r>
              <a:r>
                <a:rPr lang="es" sz="1700">
                  <a:solidFill>
                    <a:schemeClr val="dk1"/>
                  </a:solidFill>
                  <a:latin typeface="Proxima Nova"/>
                  <a:ea typeface="Proxima Nova"/>
                  <a:cs typeface="Proxima Nova"/>
                  <a:sym typeface="Proxima Nova"/>
                </a:rPr>
                <a:t>PT(n-1, V-V</a:t>
              </a:r>
              <a:r>
                <a:rPr baseline="-25000" lang="es" sz="1700">
                  <a:solidFill>
                    <a:schemeClr val="dk1"/>
                  </a:solidFill>
                  <a:latin typeface="Proxima Nova"/>
                  <a:ea typeface="Proxima Nova"/>
                  <a:cs typeface="Proxima Nova"/>
                  <a:sym typeface="Proxima Nova"/>
                </a:rPr>
                <a:t>i</a:t>
              </a:r>
              <a:r>
                <a:rPr lang="es" sz="1700">
                  <a:solidFill>
                    <a:schemeClr val="dk1"/>
                  </a:solidFill>
                  <a:latin typeface="Proxima Nova"/>
                  <a:ea typeface="Proxima Nova"/>
                  <a:cs typeface="Proxima Nova"/>
                  <a:sym typeface="Proxima Nova"/>
                </a:rPr>
                <a:t>)</a:t>
              </a:r>
              <a:endParaRPr sz="1700">
                <a:latin typeface="Proxima Nova"/>
                <a:ea typeface="Proxima Nova"/>
                <a:cs typeface="Proxima Nova"/>
                <a:sym typeface="Proxima Nova"/>
              </a:endParaRPr>
            </a:p>
          </p:txBody>
        </p:sp>
        <p:sp>
          <p:nvSpPr>
            <p:cNvPr id="113" name="Google Shape;113;p21"/>
            <p:cNvSpPr txBox="1"/>
            <p:nvPr/>
          </p:nvSpPr>
          <p:spPr>
            <a:xfrm>
              <a:off x="3436525" y="1194025"/>
              <a:ext cx="33402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latin typeface="Proxima Nova"/>
                  <a:ea typeface="Proxima Nova"/>
                  <a:cs typeface="Proxima Nova"/>
                  <a:sym typeface="Proxima Nova"/>
                </a:rPr>
                <a:t>no usar el elemento: OPT(n-1, V)</a:t>
              </a:r>
              <a:endParaRPr sz="1700">
                <a:latin typeface="Proxima Nova"/>
                <a:ea typeface="Proxima Nova"/>
                <a:cs typeface="Proxima Nova"/>
                <a:sym typeface="Proxima Nova"/>
              </a:endParaRPr>
            </a:p>
          </p:txBody>
        </p:sp>
        <p:sp>
          <p:nvSpPr>
            <p:cNvPr id="112" name="Google Shape;112;p21"/>
            <p:cNvSpPr txBox="1"/>
            <p:nvPr/>
          </p:nvSpPr>
          <p:spPr>
            <a:xfrm>
              <a:off x="197675" y="1663650"/>
              <a:ext cx="1979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latin typeface="Proxima Nova"/>
                  <a:ea typeface="Proxima Nova"/>
                  <a:cs typeface="Proxima Nova"/>
                  <a:sym typeface="Proxima Nova"/>
                </a:rPr>
                <a:t>OPT(n, V) = min</a:t>
              </a:r>
              <a:endParaRPr sz="1800">
                <a:latin typeface="Proxima Nova"/>
                <a:ea typeface="Proxima Nova"/>
                <a:cs typeface="Proxima Nova"/>
                <a:sym typeface="Proxima Nova"/>
              </a:endParaRPr>
            </a:p>
          </p:txBody>
        </p:sp>
        <p:cxnSp>
          <p:nvCxnSpPr>
            <p:cNvPr id="116" name="Google Shape;116;p21"/>
            <p:cNvCxnSpPr>
              <a:stCxn id="112" idx="3"/>
              <a:endCxn id="117" idx="1"/>
            </p:cNvCxnSpPr>
            <p:nvPr/>
          </p:nvCxnSpPr>
          <p:spPr>
            <a:xfrm>
              <a:off x="2176775" y="1894500"/>
              <a:ext cx="747300" cy="0"/>
            </a:xfrm>
            <a:prstGeom prst="straightConnector1">
              <a:avLst/>
            </a:prstGeom>
            <a:noFill/>
            <a:ln cap="flat" cmpd="sng" w="9525">
              <a:solidFill>
                <a:srgbClr val="00695C"/>
              </a:solidFill>
              <a:prstDash val="solid"/>
              <a:round/>
              <a:headEnd len="med" w="med" type="none"/>
              <a:tailEnd len="med" w="med" type="none"/>
            </a:ln>
          </p:spPr>
        </p:cxnSp>
        <p:sp>
          <p:nvSpPr>
            <p:cNvPr id="117" name="Google Shape;117;p21"/>
            <p:cNvSpPr txBox="1"/>
            <p:nvPr/>
          </p:nvSpPr>
          <p:spPr>
            <a:xfrm>
              <a:off x="2924200" y="1671300"/>
              <a:ext cx="53574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latin typeface="Proxima Nova"/>
                  <a:ea typeface="Proxima Nova"/>
                  <a:cs typeface="Proxima Nova"/>
                  <a:sym typeface="Proxima Nova"/>
                </a:rPr>
                <a:t>es </a:t>
              </a:r>
              <a:r>
                <a:rPr lang="es" sz="1700">
                  <a:latin typeface="Proxima Nova"/>
                  <a:ea typeface="Proxima Nova"/>
                  <a:cs typeface="Proxima Nova"/>
                  <a:sym typeface="Proxima Nova"/>
                </a:rPr>
                <a:t>el único elemento: </a:t>
              </a:r>
              <a:r>
                <a:rPr lang="es" sz="1700">
                  <a:solidFill>
                    <a:schemeClr val="dk1"/>
                  </a:solidFill>
                  <a:latin typeface="Proxima Nova"/>
                  <a:ea typeface="Proxima Nova"/>
                  <a:cs typeface="Proxima Nova"/>
                  <a:sym typeface="Proxima Nova"/>
                </a:rPr>
                <a:t>P</a:t>
              </a:r>
              <a:r>
                <a:rPr baseline="-25000" lang="es" sz="1700">
                  <a:solidFill>
                    <a:schemeClr val="dk1"/>
                  </a:solidFill>
                  <a:latin typeface="Proxima Nova"/>
                  <a:ea typeface="Proxima Nova"/>
                  <a:cs typeface="Proxima Nova"/>
                  <a:sym typeface="Proxima Nova"/>
                </a:rPr>
                <a:t>i</a:t>
              </a:r>
              <a:endParaRPr baseline="-25000" sz="1700">
                <a:latin typeface="Proxima Nova"/>
                <a:ea typeface="Proxima Nova"/>
                <a:cs typeface="Proxima Nova"/>
                <a:sym typeface="Proxima Nova"/>
              </a:endParaRPr>
            </a:p>
          </p:txBody>
        </p:sp>
      </p:grpSp>
      <p:grpSp>
        <p:nvGrpSpPr>
          <p:cNvPr id="118" name="Google Shape;118;p21"/>
          <p:cNvGrpSpPr/>
          <p:nvPr/>
        </p:nvGrpSpPr>
        <p:grpSpPr>
          <a:xfrm>
            <a:off x="197675" y="3327625"/>
            <a:ext cx="8596250" cy="1377725"/>
            <a:chOff x="197675" y="3099025"/>
            <a:chExt cx="8596250" cy="1377725"/>
          </a:xfrm>
        </p:grpSpPr>
        <p:cxnSp>
          <p:nvCxnSpPr>
            <p:cNvPr id="119" name="Google Shape;119;p21"/>
            <p:cNvCxnSpPr>
              <a:stCxn id="120" idx="3"/>
              <a:endCxn id="121" idx="1"/>
            </p:cNvCxnSpPr>
            <p:nvPr/>
          </p:nvCxnSpPr>
          <p:spPr>
            <a:xfrm flipH="1" rot="10800000">
              <a:off x="2176775" y="3322200"/>
              <a:ext cx="1259700" cy="477300"/>
            </a:xfrm>
            <a:prstGeom prst="straightConnector1">
              <a:avLst/>
            </a:prstGeom>
            <a:noFill/>
            <a:ln cap="flat" cmpd="sng" w="9525">
              <a:solidFill>
                <a:srgbClr val="00695C"/>
              </a:solidFill>
              <a:prstDash val="solid"/>
              <a:round/>
              <a:headEnd len="med" w="med" type="none"/>
              <a:tailEnd len="med" w="med" type="none"/>
            </a:ln>
          </p:spPr>
        </p:cxnSp>
        <p:cxnSp>
          <p:nvCxnSpPr>
            <p:cNvPr id="122" name="Google Shape;122;p21"/>
            <p:cNvCxnSpPr>
              <a:stCxn id="120" idx="3"/>
              <a:endCxn id="123" idx="1"/>
            </p:cNvCxnSpPr>
            <p:nvPr/>
          </p:nvCxnSpPr>
          <p:spPr>
            <a:xfrm>
              <a:off x="2176775" y="3799500"/>
              <a:ext cx="1259700" cy="454200"/>
            </a:xfrm>
            <a:prstGeom prst="straightConnector1">
              <a:avLst/>
            </a:prstGeom>
            <a:noFill/>
            <a:ln cap="flat" cmpd="sng" w="9525">
              <a:solidFill>
                <a:srgbClr val="00695C"/>
              </a:solidFill>
              <a:prstDash val="solid"/>
              <a:round/>
              <a:headEnd len="med" w="med" type="none"/>
              <a:tailEnd len="med" w="med" type="none"/>
            </a:ln>
          </p:spPr>
        </p:cxnSp>
        <p:sp>
          <p:nvSpPr>
            <p:cNvPr id="123" name="Google Shape;123;p21"/>
            <p:cNvSpPr txBox="1"/>
            <p:nvPr/>
          </p:nvSpPr>
          <p:spPr>
            <a:xfrm>
              <a:off x="3436525" y="4030350"/>
              <a:ext cx="53574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latin typeface="Proxima Nova"/>
                  <a:ea typeface="Proxima Nova"/>
                  <a:cs typeface="Proxima Nova"/>
                  <a:sym typeface="Proxima Nova"/>
                </a:rPr>
                <a:t>usar el elemento: </a:t>
              </a:r>
              <a:r>
                <a:rPr lang="es" sz="1700">
                  <a:solidFill>
                    <a:schemeClr val="dk1"/>
                  </a:solidFill>
                  <a:latin typeface="Proxima Nova"/>
                  <a:ea typeface="Proxima Nova"/>
                  <a:cs typeface="Proxima Nova"/>
                  <a:sym typeface="Proxima Nova"/>
                </a:rPr>
                <a:t>P</a:t>
              </a:r>
              <a:r>
                <a:rPr baseline="-25000" lang="es" sz="1700">
                  <a:solidFill>
                    <a:schemeClr val="dk1"/>
                  </a:solidFill>
                  <a:latin typeface="Proxima Nova"/>
                  <a:ea typeface="Proxima Nova"/>
                  <a:cs typeface="Proxima Nova"/>
                  <a:sym typeface="Proxima Nova"/>
                </a:rPr>
                <a:t>i</a:t>
              </a:r>
              <a:r>
                <a:rPr lang="es" sz="1700">
                  <a:solidFill>
                    <a:schemeClr val="dk1"/>
                  </a:solidFill>
                  <a:latin typeface="Proxima Nova"/>
                  <a:ea typeface="Proxima Nova"/>
                  <a:cs typeface="Proxima Nova"/>
                  <a:sym typeface="Proxima Nova"/>
                </a:rPr>
                <a:t> + OPT(n-1, max(0,V-V</a:t>
              </a:r>
              <a:r>
                <a:rPr baseline="-25000" lang="es" sz="1700">
                  <a:solidFill>
                    <a:schemeClr val="dk1"/>
                  </a:solidFill>
                  <a:latin typeface="Proxima Nova"/>
                  <a:ea typeface="Proxima Nova"/>
                  <a:cs typeface="Proxima Nova"/>
                  <a:sym typeface="Proxima Nova"/>
                </a:rPr>
                <a:t>i</a:t>
              </a:r>
              <a:r>
                <a:rPr lang="es" sz="1700">
                  <a:solidFill>
                    <a:schemeClr val="dk1"/>
                  </a:solidFill>
                  <a:latin typeface="Proxima Nova"/>
                  <a:ea typeface="Proxima Nova"/>
                  <a:cs typeface="Proxima Nova"/>
                  <a:sym typeface="Proxima Nova"/>
                </a:rPr>
                <a:t>))</a:t>
              </a:r>
              <a:endParaRPr sz="1700">
                <a:latin typeface="Proxima Nova"/>
                <a:ea typeface="Proxima Nova"/>
                <a:cs typeface="Proxima Nova"/>
                <a:sym typeface="Proxima Nova"/>
              </a:endParaRPr>
            </a:p>
          </p:txBody>
        </p:sp>
        <p:sp>
          <p:nvSpPr>
            <p:cNvPr id="121" name="Google Shape;121;p21"/>
            <p:cNvSpPr txBox="1"/>
            <p:nvPr/>
          </p:nvSpPr>
          <p:spPr>
            <a:xfrm>
              <a:off x="3436525" y="3099025"/>
              <a:ext cx="33402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latin typeface="Proxima Nova"/>
                  <a:ea typeface="Proxima Nova"/>
                  <a:cs typeface="Proxima Nova"/>
                  <a:sym typeface="Proxima Nova"/>
                </a:rPr>
                <a:t>no usar el elemento: OPT(n-1, V)</a:t>
              </a:r>
              <a:endParaRPr sz="1700">
                <a:latin typeface="Proxima Nova"/>
                <a:ea typeface="Proxima Nova"/>
                <a:cs typeface="Proxima Nova"/>
                <a:sym typeface="Proxima Nova"/>
              </a:endParaRPr>
            </a:p>
          </p:txBody>
        </p:sp>
        <p:sp>
          <p:nvSpPr>
            <p:cNvPr id="120" name="Google Shape;120;p21"/>
            <p:cNvSpPr txBox="1"/>
            <p:nvPr/>
          </p:nvSpPr>
          <p:spPr>
            <a:xfrm>
              <a:off x="197675" y="3568650"/>
              <a:ext cx="1979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latin typeface="Proxima Nova"/>
                  <a:ea typeface="Proxima Nova"/>
                  <a:cs typeface="Proxima Nova"/>
                  <a:sym typeface="Proxima Nova"/>
                </a:rPr>
                <a:t>OPT(n, V) = min</a:t>
              </a:r>
              <a:endParaRPr sz="1800">
                <a:latin typeface="Proxima Nova"/>
                <a:ea typeface="Proxima Nova"/>
                <a:cs typeface="Proxima Nova"/>
                <a:sym typeface="Proxima Nova"/>
              </a:endParaRPr>
            </a:p>
          </p:txBody>
        </p:sp>
      </p:grpSp>
      <p:sp>
        <p:nvSpPr>
          <p:cNvPr id="124" name="Google Shape;124;p21"/>
          <p:cNvSpPr txBox="1"/>
          <p:nvPr/>
        </p:nvSpPr>
        <p:spPr>
          <a:xfrm>
            <a:off x="311700" y="962150"/>
            <a:ext cx="36354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latin typeface="Proxima Nova"/>
                <a:ea typeface="Proxima Nova"/>
                <a:cs typeface="Proxima Nova"/>
                <a:sym typeface="Proxima Nova"/>
              </a:rPr>
              <a:t>OPT(0, 0) = 0; </a:t>
            </a:r>
            <a:endParaRPr sz="1800">
              <a:latin typeface="Proxima Nova"/>
              <a:ea typeface="Proxima Nova"/>
              <a:cs typeface="Proxima Nova"/>
              <a:sym typeface="Proxima Nova"/>
            </a:endParaRPr>
          </a:p>
          <a:p>
            <a:pPr indent="0" lvl="0" marL="0" rtl="0" algn="l">
              <a:spcBef>
                <a:spcPts val="0"/>
              </a:spcBef>
              <a:spcAft>
                <a:spcPts val="0"/>
              </a:spcAft>
              <a:buNone/>
            </a:pPr>
            <a:r>
              <a:rPr lang="es" sz="1800">
                <a:latin typeface="Proxima Nova"/>
                <a:ea typeface="Proxima Nova"/>
                <a:cs typeface="Proxima Nova"/>
                <a:sym typeface="Proxima Nova"/>
              </a:rPr>
              <a:t>Opt(0, V&gt;0) = NaN</a:t>
            </a:r>
            <a:endParaRPr sz="1800">
              <a:latin typeface="Proxima Nova"/>
              <a:ea typeface="Proxima Nova"/>
              <a:cs typeface="Proxima Nova"/>
              <a:sym typeface="Proxima Nova"/>
            </a:endParaRPr>
          </a:p>
          <a:p>
            <a:pPr indent="0" lvl="0" marL="0" rtl="0" algn="l">
              <a:spcBef>
                <a:spcPts val="0"/>
              </a:spcBef>
              <a:spcAft>
                <a:spcPts val="0"/>
              </a:spcAft>
              <a:buNone/>
            </a:pPr>
            <a:r>
              <a:rPr lang="es" sz="1800">
                <a:latin typeface="Proxima Nova"/>
                <a:ea typeface="Proxima Nova"/>
                <a:cs typeface="Proxima Nova"/>
                <a:sym typeface="Proxima Nova"/>
              </a:rPr>
              <a:t>Opt(i&gt;0, 0) = 0</a:t>
            </a:r>
            <a:endParaRPr sz="1800">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Mochila: Solución por PD sobre los Valores</a:t>
            </a:r>
            <a:endParaRPr/>
          </a:p>
        </p:txBody>
      </p:sp>
      <p:sp>
        <p:nvSpPr>
          <p:cNvPr id="130" name="Google Shape;130;p22"/>
          <p:cNvSpPr txBox="1"/>
          <p:nvPr/>
        </p:nvSpPr>
        <p:spPr>
          <a:xfrm>
            <a:off x="311700" y="943000"/>
            <a:ext cx="8520600" cy="4020000"/>
          </a:xfrm>
          <a:prstGeom prst="rect">
            <a:avLst/>
          </a:prstGeom>
          <a:noFill/>
          <a:ln>
            <a:noFill/>
          </a:ln>
        </p:spPr>
        <p:txBody>
          <a:bodyPr anchorCtr="0" anchor="t" bIns="91425" lIns="0" spcFirstLastPara="1" rIns="91425" wrap="square" tIns="91425">
            <a:noAutofit/>
          </a:bodyPr>
          <a:lstStyle/>
          <a:p>
            <a:pPr indent="0" lvl="0" marL="0" rtl="0" algn="l">
              <a:lnSpc>
                <a:spcPct val="115000"/>
              </a:lnSpc>
              <a:spcBef>
                <a:spcPts val="0"/>
              </a:spcBef>
              <a:spcAft>
                <a:spcPts val="0"/>
              </a:spcAft>
              <a:buNone/>
            </a:pPr>
            <a:r>
              <a:rPr lang="es" sz="1600">
                <a:solidFill>
                  <a:srgbClr val="000000"/>
                </a:solidFill>
                <a:latin typeface="Consolas"/>
                <a:ea typeface="Consolas"/>
                <a:cs typeface="Consolas"/>
                <a:sym typeface="Consolas"/>
              </a:rPr>
              <a:t>def mochila(valor, peso, </a:t>
            </a:r>
            <a:r>
              <a:rPr lang="es" sz="1600">
                <a:latin typeface="Consolas"/>
                <a:ea typeface="Consolas"/>
                <a:cs typeface="Consolas"/>
                <a:sym typeface="Consolas"/>
              </a:rPr>
              <a:t>n</a:t>
            </a:r>
            <a:r>
              <a:rPr lang="es" sz="1600">
                <a:solidFill>
                  <a:srgbClr val="000000"/>
                </a:solidFill>
                <a:latin typeface="Consolas"/>
                <a:ea typeface="Consolas"/>
                <a:cs typeface="Consolas"/>
                <a:sym typeface="Consolas"/>
              </a:rPr>
              <a:t>, W</a:t>
            </a:r>
            <a:r>
              <a:rPr lang="es" sz="1600">
                <a:latin typeface="Consolas"/>
                <a:ea typeface="Consolas"/>
                <a:cs typeface="Consolas"/>
                <a:sym typeface="Consolas"/>
              </a:rPr>
              <a:t>, T=sum(valor)</a:t>
            </a:r>
            <a:r>
              <a:rPr lang="es" sz="1600">
                <a:solidFill>
                  <a:srgbClr val="000000"/>
                </a:solidFill>
                <a:latin typeface="Consolas"/>
                <a:ea typeface="Consolas"/>
                <a:cs typeface="Consolas"/>
                <a:sym typeface="Consolas"/>
              </a:rPr>
              <a:t>):</a:t>
            </a:r>
            <a:endParaRPr sz="16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s" sz="1600">
                <a:latin typeface="Consolas"/>
                <a:ea typeface="Consolas"/>
                <a:cs typeface="Consolas"/>
                <a:sym typeface="Consolas"/>
              </a:rPr>
              <a:t>  OPT[0..n+1][0..T+1]</a:t>
            </a:r>
            <a:endParaRPr sz="1600">
              <a:latin typeface="Consolas"/>
              <a:ea typeface="Consolas"/>
              <a:cs typeface="Consolas"/>
              <a:sym typeface="Consolas"/>
            </a:endParaRPr>
          </a:p>
          <a:p>
            <a:pPr indent="0" lvl="0" marL="0" rtl="0" algn="l">
              <a:lnSpc>
                <a:spcPct val="115000"/>
              </a:lnSpc>
              <a:spcBef>
                <a:spcPts val="0"/>
              </a:spcBef>
              <a:spcAft>
                <a:spcPts val="0"/>
              </a:spcAft>
              <a:buNone/>
            </a:pPr>
            <a:r>
              <a:rPr lang="es" sz="1600">
                <a:latin typeface="Consolas"/>
                <a:ea typeface="Consolas"/>
                <a:cs typeface="Consolas"/>
                <a:sym typeface="Consolas"/>
              </a:rPr>
              <a:t>  for i in range(0, n+1):</a:t>
            </a:r>
            <a:endParaRPr sz="1600">
              <a:latin typeface="Consolas"/>
              <a:ea typeface="Consolas"/>
              <a:cs typeface="Consolas"/>
              <a:sym typeface="Consolas"/>
            </a:endParaRPr>
          </a:p>
          <a:p>
            <a:pPr indent="0" lvl="0" marL="0" rtl="0" algn="l">
              <a:lnSpc>
                <a:spcPct val="115000"/>
              </a:lnSpc>
              <a:spcBef>
                <a:spcPts val="0"/>
              </a:spcBef>
              <a:spcAft>
                <a:spcPts val="0"/>
              </a:spcAft>
              <a:buNone/>
            </a:pPr>
            <a:r>
              <a:rPr lang="es" sz="1600">
                <a:latin typeface="Consolas"/>
                <a:ea typeface="Consolas"/>
                <a:cs typeface="Consolas"/>
                <a:sym typeface="Consolas"/>
              </a:rPr>
              <a:t>    O</a:t>
            </a:r>
            <a:r>
              <a:rPr lang="es" sz="1600">
                <a:solidFill>
                  <a:schemeClr val="dk1"/>
                </a:solidFill>
                <a:latin typeface="Consolas"/>
                <a:ea typeface="Consolas"/>
                <a:cs typeface="Consolas"/>
                <a:sym typeface="Consolas"/>
              </a:rPr>
              <a:t>PT[i][0] = 0</a:t>
            </a:r>
            <a:endParaRPr sz="16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s" sz="1600">
                <a:solidFill>
                  <a:schemeClr val="dk1"/>
                </a:solidFill>
                <a:latin typeface="Consolas"/>
                <a:ea typeface="Consolas"/>
                <a:cs typeface="Consolas"/>
                <a:sym typeface="Consolas"/>
              </a:rPr>
              <a:t>  for i in range(1, n+1):</a:t>
            </a:r>
            <a:endParaRPr sz="16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s" sz="1600">
                <a:solidFill>
                  <a:schemeClr val="dk1"/>
                </a:solidFill>
                <a:latin typeface="Consolas"/>
                <a:ea typeface="Consolas"/>
                <a:cs typeface="Consolas"/>
                <a:sym typeface="Consolas"/>
              </a:rPr>
              <a:t>    sum_valor = sum(valor[:i+1])</a:t>
            </a:r>
            <a:endParaRPr sz="16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s" sz="1600">
                <a:latin typeface="Consolas"/>
                <a:ea typeface="Consolas"/>
                <a:cs typeface="Consolas"/>
                <a:sym typeface="Consolas"/>
              </a:rPr>
              <a:t>    </a:t>
            </a:r>
            <a:r>
              <a:rPr lang="es" sz="1600">
                <a:solidFill>
                  <a:schemeClr val="dk1"/>
                </a:solidFill>
                <a:latin typeface="Consolas"/>
                <a:ea typeface="Consolas"/>
                <a:cs typeface="Consolas"/>
                <a:sym typeface="Consolas"/>
              </a:rPr>
              <a:t>for V in range(1, sum_valor):</a:t>
            </a:r>
            <a:endParaRPr sz="16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s" sz="1600">
                <a:solidFill>
                  <a:schemeClr val="dk1"/>
                </a:solidFill>
                <a:latin typeface="Consolas"/>
                <a:ea typeface="Consolas"/>
                <a:cs typeface="Consolas"/>
                <a:sym typeface="Consolas"/>
              </a:rPr>
              <a:t>      if V &gt; sum_valor-valor[i]: # tiene que ir si o si </a:t>
            </a:r>
            <a:endParaRPr sz="1600">
              <a:solidFill>
                <a:schemeClr val="dk1"/>
              </a:solidFill>
              <a:latin typeface="Consolas"/>
              <a:ea typeface="Consolas"/>
              <a:cs typeface="Consolas"/>
              <a:sym typeface="Consolas"/>
            </a:endParaRPr>
          </a:p>
          <a:p>
            <a:pPr indent="457200" lvl="0" marL="457200" rtl="0" algn="l">
              <a:lnSpc>
                <a:spcPct val="115000"/>
              </a:lnSpc>
              <a:spcBef>
                <a:spcPts val="0"/>
              </a:spcBef>
              <a:spcAft>
                <a:spcPts val="0"/>
              </a:spcAft>
              <a:buNone/>
            </a:pPr>
            <a:r>
              <a:rPr lang="es" sz="1600">
                <a:solidFill>
                  <a:schemeClr val="dk1"/>
                </a:solidFill>
                <a:latin typeface="Consolas"/>
                <a:ea typeface="Consolas"/>
                <a:cs typeface="Consolas"/>
                <a:sym typeface="Consolas"/>
              </a:rPr>
              <a:t>OPT[i][V] = peso[i] + OPT[i-1][max(0, V-valor[i])]</a:t>
            </a:r>
            <a:endParaRPr sz="16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s" sz="1600">
                <a:solidFill>
                  <a:schemeClr val="dk1"/>
                </a:solidFill>
                <a:latin typeface="Consolas"/>
                <a:ea typeface="Consolas"/>
                <a:cs typeface="Consolas"/>
                <a:sym typeface="Consolas"/>
              </a:rPr>
              <a:t>      else:</a:t>
            </a:r>
            <a:endParaRPr sz="16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s" sz="1600">
                <a:solidFill>
                  <a:schemeClr val="dk1"/>
                </a:solidFill>
                <a:latin typeface="Consolas"/>
                <a:ea typeface="Consolas"/>
                <a:cs typeface="Consolas"/>
                <a:sym typeface="Consolas"/>
              </a:rPr>
              <a:t>        OPT[i][V] = min(OPT(n-1, V), </a:t>
            </a:r>
            <a:endParaRPr sz="16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s" sz="1600">
                <a:solidFill>
                  <a:schemeClr val="dk1"/>
                </a:solidFill>
                <a:latin typeface="Consolas"/>
                <a:ea typeface="Consolas"/>
                <a:cs typeface="Consolas"/>
                <a:sym typeface="Consolas"/>
              </a:rPr>
              <a:t>                         peso[i] + OPT(n-1, max(0, V-valor[i])))</a:t>
            </a:r>
            <a:endParaRPr sz="16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s" sz="1600">
                <a:solidFill>
                  <a:schemeClr val="dk1"/>
                </a:solidFill>
                <a:latin typeface="Consolas"/>
                <a:ea typeface="Consolas"/>
                <a:cs typeface="Consolas"/>
                <a:sym typeface="Consolas"/>
              </a:rPr>
              <a:t>  return max(V donde OPT[n][V] &lt;= W)</a:t>
            </a:r>
            <a:endParaRPr sz="1600">
              <a:solidFill>
                <a:schemeClr val="dk1"/>
              </a:solidFill>
              <a:latin typeface="Consolas"/>
              <a:ea typeface="Consolas"/>
              <a:cs typeface="Consolas"/>
              <a:sym typeface="Consolas"/>
            </a:endParaRPr>
          </a:p>
        </p:txBody>
      </p:sp>
      <p:grpSp>
        <p:nvGrpSpPr>
          <p:cNvPr id="131" name="Google Shape;131;p22"/>
          <p:cNvGrpSpPr/>
          <p:nvPr/>
        </p:nvGrpSpPr>
        <p:grpSpPr>
          <a:xfrm>
            <a:off x="5387575" y="1296750"/>
            <a:ext cx="3619675" cy="1617975"/>
            <a:chOff x="4572000" y="1372875"/>
            <a:chExt cx="3619675" cy="1617975"/>
          </a:xfrm>
        </p:grpSpPr>
        <p:pic>
          <p:nvPicPr>
            <p:cNvPr id="132" name="Google Shape;132;p22"/>
            <p:cNvPicPr preferRelativeResize="0"/>
            <p:nvPr/>
          </p:nvPicPr>
          <p:blipFill>
            <a:blip r:embed="rId3">
              <a:alphaModFix/>
            </a:blip>
            <a:stretch>
              <a:fillRect/>
            </a:stretch>
          </p:blipFill>
          <p:spPr>
            <a:xfrm>
              <a:off x="4572000" y="1372875"/>
              <a:ext cx="3619675" cy="887025"/>
            </a:xfrm>
            <a:prstGeom prst="rect">
              <a:avLst/>
            </a:prstGeom>
            <a:noFill/>
            <a:ln>
              <a:noFill/>
            </a:ln>
          </p:spPr>
        </p:pic>
        <p:pic>
          <p:nvPicPr>
            <p:cNvPr id="133" name="Google Shape;133;p22"/>
            <p:cNvPicPr preferRelativeResize="0"/>
            <p:nvPr/>
          </p:nvPicPr>
          <p:blipFill>
            <a:blip r:embed="rId4">
              <a:alphaModFix/>
            </a:blip>
            <a:stretch>
              <a:fillRect/>
            </a:stretch>
          </p:blipFill>
          <p:spPr>
            <a:xfrm>
              <a:off x="5401323" y="2259900"/>
              <a:ext cx="1961038" cy="73095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Sale ese seguimiento</a:t>
            </a:r>
            <a:endParaRPr/>
          </a:p>
        </p:txBody>
      </p:sp>
      <p:sp>
        <p:nvSpPr>
          <p:cNvPr id="139" name="Google Shape;139;p23"/>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Mochila Aproximada</a:t>
            </a:r>
            <a:endParaRPr/>
          </a:p>
        </p:txBody>
      </p:sp>
      <p:sp>
        <p:nvSpPr>
          <p:cNvPr id="145" name="Google Shape;145;p24"/>
          <p:cNvSpPr txBox="1"/>
          <p:nvPr>
            <p:ph idx="1" type="body"/>
          </p:nvPr>
        </p:nvSpPr>
        <p:spPr>
          <a:xfrm>
            <a:off x="311700" y="1171600"/>
            <a:ext cx="8368200" cy="3824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O(n</a:t>
            </a:r>
            <a:r>
              <a:rPr baseline="30000" lang="es"/>
              <a:t>2</a:t>
            </a:r>
            <a:r>
              <a:rPr lang="es"/>
              <a:t>. v∗), con v∗ = max</a:t>
            </a:r>
            <a:r>
              <a:rPr baseline="-25000" lang="es"/>
              <a:t>i</a:t>
            </a:r>
            <a:r>
              <a:rPr lang="es"/>
              <a:t> v</a:t>
            </a:r>
            <a:r>
              <a:rPr baseline="-25000" lang="es"/>
              <a:t>i</a:t>
            </a:r>
            <a:endParaRPr/>
          </a:p>
          <a:p>
            <a:pPr indent="-342900" lvl="0" marL="457200" marR="0" rtl="0" algn="l">
              <a:lnSpc>
                <a:spcPct val="115000"/>
              </a:lnSpc>
              <a:spcBef>
                <a:spcPts val="1600"/>
              </a:spcBef>
              <a:spcAft>
                <a:spcPts val="0"/>
              </a:spcAft>
              <a:buSzPts val="1800"/>
              <a:buChar char="●"/>
            </a:pPr>
            <a:r>
              <a:rPr lang="es"/>
              <a:t>Si todos los valores son enteros pequeños, entonces tenemos este algoritmo polinomial</a:t>
            </a:r>
            <a:endParaRPr/>
          </a:p>
          <a:p>
            <a:pPr indent="-342900" lvl="0" marL="457200" marR="0" rtl="0" algn="l">
              <a:lnSpc>
                <a:spcPct val="115000"/>
              </a:lnSpc>
              <a:spcBef>
                <a:spcPts val="1600"/>
              </a:spcBef>
              <a:spcAft>
                <a:spcPts val="0"/>
              </a:spcAft>
              <a:buSzPts val="1800"/>
              <a:buChar char="●"/>
            </a:pPr>
            <a:r>
              <a:rPr lang="es"/>
              <a:t>Si los valores son grandes, no hace falta lidiar con estos valores grandes, podemos dividir por algún valor, y hacer que sean más pequeños, redondeados</a:t>
            </a:r>
            <a:endParaRPr/>
          </a:p>
          <a:p>
            <a:pPr indent="-342900" lvl="0" marL="457200" marR="0" rtl="0" algn="l">
              <a:lnSpc>
                <a:spcPct val="115000"/>
              </a:lnSpc>
              <a:spcBef>
                <a:spcPts val="1600"/>
              </a:spcBef>
              <a:spcAft>
                <a:spcPts val="0"/>
              </a:spcAft>
              <a:buSzPts val="1800"/>
              <a:buChar char="●"/>
            </a:pPr>
            <a:r>
              <a:rPr lang="es"/>
              <a:t>Queremos redondear todos los valores para acercarse un múltiplo de b</a:t>
            </a:r>
            <a:endParaRPr/>
          </a:p>
          <a:p>
            <a:pPr indent="-342900" lvl="0" marL="457200" marR="0" rtl="0" algn="l">
              <a:lnSpc>
                <a:spcPct val="115000"/>
              </a:lnSpc>
              <a:spcBef>
                <a:spcPts val="1600"/>
              </a:spcBef>
              <a:spcAft>
                <a:spcPts val="1600"/>
              </a:spcAft>
              <a:buSzPts val="1800"/>
              <a:buChar char="●"/>
            </a:pPr>
            <a:r>
              <a:rPr lang="es"/>
              <a:t>Para algún valor de redondeo b, redondeamos hacia arriba: </a:t>
            </a:r>
            <a:endParaRPr/>
          </a:p>
        </p:txBody>
      </p:sp>
      <p:pic>
        <p:nvPicPr>
          <p:cNvPr id="146" name="Google Shape;146;p24"/>
          <p:cNvPicPr preferRelativeResize="0"/>
          <p:nvPr/>
        </p:nvPicPr>
        <p:blipFill>
          <a:blip r:embed="rId3">
            <a:alphaModFix/>
          </a:blip>
          <a:stretch>
            <a:fillRect/>
          </a:stretch>
        </p:blipFill>
        <p:spPr>
          <a:xfrm>
            <a:off x="6889850" y="4165198"/>
            <a:ext cx="1890625" cy="512025"/>
          </a:xfrm>
          <a:prstGeom prst="rect">
            <a:avLst/>
          </a:prstGeom>
          <a:noFill/>
          <a:ln>
            <a:noFill/>
          </a:ln>
          <a:effectLst>
            <a:outerShdw blurRad="57150" rotWithShape="0" algn="bl" dir="5400000" dist="19050">
              <a:srgbClr val="000000">
                <a:alpha val="50000"/>
              </a:srgbClr>
            </a:outerShdw>
          </a:effectLst>
        </p:spPr>
      </p:pic>
      <p:pic>
        <p:nvPicPr>
          <p:cNvPr id="147" name="Google Shape;147;p24"/>
          <p:cNvPicPr preferRelativeResize="0"/>
          <p:nvPr/>
        </p:nvPicPr>
        <p:blipFill>
          <a:blip r:embed="rId4">
            <a:alphaModFix/>
          </a:blip>
          <a:stretch>
            <a:fillRect/>
          </a:stretch>
        </p:blipFill>
        <p:spPr>
          <a:xfrm>
            <a:off x="3602292" y="4567331"/>
            <a:ext cx="2284158" cy="461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Mochila Aproximada</a:t>
            </a:r>
            <a:endParaRPr/>
          </a:p>
        </p:txBody>
      </p:sp>
      <p:sp>
        <p:nvSpPr>
          <p:cNvPr id="153" name="Google Shape;153;p25"/>
          <p:cNvSpPr txBox="1"/>
          <p:nvPr>
            <p:ph idx="1" type="body"/>
          </p:nvPr>
        </p:nvSpPr>
        <p:spPr>
          <a:xfrm>
            <a:off x="311700" y="1171600"/>
            <a:ext cx="8368200" cy="38241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lang="es"/>
              <a:t>La aproximación de cada valor </a:t>
            </a:r>
            <a:r>
              <a:rPr lang="es"/>
              <a:t>está</a:t>
            </a:r>
            <a:r>
              <a:rPr lang="es"/>
              <a:t> a una distancia no mayor que b</a:t>
            </a:r>
            <a:endParaRPr/>
          </a:p>
          <a:p>
            <a:pPr indent="-342900" lvl="0" marL="457200" marR="0" rtl="0" algn="l">
              <a:lnSpc>
                <a:spcPct val="115000"/>
              </a:lnSpc>
              <a:spcBef>
                <a:spcPts val="1600"/>
              </a:spcBef>
              <a:spcAft>
                <a:spcPts val="0"/>
              </a:spcAft>
              <a:buSzPts val="1800"/>
              <a:buChar char="●"/>
            </a:pPr>
            <a:r>
              <a:rPr lang="es"/>
              <a:t>Ahora que todos los valores son múltiplos de b, se puede dividir por b, conseguir valores enteros que nos permitan operar el algoritmo de PD</a:t>
            </a:r>
            <a:endParaRPr/>
          </a:p>
          <a:p>
            <a:pPr indent="-342900" lvl="0" marL="457200" marR="0" rtl="0" algn="l">
              <a:lnSpc>
                <a:spcPct val="115000"/>
              </a:lnSpc>
              <a:spcBef>
                <a:spcPts val="1600"/>
              </a:spcBef>
              <a:spcAft>
                <a:spcPts val="0"/>
              </a:spcAft>
              <a:buSzPts val="1800"/>
              <a:buChar char="●"/>
            </a:pPr>
            <a:r>
              <a:rPr lang="es"/>
              <a:t>Encontrar una solución óptima para los valores reescalados al dividir por b es una solución equivalente al problema con los valores aproximados</a:t>
            </a:r>
            <a:endParaRPr/>
          </a:p>
          <a:p>
            <a:pPr indent="-342900" lvl="0" marL="457200" marR="0" rtl="0" algn="l">
              <a:lnSpc>
                <a:spcPct val="115000"/>
              </a:lnSpc>
              <a:spcBef>
                <a:spcPts val="1600"/>
              </a:spcBef>
              <a:spcAft>
                <a:spcPts val="0"/>
              </a:spcAft>
              <a:buSzPts val="1800"/>
              <a:buChar char="●"/>
            </a:pPr>
            <a:r>
              <a:rPr lang="es"/>
              <a:t>Asumimos que ningún ítem tiene peso mayor a W (se omite)</a:t>
            </a:r>
            <a:endParaRPr/>
          </a:p>
          <a:p>
            <a:pPr indent="-342900" lvl="0" marL="457200" marR="0" rtl="0" algn="l">
              <a:lnSpc>
                <a:spcPct val="115000"/>
              </a:lnSpc>
              <a:spcBef>
                <a:spcPts val="1600"/>
              </a:spcBef>
              <a:spcAft>
                <a:spcPts val="1600"/>
              </a:spcAft>
              <a:buSzPts val="1800"/>
              <a:buChar char="●"/>
            </a:pPr>
            <a:r>
              <a:rPr lang="es"/>
              <a:t>Asumimos que </a:t>
            </a:r>
            <a:r>
              <a:rPr lang="es"/>
              <a:t>ε</a:t>
            </a:r>
            <a:r>
              <a:rPr baseline="30000" lang="es" sz="1500">
                <a:solidFill>
                  <a:srgbClr val="040C28"/>
                </a:solidFill>
                <a:latin typeface="Arial"/>
                <a:ea typeface="Arial"/>
                <a:cs typeface="Arial"/>
                <a:sym typeface="Arial"/>
              </a:rPr>
              <a:t>-1</a:t>
            </a:r>
            <a:r>
              <a:rPr lang="es"/>
              <a:t> es entero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Mochila Aproximada</a:t>
            </a:r>
            <a:endParaRPr/>
          </a:p>
        </p:txBody>
      </p:sp>
      <p:sp>
        <p:nvSpPr>
          <p:cNvPr id="159" name="Google Shape;159;p26"/>
          <p:cNvSpPr txBox="1"/>
          <p:nvPr>
            <p:ph idx="1" type="body"/>
          </p:nvPr>
        </p:nvSpPr>
        <p:spPr>
          <a:xfrm>
            <a:off x="311700" y="1171600"/>
            <a:ext cx="8520600" cy="365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El Algoritmo es el siguiente</a:t>
            </a:r>
            <a:endParaRPr/>
          </a:p>
          <a:p>
            <a:pPr indent="-342900" lvl="0" marL="457200" rtl="0" algn="l">
              <a:spcBef>
                <a:spcPts val="1600"/>
              </a:spcBef>
              <a:spcAft>
                <a:spcPts val="0"/>
              </a:spcAft>
              <a:buSzPts val="1800"/>
              <a:buChar char="-"/>
            </a:pPr>
            <a:r>
              <a:rPr lang="es"/>
              <a:t>Definir que b es (</a:t>
            </a:r>
            <a:r>
              <a:rPr lang="es"/>
              <a:t>ε</a:t>
            </a:r>
            <a:r>
              <a:rPr lang="es" sz="1500">
                <a:solidFill>
                  <a:srgbClr val="040C28"/>
                </a:solidFill>
                <a:latin typeface="Arial"/>
                <a:ea typeface="Arial"/>
                <a:cs typeface="Arial"/>
                <a:sym typeface="Arial"/>
              </a:rPr>
              <a:t>/(2n) * max v</a:t>
            </a:r>
            <a:r>
              <a:rPr b="1" baseline="-25000" lang="es"/>
              <a:t>i</a:t>
            </a:r>
            <a:r>
              <a:rPr lang="es"/>
              <a:t>)</a:t>
            </a:r>
            <a:endParaRPr/>
          </a:p>
          <a:p>
            <a:pPr indent="-342900" lvl="0" marL="457200" rtl="0" algn="l">
              <a:spcBef>
                <a:spcPts val="0"/>
              </a:spcBef>
              <a:spcAft>
                <a:spcPts val="0"/>
              </a:spcAft>
              <a:buSzPts val="1800"/>
              <a:buChar char="-"/>
            </a:pPr>
            <a:r>
              <a:rPr lang="es"/>
              <a:t>Resolver el problema de la mochila con todos los valores aproximados reescalados (divididos) por el factor b</a:t>
            </a:r>
            <a:endParaRPr/>
          </a:p>
          <a:p>
            <a:pPr indent="-342900" lvl="0" marL="457200" rtl="0" algn="l">
              <a:spcBef>
                <a:spcPts val="0"/>
              </a:spcBef>
              <a:spcAft>
                <a:spcPts val="0"/>
              </a:spcAft>
              <a:buSzPts val="1800"/>
              <a:buChar char="-"/>
            </a:pPr>
            <a:r>
              <a:rPr lang="es"/>
              <a:t>La solución aproximada al problema original es el conjunto de elementos encontrados por esta solución (que es óptima) del problema redondeado</a:t>
            </a:r>
            <a:endParaRPr/>
          </a:p>
          <a:p>
            <a:pPr indent="0" lvl="0" marL="0" rtl="0" algn="l">
              <a:spcBef>
                <a:spcPts val="1600"/>
              </a:spcBef>
              <a:spcAft>
                <a:spcPts val="0"/>
              </a:spcAft>
              <a:buNone/>
            </a:pPr>
            <a:r>
              <a:rPr lang="es"/>
              <a:t>El algoritmo se asegura siempre de dar un conjunto de elementos con suma de pesos menores a W</a:t>
            </a:r>
            <a:endParaRPr/>
          </a:p>
          <a:p>
            <a:pPr indent="0" lvl="0" marL="0" rtl="0" algn="l">
              <a:spcBef>
                <a:spcPts val="1600"/>
              </a:spcBef>
              <a:spcAft>
                <a:spcPts val="1600"/>
              </a:spcAft>
              <a:buNone/>
            </a:pPr>
            <a:r>
              <a:rPr lang="es"/>
              <a:t>El algoritmo es polinomial para un valor fijo de </a:t>
            </a:r>
            <a:r>
              <a:rPr lang="es"/>
              <a:t>ε</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Mochila Aproximada: Complejidad Temporal</a:t>
            </a:r>
            <a:endParaRPr/>
          </a:p>
        </p:txBody>
      </p:sp>
      <p:sp>
        <p:nvSpPr>
          <p:cNvPr id="165" name="Google Shape;165;p27"/>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El algoritmo es polinomial para un valor fijo de ε</a:t>
            </a:r>
            <a:endParaRPr/>
          </a:p>
          <a:p>
            <a:pPr indent="-342900" lvl="0" marL="457200" rtl="0" algn="l">
              <a:spcBef>
                <a:spcPts val="1600"/>
              </a:spcBef>
              <a:spcAft>
                <a:spcPts val="0"/>
              </a:spcAft>
              <a:buSzPts val="1800"/>
              <a:buChar char="-"/>
            </a:pPr>
            <a:r>
              <a:rPr lang="es"/>
              <a:t>Calcular el valor de b y los redondeos se hacen en O(n)</a:t>
            </a:r>
            <a:endParaRPr/>
          </a:p>
          <a:p>
            <a:pPr indent="-342900" lvl="0" marL="457200" rtl="0" algn="l">
              <a:spcBef>
                <a:spcPts val="0"/>
              </a:spcBef>
              <a:spcAft>
                <a:spcPts val="0"/>
              </a:spcAft>
              <a:buSzPts val="1800"/>
              <a:buChar char="-"/>
            </a:pPr>
            <a:r>
              <a:rPr lang="es"/>
              <a:t>La complejidad fuerte está en la PD de O(n</a:t>
            </a:r>
            <a:r>
              <a:rPr baseline="30000" lang="es"/>
              <a:t>2</a:t>
            </a:r>
            <a:r>
              <a:rPr lang="es"/>
              <a:t>v∗), con v∗ = max</a:t>
            </a:r>
            <a:r>
              <a:rPr b="1" baseline="-25000" lang="es"/>
              <a:t>i</a:t>
            </a:r>
            <a:r>
              <a:rPr lang="es"/>
              <a:t> </a:t>
            </a:r>
            <a:r>
              <a:rPr lang="es" sz="1500">
                <a:solidFill>
                  <a:srgbClr val="040C28"/>
                </a:solidFill>
                <a:latin typeface="Arial"/>
                <a:ea typeface="Arial"/>
                <a:cs typeface="Arial"/>
                <a:sym typeface="Arial"/>
              </a:rPr>
              <a:t>v</a:t>
            </a:r>
            <a:r>
              <a:rPr b="1" baseline="-25000" lang="es"/>
              <a:t>i</a:t>
            </a:r>
            <a:endParaRPr/>
          </a:p>
          <a:p>
            <a:pPr indent="-342900" lvl="0" marL="457200" rtl="0" algn="l">
              <a:spcBef>
                <a:spcPts val="0"/>
              </a:spcBef>
              <a:spcAft>
                <a:spcPts val="0"/>
              </a:spcAft>
              <a:buSzPts val="1800"/>
              <a:buChar char="-"/>
            </a:pPr>
            <a:r>
              <a:rPr lang="es"/>
              <a:t>La PD aplica a un caso con los mismos pesos, y valores modificados</a:t>
            </a:r>
            <a:endParaRPr/>
          </a:p>
          <a:p>
            <a:pPr indent="-342900" lvl="0" marL="457200" rtl="0" algn="l">
              <a:spcBef>
                <a:spcPts val="0"/>
              </a:spcBef>
              <a:spcAft>
                <a:spcPts val="0"/>
              </a:spcAft>
              <a:buSzPts val="1800"/>
              <a:buChar char="-"/>
            </a:pPr>
            <a:r>
              <a:rPr lang="es"/>
              <a:t>El v* mayor es también el mayor de los valores del caso original</a:t>
            </a:r>
            <a:endParaRPr/>
          </a:p>
          <a:p>
            <a:pPr indent="-342900" lvl="0" marL="457200" rtl="0" algn="l">
              <a:spcBef>
                <a:spcPts val="0"/>
              </a:spcBef>
              <a:spcAft>
                <a:spcPts val="0"/>
              </a:spcAft>
              <a:buSzPts val="1800"/>
              <a:buChar char="-"/>
            </a:pPr>
            <a:r>
              <a:rPr lang="es"/>
              <a:t>El valor de b es (ε</a:t>
            </a:r>
            <a:r>
              <a:rPr lang="es" sz="1500">
                <a:solidFill>
                  <a:srgbClr val="040C28"/>
                </a:solidFill>
                <a:latin typeface="Arial"/>
                <a:ea typeface="Arial"/>
                <a:cs typeface="Arial"/>
                <a:sym typeface="Arial"/>
              </a:rPr>
              <a:t>/(2n) * max v</a:t>
            </a:r>
            <a:r>
              <a:rPr b="1" baseline="-25000" lang="es"/>
              <a:t>i</a:t>
            </a:r>
            <a:r>
              <a:rPr lang="es"/>
              <a:t>)</a:t>
            </a:r>
            <a:endParaRPr/>
          </a:p>
          <a:p>
            <a:pPr indent="-342900" lvl="0" marL="457200" rtl="0" algn="l">
              <a:spcBef>
                <a:spcPts val="0"/>
              </a:spcBef>
              <a:spcAft>
                <a:spcPts val="0"/>
              </a:spcAft>
              <a:buSzPts val="1800"/>
              <a:buChar char="-"/>
            </a:pPr>
            <a:r>
              <a:rPr lang="es"/>
              <a:t>El valor v* mayor será entonces</a:t>
            </a:r>
            <a:endParaRPr/>
          </a:p>
        </p:txBody>
      </p:sp>
      <p:pic>
        <p:nvPicPr>
          <p:cNvPr id="166" name="Google Shape;166;p27"/>
          <p:cNvPicPr preferRelativeResize="0"/>
          <p:nvPr/>
        </p:nvPicPr>
        <p:blipFill>
          <a:blip r:embed="rId3">
            <a:alphaModFix/>
          </a:blip>
          <a:stretch>
            <a:fillRect/>
          </a:stretch>
        </p:blipFill>
        <p:spPr>
          <a:xfrm>
            <a:off x="4166995" y="3294550"/>
            <a:ext cx="3499776" cy="386850"/>
          </a:xfrm>
          <a:prstGeom prst="rect">
            <a:avLst/>
          </a:prstGeom>
          <a:noFill/>
          <a:ln>
            <a:noFill/>
          </a:ln>
        </p:spPr>
      </p:pic>
      <p:cxnSp>
        <p:nvCxnSpPr>
          <p:cNvPr id="167" name="Google Shape;167;p27"/>
          <p:cNvCxnSpPr/>
          <p:nvPr/>
        </p:nvCxnSpPr>
        <p:spPr>
          <a:xfrm>
            <a:off x="2733350" y="4042825"/>
            <a:ext cx="870000" cy="0"/>
          </a:xfrm>
          <a:prstGeom prst="straightConnector1">
            <a:avLst/>
          </a:prstGeom>
          <a:noFill/>
          <a:ln cap="flat" cmpd="sng" w="38100">
            <a:solidFill>
              <a:srgbClr val="00695C"/>
            </a:solidFill>
            <a:prstDash val="solid"/>
            <a:round/>
            <a:headEnd len="med" w="med" type="none"/>
            <a:tailEnd len="med" w="med" type="triangle"/>
          </a:ln>
        </p:spPr>
      </p:cxnSp>
      <p:pic>
        <p:nvPicPr>
          <p:cNvPr id="168" name="Google Shape;168;p27"/>
          <p:cNvPicPr preferRelativeResize="0"/>
          <p:nvPr/>
        </p:nvPicPr>
        <p:blipFill>
          <a:blip r:embed="rId4">
            <a:alphaModFix/>
          </a:blip>
          <a:stretch>
            <a:fillRect/>
          </a:stretch>
        </p:blipFill>
        <p:spPr>
          <a:xfrm>
            <a:off x="3708250" y="3796875"/>
            <a:ext cx="1602925" cy="491900"/>
          </a:xfrm>
          <a:prstGeom prst="rect">
            <a:avLst/>
          </a:prstGeom>
          <a:noFill/>
          <a:ln>
            <a:noFill/>
          </a:ln>
        </p:spPr>
      </p:pic>
      <p:sp>
        <p:nvSpPr>
          <p:cNvPr id="169" name="Google Shape;169;p27"/>
          <p:cNvSpPr txBox="1"/>
          <p:nvPr>
            <p:ph idx="1" type="body"/>
          </p:nvPr>
        </p:nvSpPr>
        <p:spPr>
          <a:xfrm>
            <a:off x="311700" y="4419350"/>
            <a:ext cx="8520600" cy="49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Pero que nuevamente es Pseudo-Polinomial al depender del valor </a:t>
            </a:r>
            <a:r>
              <a:rPr lang="es"/>
              <a:t>ε</a:t>
            </a:r>
            <a:r>
              <a:rPr lang="es" sz="1500">
                <a:solidFill>
                  <a:srgbClr val="040C28"/>
                </a:solidFill>
                <a:latin typeface="Arial"/>
                <a:ea typeface="Arial"/>
                <a:cs typeface="Arial"/>
                <a:sym typeface="Arial"/>
              </a:rPr>
              <a:t>^-1</a:t>
            </a:r>
            <a:endParaRPr/>
          </a:p>
          <a:p>
            <a:pPr indent="-342900" lvl="0" marL="457200" rtl="0" algn="l">
              <a:spcBef>
                <a:spcPts val="1600"/>
              </a:spcBef>
              <a:spcAft>
                <a:spcPts val="0"/>
              </a:spcAft>
              <a:buSzPts val="1800"/>
              <a:buChar char="-"/>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Mochila Aproximada: </a:t>
            </a:r>
            <a:r>
              <a:rPr lang="es" sz="2700"/>
              <a:t>cuánto nos aproximamos</a:t>
            </a:r>
            <a:endParaRPr/>
          </a:p>
        </p:txBody>
      </p:sp>
      <p:sp>
        <p:nvSpPr>
          <p:cNvPr id="175" name="Google Shape;175;p28"/>
          <p:cNvSpPr txBox="1"/>
          <p:nvPr>
            <p:ph idx="1" type="body"/>
          </p:nvPr>
        </p:nvSpPr>
        <p:spPr>
          <a:xfrm>
            <a:off x="2438000" y="1613650"/>
            <a:ext cx="6557100" cy="783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La solución en los valores aproximados es óptima, y la relación con los valores reales es estrecha (redondeo hacia arriba)</a:t>
            </a:r>
            <a:endParaRPr/>
          </a:p>
        </p:txBody>
      </p:sp>
      <p:pic>
        <p:nvPicPr>
          <p:cNvPr id="176" name="Google Shape;176;p28"/>
          <p:cNvPicPr preferRelativeResize="0"/>
          <p:nvPr/>
        </p:nvPicPr>
        <p:blipFill>
          <a:blip r:embed="rId3">
            <a:alphaModFix/>
          </a:blip>
          <a:stretch>
            <a:fillRect/>
          </a:stretch>
        </p:blipFill>
        <p:spPr>
          <a:xfrm>
            <a:off x="2678975" y="1058225"/>
            <a:ext cx="3786051" cy="457325"/>
          </a:xfrm>
          <a:prstGeom prst="rect">
            <a:avLst/>
          </a:prstGeom>
          <a:noFill/>
          <a:ln>
            <a:noFill/>
          </a:ln>
        </p:spPr>
      </p:pic>
      <p:pic>
        <p:nvPicPr>
          <p:cNvPr id="177" name="Google Shape;177;p28"/>
          <p:cNvPicPr preferRelativeResize="0"/>
          <p:nvPr/>
        </p:nvPicPr>
        <p:blipFill>
          <a:blip r:embed="rId4">
            <a:alphaModFix/>
          </a:blip>
          <a:stretch>
            <a:fillRect/>
          </a:stretch>
        </p:blipFill>
        <p:spPr>
          <a:xfrm>
            <a:off x="152400" y="1591750"/>
            <a:ext cx="2024625" cy="876225"/>
          </a:xfrm>
          <a:prstGeom prst="rect">
            <a:avLst/>
          </a:prstGeom>
          <a:noFill/>
          <a:ln>
            <a:noFill/>
          </a:ln>
        </p:spPr>
      </p:pic>
      <p:sp>
        <p:nvSpPr>
          <p:cNvPr id="178" name="Google Shape;178;p28"/>
          <p:cNvSpPr txBox="1"/>
          <p:nvPr>
            <p:ph idx="1" type="body"/>
          </p:nvPr>
        </p:nvSpPr>
        <p:spPr>
          <a:xfrm>
            <a:off x="1759500" y="1063625"/>
            <a:ext cx="1354200" cy="45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Probar</a:t>
            </a:r>
            <a:endParaRPr/>
          </a:p>
        </p:txBody>
      </p:sp>
      <p:pic>
        <p:nvPicPr>
          <p:cNvPr id="179" name="Google Shape;179;p28"/>
          <p:cNvPicPr preferRelativeResize="0"/>
          <p:nvPr/>
        </p:nvPicPr>
        <p:blipFill>
          <a:blip r:embed="rId5">
            <a:alphaModFix/>
          </a:blip>
          <a:stretch>
            <a:fillRect/>
          </a:stretch>
        </p:blipFill>
        <p:spPr>
          <a:xfrm>
            <a:off x="520350" y="2538900"/>
            <a:ext cx="8103299" cy="999700"/>
          </a:xfrm>
          <a:prstGeom prst="rect">
            <a:avLst/>
          </a:prstGeom>
          <a:noFill/>
          <a:ln>
            <a:noFill/>
          </a:ln>
        </p:spPr>
      </p:pic>
      <p:sp>
        <p:nvSpPr>
          <p:cNvPr id="180" name="Google Shape;180;p28"/>
          <p:cNvSpPr txBox="1"/>
          <p:nvPr>
            <p:ph idx="1" type="body"/>
          </p:nvPr>
        </p:nvSpPr>
        <p:spPr>
          <a:xfrm>
            <a:off x="152400" y="4137450"/>
            <a:ext cx="8991600" cy="45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En particular, n fue elegido </a:t>
            </a:r>
            <a:r>
              <a:rPr lang="es"/>
              <a:t>por el máximo valor </a:t>
            </a:r>
            <a:r>
              <a:rPr lang="es" sz="1500">
                <a:solidFill>
                  <a:srgbClr val="040C28"/>
                </a:solidFill>
                <a:latin typeface="Arial"/>
                <a:ea typeface="Arial"/>
                <a:cs typeface="Arial"/>
                <a:sym typeface="Arial"/>
              </a:rPr>
              <a:t>v</a:t>
            </a:r>
            <a:r>
              <a:rPr b="1" baseline="-25000" lang="es"/>
              <a:t>j</a:t>
            </a:r>
            <a:r>
              <a:rPr lang="es"/>
              <a:t>, </a:t>
            </a:r>
            <a:r>
              <a:rPr lang="es" sz="1500">
                <a:solidFill>
                  <a:srgbClr val="040C28"/>
                </a:solidFill>
                <a:latin typeface="Arial"/>
                <a:ea typeface="Arial"/>
                <a:cs typeface="Arial"/>
                <a:sym typeface="Arial"/>
              </a:rPr>
              <a:t>v</a:t>
            </a:r>
            <a:r>
              <a:rPr b="1" baseline="-25000" lang="es"/>
              <a:t>i </a:t>
            </a:r>
            <a:r>
              <a:rPr lang="es"/>
              <a:t>= 2(ε</a:t>
            </a:r>
            <a:r>
              <a:rPr baseline="30000" lang="es" sz="1500">
                <a:solidFill>
                  <a:srgbClr val="040C28"/>
                </a:solidFill>
                <a:latin typeface="Arial"/>
                <a:ea typeface="Arial"/>
                <a:cs typeface="Arial"/>
                <a:sym typeface="Arial"/>
              </a:rPr>
              <a:t>-1</a:t>
            </a:r>
            <a:r>
              <a:rPr lang="es"/>
              <a:t>)nb, que entra en la mochila</a:t>
            </a:r>
            <a:endParaRPr/>
          </a:p>
        </p:txBody>
      </p:sp>
      <p:pic>
        <p:nvPicPr>
          <p:cNvPr id="181" name="Google Shape;181;p28"/>
          <p:cNvPicPr preferRelativeResize="0"/>
          <p:nvPr/>
        </p:nvPicPr>
        <p:blipFill>
          <a:blip r:embed="rId6">
            <a:alphaModFix/>
          </a:blip>
          <a:stretch>
            <a:fillRect/>
          </a:stretch>
        </p:blipFill>
        <p:spPr>
          <a:xfrm>
            <a:off x="2989938" y="4507300"/>
            <a:ext cx="3164114" cy="457200"/>
          </a:xfrm>
          <a:prstGeom prst="rect">
            <a:avLst/>
          </a:prstGeom>
          <a:noFill/>
          <a:ln>
            <a:noFill/>
          </a:ln>
        </p:spPr>
      </p:pic>
      <p:pic>
        <p:nvPicPr>
          <p:cNvPr id="182" name="Google Shape;182;p28"/>
          <p:cNvPicPr preferRelativeResize="0"/>
          <p:nvPr/>
        </p:nvPicPr>
        <p:blipFill>
          <a:blip r:embed="rId7">
            <a:alphaModFix/>
          </a:blip>
          <a:stretch>
            <a:fillRect/>
          </a:stretch>
        </p:blipFill>
        <p:spPr>
          <a:xfrm>
            <a:off x="2410564" y="3585625"/>
            <a:ext cx="4410075" cy="609600"/>
          </a:xfrm>
          <a:prstGeom prst="rect">
            <a:avLst/>
          </a:prstGeom>
          <a:noFill/>
          <a:ln>
            <a:noFill/>
          </a:ln>
        </p:spPr>
      </p:pic>
      <p:cxnSp>
        <p:nvCxnSpPr>
          <p:cNvPr id="183" name="Google Shape;183;p28"/>
          <p:cNvCxnSpPr/>
          <p:nvPr/>
        </p:nvCxnSpPr>
        <p:spPr>
          <a:xfrm>
            <a:off x="1307025" y="3944950"/>
            <a:ext cx="870000" cy="0"/>
          </a:xfrm>
          <a:prstGeom prst="straightConnector1">
            <a:avLst/>
          </a:prstGeom>
          <a:noFill/>
          <a:ln cap="flat" cmpd="sng" w="38100">
            <a:solidFill>
              <a:srgbClr val="00695C"/>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Mochila Aproximada: cuánto nos aproximamos</a:t>
            </a:r>
            <a:endParaRPr/>
          </a:p>
        </p:txBody>
      </p:sp>
      <p:pic>
        <p:nvPicPr>
          <p:cNvPr id="189" name="Google Shape;189;p29"/>
          <p:cNvPicPr preferRelativeResize="0"/>
          <p:nvPr/>
        </p:nvPicPr>
        <p:blipFill>
          <a:blip r:embed="rId3">
            <a:alphaModFix/>
          </a:blip>
          <a:stretch>
            <a:fillRect/>
          </a:stretch>
        </p:blipFill>
        <p:spPr>
          <a:xfrm>
            <a:off x="311689" y="1171600"/>
            <a:ext cx="4410075" cy="609600"/>
          </a:xfrm>
          <a:prstGeom prst="rect">
            <a:avLst/>
          </a:prstGeom>
          <a:noFill/>
          <a:ln>
            <a:noFill/>
          </a:ln>
        </p:spPr>
      </p:pic>
      <p:pic>
        <p:nvPicPr>
          <p:cNvPr id="190" name="Google Shape;190;p29"/>
          <p:cNvPicPr preferRelativeResize="0"/>
          <p:nvPr/>
        </p:nvPicPr>
        <p:blipFill>
          <a:blip r:embed="rId4">
            <a:alphaModFix/>
          </a:blip>
          <a:stretch>
            <a:fillRect/>
          </a:stretch>
        </p:blipFill>
        <p:spPr>
          <a:xfrm>
            <a:off x="5668188" y="1247800"/>
            <a:ext cx="3164114" cy="457200"/>
          </a:xfrm>
          <a:prstGeom prst="rect">
            <a:avLst/>
          </a:prstGeom>
          <a:noFill/>
          <a:ln>
            <a:noFill/>
          </a:ln>
        </p:spPr>
      </p:pic>
      <p:pic>
        <p:nvPicPr>
          <p:cNvPr id="191" name="Google Shape;191;p29"/>
          <p:cNvPicPr preferRelativeResize="0"/>
          <p:nvPr/>
        </p:nvPicPr>
        <p:blipFill>
          <a:blip r:embed="rId5">
            <a:alphaModFix/>
          </a:blip>
          <a:stretch>
            <a:fillRect/>
          </a:stretch>
        </p:blipFill>
        <p:spPr>
          <a:xfrm>
            <a:off x="1290625" y="2042163"/>
            <a:ext cx="4429125" cy="581025"/>
          </a:xfrm>
          <a:prstGeom prst="rect">
            <a:avLst/>
          </a:prstGeom>
          <a:noFill/>
          <a:ln>
            <a:noFill/>
          </a:ln>
        </p:spPr>
      </p:pic>
      <p:cxnSp>
        <p:nvCxnSpPr>
          <p:cNvPr id="192" name="Google Shape;192;p29"/>
          <p:cNvCxnSpPr/>
          <p:nvPr/>
        </p:nvCxnSpPr>
        <p:spPr>
          <a:xfrm>
            <a:off x="240225" y="2344750"/>
            <a:ext cx="870000" cy="0"/>
          </a:xfrm>
          <a:prstGeom prst="straightConnector1">
            <a:avLst/>
          </a:prstGeom>
          <a:noFill/>
          <a:ln cap="flat" cmpd="sng" w="38100">
            <a:solidFill>
              <a:srgbClr val="00695C"/>
            </a:solidFill>
            <a:prstDash val="solid"/>
            <a:round/>
            <a:headEnd len="med" w="med" type="none"/>
            <a:tailEnd len="med" w="med" type="triangle"/>
          </a:ln>
        </p:spPr>
      </p:cxnSp>
      <p:pic>
        <p:nvPicPr>
          <p:cNvPr id="193" name="Google Shape;193;p29"/>
          <p:cNvPicPr preferRelativeResize="0"/>
          <p:nvPr/>
        </p:nvPicPr>
        <p:blipFill>
          <a:blip r:embed="rId6">
            <a:alphaModFix/>
          </a:blip>
          <a:stretch>
            <a:fillRect/>
          </a:stretch>
        </p:blipFill>
        <p:spPr>
          <a:xfrm>
            <a:off x="2592163" y="2807400"/>
            <a:ext cx="3959676" cy="457200"/>
          </a:xfrm>
          <a:prstGeom prst="rect">
            <a:avLst/>
          </a:prstGeom>
          <a:noFill/>
          <a:ln>
            <a:noFill/>
          </a:ln>
        </p:spPr>
      </p:pic>
      <p:pic>
        <p:nvPicPr>
          <p:cNvPr id="194" name="Google Shape;194;p29"/>
          <p:cNvPicPr preferRelativeResize="0"/>
          <p:nvPr/>
        </p:nvPicPr>
        <p:blipFill>
          <a:blip r:embed="rId7">
            <a:alphaModFix/>
          </a:blip>
          <a:stretch>
            <a:fillRect/>
          </a:stretch>
        </p:blipFill>
        <p:spPr>
          <a:xfrm>
            <a:off x="1166788" y="3533388"/>
            <a:ext cx="6810375" cy="1381125"/>
          </a:xfrm>
          <a:prstGeom prst="rect">
            <a:avLst/>
          </a:prstGeom>
          <a:noFill/>
          <a:ln>
            <a:noFill/>
          </a:ln>
        </p:spPr>
      </p:pic>
      <p:grpSp>
        <p:nvGrpSpPr>
          <p:cNvPr id="195" name="Google Shape;195;p29"/>
          <p:cNvGrpSpPr/>
          <p:nvPr/>
        </p:nvGrpSpPr>
        <p:grpSpPr>
          <a:xfrm>
            <a:off x="5747750" y="2111387"/>
            <a:ext cx="2756475" cy="466725"/>
            <a:chOff x="5900150" y="2111387"/>
            <a:chExt cx="2756475" cy="466725"/>
          </a:xfrm>
        </p:grpSpPr>
        <p:pic>
          <p:nvPicPr>
            <p:cNvPr id="196" name="Google Shape;196;p29"/>
            <p:cNvPicPr preferRelativeResize="0"/>
            <p:nvPr/>
          </p:nvPicPr>
          <p:blipFill>
            <a:blip r:embed="rId8">
              <a:alphaModFix/>
            </a:blip>
            <a:stretch>
              <a:fillRect/>
            </a:stretch>
          </p:blipFill>
          <p:spPr>
            <a:xfrm>
              <a:off x="5900150" y="2111387"/>
              <a:ext cx="1295400" cy="466725"/>
            </a:xfrm>
            <a:prstGeom prst="rect">
              <a:avLst/>
            </a:prstGeom>
            <a:noFill/>
            <a:ln>
              <a:noFill/>
            </a:ln>
          </p:spPr>
        </p:pic>
        <p:pic>
          <p:nvPicPr>
            <p:cNvPr id="197" name="Google Shape;197;p29"/>
            <p:cNvPicPr preferRelativeResize="0"/>
            <p:nvPr/>
          </p:nvPicPr>
          <p:blipFill>
            <a:blip r:embed="rId9">
              <a:alphaModFix/>
            </a:blip>
            <a:stretch>
              <a:fillRect/>
            </a:stretch>
          </p:blipFill>
          <p:spPr>
            <a:xfrm>
              <a:off x="7075475" y="2130438"/>
              <a:ext cx="1581150" cy="428625"/>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 Maximizar Sumatoria</a:t>
            </a:r>
            <a:endParaRPr/>
          </a:p>
        </p:txBody>
      </p:sp>
      <p:sp>
        <p:nvSpPr>
          <p:cNvPr id="203" name="Google Shape;203;p30"/>
          <p:cNvSpPr txBox="1"/>
          <p:nvPr>
            <p:ph idx="1" type="body"/>
          </p:nvPr>
        </p:nvSpPr>
        <p:spPr>
          <a:xfrm>
            <a:off x="311700" y="1171600"/>
            <a:ext cx="87051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00"/>
              <a:t>Dado un límite W y un conjunto de valores enteros V, se busca un subconjunto de V que maximice la sumatoria de valores sin exceder el valor W.</a:t>
            </a:r>
            <a:endParaRPr sz="1600"/>
          </a:p>
          <a:p>
            <a:pPr indent="-330200" lvl="0" marL="457200" rtl="0" algn="l">
              <a:spcBef>
                <a:spcPts val="1600"/>
              </a:spcBef>
              <a:spcAft>
                <a:spcPts val="0"/>
              </a:spcAft>
              <a:buSzPts val="1600"/>
              <a:buAutoNum type="arabicPeriod"/>
            </a:pPr>
            <a:r>
              <a:rPr lang="es" sz="1600"/>
              <a:t>Greedy propuesto: agregar “como vienen”, siempre y cuando no se exceda el valor W. Mostrar un caso donde no </a:t>
            </a:r>
            <a:r>
              <a:rPr lang="es" sz="1600"/>
              <a:t>sea óptimo</a:t>
            </a:r>
            <a:r>
              <a:rPr lang="es" sz="1600"/>
              <a:t>. ¿Qué tan mala es la aproximación?</a:t>
            </a:r>
            <a:endParaRPr sz="1600"/>
          </a:p>
          <a:p>
            <a:pPr indent="0" lvl="0" marL="0" rtl="0" algn="l">
              <a:spcBef>
                <a:spcPts val="1600"/>
              </a:spcBef>
              <a:spcAft>
                <a:spcPts val="0"/>
              </a:spcAft>
              <a:buNone/>
            </a:pPr>
            <a:r>
              <a:rPr lang="es" sz="1600"/>
              <a:t>Mostrar que esta es una W-Aproximación</a:t>
            </a:r>
            <a:endParaRPr sz="1600"/>
          </a:p>
          <a:p>
            <a:pPr indent="-330200" lvl="0" marL="457200" rtl="0" algn="l">
              <a:spcBef>
                <a:spcPts val="1600"/>
              </a:spcBef>
              <a:spcAft>
                <a:spcPts val="0"/>
              </a:spcAft>
              <a:buSzPts val="1600"/>
              <a:buAutoNum type="arabicPeriod"/>
            </a:pPr>
            <a:r>
              <a:rPr lang="es" sz="1600"/>
              <a:t>Dar una 2-Aproximación de tiempo O(n log n)</a:t>
            </a:r>
            <a:endParaRPr sz="1600"/>
          </a:p>
          <a:p>
            <a:pPr indent="0" lvl="0" marL="0" marR="0" rtl="0" algn="l">
              <a:lnSpc>
                <a:spcPct val="115000"/>
              </a:lnSpc>
              <a:spcBef>
                <a:spcPts val="1600"/>
              </a:spcBef>
              <a:spcAft>
                <a:spcPts val="0"/>
              </a:spcAft>
              <a:buNone/>
            </a:pPr>
            <a:r>
              <a:t/>
            </a:r>
            <a:endParaRPr sz="1600"/>
          </a:p>
          <a:p>
            <a:pPr indent="-330200" lvl="0" marL="457200" rtl="0" algn="l">
              <a:spcBef>
                <a:spcPts val="1600"/>
              </a:spcBef>
              <a:spcAft>
                <a:spcPts val="0"/>
              </a:spcAft>
              <a:buSzPts val="1600"/>
              <a:buAutoNum type="arabicPeriod"/>
            </a:pPr>
            <a:r>
              <a:rPr lang="es" sz="1600"/>
              <a:t>Dar una 2-Aproximación de tiempo O(n)</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1"/>
          <p:cNvSpPr txBox="1"/>
          <p:nvPr>
            <p:ph type="title"/>
          </p:nvPr>
        </p:nvSpPr>
        <p:spPr>
          <a:xfrm>
            <a:off x="311700" y="2164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Ejercicio: Maximizar Sumatoria</a:t>
            </a:r>
            <a:endParaRPr/>
          </a:p>
        </p:txBody>
      </p:sp>
      <p:sp>
        <p:nvSpPr>
          <p:cNvPr id="209" name="Google Shape;209;p31"/>
          <p:cNvSpPr txBox="1"/>
          <p:nvPr>
            <p:ph idx="1" type="body"/>
          </p:nvPr>
        </p:nvSpPr>
        <p:spPr>
          <a:xfrm>
            <a:off x="311700" y="866800"/>
            <a:ext cx="8759700" cy="415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700"/>
              <a:t>En O(N)</a:t>
            </a:r>
            <a:endParaRPr sz="1700"/>
          </a:p>
          <a:p>
            <a:pPr indent="0" lvl="0" marL="0" rtl="0" algn="l">
              <a:spcBef>
                <a:spcPts val="1600"/>
              </a:spcBef>
              <a:spcAft>
                <a:spcPts val="0"/>
              </a:spcAft>
              <a:buNone/>
            </a:pPr>
            <a:r>
              <a:rPr lang="es" sz="1700"/>
              <a:t>Iterar acumulando los valores </a:t>
            </a:r>
            <a:r>
              <a:rPr lang="es" sz="1700"/>
              <a:t>a</a:t>
            </a:r>
            <a:r>
              <a:rPr b="1" baseline="-25000" lang="es" sz="1700"/>
              <a:t>1</a:t>
            </a:r>
            <a:r>
              <a:rPr lang="es" sz="1700"/>
              <a:t>, a</a:t>
            </a:r>
            <a:r>
              <a:rPr b="1" baseline="-25000" lang="es" sz="1700"/>
              <a:t>2</a:t>
            </a:r>
            <a:r>
              <a:rPr lang="es" sz="1700"/>
              <a:t>,..., a</a:t>
            </a:r>
            <a:r>
              <a:rPr b="1" baseline="-25000" lang="es" sz="1700"/>
              <a:t>n</a:t>
            </a:r>
            <a:r>
              <a:rPr lang="es" sz="1700"/>
              <a:t> siempre que sean menores a W, ignorar mayores </a:t>
            </a:r>
            <a:endParaRPr sz="1700"/>
          </a:p>
          <a:p>
            <a:pPr indent="0" lvl="0" marL="0" rtl="0" algn="l">
              <a:spcBef>
                <a:spcPts val="1600"/>
              </a:spcBef>
              <a:spcAft>
                <a:spcPts val="0"/>
              </a:spcAft>
              <a:buNone/>
            </a:pPr>
            <a:r>
              <a:rPr lang="es" sz="1700"/>
              <a:t>En un momento determinado, nuestra sumatoria excede W, en el elemento </a:t>
            </a:r>
            <a:r>
              <a:rPr lang="es"/>
              <a:t>a</a:t>
            </a:r>
            <a:r>
              <a:rPr b="1" baseline="-25000" lang="es"/>
              <a:t>j</a:t>
            </a:r>
            <a:endParaRPr sz="1700"/>
          </a:p>
          <a:p>
            <a:pPr indent="0" lvl="0" marL="0" rtl="0" algn="l">
              <a:spcBef>
                <a:spcPts val="1600"/>
              </a:spcBef>
              <a:spcAft>
                <a:spcPts val="0"/>
              </a:spcAft>
              <a:buNone/>
            </a:pPr>
            <a:r>
              <a:rPr lang="es" sz="1700"/>
              <a:t>En ese momento determinado, tenemos una sumatoria de elementos sin incluir </a:t>
            </a:r>
            <a:r>
              <a:rPr lang="es"/>
              <a:t>a</a:t>
            </a:r>
            <a:r>
              <a:rPr b="1" baseline="-25000" lang="es"/>
              <a:t>j</a:t>
            </a:r>
            <a:r>
              <a:rPr lang="es" sz="1700"/>
              <a:t> que no excede a W, y </a:t>
            </a:r>
            <a:r>
              <a:rPr lang="es"/>
              <a:t>a</a:t>
            </a:r>
            <a:r>
              <a:rPr b="1" baseline="-25000" lang="es"/>
              <a:t>j</a:t>
            </a:r>
            <a:r>
              <a:rPr lang="es" sz="1700"/>
              <a:t> tampoco excede W. La suma de ambas partes, excede W. Debe cumplirse:</a:t>
            </a:r>
            <a:endParaRPr sz="1700"/>
          </a:p>
          <a:p>
            <a:pPr indent="-336550" lvl="0" marL="457200" rtl="0" algn="l">
              <a:spcBef>
                <a:spcPts val="1600"/>
              </a:spcBef>
              <a:spcAft>
                <a:spcPts val="0"/>
              </a:spcAft>
              <a:buSzPts val="1700"/>
              <a:buChar char="-"/>
            </a:pPr>
            <a:r>
              <a:rPr lang="es" sz="1700"/>
              <a:t>o bien: la sumatoria de elementos sin incluir </a:t>
            </a:r>
            <a:r>
              <a:rPr lang="es"/>
              <a:t>a</a:t>
            </a:r>
            <a:r>
              <a:rPr b="1" baseline="-25000" lang="es"/>
              <a:t>j</a:t>
            </a:r>
            <a:r>
              <a:rPr lang="es" sz="1700"/>
              <a:t> es mayor a W/2, usar como solución</a:t>
            </a:r>
            <a:endParaRPr sz="1700"/>
          </a:p>
          <a:p>
            <a:pPr indent="-336550" lvl="0" marL="457200" rtl="0" algn="l">
              <a:spcBef>
                <a:spcPts val="1600"/>
              </a:spcBef>
              <a:spcAft>
                <a:spcPts val="0"/>
              </a:spcAft>
              <a:buSzPts val="1700"/>
              <a:buChar char="-"/>
            </a:pPr>
            <a:r>
              <a:rPr lang="es" sz="1700"/>
              <a:t>o bien: </a:t>
            </a:r>
            <a:r>
              <a:rPr lang="es"/>
              <a:t>a</a:t>
            </a:r>
            <a:r>
              <a:rPr b="1" baseline="-25000" lang="es"/>
              <a:t>j</a:t>
            </a:r>
            <a:r>
              <a:rPr lang="es" sz="1700"/>
              <a:t> es mayor a W/2, usar como solución</a:t>
            </a:r>
            <a:endParaRPr sz="1700"/>
          </a:p>
          <a:p>
            <a:pPr indent="0" lvl="0" marL="0" rtl="0" algn="l">
              <a:spcBef>
                <a:spcPts val="1600"/>
              </a:spcBef>
              <a:spcAft>
                <a:spcPts val="1600"/>
              </a:spcAft>
              <a:buNone/>
            </a:pPr>
            <a:r>
              <a:rPr lang="es" sz="1700"/>
              <a:t>En ambos casos logramos una solución mejor que W/2, donde W es una cota del óptimo</a:t>
            </a:r>
            <a:endParaRPr sz="1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Propuesta de alumno en 2023C2</a:t>
            </a:r>
            <a:endParaRPr/>
          </a:p>
        </p:txBody>
      </p:sp>
      <p:sp>
        <p:nvSpPr>
          <p:cNvPr id="215" name="Google Shape;215;p32"/>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s"/>
              <a:t>Aplicar el algoritmo anterior</a:t>
            </a:r>
            <a:endParaRPr/>
          </a:p>
          <a:p>
            <a:pPr indent="-342900" lvl="0" marL="457200" rtl="0" algn="l">
              <a:spcBef>
                <a:spcPts val="0"/>
              </a:spcBef>
              <a:spcAft>
                <a:spcPts val="0"/>
              </a:spcAft>
              <a:buSzPts val="1800"/>
              <a:buAutoNum type="arabicPeriod"/>
            </a:pPr>
            <a:r>
              <a:rPr lang="es"/>
              <a:t>De la solución con la que me quedo (cualquiera de las dos), ahora ejecuto nuevamente con W - suma_obtenida, y sin los elementos utilizados.</a:t>
            </a:r>
            <a:endParaRPr/>
          </a:p>
          <a:p>
            <a:pPr indent="-342900" lvl="0" marL="457200" rtl="0" algn="l">
              <a:spcBef>
                <a:spcPts val="0"/>
              </a:spcBef>
              <a:spcAft>
                <a:spcPts val="0"/>
              </a:spcAft>
              <a:buSzPts val="1800"/>
              <a:buAutoNum type="arabicPeriod"/>
            </a:pPr>
            <a:r>
              <a:rPr lang="es"/>
              <a:t>Esto lo aplicamos (en el peor caso) n veces → O(n</a:t>
            </a:r>
            <a:r>
              <a:rPr baseline="30000" lang="es"/>
              <a:t>2</a:t>
            </a:r>
            <a:r>
              <a:rPr lang="es"/>
              <a:t>)</a:t>
            </a:r>
            <a:endParaRPr/>
          </a:p>
          <a:p>
            <a:pPr indent="-342900" lvl="0" marL="457200" rtl="0" algn="l">
              <a:spcBef>
                <a:spcPts val="0"/>
              </a:spcBef>
              <a:spcAft>
                <a:spcPts val="0"/>
              </a:spcAft>
              <a:buSzPts val="1800"/>
              <a:buAutoNum type="arabicPeriod"/>
            </a:pPr>
            <a:r>
              <a:rPr lang="es"/>
              <a:t>Por la ley de Aquiles y la Tortuga, no llegaremos nunca al óptimo pero vamos a estar mucho más cerca (hay que analizar si no hay un caso que lo mantenga como 2-aproximación). </a:t>
            </a:r>
            <a:endParaRPr/>
          </a:p>
          <a:p>
            <a:pPr indent="0" lvl="0" marL="0" rtl="0" algn="l">
              <a:spcBef>
                <a:spcPts val="1600"/>
              </a:spcBef>
              <a:spcAft>
                <a:spcPts val="1600"/>
              </a:spcAft>
              <a:buNone/>
            </a:pPr>
            <a:r>
              <a:rPr lang="es"/>
              <a:t>Si aplicamos a que lo mejor que podemos hacer es W/2 por paso, podríamos decir que es una 2</a:t>
            </a:r>
            <a:r>
              <a:rPr baseline="30000" lang="es"/>
              <a:t>-n</a:t>
            </a:r>
            <a:r>
              <a:rPr lang="es"/>
              <a:t>(2</a:t>
            </a:r>
            <a:r>
              <a:rPr baseline="30000" lang="es"/>
              <a:t>n</a:t>
            </a:r>
            <a:r>
              <a:rPr lang="es"/>
              <a:t> - 1)-aproximación?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3"/>
          <p:cNvSpPr txBox="1"/>
          <p:nvPr>
            <p:ph idx="1" type="body"/>
          </p:nvPr>
        </p:nvSpPr>
        <p:spPr>
          <a:xfrm>
            <a:off x="311700" y="1171600"/>
            <a:ext cx="8520600" cy="371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00"/>
              <a:t>Dadas </a:t>
            </a:r>
            <a:r>
              <a:rPr b="1" lang="es" sz="1600"/>
              <a:t>m</a:t>
            </a:r>
            <a:r>
              <a:rPr lang="es" sz="1600"/>
              <a:t> Máquinas y </a:t>
            </a:r>
            <a:r>
              <a:rPr b="1" lang="es" sz="1600"/>
              <a:t>n</a:t>
            </a:r>
            <a:r>
              <a:rPr lang="es" sz="1600"/>
              <a:t> de trabajos, cada trabajo toma tiempo T</a:t>
            </a:r>
            <a:r>
              <a:rPr b="1" baseline="-25000" lang="es" sz="1600"/>
              <a:t>j</a:t>
            </a:r>
            <a:r>
              <a:rPr lang="es" sz="1600"/>
              <a:t>, asignar el trabajo en las Máquinas de forma balanceada.</a:t>
            </a:r>
            <a:endParaRPr sz="1600"/>
          </a:p>
          <a:p>
            <a:pPr indent="0" lvl="0" marL="0" rtl="0" algn="l">
              <a:spcBef>
                <a:spcPts val="1600"/>
              </a:spcBef>
              <a:spcAft>
                <a:spcPts val="0"/>
              </a:spcAft>
              <a:buNone/>
            </a:pPr>
            <a:r>
              <a:rPr lang="es" sz="1600"/>
              <a:t>Hemos encontrado una asignación que aproximadamente minimiza el </a:t>
            </a:r>
            <a:r>
              <a:rPr lang="es" sz="1600"/>
              <a:t>máximo</a:t>
            </a:r>
            <a:r>
              <a:rPr lang="es" sz="1600"/>
              <a:t> valor de T</a:t>
            </a:r>
            <a:r>
              <a:rPr b="1" baseline="-25000" lang="es" sz="1600"/>
              <a:t>i</a:t>
            </a:r>
            <a:r>
              <a:rPr lang="es" sz="1600"/>
              <a:t>. Notamos que el orden en que llegan los elementos altera la solución</a:t>
            </a:r>
            <a:endParaRPr sz="1600"/>
          </a:p>
          <a:p>
            <a:pPr indent="0" lvl="0" marL="0" rtl="0" algn="l">
              <a:spcBef>
                <a:spcPts val="1600"/>
              </a:spcBef>
              <a:spcAft>
                <a:spcPts val="0"/>
              </a:spcAft>
              <a:buNone/>
            </a:pPr>
            <a:r>
              <a:t/>
            </a:r>
            <a:endParaRPr sz="1600"/>
          </a:p>
          <a:p>
            <a:pPr indent="0" lvl="0" marL="0" rtl="0" algn="l">
              <a:spcBef>
                <a:spcPts val="1600"/>
              </a:spcBef>
              <a:spcAft>
                <a:spcPts val="0"/>
              </a:spcAft>
              <a:buNone/>
            </a:pPr>
            <a:r>
              <a:t/>
            </a:r>
            <a:endParaRPr sz="1600"/>
          </a:p>
          <a:p>
            <a:pPr indent="0" lvl="0" marL="0" rtl="0" algn="l">
              <a:spcBef>
                <a:spcPts val="1600"/>
              </a:spcBef>
              <a:spcAft>
                <a:spcPts val="0"/>
              </a:spcAft>
              <a:buNone/>
            </a:pPr>
            <a:r>
              <a:t/>
            </a:r>
            <a:endParaRPr sz="1600"/>
          </a:p>
          <a:p>
            <a:pPr indent="0" lvl="0" marL="0" rtl="0" algn="l">
              <a:spcBef>
                <a:spcPts val="1600"/>
              </a:spcBef>
              <a:spcAft>
                <a:spcPts val="1600"/>
              </a:spcAft>
              <a:buNone/>
            </a:pPr>
            <a:r>
              <a:rPr lang="es" sz="1600"/>
              <a:t>Suponiendo que conocemos la solución al problema, ¿existe alguna forma de alterar la entrada de nuestro algoritmo Greedy para que siempre dé la solución óptima?</a:t>
            </a:r>
            <a:endParaRPr sz="1600"/>
          </a:p>
        </p:txBody>
      </p:sp>
      <p:sp>
        <p:nvSpPr>
          <p:cNvPr id="221" name="Google Shape;221;p3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de Balanceo de Carga</a:t>
            </a:r>
            <a:endParaRPr/>
          </a:p>
        </p:txBody>
      </p:sp>
      <p:pic>
        <p:nvPicPr>
          <p:cNvPr id="222" name="Google Shape;222;p33"/>
          <p:cNvPicPr preferRelativeResize="0"/>
          <p:nvPr/>
        </p:nvPicPr>
        <p:blipFill>
          <a:blip r:embed="rId3">
            <a:alphaModFix/>
          </a:blip>
          <a:stretch>
            <a:fillRect/>
          </a:stretch>
        </p:blipFill>
        <p:spPr>
          <a:xfrm>
            <a:off x="4130337" y="1537225"/>
            <a:ext cx="883325" cy="494825"/>
          </a:xfrm>
          <a:prstGeom prst="rect">
            <a:avLst/>
          </a:prstGeom>
          <a:noFill/>
          <a:ln>
            <a:noFill/>
          </a:ln>
        </p:spPr>
      </p:pic>
      <p:pic>
        <p:nvPicPr>
          <p:cNvPr id="223" name="Google Shape;223;p33"/>
          <p:cNvPicPr preferRelativeResize="0"/>
          <p:nvPr/>
        </p:nvPicPr>
        <p:blipFill>
          <a:blip r:embed="rId4">
            <a:alphaModFix/>
          </a:blip>
          <a:stretch>
            <a:fillRect/>
          </a:stretch>
        </p:blipFill>
        <p:spPr>
          <a:xfrm>
            <a:off x="2596300" y="2578686"/>
            <a:ext cx="3951400" cy="16778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 </a:t>
            </a:r>
            <a:r>
              <a:rPr lang="es"/>
              <a:t>Balanceo de Carga</a:t>
            </a:r>
            <a:endParaRPr/>
          </a:p>
        </p:txBody>
      </p:sp>
      <p:pic>
        <p:nvPicPr>
          <p:cNvPr id="229" name="Google Shape;229;p34"/>
          <p:cNvPicPr preferRelativeResize="0"/>
          <p:nvPr/>
        </p:nvPicPr>
        <p:blipFill>
          <a:blip r:embed="rId3">
            <a:alphaModFix/>
          </a:blip>
          <a:stretch>
            <a:fillRect/>
          </a:stretch>
        </p:blipFill>
        <p:spPr>
          <a:xfrm>
            <a:off x="3325650" y="2571750"/>
            <a:ext cx="2492700" cy="2359575"/>
          </a:xfrm>
          <a:prstGeom prst="rect">
            <a:avLst/>
          </a:prstGeom>
          <a:noFill/>
          <a:ln>
            <a:noFill/>
          </a:ln>
        </p:spPr>
      </p:pic>
      <p:sp>
        <p:nvSpPr>
          <p:cNvPr id="230" name="Google Shape;230;p34"/>
          <p:cNvSpPr txBox="1"/>
          <p:nvPr>
            <p:ph idx="1" type="body"/>
          </p:nvPr>
        </p:nvSpPr>
        <p:spPr>
          <a:xfrm>
            <a:off x="311700" y="1171600"/>
            <a:ext cx="8520600" cy="127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Recordando el </a:t>
            </a:r>
            <a:r>
              <a:rPr lang="es"/>
              <a:t>Algoritmo Greedy</a:t>
            </a:r>
            <a:endParaRPr/>
          </a:p>
          <a:p>
            <a:pPr indent="-342900" lvl="0" marL="457200" rtl="0" algn="l">
              <a:spcBef>
                <a:spcPts val="1600"/>
              </a:spcBef>
              <a:spcAft>
                <a:spcPts val="0"/>
              </a:spcAft>
              <a:buSzPts val="1800"/>
              <a:buChar char="-"/>
            </a:pPr>
            <a:r>
              <a:rPr lang="es"/>
              <a:t>Iterar sobre todos los trabajos</a:t>
            </a:r>
            <a:endParaRPr/>
          </a:p>
          <a:p>
            <a:pPr indent="-342900" lvl="0" marL="457200" rtl="0" algn="l">
              <a:spcBef>
                <a:spcPts val="0"/>
              </a:spcBef>
              <a:spcAft>
                <a:spcPts val="0"/>
              </a:spcAft>
              <a:buSzPts val="1800"/>
              <a:buChar char="-"/>
            </a:pPr>
            <a:r>
              <a:rPr lang="es"/>
              <a:t>Para cada trabajo, asignarlo a la máquina con menos trabajo al momento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 Balanceo de Carga</a:t>
            </a:r>
            <a:endParaRPr/>
          </a:p>
        </p:txBody>
      </p:sp>
      <p:sp>
        <p:nvSpPr>
          <p:cNvPr id="236" name="Google Shape;236;p35"/>
          <p:cNvSpPr txBox="1"/>
          <p:nvPr>
            <p:ph idx="1" type="body"/>
          </p:nvPr>
        </p:nvSpPr>
        <p:spPr>
          <a:xfrm>
            <a:off x="311700" y="1171600"/>
            <a:ext cx="8520600" cy="382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Ideas?</a:t>
            </a:r>
            <a:endParaRPr/>
          </a:p>
          <a:p>
            <a:pPr indent="0" lvl="0" marL="0" rtl="0" algn="l">
              <a:spcBef>
                <a:spcPts val="1600"/>
              </a:spcBef>
              <a:spcAft>
                <a:spcPts val="0"/>
              </a:spcAft>
              <a:buNone/>
            </a:pPr>
            <a:r>
              <a:rPr lang="es"/>
              <a:t>Ordenar de mayor a menor no es suficiente</a:t>
            </a:r>
            <a:endParaRPr/>
          </a:p>
          <a:p>
            <a:pPr indent="-342900" lvl="0" marL="457200" rtl="0" algn="l">
              <a:spcBef>
                <a:spcPts val="1600"/>
              </a:spcBef>
              <a:spcAft>
                <a:spcPts val="0"/>
              </a:spcAft>
              <a:buSzPts val="1800"/>
              <a:buChar char="-"/>
            </a:pPr>
            <a:r>
              <a:rPr lang="es"/>
              <a:t>Ejemplo: para 3 máquinas, 5,4,3,3,3,3,3,3</a:t>
            </a:r>
            <a:endParaRPr/>
          </a:p>
          <a:p>
            <a:pPr indent="0" lvl="0" marL="0" rtl="0" algn="l">
              <a:spcBef>
                <a:spcPts val="1600"/>
              </a:spcBef>
              <a:spcAft>
                <a:spcPts val="0"/>
              </a:spcAft>
              <a:buNone/>
            </a:pPr>
            <a:r>
              <a:rPr lang="es"/>
              <a:t>Asigna:</a:t>
            </a:r>
            <a:br>
              <a:rPr lang="es"/>
            </a:br>
            <a:r>
              <a:rPr lang="es"/>
              <a:t>5,3 = 8</a:t>
            </a:r>
            <a:endParaRPr/>
          </a:p>
          <a:p>
            <a:pPr indent="0" lvl="0" marL="0" rtl="0" algn="l">
              <a:spcBef>
                <a:spcPts val="1600"/>
              </a:spcBef>
              <a:spcAft>
                <a:spcPts val="0"/>
              </a:spcAft>
              <a:buNone/>
            </a:pPr>
            <a:r>
              <a:rPr lang="es"/>
              <a:t>4,3,3 = 10</a:t>
            </a:r>
            <a:endParaRPr/>
          </a:p>
          <a:p>
            <a:pPr indent="0" lvl="0" marL="0" rtl="0" algn="l">
              <a:spcBef>
                <a:spcPts val="1600"/>
              </a:spcBef>
              <a:spcAft>
                <a:spcPts val="0"/>
              </a:spcAft>
              <a:buNone/>
            </a:pPr>
            <a:r>
              <a:rPr lang="es"/>
              <a:t>3,3,3 = 9</a:t>
            </a:r>
            <a:endParaRPr/>
          </a:p>
          <a:p>
            <a:pPr indent="0" lvl="0" marL="0" rtl="0" algn="l">
              <a:spcBef>
                <a:spcPts val="1600"/>
              </a:spcBef>
              <a:spcAft>
                <a:spcPts val="1600"/>
              </a:spcAft>
              <a:buNone/>
            </a:pPr>
            <a:r>
              <a:rPr lang="es"/>
              <a:t>Óptimo: [5,4] [3,3,3] [3,3,3]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 Balanceo de Carga</a:t>
            </a:r>
            <a:endParaRPr/>
          </a:p>
        </p:txBody>
      </p:sp>
      <p:pic>
        <p:nvPicPr>
          <p:cNvPr id="242" name="Google Shape;242;p36"/>
          <p:cNvPicPr preferRelativeResize="0"/>
          <p:nvPr/>
        </p:nvPicPr>
        <p:blipFill>
          <a:blip r:embed="rId3">
            <a:alphaModFix/>
          </a:blip>
          <a:stretch>
            <a:fillRect/>
          </a:stretch>
        </p:blipFill>
        <p:spPr>
          <a:xfrm>
            <a:off x="3325650" y="2571750"/>
            <a:ext cx="2492700" cy="2359575"/>
          </a:xfrm>
          <a:prstGeom prst="rect">
            <a:avLst/>
          </a:prstGeom>
          <a:noFill/>
          <a:ln>
            <a:noFill/>
          </a:ln>
        </p:spPr>
      </p:pic>
      <p:sp>
        <p:nvSpPr>
          <p:cNvPr id="243" name="Google Shape;243;p36"/>
          <p:cNvSpPr txBox="1"/>
          <p:nvPr>
            <p:ph idx="1" type="body"/>
          </p:nvPr>
        </p:nvSpPr>
        <p:spPr>
          <a:xfrm>
            <a:off x="311700" y="1171600"/>
            <a:ext cx="8520600" cy="127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Recordando el Algoritmo Greedy</a:t>
            </a:r>
            <a:endParaRPr/>
          </a:p>
          <a:p>
            <a:pPr indent="-342900" lvl="0" marL="457200" rtl="0" algn="l">
              <a:spcBef>
                <a:spcPts val="1600"/>
              </a:spcBef>
              <a:spcAft>
                <a:spcPts val="0"/>
              </a:spcAft>
              <a:buSzPts val="1800"/>
              <a:buChar char="-"/>
            </a:pPr>
            <a:r>
              <a:rPr lang="es"/>
              <a:t>Iterar sobre todos los trabajos</a:t>
            </a:r>
            <a:endParaRPr/>
          </a:p>
          <a:p>
            <a:pPr indent="-342900" lvl="0" marL="457200" rtl="0" algn="l">
              <a:spcBef>
                <a:spcPts val="0"/>
              </a:spcBef>
              <a:spcAft>
                <a:spcPts val="0"/>
              </a:spcAft>
              <a:buSzPts val="1800"/>
              <a:buChar char="-"/>
            </a:pPr>
            <a:r>
              <a:rPr lang="es"/>
              <a:t>Para cada trabajo, asignarlo a la máquina con menos trabajo al momento</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Ejercicio: Balanceo de Carga</a:t>
            </a:r>
            <a:endParaRPr/>
          </a:p>
        </p:txBody>
      </p:sp>
      <p:sp>
        <p:nvSpPr>
          <p:cNvPr id="249" name="Google Shape;249;p37"/>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 puede probar por inducción: los primeros k trabajos procesados por el Algoritmo Greedy alimentado de esta manera resultan en la misma asignación de Máquinas que la solución óptima.</a:t>
            </a:r>
            <a:endParaRPr/>
          </a:p>
          <a:p>
            <a:pPr indent="0" lvl="0" marL="0" rtl="0" algn="l">
              <a:spcBef>
                <a:spcPts val="1600"/>
              </a:spcBef>
              <a:spcAft>
                <a:spcPts val="0"/>
              </a:spcAft>
              <a:buNone/>
            </a:pPr>
            <a:r>
              <a:rPr lang="es"/>
              <a:t>Caso base: para k=1, resulta de asignar el primer trabajo a la primera máquina</a:t>
            </a:r>
            <a:endParaRPr/>
          </a:p>
          <a:p>
            <a:pPr indent="0" lvl="0" marL="0" rtl="0" algn="l">
              <a:spcBef>
                <a:spcPts val="1600"/>
              </a:spcBef>
              <a:spcAft>
                <a:spcPts val="1600"/>
              </a:spcAft>
              <a:buNone/>
            </a:pPr>
            <a:r>
              <a:rPr lang="es"/>
              <a:t>Caso inductivo: suponiendo que la premisa se cumple para k, al llegar el trabajo k+1, y habiendo ordenado por altura de la base del trabajo, esa altura de la base coincide con la cantidad de trabajo de la máquina mínima al momento, y por lo tanto se asigna el trabajo por Greedy a la misma máquina que la solución óptima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 Matching Tridimensional</a:t>
            </a:r>
            <a:endParaRPr/>
          </a:p>
        </p:txBody>
      </p:sp>
      <p:sp>
        <p:nvSpPr>
          <p:cNvPr id="255" name="Google Shape;255;p3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Dados </a:t>
            </a:r>
            <a:r>
              <a:rPr lang="es"/>
              <a:t>sets</a:t>
            </a:r>
            <a:r>
              <a:rPr lang="es"/>
              <a:t> disjuntos X,Y,Z, y conjuntos de triplas de valores en X x Y x Z, buscar el máximo subset M que sea un Matcheo Tridimensional, es decir, que para cada elemento X U Y U Z se encuentre dentro del Matcheo como máximo una vez.</a:t>
            </a:r>
            <a:endParaRPr/>
          </a:p>
          <a:p>
            <a:pPr indent="0" lvl="0" marL="0" rtl="0" algn="l">
              <a:spcBef>
                <a:spcPts val="1600"/>
              </a:spcBef>
              <a:spcAft>
                <a:spcPts val="1600"/>
              </a:spcAft>
              <a:buNone/>
            </a:pPr>
            <a:r>
              <a:rPr lang="es"/>
              <a:t>Dar un algoritmo que encuentre una 3-Aproximación del máximo Matching Tridimensional</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Matching Tridimensional</a:t>
            </a:r>
            <a:endParaRPr/>
          </a:p>
        </p:txBody>
      </p:sp>
      <p:sp>
        <p:nvSpPr>
          <p:cNvPr id="265" name="Google Shape;265;p40"/>
          <p:cNvSpPr txBox="1"/>
          <p:nvPr>
            <p:ph idx="1" type="body"/>
          </p:nvPr>
        </p:nvSpPr>
        <p:spPr>
          <a:xfrm>
            <a:off x="311700" y="1171600"/>
            <a:ext cx="8520600" cy="3845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Considerar las triplas en cualquier orden</a:t>
            </a:r>
            <a:endParaRPr/>
          </a:p>
          <a:p>
            <a:pPr indent="-342900" lvl="0" marL="457200" rtl="0" algn="l">
              <a:spcBef>
                <a:spcPts val="0"/>
              </a:spcBef>
              <a:spcAft>
                <a:spcPts val="0"/>
              </a:spcAft>
              <a:buSzPts val="1800"/>
              <a:buChar char="-"/>
            </a:pPr>
            <a:r>
              <a:rPr lang="es"/>
              <a:t>Si los elementos de la tripla no están en la solución (no hay conflicto), se agrega a la solución</a:t>
            </a:r>
            <a:endParaRPr/>
          </a:p>
          <a:p>
            <a:pPr indent="0" lvl="0" marL="0" rtl="0" algn="l">
              <a:spcBef>
                <a:spcPts val="1600"/>
              </a:spcBef>
              <a:spcAft>
                <a:spcPts val="0"/>
              </a:spcAft>
              <a:buNone/>
            </a:pPr>
            <a:r>
              <a:rPr lang="es"/>
              <a:t>Este Set solución contiene al menos ⅓ de los elementos que tiene la solución óptima.</a:t>
            </a:r>
            <a:endParaRPr/>
          </a:p>
          <a:p>
            <a:pPr indent="0" lvl="0" marL="0" rtl="0" algn="l">
              <a:spcBef>
                <a:spcPts val="1600"/>
              </a:spcBef>
              <a:spcAft>
                <a:spcPts val="0"/>
              </a:spcAft>
              <a:buNone/>
            </a:pPr>
            <a:r>
              <a:rPr lang="es"/>
              <a:t>¿Recuerdan la lógica para probar el Problema de Scheduling?</a:t>
            </a:r>
            <a:endParaRPr/>
          </a:p>
          <a:p>
            <a:pPr indent="0" lvl="0" marL="0" rtl="0" algn="l">
              <a:spcBef>
                <a:spcPts val="1600"/>
              </a:spcBef>
              <a:spcAft>
                <a:spcPts val="1600"/>
              </a:spcAft>
              <a:buNone/>
            </a:pPr>
            <a:r>
              <a:rPr lang="es"/>
              <a:t>Cada tripla (a,b,c) en nuestra solución debe intersectar con al menos una tripla en la solución M* óptima. Como mucho, nuestra tripla (a,b,c) puede estar en conflicto con 3 triplas de la solución </a:t>
            </a:r>
            <a:r>
              <a:rPr lang="es"/>
              <a:t>óptima</a:t>
            </a:r>
            <a:r>
              <a:rPr lang="es"/>
              <a:t>. Entonces como máximo, haber insertado nuestra tripla incorrecta nos hace perder 3 óptimas. Queda probado (QED).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9" name="Shape 269"/>
        <p:cNvGrpSpPr/>
        <p:nvPr/>
      </p:nvGrpSpPr>
      <p:grpSpPr>
        <a:xfrm>
          <a:off x="0" y="0"/>
          <a:ext cx="0" cy="0"/>
          <a:chOff x="0" y="0"/>
          <a:chExt cx="0" cy="0"/>
        </a:xfrm>
      </p:grpSpPr>
      <p:sp>
        <p:nvSpPr>
          <p:cNvPr id="270" name="Google Shape;270;p4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 El Retorno de la Mochila</a:t>
            </a:r>
            <a:endParaRPr/>
          </a:p>
        </p:txBody>
      </p:sp>
      <p:sp>
        <p:nvSpPr>
          <p:cNvPr id="271" name="Google Shape;271;p41"/>
          <p:cNvSpPr txBox="1"/>
          <p:nvPr>
            <p:ph idx="1" type="body"/>
          </p:nvPr>
        </p:nvSpPr>
        <p:spPr>
          <a:xfrm>
            <a:off x="311700" y="1171600"/>
            <a:ext cx="8520600" cy="372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caso que nos digan que existe un Subset de elementos con suma de pesos menor a la capacidad W, que suman un valor de V, entonces nuestra solución aproximada consigue un Subset de peso al menos v/(1+ε) que es solución.</a:t>
            </a:r>
            <a:endParaRPr/>
          </a:p>
          <a:p>
            <a:pPr indent="0" lvl="0" marL="0" rtl="0" algn="l">
              <a:spcBef>
                <a:spcPts val="1600"/>
              </a:spcBef>
              <a:spcAft>
                <a:spcPts val="0"/>
              </a:spcAft>
              <a:buNone/>
            </a:pPr>
            <a:r>
              <a:rPr lang="es"/>
              <a:t>Ahora, supongamos que además de nuestra mochila, tenemos un poquito más de lugar en un bolsito personal. Esto significa que para el mismo problema, en el que existen elementos que suman exactamente V, nos piden encontrar una solución que sea igual o mejor que V, suponiendo que la sumatoria de pesos puede ser de hasta (</a:t>
            </a:r>
            <a:r>
              <a:rPr lang="es"/>
              <a:t>1+ε)*W, con ε un número fijo mayor a 0</a:t>
            </a:r>
            <a:endParaRPr/>
          </a:p>
          <a:p>
            <a:pPr indent="0" lvl="0" marL="0" rtl="0" algn="l">
              <a:spcBef>
                <a:spcPts val="1600"/>
              </a:spcBef>
              <a:spcAft>
                <a:spcPts val="1600"/>
              </a:spcAft>
              <a:buNone/>
            </a:pPr>
            <a:r>
              <a:rPr lang="es"/>
              <a:t>Es decir, la solución que entregamos tiene que ser mejor o igual que la óptima, y se nos permite como mucho excedernos (1+ε) veces del peso estipulado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5" name="Shape 275"/>
        <p:cNvGrpSpPr/>
        <p:nvPr/>
      </p:nvGrpSpPr>
      <p:grpSpPr>
        <a:xfrm>
          <a:off x="0" y="0"/>
          <a:ext cx="0" cy="0"/>
          <a:chOff x="0" y="0"/>
          <a:chExt cx="0" cy="0"/>
        </a:xfrm>
      </p:grpSpPr>
      <p:sp>
        <p:nvSpPr>
          <p:cNvPr id="276" name="Google Shape;276;p4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Ejercicio: El Retorno de la Mochila</a:t>
            </a:r>
            <a:endParaRPr/>
          </a:p>
        </p:txBody>
      </p:sp>
      <p:sp>
        <p:nvSpPr>
          <p:cNvPr id="277" name="Google Shape;277;p42"/>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 	(3,5) 	(6,4) 	(4,1)		(11,6)</a:t>
            </a:r>
            <a:endParaRPr/>
          </a:p>
          <a:p>
            <a:pPr indent="0" lvl="0" marL="0" rtl="0" algn="l">
              <a:spcBef>
                <a:spcPts val="1600"/>
              </a:spcBef>
              <a:spcAft>
                <a:spcPts val="0"/>
              </a:spcAft>
              <a:buNone/>
            </a:pPr>
            <a:r>
              <a:rPr lang="es"/>
              <a:t>V = 13		</a:t>
            </a:r>
            <a:r>
              <a:rPr lang="es"/>
              <a:t>W = 10		</a:t>
            </a:r>
            <a:r>
              <a:rPr lang="es"/>
              <a:t>ε=0.1</a:t>
            </a:r>
            <a:endParaRPr/>
          </a:p>
          <a:p>
            <a:pPr indent="0" lvl="0" marL="0" rtl="0" algn="l">
              <a:spcBef>
                <a:spcPts val="1600"/>
              </a:spcBef>
              <a:spcAft>
                <a:spcPts val="0"/>
              </a:spcAft>
              <a:buNone/>
            </a:pPr>
            <a:r>
              <a:rPr lang="es"/>
              <a:t>La solución óptima se alcanza con los primero 3 elementos</a:t>
            </a:r>
            <a:endParaRPr/>
          </a:p>
          <a:p>
            <a:pPr indent="0" lvl="0" marL="0" rtl="0" algn="l">
              <a:spcBef>
                <a:spcPts val="1600"/>
              </a:spcBef>
              <a:spcAft>
                <a:spcPts val="0"/>
              </a:spcAft>
              <a:buNone/>
            </a:pPr>
            <a:r>
              <a:rPr lang="es"/>
              <a:t>Dado el valor de ε, se puede utilizar hasta (1+0.1)*10 = 11 de capacidad</a:t>
            </a:r>
            <a:endParaRPr/>
          </a:p>
          <a:p>
            <a:pPr indent="0" lvl="0" marL="0" rtl="0" algn="l">
              <a:spcBef>
                <a:spcPts val="1600"/>
              </a:spcBef>
              <a:spcAft>
                <a:spcPts val="0"/>
              </a:spcAft>
              <a:buNone/>
            </a:pPr>
            <a:r>
              <a:rPr lang="es"/>
              <a:t>En ese caso, una solución válida, además de la óptima, sería:</a:t>
            </a:r>
            <a:br>
              <a:rPr lang="es"/>
            </a:br>
            <a:r>
              <a:rPr lang="es"/>
              <a:t>Usar primero y último elemento, con V=14, W=11</a:t>
            </a:r>
            <a:endParaRPr/>
          </a:p>
          <a:p>
            <a:pPr indent="0" lvl="0" marL="0" rtl="0" algn="l">
              <a:spcBef>
                <a:spcPts val="1600"/>
              </a:spcBef>
              <a:spcAft>
                <a:spcPts val="1600"/>
              </a:spcAft>
              <a:buNone/>
            </a:pPr>
            <a:r>
              <a:rPr lang="es"/>
              <a:t>Incluso, como se relajó el valor de W, podemos conseguir un V mejor que el óptimo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1" name="Shape 281"/>
        <p:cNvGrpSpPr/>
        <p:nvPr/>
      </p:nvGrpSpPr>
      <p:grpSpPr>
        <a:xfrm>
          <a:off x="0" y="0"/>
          <a:ext cx="0" cy="0"/>
          <a:chOff x="0" y="0"/>
          <a:chExt cx="0" cy="0"/>
        </a:xfrm>
      </p:grpSpPr>
      <p:sp>
        <p:nvSpPr>
          <p:cNvPr id="282" name="Google Shape;282;p4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Ejercicio: Problema de la Mochila Aproximada</a:t>
            </a:r>
            <a:endParaRPr/>
          </a:p>
        </p:txBody>
      </p:sp>
      <p:sp>
        <p:nvSpPr>
          <p:cNvPr id="283" name="Google Shape;283;p43"/>
          <p:cNvSpPr txBox="1"/>
          <p:nvPr>
            <p:ph idx="1" type="body"/>
          </p:nvPr>
        </p:nvSpPr>
        <p:spPr>
          <a:xfrm>
            <a:off x="311700" y="1095400"/>
            <a:ext cx="8832300" cy="3834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Desestimar todos los elementos de capacidad mayor a W</a:t>
            </a:r>
            <a:endParaRPr/>
          </a:p>
          <a:p>
            <a:pPr indent="-342900" lvl="0" marL="457200" rtl="0" algn="l">
              <a:spcBef>
                <a:spcPts val="0"/>
              </a:spcBef>
              <a:spcAft>
                <a:spcPts val="0"/>
              </a:spcAft>
              <a:buSzPts val="1800"/>
              <a:buChar char="-"/>
            </a:pPr>
            <a:r>
              <a:rPr lang="es"/>
              <a:t>Podemos redondear hacia abajo todos los pesos al múltiplo más cercano de εW/n, y multiplicarlos por n/εW</a:t>
            </a:r>
            <a:endParaRPr/>
          </a:p>
          <a:p>
            <a:pPr indent="-342900" lvl="0" marL="457200" rtl="0" algn="l">
              <a:spcBef>
                <a:spcPts val="0"/>
              </a:spcBef>
              <a:spcAft>
                <a:spcPts val="0"/>
              </a:spcAft>
              <a:buSzPts val="1800"/>
              <a:buChar char="-"/>
            </a:pPr>
            <a:r>
              <a:rPr lang="es"/>
              <a:t>Ahora todos los pesos están entre 0 y n/ε (sí, hay ítems que se redondean a 0)</a:t>
            </a:r>
            <a:endParaRPr/>
          </a:p>
          <a:p>
            <a:pPr indent="-342900" lvl="0" marL="457200" rtl="0" algn="l">
              <a:spcBef>
                <a:spcPts val="0"/>
              </a:spcBef>
              <a:spcAft>
                <a:spcPts val="0"/>
              </a:spcAft>
              <a:buSzPts val="1800"/>
              <a:buChar char="-"/>
            </a:pPr>
            <a:r>
              <a:rPr lang="es"/>
              <a:t>Ahora sí, tenemos n elementos y nuestra capacidad no excede n/ε, así que utilizamos el algoritmo original de PD con capacidad W hasta n/ε (O(n) para ε fijo)</a:t>
            </a:r>
            <a:endParaRPr/>
          </a:p>
          <a:p>
            <a:pPr indent="-342900" lvl="0" marL="457200" rtl="0" algn="l">
              <a:spcBef>
                <a:spcPts val="0"/>
              </a:spcBef>
              <a:spcAft>
                <a:spcPts val="0"/>
              </a:spcAft>
              <a:buSzPts val="1800"/>
              <a:buChar char="-"/>
            </a:pPr>
            <a:r>
              <a:rPr lang="es"/>
              <a:t>Encontramos la solución óptima en tiempo polinomial a n y 1/ε</a:t>
            </a:r>
            <a:endParaRPr/>
          </a:p>
          <a:p>
            <a:pPr indent="-342900" lvl="0" marL="457200" rtl="0" algn="l">
              <a:spcBef>
                <a:spcPts val="0"/>
              </a:spcBef>
              <a:spcAft>
                <a:spcPts val="0"/>
              </a:spcAft>
              <a:buSzPts val="1800"/>
              <a:buChar char="-"/>
            </a:pPr>
            <a:r>
              <a:rPr lang="es"/>
              <a:t>La solución real que nos prometieron que existe será encontrada, ya que los pesos los redondeamos hacia abajo</a:t>
            </a:r>
            <a:endParaRPr/>
          </a:p>
          <a:p>
            <a:pPr indent="-342900" lvl="0" marL="457200" rtl="0" algn="l">
              <a:spcBef>
                <a:spcPts val="0"/>
              </a:spcBef>
              <a:spcAft>
                <a:spcPts val="0"/>
              </a:spcAft>
              <a:buSzPts val="1800"/>
              <a:buChar char="-"/>
            </a:pPr>
            <a:r>
              <a:rPr lang="es"/>
              <a:t>Al redondear hacia abajo, cada ítem empacado podría pesar εW/n más del valor considerado. Para los n ítems, da εW. Por lo tanto, entre el peso real de los ítems y el exceso εW, estamos dentro del límite de (1+ε)W</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