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Proxima Nova"/>
      <p:regular r:id="rId35"/>
      <p:bold r:id="rId36"/>
      <p:italic r:id="rId37"/>
      <p:boldItalic r:id="rId38"/>
    </p:embeddedFont>
    <p:embeddedFont>
      <p:font typeface="Old Standard TT"/>
      <p:regular r:id="rId39"/>
      <p:bold r:id="rId40"/>
      <p: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ldStandardTT-bold.fntdata"/><Relationship Id="rId20" Type="http://schemas.openxmlformats.org/officeDocument/2006/relationships/slide" Target="slides/slide15.xml"/><Relationship Id="rId41" Type="http://schemas.openxmlformats.org/officeDocument/2006/relationships/font" Target="fonts/OldStandardTT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roximaNova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roximaNova-italic.fntdata"/><Relationship Id="rId14" Type="http://schemas.openxmlformats.org/officeDocument/2006/relationships/slide" Target="slides/slide9.xml"/><Relationship Id="rId36" Type="http://schemas.openxmlformats.org/officeDocument/2006/relationships/font" Target="fonts/ProximaNova-bold.fntdata"/><Relationship Id="rId17" Type="http://schemas.openxmlformats.org/officeDocument/2006/relationships/slide" Target="slides/slide12.xml"/><Relationship Id="rId39" Type="http://schemas.openxmlformats.org/officeDocument/2006/relationships/font" Target="fonts/OldStandardTT-regular.fntdata"/><Relationship Id="rId16" Type="http://schemas.openxmlformats.org/officeDocument/2006/relationships/slide" Target="slides/slide11.xml"/><Relationship Id="rId38" Type="http://schemas.openxmlformats.org/officeDocument/2006/relationships/font" Target="fonts/ProximaNova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2c7a43fd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2c7a43fd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924a774eb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924a774eb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699a730c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699a730c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0dad9b51b9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0dad9b51b9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0dad9b51b9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0dad9b51b9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0dad9b51b9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0dad9b51b9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8750fc629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8750fc62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0dad9b51b9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0dad9b51b9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0dad9b51b9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0dad9b51b9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924a774eb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924a774eb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97aa58de3f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97aa58de3f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97aa58de3f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97aa58de3f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97aa58de3f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97aa58de3f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97aa58de3f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97aa58de3f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146d8be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6146d8be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146d8be4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146d8be4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88467f401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88467f401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1df67ff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1df67ff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8750fc629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8750fc629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8750fc629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8750fc629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8750fc629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8750fc629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924a774eb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924a774eb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0dad9b51b9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0dad9b51b9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0dad9b51b9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0dad9b51b9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0dad9b51b9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0dad9b51b9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0dad9b51b9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0dad9b51b9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0dad9b51b9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0dad9b51b9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0dad9b51b9_1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0dad9b51b9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174e21c46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6174e21c46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roxima Nova"/>
              <a:buNone/>
              <a:defRPr sz="4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roxima Nova"/>
              <a:buNone/>
              <a:defRPr sz="24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Proxima Nova"/>
              <a:buNone/>
              <a:defRPr sz="54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document/d/12Li9W7FIn_WeJ5fXO8-DqmgNCz0N7ft9vlln__ORslY/edit#heading=h.qzkrm27oc52v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Ejercitación Reducciones y Aproximaciones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Teoría de Algoritmos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7060492" y="4349400"/>
            <a:ext cx="2079858" cy="7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Temas del 2do Parcial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71600"/>
            <a:ext cx="8520600" cy="3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Programación Lineal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Redes de Flujo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Reducciones y Clases de Complejidad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Aproximaciones</a:t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4444075" y="1196575"/>
            <a:ext cx="472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Recordar el doc de </a:t>
            </a:r>
            <a:r>
              <a:rPr lang="es" sz="18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Criterios Generales Exámenes - Teoría de Algoritmos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Temas de hoy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71600"/>
            <a:ext cx="8520600" cy="3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Reducciones y Clases de Complejidad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Aproximaciones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/>
              <a:t>Reducciones y Clases de Complejidad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8019924" cy="30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525" y="3070296"/>
            <a:ext cx="8019923" cy="1965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Problema: Set Cover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71600"/>
            <a:ext cx="8520600" cy="3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Tenemos un Set U de n elementos y un listado S</a:t>
            </a:r>
            <a:r>
              <a:rPr b="1" baseline="-25000" lang="es"/>
              <a:t>1</a:t>
            </a:r>
            <a:r>
              <a:rPr lang="es"/>
              <a:t>, S</a:t>
            </a:r>
            <a:r>
              <a:rPr b="1" baseline="-25000" lang="es"/>
              <a:t>2</a:t>
            </a:r>
            <a:r>
              <a:rPr lang="es"/>
              <a:t>,..., S</a:t>
            </a:r>
            <a:r>
              <a:rPr b="1" baseline="-25000" lang="es"/>
              <a:t>m</a:t>
            </a:r>
            <a:r>
              <a:rPr lang="es"/>
              <a:t> de Subsets de U.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Dado U, y m subconjuntos de U, S</a:t>
            </a:r>
            <a:r>
              <a:rPr baseline="-25000" lang="es"/>
              <a:t>1</a:t>
            </a:r>
            <a:r>
              <a:rPr lang="es"/>
              <a:t>, S</a:t>
            </a:r>
            <a:r>
              <a:rPr baseline="-25000" lang="es"/>
              <a:t>2</a:t>
            </a:r>
            <a:r>
              <a:rPr lang="es"/>
              <a:t>, …, S</a:t>
            </a:r>
            <a:r>
              <a:rPr baseline="-25000" lang="es"/>
              <a:t>m</a:t>
            </a:r>
            <a:r>
              <a:rPr lang="es"/>
              <a:t>, se busca la seleccionar la menor cantidad de subconjuntos necesarios tal que la unión de los subconjuntos seleccionados es igual a U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Cómo se define el problema de decisión?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Problema: Set Cover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71600"/>
            <a:ext cx="8520600" cy="3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Tenemos un Set U de n elementos y un listado S</a:t>
            </a:r>
            <a:r>
              <a:rPr b="1" baseline="-25000" lang="es"/>
              <a:t>1</a:t>
            </a:r>
            <a:r>
              <a:rPr lang="es"/>
              <a:t>, S</a:t>
            </a:r>
            <a:r>
              <a:rPr b="1" baseline="-25000" lang="es"/>
              <a:t>2</a:t>
            </a:r>
            <a:r>
              <a:rPr lang="es"/>
              <a:t>,..., S</a:t>
            </a:r>
            <a:r>
              <a:rPr b="1" baseline="-25000" lang="es"/>
              <a:t>m</a:t>
            </a:r>
            <a:r>
              <a:rPr lang="es"/>
              <a:t> de Subsets de U.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Dado U, y m subconjuntos de U S</a:t>
            </a:r>
            <a:r>
              <a:rPr baseline="-25000" lang="es"/>
              <a:t>1</a:t>
            </a:r>
            <a:r>
              <a:rPr lang="es"/>
              <a:t>, S</a:t>
            </a:r>
            <a:r>
              <a:rPr baseline="-25000" lang="es"/>
              <a:t>2</a:t>
            </a:r>
            <a:r>
              <a:rPr lang="es"/>
              <a:t>, …, S</a:t>
            </a:r>
            <a:r>
              <a:rPr baseline="-25000" lang="es"/>
              <a:t>m</a:t>
            </a:r>
            <a:r>
              <a:rPr lang="es"/>
              <a:t>, y un número k &lt;= m, ¿existe una selección de k de los m subconjuntos tal que la unión de los seleccionados es igual a U?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Demostrar que Set-Cover es NP-Completo.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¿Qué problema podemos usar?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1888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1" title="Screenshot 2025-06-04 at 4.08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334652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1"/>
          <p:cNvSpPr/>
          <p:nvPr/>
        </p:nvSpPr>
        <p:spPr>
          <a:xfrm>
            <a:off x="354525" y="2801325"/>
            <a:ext cx="8438700" cy="81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6097"/>
            <a:ext cx="9144000" cy="2624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7288" y="1014825"/>
            <a:ext cx="3989425" cy="397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Problema: Set Cover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71600"/>
            <a:ext cx="8520600" cy="3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Tenemos un Set U de n elementos y un listado S</a:t>
            </a:r>
            <a:r>
              <a:rPr b="1" baseline="-25000" lang="es"/>
              <a:t>1</a:t>
            </a:r>
            <a:r>
              <a:rPr lang="es"/>
              <a:t>, S</a:t>
            </a:r>
            <a:r>
              <a:rPr b="1" baseline="-25000" lang="es"/>
              <a:t>2</a:t>
            </a:r>
            <a:r>
              <a:rPr lang="es"/>
              <a:t>,..., S</a:t>
            </a:r>
            <a:r>
              <a:rPr b="1" baseline="-25000" lang="es"/>
              <a:t>m</a:t>
            </a:r>
            <a:r>
              <a:rPr lang="es"/>
              <a:t> de Subsets de U.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Un Set Cover es una colección de estos Subsets tal que la unión es U.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Elementos U: los submarinos U1, U2, U3, …, Un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Los Subsets: Posibles Faros, cada faro tendría su Subset de los Submarinos que ilumina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5432875" y="241825"/>
            <a:ext cx="3399600" cy="43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F A1 = {U1}</a:t>
            </a:r>
            <a:endParaRPr/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03261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5432875" y="241825"/>
            <a:ext cx="3399600" cy="43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 A1 = {U1}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F C4 = {U1, U3}</a:t>
            </a:r>
            <a:endParaRPr/>
          </a:p>
        </p:txBody>
      </p:sp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128075" cy="4752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5432875" y="241825"/>
            <a:ext cx="3711000" cy="47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 A1 = {U1}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F C4 = {U1, U3}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[...]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F E6 = </a:t>
            </a:r>
            <a:r>
              <a:rPr lang="es"/>
              <a:t>{U3, U4, U5, U6}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Elementos U: los submarinos U1, U2, U3, …, Un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Los Subsets: Posibles Faros, cada faro tendría su Subset de los Submarinos que ilumina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Set Cover: Seleccionar a lo sumo k cantidad de Subsets que Cubren U</a:t>
            </a:r>
            <a:endParaRPr/>
          </a:p>
        </p:txBody>
      </p:sp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128076" cy="4791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/>
              <a:t>Aproximaciones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/>
        </p:nvSpPr>
        <p:spPr>
          <a:xfrm>
            <a:off x="500400" y="216125"/>
            <a:ext cx="81432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El </a:t>
            </a:r>
            <a:r>
              <a:rPr i="1"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2-Partition Problem</a:t>
            </a:r>
            <a:r>
              <a:rPr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 como problema de optimización se describe tal que: </a:t>
            </a:r>
            <a:endParaRPr sz="1800">
              <a:solidFill>
                <a:srgbClr val="1D1C1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Dado un conjunto de </a:t>
            </a:r>
            <a:r>
              <a:rPr i="1"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 números positivos T= {T</a:t>
            </a:r>
            <a:r>
              <a:rPr baseline="-25000"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, T</a:t>
            </a:r>
            <a:r>
              <a:rPr baseline="-25000"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, …, T</a:t>
            </a:r>
            <a:r>
              <a:rPr baseline="-25000"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}, se particionar los números en dos subconjuntos S</a:t>
            </a:r>
            <a:r>
              <a:rPr baseline="-25000"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 y S</a:t>
            </a:r>
            <a:r>
              <a:rPr baseline="-25000"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 (con intersección vacía y unión = T) de forma de minimizar la sumatoria de cualquiera de los subconjuntos (min max(S</a:t>
            </a:r>
            <a:r>
              <a:rPr baseline="-25000"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, S</a:t>
            </a:r>
            <a:r>
              <a:rPr baseline="-25000"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)).</a:t>
            </a:r>
            <a:endParaRPr sz="1800">
              <a:solidFill>
                <a:srgbClr val="1D1C1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	</a:t>
            </a:r>
            <a:endParaRPr sz="1800">
              <a:solidFill>
                <a:srgbClr val="1D1C1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Para este problema, podemos plantear el siguiente algoritmo aproximado:</a:t>
            </a:r>
            <a:endParaRPr sz="1800">
              <a:solidFill>
                <a:srgbClr val="1D1C1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800"/>
              <a:buFont typeface="Proxima Nova"/>
              <a:buChar char="●"/>
            </a:pPr>
            <a:r>
              <a:rPr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Inicializar la solución como dos subconjuntos vacíos recorriendo los elementos de T,</a:t>
            </a:r>
            <a:endParaRPr sz="1800">
              <a:solidFill>
                <a:srgbClr val="1D1C1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800"/>
              <a:buFont typeface="Proxima Nova"/>
              <a:buChar char="●"/>
            </a:pPr>
            <a:r>
              <a:rPr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para cada elemento se lo coloca en el subconjunto con menor sumatoria hasta el momento. </a:t>
            </a:r>
            <a:endParaRPr sz="1800">
              <a:solidFill>
                <a:srgbClr val="1D1C1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D1C1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Demostrar que el algoritmo propuesto es un 3/2-Aproximación.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224650" cy="30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354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039996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7376" y="1617000"/>
            <a:ext cx="3354626" cy="33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3631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216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3975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620000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3975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216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413" y="1561252"/>
            <a:ext cx="3896775" cy="3469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57200"/>
            <a:ext cx="8839199" cy="4142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 llegamos: Camino Hamiltoniano… grafos no dirigidos?</a:t>
            </a:r>
            <a:endParaRPr/>
          </a:p>
        </p:txBody>
      </p:sp>
      <p:pic>
        <p:nvPicPr>
          <p:cNvPr id="214" name="Google Shape;21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0525" y="1409075"/>
            <a:ext cx="3430749" cy="323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