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Proxima Nova"/>
      <p:regular r:id="rId61"/>
      <p:bold r:id="rId62"/>
      <p:italic r:id="rId63"/>
      <p:boldItalic r:id="rId64"/>
    </p:embeddedFont>
    <p:embeddedFont>
      <p:font typeface="Old Standard TT"/>
      <p:regular r:id="rId65"/>
      <p:bold r:id="rId66"/>
      <p: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roximaNova-bold.fntdata"/><Relationship Id="rId61" Type="http://schemas.openxmlformats.org/officeDocument/2006/relationships/font" Target="fonts/ProximaNova-regular.fntdata"/><Relationship Id="rId20" Type="http://schemas.openxmlformats.org/officeDocument/2006/relationships/slide" Target="slides/slide15.xml"/><Relationship Id="rId64" Type="http://schemas.openxmlformats.org/officeDocument/2006/relationships/font" Target="fonts/ProximaNova-boldItalic.fntdata"/><Relationship Id="rId63" Type="http://schemas.openxmlformats.org/officeDocument/2006/relationships/font" Target="fonts/ProximaNova-italic.fntdata"/><Relationship Id="rId22" Type="http://schemas.openxmlformats.org/officeDocument/2006/relationships/slide" Target="slides/slide17.xml"/><Relationship Id="rId66" Type="http://schemas.openxmlformats.org/officeDocument/2006/relationships/font" Target="fonts/OldStandardTT-bold.fntdata"/><Relationship Id="rId21" Type="http://schemas.openxmlformats.org/officeDocument/2006/relationships/slide" Target="slides/slide16.xml"/><Relationship Id="rId65" Type="http://schemas.openxmlformats.org/officeDocument/2006/relationships/font" Target="fonts/OldStandardTT-regular.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OldStandardTT-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4b437f44c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4b437f44c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699de8c4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699de8c4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4b437f44c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4b437f44c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4b437f44c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4b437f44c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4b437f44c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4b437f44c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4b437f44c3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4b437f44c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4b437f44c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4b437f44c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4b437f44c3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4b437f44c3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4b437f44c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4b437f44c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4b437f44c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4b437f44c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4b437f44c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4b437f44c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4b437f44c3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4b437f44c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4b437f44c3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4b437f44c3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4b437f44c3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4b437f44c3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4b437f44c3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4b437f44c3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4b437f44c3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4b437f44c3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4b437f44c3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4b437f44c3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4b437f44c3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4b437f44c3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eb3f7008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eb3f7008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4b437f44c3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4b437f44c3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4b437f44c3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4b437f44c3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4b437f44c3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4b437f44c3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4b437f44c3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4b437f44c3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4b437f44c3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4b437f44c3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4b437f44c3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4b437f44c3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4b437f44c3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4b437f44c3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4b437f44c3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4b437f44c3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4b437f44c3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4b437f44c3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4b437f44c3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4b437f44c3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4b437f44c3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4b437f44c3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4b437f44c3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4b437f44c3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4b437f44c3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4b437f44c3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4b437f44c3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4b437f44c3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4b437f44c3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4b437f44c3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4b437f44c3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4b437f44c3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4b437f44c3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4b437f44c3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4b437f44c3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4b437f44c3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4b437f44c3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4b437f44c3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4b437f44c3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4b437f44c3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4b437f44c3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4b437f44c3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4b437f44c3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4b437f44c3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4b437f44c3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4b437f44c3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4b437f44c3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4b437f44c3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4b437f44c3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4b437f44c3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67efacf89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67efacf89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4b437f44c3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4b437f44c3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4b437f44c3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4b437f44c3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4b437f44c3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4b437f44c3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4b437f44c3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4b437f44c3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4b437f44c3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4b437f44c3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119c3b98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119c3b98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119c3b987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119c3b987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119c3b987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119c3b987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119c3b987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119c3b987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47c4aa9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47c4aa9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2.png"/><Relationship Id="rId4" Type="http://schemas.openxmlformats.org/officeDocument/2006/relationships/image" Target="../media/image27.png"/><Relationship Id="rId5"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ocw.mit.edu/courses/6-046j-introduction-to-algorithms-sma-5503-fall-2005/resources/lecture-9-relation-of-bsts-to-quicksort-analysis-of-random-bs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cmps-people.ok.ubc.ca/ylucet/DS/SkipList.html" TargetMode="Externa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2.png"/><Relationship Id="rId4" Type="http://schemas.openxmlformats.org/officeDocument/2006/relationships/image" Target="../media/image31.png"/><Relationship Id="rId5"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5.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blog.cloudflare.com/randomness-101-lavarand-in-productio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www.iflscience.com/scientists-have-discovered-a-new-way-to-count-and-its-actually-really-important-74327"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www.iflscience.com/scientists-have-discovered-a-new-way-to-count-and-its-actually-really-important-74327"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Algoritmos Randomizados I</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 name="Shape 65"/>
        <p:cNvGrpSpPr/>
        <p:nvPr/>
      </p:nvGrpSpPr>
      <p:grpSpPr>
        <a:xfrm>
          <a:off x="0" y="0"/>
          <a:ext cx="0" cy="0"/>
          <a:chOff x="0" y="0"/>
          <a:chExt cx="0" cy="0"/>
        </a:xfrm>
      </p:grpSpPr>
      <p:pic>
        <p:nvPicPr>
          <p:cNvPr id="66" name="Google Shape;66;p14"/>
          <p:cNvPicPr preferRelativeResize="0"/>
          <p:nvPr/>
        </p:nvPicPr>
        <p:blipFill>
          <a:blip r:embed="rId3">
            <a:alphaModFix/>
          </a:blip>
          <a:stretch>
            <a:fillRect/>
          </a:stretch>
        </p:blipFill>
        <p:spPr>
          <a:xfrm>
            <a:off x="6418775" y="1246900"/>
            <a:ext cx="2841725" cy="257175"/>
          </a:xfrm>
          <a:prstGeom prst="rect">
            <a:avLst/>
          </a:prstGeom>
          <a:noFill/>
          <a:ln>
            <a:noFill/>
          </a:ln>
        </p:spPr>
      </p:pic>
      <p:pic>
        <p:nvPicPr>
          <p:cNvPr id="67" name="Google Shape;67;p14"/>
          <p:cNvPicPr preferRelativeResize="0"/>
          <p:nvPr/>
        </p:nvPicPr>
        <p:blipFill>
          <a:blip r:embed="rId4">
            <a:alphaModFix/>
          </a:blip>
          <a:stretch>
            <a:fillRect/>
          </a:stretch>
        </p:blipFill>
        <p:spPr>
          <a:xfrm>
            <a:off x="266763" y="1504075"/>
            <a:ext cx="8839198" cy="17539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Aleatoriedad</a:t>
            </a:r>
            <a:endParaRPr/>
          </a:p>
        </p:txBody>
      </p:sp>
      <p:sp>
        <p:nvSpPr>
          <p:cNvPr id="73" name="Google Shape;73;p15"/>
          <p:cNvSpPr txBox="1"/>
          <p:nvPr>
            <p:ph idx="1" type="body"/>
          </p:nvPr>
        </p:nvSpPr>
        <p:spPr>
          <a:xfrm>
            <a:off x="311700" y="1171600"/>
            <a:ext cx="8520600" cy="38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mundo se comporta de manera aleatoria</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s"/>
              <a:t>Hemos diseñado algoritmos para enfrentarnos a cualquier entrada, tan aleatoria como nos la presente el mundo</a:t>
            </a:r>
            <a:endParaRPr/>
          </a:p>
        </p:txBody>
      </p:sp>
      <p:pic>
        <p:nvPicPr>
          <p:cNvPr id="74" name="Google Shape;74;p15"/>
          <p:cNvPicPr preferRelativeResize="0"/>
          <p:nvPr/>
        </p:nvPicPr>
        <p:blipFill>
          <a:blip r:embed="rId3">
            <a:alphaModFix/>
          </a:blip>
          <a:stretch>
            <a:fillRect/>
          </a:stretch>
        </p:blipFill>
        <p:spPr>
          <a:xfrm>
            <a:off x="2208413" y="1591325"/>
            <a:ext cx="4727175" cy="27007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Algoritmos Randomizados</a:t>
            </a:r>
            <a:endParaRPr/>
          </a:p>
        </p:txBody>
      </p:sp>
      <p:sp>
        <p:nvSpPr>
          <p:cNvPr id="80" name="Google Shape;80;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Le vamos a permitir al algoritmo tomar decisiones al azar</a:t>
            </a:r>
            <a:endParaRPr/>
          </a:p>
          <a:p>
            <a:pPr indent="0" lvl="0" marL="0" rtl="0" algn="l">
              <a:spcBef>
                <a:spcPts val="1600"/>
              </a:spcBef>
              <a:spcAft>
                <a:spcPts val="0"/>
              </a:spcAft>
              <a:buNone/>
            </a:pPr>
            <a:r>
              <a:rPr lang="es"/>
              <a:t>Independientemente de los valores de entrada</a:t>
            </a:r>
            <a:endParaRPr/>
          </a:p>
          <a:p>
            <a:pPr indent="0" lvl="0" marL="0" rtl="0" algn="l">
              <a:spcBef>
                <a:spcPts val="1600"/>
              </a:spcBef>
              <a:spcAft>
                <a:spcPts val="1600"/>
              </a:spcAft>
              <a:buNone/>
            </a:pPr>
            <a:r>
              <a:rPr lang="es"/>
              <a:t>El rol de esta </a:t>
            </a:r>
            <a:r>
              <a:rPr lang="es"/>
              <a:t>aleatoriedad</a:t>
            </a:r>
            <a:r>
              <a:rPr lang="es"/>
              <a:t> es un factor completamente interno al algoritmo</a:t>
            </a:r>
            <a:endParaRPr/>
          </a:p>
        </p:txBody>
      </p:sp>
      <p:pic>
        <p:nvPicPr>
          <p:cNvPr id="81" name="Google Shape;81;p16"/>
          <p:cNvPicPr preferRelativeResize="0"/>
          <p:nvPr/>
        </p:nvPicPr>
        <p:blipFill>
          <a:blip r:embed="rId3">
            <a:alphaModFix/>
          </a:blip>
          <a:stretch>
            <a:fillRect/>
          </a:stretch>
        </p:blipFill>
        <p:spPr>
          <a:xfrm>
            <a:off x="4188750" y="2679800"/>
            <a:ext cx="4955250" cy="2372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Algoritmos Randomizados</a:t>
            </a:r>
            <a:endParaRPr/>
          </a:p>
        </p:txBody>
      </p:sp>
      <p:sp>
        <p:nvSpPr>
          <p:cNvPr id="87" name="Google Shape;87;p17"/>
          <p:cNvSpPr txBox="1"/>
          <p:nvPr>
            <p:ph idx="1" type="body"/>
          </p:nvPr>
        </p:nvSpPr>
        <p:spPr>
          <a:xfrm>
            <a:off x="187025" y="1008325"/>
            <a:ext cx="8957100" cy="39654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s" sz="1700"/>
              <a:t>Hacer modelos más potentes.</a:t>
            </a:r>
            <a:endParaRPr sz="1700"/>
          </a:p>
          <a:p>
            <a:pPr indent="-336550" lvl="0" marL="457200" rtl="0" algn="l">
              <a:spcBef>
                <a:spcPts val="0"/>
              </a:spcBef>
              <a:spcAft>
                <a:spcPts val="0"/>
              </a:spcAft>
              <a:buSzPts val="1700"/>
              <a:buChar char="-"/>
            </a:pPr>
            <a:r>
              <a:rPr lang="es" sz="1700"/>
              <a:t>Un </a:t>
            </a:r>
            <a:r>
              <a:rPr b="1" lang="es" sz="1700"/>
              <a:t>algoritmo determi</a:t>
            </a:r>
            <a:r>
              <a:rPr b="1" lang="es" sz="1700"/>
              <a:t>ní</a:t>
            </a:r>
            <a:r>
              <a:rPr b="1" lang="es" sz="1700"/>
              <a:t>stico eficiente</a:t>
            </a:r>
            <a:r>
              <a:rPr lang="es" sz="1700"/>
              <a:t> que calcula la respuesta correcta puede verse como un caso particular de un </a:t>
            </a:r>
            <a:r>
              <a:rPr b="1" lang="es" sz="1700"/>
              <a:t>algoritmo randomizado </a:t>
            </a:r>
            <a:r>
              <a:rPr lang="es" sz="1700"/>
              <a:t>que da </a:t>
            </a:r>
            <a:r>
              <a:rPr lang="es" sz="1700"/>
              <a:t>la </a:t>
            </a:r>
            <a:r>
              <a:rPr b="1" lang="es" sz="1700"/>
              <a:t>respuesta correcta con alta probabilidad</a:t>
            </a:r>
            <a:r>
              <a:rPr lang="es" sz="1700"/>
              <a:t>.</a:t>
            </a:r>
            <a:endParaRPr sz="1700"/>
          </a:p>
          <a:p>
            <a:pPr indent="-336550" lvl="0" marL="457200" rtl="0" algn="l">
              <a:spcBef>
                <a:spcPts val="0"/>
              </a:spcBef>
              <a:spcAft>
                <a:spcPts val="0"/>
              </a:spcAft>
              <a:buSzPts val="1700"/>
              <a:buChar char="-"/>
            </a:pPr>
            <a:r>
              <a:rPr lang="es" sz="1700"/>
              <a:t>Un </a:t>
            </a:r>
            <a:r>
              <a:rPr b="1" lang="es" sz="1700"/>
              <a:t>algoritmo determinístico eficiente</a:t>
            </a:r>
            <a:r>
              <a:rPr lang="es" sz="1700"/>
              <a:t> que calcula la respuesta correcta puede verse como un caso particular de un algoritmo randomizado que da la siempre la respuesta correcta y tiene una </a:t>
            </a:r>
            <a:r>
              <a:rPr b="1" i="1" lang="es" sz="1700"/>
              <a:t>expectativa</a:t>
            </a:r>
            <a:r>
              <a:rPr b="1" lang="es" sz="1700"/>
              <a:t> de complejidad temporal eficiente</a:t>
            </a:r>
            <a:r>
              <a:rPr lang="es" sz="1700"/>
              <a:t>.</a:t>
            </a:r>
            <a:endParaRPr sz="1700"/>
          </a:p>
          <a:p>
            <a:pPr indent="-336550" lvl="0" marL="457200" rtl="0" algn="l">
              <a:spcBef>
                <a:spcPts val="0"/>
              </a:spcBef>
              <a:spcAft>
                <a:spcPts val="0"/>
              </a:spcAft>
              <a:buSzPts val="1700"/>
              <a:buChar char="●"/>
            </a:pPr>
            <a:r>
              <a:rPr lang="es" sz="1700"/>
              <a:t>Un Algoritmo Randomizado podría resolver un problema que podría no ser resuelto de forma eficiente por un algoritmo determinístico.</a:t>
            </a:r>
            <a:endParaRPr sz="1700"/>
          </a:p>
          <a:p>
            <a:pPr indent="-336550" lvl="0" marL="457200" rtl="0" algn="l">
              <a:spcBef>
                <a:spcPts val="0"/>
              </a:spcBef>
              <a:spcAft>
                <a:spcPts val="0"/>
              </a:spcAft>
              <a:buSzPts val="1700"/>
              <a:buChar char="●"/>
            </a:pPr>
            <a:r>
              <a:rPr lang="es" sz="1700"/>
              <a:t>Conceptualmente más sencillos de entender e implementar.</a:t>
            </a:r>
            <a:endParaRPr sz="1700"/>
          </a:p>
          <a:p>
            <a:pPr indent="-336550" lvl="0" marL="457200" rtl="0" algn="l">
              <a:spcBef>
                <a:spcPts val="0"/>
              </a:spcBef>
              <a:spcAft>
                <a:spcPts val="0"/>
              </a:spcAft>
              <a:buSzPts val="1700"/>
              <a:buChar char="●"/>
            </a:pPr>
            <a:r>
              <a:rPr lang="es" sz="1700"/>
              <a:t>Funcionamiento sin requerir mantener estado interno o memoria del pasado.</a:t>
            </a:r>
            <a:endParaRPr sz="1700"/>
          </a:p>
          <a:p>
            <a:pPr indent="-336550" lvl="0" marL="457200" rtl="0" algn="l">
              <a:spcBef>
                <a:spcPts val="0"/>
              </a:spcBef>
              <a:spcAft>
                <a:spcPts val="0"/>
              </a:spcAft>
              <a:buSzPts val="1700"/>
              <a:buChar char="●"/>
            </a:pPr>
            <a:r>
              <a:rPr lang="es" sz="1700"/>
              <a:t>Para sistemas distribuidos es una forma de </a:t>
            </a:r>
            <a:r>
              <a:rPr b="1" lang="es" sz="1700"/>
              <a:t>quebrar la simetría</a:t>
            </a:r>
            <a:r>
              <a:rPr lang="es" sz="1700"/>
              <a:t> entre procesos que corren el mismo algoritmo.</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Algunos conceptos de Probabilidad</a:t>
            </a:r>
            <a:endParaRPr/>
          </a:p>
        </p:txBody>
      </p:sp>
      <p:sp>
        <p:nvSpPr>
          <p:cNvPr id="93" name="Google Shape;93;p18"/>
          <p:cNvSpPr txBox="1"/>
          <p:nvPr>
            <p:ph idx="1" type="body"/>
          </p:nvPr>
        </p:nvSpPr>
        <p:spPr>
          <a:xfrm>
            <a:off x="311700" y="1171600"/>
            <a:ext cx="8520600" cy="257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Probabilidad de que un evento ocurra: p</a:t>
            </a:r>
            <a:endParaRPr/>
          </a:p>
          <a:p>
            <a:pPr indent="0" lvl="0" marL="0" rtl="0" algn="l">
              <a:spcBef>
                <a:spcPts val="1600"/>
              </a:spcBef>
              <a:spcAft>
                <a:spcPts val="0"/>
              </a:spcAft>
              <a:buNone/>
            </a:pPr>
            <a:r>
              <a:rPr lang="es"/>
              <a:t>Probabilidad de que un evento no ocurra: 1-p</a:t>
            </a:r>
            <a:endParaRPr/>
          </a:p>
          <a:p>
            <a:pPr indent="0" lvl="0" marL="0" rtl="0" algn="l">
              <a:spcBef>
                <a:spcPts val="1600"/>
              </a:spcBef>
              <a:spcAft>
                <a:spcPts val="0"/>
              </a:spcAft>
              <a:buNone/>
            </a:pPr>
            <a:r>
              <a:rPr lang="es"/>
              <a:t>Ejemplo: lanzar una moneda justa: p=½</a:t>
            </a:r>
            <a:endParaRPr/>
          </a:p>
          <a:p>
            <a:pPr indent="0" lvl="0" marL="0" rtl="0" algn="l">
              <a:spcBef>
                <a:spcPts val="1600"/>
              </a:spcBef>
              <a:spcAft>
                <a:spcPts val="0"/>
              </a:spcAft>
              <a:buNone/>
            </a:pPr>
            <a:r>
              <a:rPr lang="es"/>
              <a:t>Ejemplo: lanzar un dado de 6 caras justo: p(salga 1)=⅙ p(no salga 1)=⅚</a:t>
            </a:r>
            <a:endParaRPr/>
          </a:p>
          <a:p>
            <a:pPr indent="0" lvl="0" marL="0" rtl="0" algn="l">
              <a:spcBef>
                <a:spcPts val="1600"/>
              </a:spcBef>
              <a:spcAft>
                <a:spcPts val="1600"/>
              </a:spcAft>
              <a:buClr>
                <a:schemeClr val="dk1"/>
              </a:buClr>
              <a:buSzPts val="1100"/>
              <a:buFont typeface="Arial"/>
              <a:buNone/>
            </a:pPr>
            <a:r>
              <a:rPr lang="es"/>
              <a:t>Esperanza, valor esperado de un evento:</a:t>
            </a:r>
            <a:endParaRPr/>
          </a:p>
        </p:txBody>
      </p:sp>
      <p:pic>
        <p:nvPicPr>
          <p:cNvPr id="94" name="Google Shape;94;p18"/>
          <p:cNvPicPr preferRelativeResize="0"/>
          <p:nvPr/>
        </p:nvPicPr>
        <p:blipFill>
          <a:blip r:embed="rId3">
            <a:alphaModFix/>
          </a:blip>
          <a:stretch>
            <a:fillRect/>
          </a:stretch>
        </p:blipFill>
        <p:spPr>
          <a:xfrm>
            <a:off x="4622350" y="3179700"/>
            <a:ext cx="2416100" cy="753400"/>
          </a:xfrm>
          <a:prstGeom prst="rect">
            <a:avLst/>
          </a:prstGeom>
          <a:noFill/>
          <a:ln>
            <a:noFill/>
          </a:ln>
        </p:spPr>
      </p:pic>
      <p:sp>
        <p:nvSpPr>
          <p:cNvPr id="95" name="Google Shape;95;p18"/>
          <p:cNvSpPr txBox="1"/>
          <p:nvPr>
            <p:ph idx="1" type="body"/>
          </p:nvPr>
        </p:nvSpPr>
        <p:spPr>
          <a:xfrm>
            <a:off x="311700" y="4067200"/>
            <a:ext cx="8520600" cy="485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Linealidad de la Esperanza: </a:t>
            </a:r>
            <a:endParaRPr/>
          </a:p>
        </p:txBody>
      </p:sp>
      <p:pic>
        <p:nvPicPr>
          <p:cNvPr id="96" name="Google Shape;96;p18"/>
          <p:cNvPicPr preferRelativeResize="0"/>
          <p:nvPr/>
        </p:nvPicPr>
        <p:blipFill>
          <a:blip r:embed="rId4">
            <a:alphaModFix/>
          </a:blip>
          <a:stretch>
            <a:fillRect/>
          </a:stretch>
        </p:blipFill>
        <p:spPr>
          <a:xfrm>
            <a:off x="3199863" y="4074538"/>
            <a:ext cx="383857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Encontrar la Mediana</a:t>
            </a:r>
            <a:endParaRPr/>
          </a:p>
        </p:txBody>
      </p:sp>
      <p:sp>
        <p:nvSpPr>
          <p:cNvPr id="102" name="Google Shape;102;p19"/>
          <p:cNvSpPr txBox="1"/>
          <p:nvPr>
            <p:ph idx="1" type="body"/>
          </p:nvPr>
        </p:nvSpPr>
        <p:spPr>
          <a:xfrm>
            <a:off x="311700" y="1171600"/>
            <a:ext cx="8520600" cy="355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un conjunto de números S = {</a:t>
            </a:r>
            <a:r>
              <a:rPr lang="es" sz="1700"/>
              <a:t>a</a:t>
            </a:r>
            <a:r>
              <a:rPr b="1" baseline="-25000" lang="es" sz="1700"/>
              <a:t>1</a:t>
            </a:r>
            <a:r>
              <a:rPr lang="es" sz="1700"/>
              <a:t>, a</a:t>
            </a:r>
            <a:r>
              <a:rPr b="1" baseline="-25000" lang="es" sz="1700"/>
              <a:t>2</a:t>
            </a:r>
            <a:r>
              <a:rPr lang="es" sz="1700"/>
              <a:t>,..., a</a:t>
            </a:r>
            <a:r>
              <a:rPr b="1" baseline="-25000" lang="es" sz="1700"/>
              <a:t>n</a:t>
            </a:r>
            <a:r>
              <a:rPr lang="es"/>
              <a:t>}, la Mediana es </a:t>
            </a:r>
            <a:r>
              <a:rPr lang="es"/>
              <a:t>aquel</a:t>
            </a:r>
            <a:r>
              <a:rPr lang="es"/>
              <a:t> valor que estaría en la posición del medio si el conjunto de números estuviera ordenado. La Mediana está en la posición k del arreglo ordenado tal que:</a:t>
            </a:r>
            <a:endParaRPr/>
          </a:p>
          <a:p>
            <a:pPr indent="-342900" lvl="0" marL="457200" rtl="0" algn="l">
              <a:spcBef>
                <a:spcPts val="1600"/>
              </a:spcBef>
              <a:spcAft>
                <a:spcPts val="0"/>
              </a:spcAft>
              <a:buSzPts val="1800"/>
              <a:buChar char="-"/>
            </a:pPr>
            <a:r>
              <a:rPr lang="es"/>
              <a:t>si la cantidad n es impar, k es (n+1)/2</a:t>
            </a:r>
            <a:endParaRPr/>
          </a:p>
          <a:p>
            <a:pPr indent="-342900" lvl="0" marL="457200" rtl="0" algn="l">
              <a:spcBef>
                <a:spcPts val="0"/>
              </a:spcBef>
              <a:spcAft>
                <a:spcPts val="0"/>
              </a:spcAft>
              <a:buSzPts val="1800"/>
              <a:buChar char="-"/>
            </a:pPr>
            <a:r>
              <a:rPr lang="es"/>
              <a:t>si la cantidad n es par, k es n/2</a:t>
            </a:r>
            <a:endParaRPr/>
          </a:p>
          <a:p>
            <a:pPr indent="0" lvl="0" marL="0" rtl="0" algn="l">
              <a:spcBef>
                <a:spcPts val="1600"/>
              </a:spcBef>
              <a:spcAft>
                <a:spcPts val="0"/>
              </a:spcAft>
              <a:buNone/>
            </a:pPr>
            <a:r>
              <a:rPr lang="es"/>
              <a:t>Este problema se puede resolver fácilmente ordenando. En O(n log n) podemos ordenar, luego acceder a la posición k en O(1)</a:t>
            </a:r>
            <a:endParaRPr/>
          </a:p>
          <a:p>
            <a:pPr indent="0" lvl="0" marL="0" rtl="0" algn="l">
              <a:spcBef>
                <a:spcPts val="1600"/>
              </a:spcBef>
              <a:spcAft>
                <a:spcPts val="1600"/>
              </a:spcAft>
              <a:buNone/>
            </a:pPr>
            <a:r>
              <a:rPr lang="es"/>
              <a:t>De hecho, esta solución nos permitiría Seleccionar cualquier valor k en el arreglo ordenado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Selección</a:t>
            </a:r>
            <a:endParaRPr/>
          </a:p>
        </p:txBody>
      </p:sp>
      <p:pic>
        <p:nvPicPr>
          <p:cNvPr id="108" name="Google Shape;108;p20"/>
          <p:cNvPicPr preferRelativeResize="0"/>
          <p:nvPr/>
        </p:nvPicPr>
        <p:blipFill rotWithShape="1">
          <a:blip r:embed="rId3">
            <a:alphaModFix/>
          </a:blip>
          <a:srcRect b="0" l="923" r="923" t="1874"/>
          <a:stretch/>
        </p:blipFill>
        <p:spPr>
          <a:xfrm>
            <a:off x="2719350" y="1129075"/>
            <a:ext cx="3705300" cy="37096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Selección</a:t>
            </a:r>
            <a:endParaRPr/>
          </a:p>
        </p:txBody>
      </p:sp>
      <p:sp>
        <p:nvSpPr>
          <p:cNvPr id="114" name="Google Shape;114;p21"/>
          <p:cNvSpPr txBox="1"/>
          <p:nvPr>
            <p:ph idx="1" type="body"/>
          </p:nvPr>
        </p:nvSpPr>
        <p:spPr>
          <a:xfrm>
            <a:off x="311700" y="1171600"/>
            <a:ext cx="8520600" cy="355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un conjunto de números S = {</a:t>
            </a:r>
            <a:r>
              <a:rPr lang="es" sz="1700"/>
              <a:t>a</a:t>
            </a:r>
            <a:r>
              <a:rPr b="1" baseline="-25000" lang="es" sz="1700"/>
              <a:t>1</a:t>
            </a:r>
            <a:r>
              <a:rPr lang="es" sz="1700"/>
              <a:t>, a</a:t>
            </a:r>
            <a:r>
              <a:rPr b="1" baseline="-25000" lang="es" sz="1700"/>
              <a:t>2</a:t>
            </a:r>
            <a:r>
              <a:rPr lang="es" sz="1700"/>
              <a:t>,..., a</a:t>
            </a:r>
            <a:r>
              <a:rPr b="1" baseline="-25000" lang="es" sz="1700"/>
              <a:t>n</a:t>
            </a:r>
            <a:r>
              <a:rPr lang="es"/>
              <a:t>}, se quiere seleccionar aquel valor que estaría en la posición </a:t>
            </a:r>
            <a:r>
              <a:rPr b="1" lang="es"/>
              <a:t>k</a:t>
            </a:r>
            <a:r>
              <a:rPr lang="es"/>
              <a:t> si el conjunto de números estuviera ordenado.</a:t>
            </a:r>
            <a:endParaRPr/>
          </a:p>
          <a:p>
            <a:pPr indent="0" lvl="0" marL="0" rtl="0" algn="l">
              <a:spcBef>
                <a:spcPts val="1600"/>
              </a:spcBef>
              <a:spcAft>
                <a:spcPts val="0"/>
              </a:spcAft>
              <a:buNone/>
            </a:pPr>
            <a:r>
              <a:rPr lang="es"/>
              <a:t>Este problema se puede resolver fácilmente ordenando. En O(n log n) podemos ordenar, luego acceder a la posición k en O(1)</a:t>
            </a:r>
            <a:endParaRPr/>
          </a:p>
          <a:p>
            <a:pPr indent="0" lvl="0" marL="0" rtl="0" algn="l">
              <a:spcBef>
                <a:spcPts val="1600"/>
              </a:spcBef>
              <a:spcAft>
                <a:spcPts val="0"/>
              </a:spcAft>
              <a:buNone/>
            </a:pPr>
            <a:r>
              <a:rPr lang="es"/>
              <a:t>Para los casos específicos de k=1 o k=n, es trivial la solución en O(n) para la búsqueda del mí</a:t>
            </a:r>
            <a:r>
              <a:rPr lang="es"/>
              <a:t>ni</a:t>
            </a:r>
            <a:r>
              <a:rPr lang="es"/>
              <a:t>mo o máximo del arreglo</a:t>
            </a:r>
            <a:endParaRPr/>
          </a:p>
          <a:p>
            <a:pPr indent="0" lvl="0" marL="0" rtl="0" algn="l">
              <a:spcBef>
                <a:spcPts val="1600"/>
              </a:spcBef>
              <a:spcAft>
                <a:spcPts val="0"/>
              </a:spcAft>
              <a:buNone/>
            </a:pPr>
            <a:r>
              <a:rPr lang="es"/>
              <a:t>Deseamos un algoritmo de División y Conquista con tiempo esperado O(n)</a:t>
            </a:r>
            <a:endParaRPr/>
          </a:p>
          <a:p>
            <a:pPr indent="0" lvl="0" marL="0" rtl="0" algn="l">
              <a:spcBef>
                <a:spcPts val="1600"/>
              </a:spcBef>
              <a:spcAft>
                <a:spcPts val="1600"/>
              </a:spcAft>
              <a:buNone/>
            </a:pPr>
            <a:r>
              <a:rPr lang="es"/>
              <a:t>… y será un Algoritmo Randomizado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Problema de Selección</a:t>
            </a:r>
            <a:endParaRPr/>
          </a:p>
        </p:txBody>
      </p:sp>
      <p:sp>
        <p:nvSpPr>
          <p:cNvPr id="120" name="Google Shape;120;p2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elige algún valor </a:t>
            </a:r>
            <a:r>
              <a:rPr lang="es"/>
              <a:t>a</a:t>
            </a:r>
            <a:r>
              <a:rPr b="1" baseline="-25000" lang="es"/>
              <a:t>i</a:t>
            </a:r>
            <a:r>
              <a:rPr lang="es"/>
              <a:t>, el </a:t>
            </a:r>
            <a:r>
              <a:rPr lang="es"/>
              <a:t>Pivot</a:t>
            </a:r>
            <a:r>
              <a:rPr lang="es"/>
              <a:t>. Podemos partir el conjunto de valores en dos conjuntos, S</a:t>
            </a:r>
            <a:r>
              <a:rPr b="1" lang="es"/>
              <a:t>⁻</a:t>
            </a:r>
            <a:r>
              <a:rPr lang="es"/>
              <a:t> con cualquier valor menor a </a:t>
            </a:r>
            <a:r>
              <a:rPr lang="es"/>
              <a:t>a</a:t>
            </a:r>
            <a:r>
              <a:rPr b="1" baseline="-25000" lang="es"/>
              <a:t>i</a:t>
            </a:r>
            <a:r>
              <a:rPr lang="es"/>
              <a:t>, </a:t>
            </a:r>
            <a:r>
              <a:rPr lang="es"/>
              <a:t>S</a:t>
            </a:r>
            <a:r>
              <a:rPr b="1" lang="es"/>
              <a:t>⁺</a:t>
            </a:r>
            <a:r>
              <a:rPr lang="es"/>
              <a:t> con valores mayores a </a:t>
            </a:r>
            <a:r>
              <a:rPr lang="es"/>
              <a:t>a</a:t>
            </a:r>
            <a:r>
              <a:rPr b="1" baseline="-25000" lang="es"/>
              <a:t>i</a:t>
            </a:r>
            <a:endParaRPr/>
          </a:p>
          <a:p>
            <a:pPr indent="0" lvl="0" marL="0" rtl="0" algn="l">
              <a:spcBef>
                <a:spcPts val="1600"/>
              </a:spcBef>
              <a:spcAft>
                <a:spcPts val="1600"/>
              </a:spcAft>
              <a:buNone/>
            </a:pPr>
            <a:r>
              <a:rPr lang="es"/>
              <a:t>En función de la cantidad de elementos de</a:t>
            </a:r>
            <a:r>
              <a:rPr lang="es"/>
              <a:t> S</a:t>
            </a:r>
            <a:r>
              <a:rPr b="1" lang="es"/>
              <a:t>⁻</a:t>
            </a:r>
            <a:r>
              <a:rPr lang="es"/>
              <a:t> y S</a:t>
            </a:r>
            <a:r>
              <a:rPr b="1" lang="es"/>
              <a:t>⁺</a:t>
            </a:r>
            <a:r>
              <a:rPr lang="es"/>
              <a:t>, se puede saber dónde buscar la Selección deseada de k</a:t>
            </a:r>
            <a:endParaRPr/>
          </a:p>
        </p:txBody>
      </p:sp>
      <p:pic>
        <p:nvPicPr>
          <p:cNvPr id="121" name="Google Shape;121;p22"/>
          <p:cNvPicPr preferRelativeResize="0"/>
          <p:nvPr/>
        </p:nvPicPr>
        <p:blipFill>
          <a:blip r:embed="rId3">
            <a:alphaModFix/>
          </a:blip>
          <a:stretch>
            <a:fillRect/>
          </a:stretch>
        </p:blipFill>
        <p:spPr>
          <a:xfrm>
            <a:off x="1209675" y="2918613"/>
            <a:ext cx="6724650" cy="828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s"/>
              <a:t>Problema de Selección</a:t>
            </a:r>
            <a:endParaRPr/>
          </a:p>
        </p:txBody>
      </p:sp>
      <p:sp>
        <p:nvSpPr>
          <p:cNvPr id="127" name="Google Shape;127;p23"/>
          <p:cNvSpPr txBox="1"/>
          <p:nvPr>
            <p:ph idx="1" type="body"/>
          </p:nvPr>
        </p:nvSpPr>
        <p:spPr>
          <a:xfrm>
            <a:off x="311700" y="1171600"/>
            <a:ext cx="8520600" cy="37041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s">
                <a:latin typeface="Consolas"/>
                <a:ea typeface="Consolas"/>
                <a:cs typeface="Consolas"/>
                <a:sym typeface="Consolas"/>
              </a:rPr>
              <a:t>def select(S, k):</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ai = elegir_p</a:t>
            </a:r>
            <a:r>
              <a:rPr lang="es">
                <a:latin typeface="Consolas"/>
                <a:ea typeface="Consolas"/>
                <a:cs typeface="Consolas"/>
                <a:sym typeface="Consolas"/>
              </a:rPr>
              <a:t>ivot</a:t>
            </a:r>
            <a:r>
              <a:rPr lang="es">
                <a:latin typeface="Consolas"/>
                <a:ea typeface="Consolas"/>
                <a:cs typeface="Consolas"/>
                <a:sym typeface="Consolas"/>
              </a:rPr>
              <a:t>(</a:t>
            </a:r>
            <a:r>
              <a:rPr lang="es">
                <a:latin typeface="Consolas"/>
                <a:ea typeface="Consolas"/>
                <a:cs typeface="Consolas"/>
                <a:sym typeface="Consolas"/>
              </a:rPr>
              <a:t>S, k</a:t>
            </a:r>
            <a:r>
              <a:rPr lang="es">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for elem in 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Agregar elem a S- si elem&lt;ai</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Agregar elem a S+ si elem&gt;ai</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if |S-| == k-1: 	return ai</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if |S-| &gt;= k: 	return select(S-, k)</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else: 			return select(S+, k-1-|S-|)</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latin typeface="Consolas"/>
                <a:ea typeface="Consolas"/>
                <a:cs typeface="Consolas"/>
                <a:sym typeface="Consolas"/>
              </a:rPr>
              <a:t># Sin importar la selección de ai, el algoritmo es correcto</a:t>
            </a:r>
            <a:endParaRPr>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animEffect filter="fade" transition="in">
                                      <p:cBhvr>
                                        <p:cTn dur="1000"/>
                                        <p:tgtEl>
                                          <p:spTgt spid="1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animEffect filter="fade" transition="in">
                                      <p:cBhvr>
                                        <p:cTn dur="1000"/>
                                        <p:tgtEl>
                                          <p:spTgt spid="1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animEffect filter="fade" transition="in">
                                      <p:cBhvr>
                                        <p:cTn dur="1000"/>
                                        <p:tgtEl>
                                          <p:spTgt spid="12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animEffect filter="fade" transition="in">
                                      <p:cBhvr>
                                        <p:cTn dur="1000"/>
                                        <p:tgtEl>
                                          <p:spTgt spid="12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animEffect filter="fade" transition="in">
                                      <p:cBhvr>
                                        <p:cTn dur="1000"/>
                                        <p:tgtEl>
                                          <p:spTgt spid="12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animEffect filter="fade" transition="in">
                                      <p:cBhvr>
                                        <p:cTn dur="1000"/>
                                        <p:tgtEl>
                                          <p:spTgt spid="12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8" st="8"/>
                                            </p:txEl>
                                          </p:spTgt>
                                        </p:tgtEl>
                                        <p:attrNameLst>
                                          <p:attrName>style.visibility</p:attrName>
                                        </p:attrNameLst>
                                      </p:cBhvr>
                                      <p:to>
                                        <p:strVal val="visible"/>
                                      </p:to>
                                    </p:set>
                                    <p:animEffect filter="fade" transition="in">
                                      <p:cBhvr>
                                        <p:cTn dur="1000"/>
                                        <p:tgtEl>
                                          <p:spTgt spid="12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9" st="9"/>
                                            </p:txEl>
                                          </p:spTgt>
                                        </p:tgtEl>
                                        <p:attrNameLst>
                                          <p:attrName>style.visibility</p:attrName>
                                        </p:attrNameLst>
                                      </p:cBhvr>
                                      <p:to>
                                        <p:strVal val="visible"/>
                                      </p:to>
                                    </p:set>
                                    <p:animEffect filter="fade" transition="in">
                                      <p:cBhvr>
                                        <p:cTn dur="1000"/>
                                        <p:tgtEl>
                                          <p:spTgt spid="12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 del Algoritmo</a:t>
            </a:r>
            <a:endParaRPr/>
          </a:p>
        </p:txBody>
      </p:sp>
      <p:sp>
        <p:nvSpPr>
          <p:cNvPr id="133" name="Google Shape;133;p24"/>
          <p:cNvSpPr txBox="1"/>
          <p:nvPr>
            <p:ph idx="1" type="body"/>
          </p:nvPr>
        </p:nvSpPr>
        <p:spPr>
          <a:xfrm>
            <a:off x="311700" y="1171600"/>
            <a:ext cx="8683500" cy="321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Costo de buscar Pivot + Costo lineal de separar Sets + Costo de llamada recursiva</a:t>
            </a:r>
            <a:endParaRPr/>
          </a:p>
          <a:p>
            <a:pPr indent="0" lvl="0" marL="0" rtl="0" algn="l">
              <a:spcBef>
                <a:spcPts val="1600"/>
              </a:spcBef>
              <a:spcAft>
                <a:spcPts val="0"/>
              </a:spcAft>
              <a:buNone/>
            </a:pPr>
            <a:r>
              <a:rPr lang="es"/>
              <a:t>El tiempo de la llamada recursiva depende del nuevo tamaño del Set a seleccionar</a:t>
            </a:r>
            <a:endParaRPr/>
          </a:p>
          <a:p>
            <a:pPr indent="0" lvl="0" marL="0" rtl="0" algn="l">
              <a:spcBef>
                <a:spcPts val="1600"/>
              </a:spcBef>
              <a:spcAft>
                <a:spcPts val="0"/>
              </a:spcAft>
              <a:buNone/>
            </a:pPr>
            <a:r>
              <a:rPr lang="es"/>
              <a:t>Nos gustaría que el Pivot genere una reducción significativa del tamaño del Set</a:t>
            </a:r>
            <a:endParaRPr/>
          </a:p>
          <a:p>
            <a:pPr indent="0" lvl="0" marL="0" rtl="0" algn="l">
              <a:spcBef>
                <a:spcPts val="1600"/>
              </a:spcBef>
              <a:spcAft>
                <a:spcPts val="0"/>
              </a:spcAft>
              <a:buNone/>
            </a:pPr>
            <a:r>
              <a:rPr lang="es"/>
              <a:t>Ideal: que S- y S+ tengan el mismo tamaño, que el Pivot sea siempre la mediana.</a:t>
            </a:r>
            <a:endParaRPr/>
          </a:p>
          <a:p>
            <a:pPr indent="0" lvl="0" marL="0" rtl="0" algn="l">
              <a:spcBef>
                <a:spcPts val="1600"/>
              </a:spcBef>
              <a:spcAft>
                <a:spcPts val="0"/>
              </a:spcAft>
              <a:buNone/>
            </a:pPr>
            <a:r>
              <a:rPr lang="es"/>
              <a:t>Entonces: T(n) = T(n/2) + c*n</a:t>
            </a:r>
            <a:endParaRPr/>
          </a:p>
          <a:p>
            <a:pPr indent="0" lvl="0" marL="0" rtl="0" algn="l">
              <a:spcBef>
                <a:spcPts val="1600"/>
              </a:spcBef>
              <a:spcAft>
                <a:spcPts val="1600"/>
              </a:spcAft>
              <a:buNone/>
            </a:pPr>
            <a:r>
              <a:rPr lang="es"/>
              <a:t>En este caso ideal, O(n).</a:t>
            </a:r>
            <a:endParaRPr/>
          </a:p>
        </p:txBody>
      </p:sp>
      <p:pic>
        <p:nvPicPr>
          <p:cNvPr id="134" name="Google Shape;134;p24"/>
          <p:cNvPicPr preferRelativeResize="0"/>
          <p:nvPr/>
        </p:nvPicPr>
        <p:blipFill>
          <a:blip r:embed="rId3">
            <a:alphaModFix/>
          </a:blip>
          <a:stretch>
            <a:fillRect/>
          </a:stretch>
        </p:blipFill>
        <p:spPr>
          <a:xfrm>
            <a:off x="7320525" y="3226423"/>
            <a:ext cx="1823475" cy="1799275"/>
          </a:xfrm>
          <a:prstGeom prst="rect">
            <a:avLst/>
          </a:prstGeom>
          <a:noFill/>
          <a:ln>
            <a:noFill/>
          </a:ln>
        </p:spPr>
      </p:pic>
      <p:cxnSp>
        <p:nvCxnSpPr>
          <p:cNvPr id="135" name="Google Shape;135;p24"/>
          <p:cNvCxnSpPr/>
          <p:nvPr/>
        </p:nvCxnSpPr>
        <p:spPr>
          <a:xfrm>
            <a:off x="5993512" y="3092548"/>
            <a:ext cx="2414100" cy="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Eligiendo un Buen </a:t>
            </a:r>
            <a:r>
              <a:rPr lang="es"/>
              <a:t>Pivot</a:t>
            </a:r>
            <a:endParaRPr/>
          </a:p>
        </p:txBody>
      </p:sp>
      <p:sp>
        <p:nvSpPr>
          <p:cNvPr id="141" name="Google Shape;141;p25"/>
          <p:cNvSpPr txBox="1"/>
          <p:nvPr>
            <p:ph idx="1" type="body"/>
          </p:nvPr>
        </p:nvSpPr>
        <p:spPr>
          <a:xfrm>
            <a:off x="311700" y="1171600"/>
            <a:ext cx="8520600" cy="140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No podemos poner como condición elegir la Mediana, estamos buscándola.</a:t>
            </a:r>
            <a:endParaRPr/>
          </a:p>
          <a:p>
            <a:pPr indent="0" lvl="0" marL="0" rtl="0" algn="l">
              <a:spcBef>
                <a:spcPts val="1600"/>
              </a:spcBef>
              <a:spcAft>
                <a:spcPts val="1600"/>
              </a:spcAft>
              <a:buNone/>
            </a:pPr>
            <a:r>
              <a:rPr lang="es"/>
              <a:t>En realidad solamente necesitamos un </a:t>
            </a:r>
            <a:r>
              <a:rPr lang="es"/>
              <a:t>Pivot</a:t>
            </a:r>
            <a:r>
              <a:rPr lang="es"/>
              <a:t> “</a:t>
            </a:r>
            <a:r>
              <a:rPr i="1" lang="es"/>
              <a:t>bastante bien centrado</a:t>
            </a:r>
            <a:r>
              <a:rPr lang="es"/>
              <a:t>”, que deje bastantes elementos en </a:t>
            </a:r>
            <a:r>
              <a:rPr lang="es"/>
              <a:t>S</a:t>
            </a:r>
            <a:r>
              <a:rPr b="1" lang="es"/>
              <a:t>⁻</a:t>
            </a:r>
            <a:r>
              <a:rPr lang="es"/>
              <a:t> y S</a:t>
            </a:r>
            <a:r>
              <a:rPr b="1" lang="es"/>
              <a:t>⁺</a:t>
            </a:r>
            <a:r>
              <a:rPr lang="es"/>
              <a:t>. Si achicamos cada set al menos por un factor</a:t>
            </a:r>
            <a:endParaRPr/>
          </a:p>
        </p:txBody>
      </p:sp>
      <p:pic>
        <p:nvPicPr>
          <p:cNvPr id="142" name="Google Shape;142;p25"/>
          <p:cNvPicPr preferRelativeResize="0"/>
          <p:nvPr/>
        </p:nvPicPr>
        <p:blipFill>
          <a:blip r:embed="rId3">
            <a:alphaModFix/>
          </a:blip>
          <a:stretch>
            <a:fillRect/>
          </a:stretch>
        </p:blipFill>
        <p:spPr>
          <a:xfrm>
            <a:off x="8231950" y="2093400"/>
            <a:ext cx="676475" cy="297897"/>
          </a:xfrm>
          <a:prstGeom prst="rect">
            <a:avLst/>
          </a:prstGeom>
          <a:noFill/>
          <a:ln>
            <a:noFill/>
          </a:ln>
        </p:spPr>
      </p:pic>
      <p:pic>
        <p:nvPicPr>
          <p:cNvPr id="143" name="Google Shape;143;p25"/>
          <p:cNvPicPr preferRelativeResize="0"/>
          <p:nvPr/>
        </p:nvPicPr>
        <p:blipFill>
          <a:blip r:embed="rId4">
            <a:alphaModFix/>
          </a:blip>
          <a:stretch>
            <a:fillRect/>
          </a:stretch>
        </p:blipFill>
        <p:spPr>
          <a:xfrm>
            <a:off x="2838450" y="2571700"/>
            <a:ext cx="3467100" cy="504825"/>
          </a:xfrm>
          <a:prstGeom prst="rect">
            <a:avLst/>
          </a:prstGeom>
          <a:noFill/>
          <a:ln>
            <a:noFill/>
          </a:ln>
        </p:spPr>
      </p:pic>
      <p:pic>
        <p:nvPicPr>
          <p:cNvPr id="144" name="Google Shape;144;p25"/>
          <p:cNvPicPr preferRelativeResize="0"/>
          <p:nvPr/>
        </p:nvPicPr>
        <p:blipFill>
          <a:blip r:embed="rId5">
            <a:alphaModFix/>
          </a:blip>
          <a:stretch>
            <a:fillRect/>
          </a:stretch>
        </p:blipFill>
        <p:spPr>
          <a:xfrm>
            <a:off x="152400" y="3228925"/>
            <a:ext cx="8839202" cy="542332"/>
          </a:xfrm>
          <a:prstGeom prst="rect">
            <a:avLst/>
          </a:prstGeom>
          <a:noFill/>
          <a:ln>
            <a:noFill/>
          </a:ln>
        </p:spPr>
      </p:pic>
      <p:pic>
        <p:nvPicPr>
          <p:cNvPr id="145" name="Google Shape;145;p25"/>
          <p:cNvPicPr preferRelativeResize="0"/>
          <p:nvPr/>
        </p:nvPicPr>
        <p:blipFill>
          <a:blip r:embed="rId6">
            <a:alphaModFix/>
          </a:blip>
          <a:stretch>
            <a:fillRect/>
          </a:stretch>
        </p:blipFill>
        <p:spPr>
          <a:xfrm>
            <a:off x="3662363" y="3923657"/>
            <a:ext cx="1819275"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Eligiendo un Buen Pivot</a:t>
            </a:r>
            <a:endParaRPr/>
          </a:p>
        </p:txBody>
      </p:sp>
      <p:sp>
        <p:nvSpPr>
          <p:cNvPr id="151" name="Google Shape;151;p26"/>
          <p:cNvSpPr txBox="1"/>
          <p:nvPr>
            <p:ph idx="1" type="body"/>
          </p:nvPr>
        </p:nvSpPr>
        <p:spPr>
          <a:xfrm>
            <a:off x="311700" y="1171600"/>
            <a:ext cx="8520600" cy="866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El peligro sería elegir un </a:t>
            </a:r>
            <a:r>
              <a:rPr lang="es"/>
              <a:t>Pivot</a:t>
            </a:r>
            <a:r>
              <a:rPr lang="es"/>
              <a:t> “muy mal centrado”, que solamente nos ahorre un elemento a la vez</a:t>
            </a:r>
            <a:endParaRPr/>
          </a:p>
        </p:txBody>
      </p:sp>
      <p:pic>
        <p:nvPicPr>
          <p:cNvPr id="152" name="Google Shape;152;p26"/>
          <p:cNvPicPr preferRelativeResize="0"/>
          <p:nvPr/>
        </p:nvPicPr>
        <p:blipFill>
          <a:blip r:embed="rId3">
            <a:alphaModFix/>
          </a:blip>
          <a:stretch>
            <a:fillRect/>
          </a:stretch>
        </p:blipFill>
        <p:spPr>
          <a:xfrm>
            <a:off x="3057525" y="1551925"/>
            <a:ext cx="3028950" cy="485775"/>
          </a:xfrm>
          <a:prstGeom prst="rect">
            <a:avLst/>
          </a:prstGeom>
          <a:noFill/>
          <a:ln>
            <a:noFill/>
          </a:ln>
        </p:spPr>
      </p:pic>
      <p:pic>
        <p:nvPicPr>
          <p:cNvPr id="153" name="Google Shape;153;p26"/>
          <p:cNvPicPr preferRelativeResize="0"/>
          <p:nvPr/>
        </p:nvPicPr>
        <p:blipFill>
          <a:blip r:embed="rId4">
            <a:alphaModFix/>
          </a:blip>
          <a:stretch>
            <a:fillRect/>
          </a:stretch>
        </p:blipFill>
        <p:spPr>
          <a:xfrm>
            <a:off x="152400" y="2190100"/>
            <a:ext cx="8448675" cy="857250"/>
          </a:xfrm>
          <a:prstGeom prst="rect">
            <a:avLst/>
          </a:prstGeom>
          <a:noFill/>
          <a:ln>
            <a:noFill/>
          </a:ln>
        </p:spPr>
      </p:pic>
      <p:pic>
        <p:nvPicPr>
          <p:cNvPr id="154" name="Google Shape;154;p26"/>
          <p:cNvPicPr preferRelativeResize="0"/>
          <p:nvPr/>
        </p:nvPicPr>
        <p:blipFill>
          <a:blip r:embed="rId5">
            <a:alphaModFix/>
          </a:blip>
          <a:stretch>
            <a:fillRect/>
          </a:stretch>
        </p:blipFill>
        <p:spPr>
          <a:xfrm>
            <a:off x="3057525" y="3232376"/>
            <a:ext cx="3193494" cy="17913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Eligiendo un Buen Pivot</a:t>
            </a:r>
            <a:endParaRPr/>
          </a:p>
        </p:txBody>
      </p:sp>
      <p:sp>
        <p:nvSpPr>
          <p:cNvPr id="160" name="Google Shape;160;p27"/>
          <p:cNvSpPr txBox="1"/>
          <p:nvPr>
            <p:ph idx="1" type="body"/>
          </p:nvPr>
        </p:nvSpPr>
        <p:spPr>
          <a:xfrm>
            <a:off x="311700" y="42126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400"/>
              <a:t>Al azar</a:t>
            </a:r>
            <a:endParaRPr sz="2400"/>
          </a:p>
        </p:txBody>
      </p:sp>
      <p:pic>
        <p:nvPicPr>
          <p:cNvPr id="161" name="Google Shape;161;p27"/>
          <p:cNvPicPr preferRelativeResize="0"/>
          <p:nvPr/>
        </p:nvPicPr>
        <p:blipFill>
          <a:blip r:embed="rId3">
            <a:alphaModFix/>
          </a:blip>
          <a:stretch>
            <a:fillRect/>
          </a:stretch>
        </p:blipFill>
        <p:spPr>
          <a:xfrm>
            <a:off x="2041225" y="1210625"/>
            <a:ext cx="5061545" cy="284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Pivot</a:t>
            </a:r>
            <a:r>
              <a:rPr lang="es"/>
              <a:t> al Azar</a:t>
            </a:r>
            <a:endParaRPr/>
          </a:p>
        </p:txBody>
      </p:sp>
      <p:sp>
        <p:nvSpPr>
          <p:cNvPr id="167" name="Google Shape;167;p28"/>
          <p:cNvSpPr txBox="1"/>
          <p:nvPr>
            <p:ph idx="1" type="body"/>
          </p:nvPr>
        </p:nvSpPr>
        <p:spPr>
          <a:xfrm>
            <a:off x="311700" y="1171600"/>
            <a:ext cx="8520600" cy="728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La mayoría de los valores están bastante bien centrados, elegir al azar </a:t>
            </a:r>
            <a:r>
              <a:rPr i="1" lang="es"/>
              <a:t>seguramente</a:t>
            </a:r>
            <a:r>
              <a:rPr lang="es"/>
              <a:t> da un buen </a:t>
            </a:r>
            <a:r>
              <a:rPr lang="es"/>
              <a:t>Pivot</a:t>
            </a:r>
            <a:endParaRPr/>
          </a:p>
        </p:txBody>
      </p:sp>
      <p:sp>
        <p:nvSpPr>
          <p:cNvPr id="168" name="Google Shape;168;p28"/>
          <p:cNvSpPr/>
          <p:nvPr/>
        </p:nvSpPr>
        <p:spPr>
          <a:xfrm>
            <a:off x="1820850" y="2026975"/>
            <a:ext cx="5502300" cy="772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8"/>
          <p:cNvSpPr/>
          <p:nvPr/>
        </p:nvSpPr>
        <p:spPr>
          <a:xfrm>
            <a:off x="1820850" y="2012050"/>
            <a:ext cx="2751300" cy="772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8"/>
          <p:cNvSpPr/>
          <p:nvPr/>
        </p:nvSpPr>
        <p:spPr>
          <a:xfrm>
            <a:off x="4572000" y="2012050"/>
            <a:ext cx="2751300" cy="772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8"/>
          <p:cNvSpPr/>
          <p:nvPr/>
        </p:nvSpPr>
        <p:spPr>
          <a:xfrm>
            <a:off x="1820850" y="2012050"/>
            <a:ext cx="1378500" cy="772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8"/>
          <p:cNvSpPr/>
          <p:nvPr/>
        </p:nvSpPr>
        <p:spPr>
          <a:xfrm>
            <a:off x="3199350" y="2012050"/>
            <a:ext cx="1378500" cy="772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8"/>
          <p:cNvSpPr/>
          <p:nvPr/>
        </p:nvSpPr>
        <p:spPr>
          <a:xfrm>
            <a:off x="4564050" y="2012050"/>
            <a:ext cx="1378500" cy="772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8"/>
          <p:cNvSpPr/>
          <p:nvPr/>
        </p:nvSpPr>
        <p:spPr>
          <a:xfrm>
            <a:off x="5942550" y="2012050"/>
            <a:ext cx="1378500" cy="772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8"/>
          <p:cNvSpPr txBox="1"/>
          <p:nvPr>
            <p:ph idx="1" type="body"/>
          </p:nvPr>
        </p:nvSpPr>
        <p:spPr>
          <a:xfrm>
            <a:off x="3230250" y="2642723"/>
            <a:ext cx="2681400" cy="613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2700"/>
              <a:t>buenos </a:t>
            </a:r>
            <a:r>
              <a:rPr lang="es" sz="2700"/>
              <a:t>Pivot</a:t>
            </a:r>
            <a:r>
              <a:rPr lang="es" sz="2700"/>
              <a:t>s</a:t>
            </a:r>
            <a:endParaRPr sz="2700"/>
          </a:p>
        </p:txBody>
      </p:sp>
      <p:sp>
        <p:nvSpPr>
          <p:cNvPr id="176" name="Google Shape;176;p28"/>
          <p:cNvSpPr txBox="1"/>
          <p:nvPr>
            <p:ph idx="1" type="body"/>
          </p:nvPr>
        </p:nvSpPr>
        <p:spPr>
          <a:xfrm>
            <a:off x="1854600" y="2784250"/>
            <a:ext cx="1311000" cy="882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2200"/>
              <a:t>malos </a:t>
            </a:r>
            <a:r>
              <a:rPr lang="es" sz="2200"/>
              <a:t>Pivot</a:t>
            </a:r>
            <a:r>
              <a:rPr lang="es" sz="2200"/>
              <a:t>s</a:t>
            </a:r>
            <a:endParaRPr sz="2200"/>
          </a:p>
        </p:txBody>
      </p:sp>
      <p:sp>
        <p:nvSpPr>
          <p:cNvPr id="177" name="Google Shape;177;p28"/>
          <p:cNvSpPr txBox="1"/>
          <p:nvPr>
            <p:ph idx="1" type="body"/>
          </p:nvPr>
        </p:nvSpPr>
        <p:spPr>
          <a:xfrm>
            <a:off x="5976300" y="2784250"/>
            <a:ext cx="1311000" cy="882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2200"/>
              <a:t>malos </a:t>
            </a:r>
            <a:r>
              <a:rPr lang="es" sz="2200"/>
              <a:t>Pivot</a:t>
            </a:r>
            <a:r>
              <a:rPr lang="es" sz="2200"/>
              <a:t>s</a:t>
            </a:r>
            <a:endParaRPr sz="2200"/>
          </a:p>
        </p:txBody>
      </p:sp>
      <p:sp>
        <p:nvSpPr>
          <p:cNvPr id="178" name="Google Shape;178;p28"/>
          <p:cNvSpPr txBox="1"/>
          <p:nvPr>
            <p:ph idx="1" type="body"/>
          </p:nvPr>
        </p:nvSpPr>
        <p:spPr>
          <a:xfrm>
            <a:off x="311700" y="3762400"/>
            <a:ext cx="8520600" cy="728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Formalmente, la mitad de los valores estarían </a:t>
            </a:r>
            <a:r>
              <a:rPr i="1" lang="es"/>
              <a:t>bastante centrados</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Demostración</a:t>
            </a:r>
            <a:endParaRPr/>
          </a:p>
        </p:txBody>
      </p:sp>
      <p:sp>
        <p:nvSpPr>
          <p:cNvPr id="184" name="Google Shape;184;p29"/>
          <p:cNvSpPr txBox="1"/>
          <p:nvPr>
            <p:ph idx="1" type="body"/>
          </p:nvPr>
        </p:nvSpPr>
        <p:spPr>
          <a:xfrm>
            <a:off x="83100" y="1171600"/>
            <a:ext cx="8520600" cy="37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Decimos que el Algoritmo está en fase j, si la cantidad de elementos del set en consideración está entre n(¾)</a:t>
            </a:r>
            <a:r>
              <a:rPr baseline="30000" lang="es"/>
              <a:t>j</a:t>
            </a:r>
            <a:r>
              <a:rPr lang="es"/>
              <a:t> y </a:t>
            </a:r>
            <a:r>
              <a:rPr lang="es"/>
              <a:t>n(¾)</a:t>
            </a:r>
            <a:r>
              <a:rPr baseline="30000" lang="es"/>
              <a:t>j+1</a:t>
            </a:r>
            <a:r>
              <a:rPr lang="es"/>
              <a:t>.</a:t>
            </a:r>
            <a:endParaRPr/>
          </a:p>
          <a:p>
            <a:pPr indent="0" lvl="0" marL="0" rtl="0" algn="l">
              <a:spcBef>
                <a:spcPts val="1600"/>
              </a:spcBef>
              <a:spcAft>
                <a:spcPts val="0"/>
              </a:spcAft>
              <a:buNone/>
            </a:pPr>
            <a:r>
              <a:rPr lang="es"/>
              <a:t>Para pasar de la fase j a la fase j+1, necesitamos al menos desestimar ¼ del total de elementos. Se logra para la mitad central de Pivots, con probabilidad ½.</a:t>
            </a:r>
            <a:endParaRPr/>
          </a:p>
          <a:p>
            <a:pPr indent="0" lvl="0" marL="0" rtl="0" algn="l">
              <a:spcBef>
                <a:spcPts val="1600"/>
              </a:spcBef>
              <a:spcAft>
                <a:spcPts val="0"/>
              </a:spcAft>
              <a:buNone/>
            </a:pPr>
            <a:r>
              <a:rPr lang="es"/>
              <a:t>La cantidad </a:t>
            </a:r>
            <a:r>
              <a:rPr i="1" lang="es"/>
              <a:t>esperada</a:t>
            </a:r>
            <a:r>
              <a:rPr lang="es"/>
              <a:t> de iteraciones para avanzar de fase es 2.</a:t>
            </a:r>
            <a:endParaRPr/>
          </a:p>
          <a:p>
            <a:pPr indent="0" lvl="0" marL="0" rtl="0" algn="l">
              <a:spcBef>
                <a:spcPts val="1600"/>
              </a:spcBef>
              <a:spcAft>
                <a:spcPts val="0"/>
              </a:spcAft>
              <a:buNone/>
            </a:pPr>
            <a:r>
              <a:rPr lang="es"/>
              <a:t>Podemos definir que X es la cantidad de trabajo del algoritmo hasta atravesar todas las fases, será la suma X = X</a:t>
            </a:r>
            <a:r>
              <a:rPr b="1" baseline="-25000" lang="es"/>
              <a:t>0</a:t>
            </a:r>
            <a:r>
              <a:rPr lang="es"/>
              <a:t> + X</a:t>
            </a:r>
            <a:r>
              <a:rPr b="1" baseline="-25000" lang="es"/>
              <a:t>1</a:t>
            </a:r>
            <a:r>
              <a:rPr lang="es"/>
              <a:t> + X</a:t>
            </a:r>
            <a:r>
              <a:rPr b="1" baseline="-25000" lang="es"/>
              <a:t>2</a:t>
            </a:r>
            <a:r>
              <a:rPr lang="es"/>
              <a:t> + …</a:t>
            </a:r>
            <a:endParaRPr/>
          </a:p>
          <a:p>
            <a:pPr indent="0" lvl="0" marL="0" rtl="0" algn="l">
              <a:spcBef>
                <a:spcPts val="1600"/>
              </a:spcBef>
              <a:spcAft>
                <a:spcPts val="1600"/>
              </a:spcAft>
              <a:buNone/>
            </a:pPr>
            <a:r>
              <a:rPr lang="es"/>
              <a:t>La cantidad de trabajo en una fase es alguna constante veces el tamaño del set en esa fase, que es como mucho n(¾)</a:t>
            </a:r>
            <a:r>
              <a:rPr baseline="30000" lang="es"/>
              <a:t>j</a:t>
            </a:r>
            <a:r>
              <a:rPr lang="es"/>
              <a:t>, esperable sean hasta 2 iteraciones</a:t>
            </a:r>
            <a:endParaRPr/>
          </a:p>
        </p:txBody>
      </p:sp>
      <p:pic>
        <p:nvPicPr>
          <p:cNvPr id="185" name="Google Shape;185;p29"/>
          <p:cNvPicPr preferRelativeResize="0"/>
          <p:nvPr/>
        </p:nvPicPr>
        <p:blipFill>
          <a:blip r:embed="rId3">
            <a:alphaModFix/>
          </a:blip>
          <a:stretch>
            <a:fillRect/>
          </a:stretch>
        </p:blipFill>
        <p:spPr>
          <a:xfrm>
            <a:off x="7293502" y="4549475"/>
            <a:ext cx="1665475" cy="380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Demostración</a:t>
            </a:r>
            <a:endParaRPr/>
          </a:p>
        </p:txBody>
      </p:sp>
      <p:sp>
        <p:nvSpPr>
          <p:cNvPr id="191" name="Google Shape;191;p30"/>
          <p:cNvSpPr txBox="1"/>
          <p:nvPr>
            <p:ph idx="1" type="body"/>
          </p:nvPr>
        </p:nvSpPr>
        <p:spPr>
          <a:xfrm>
            <a:off x="311700" y="1171600"/>
            <a:ext cx="8520600" cy="474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Gracias a la Linealidad de la Esperanza, y la sumatoria geométrica convergente:</a:t>
            </a:r>
            <a:endParaRPr/>
          </a:p>
        </p:txBody>
      </p:sp>
      <p:pic>
        <p:nvPicPr>
          <p:cNvPr id="192" name="Google Shape;192;p30"/>
          <p:cNvPicPr preferRelativeResize="0"/>
          <p:nvPr/>
        </p:nvPicPr>
        <p:blipFill>
          <a:blip r:embed="rId3">
            <a:alphaModFix/>
          </a:blip>
          <a:stretch>
            <a:fillRect/>
          </a:stretch>
        </p:blipFill>
        <p:spPr>
          <a:xfrm>
            <a:off x="433388" y="1755325"/>
            <a:ext cx="8277225" cy="1171575"/>
          </a:xfrm>
          <a:prstGeom prst="rect">
            <a:avLst/>
          </a:prstGeom>
          <a:noFill/>
          <a:ln>
            <a:noFill/>
          </a:ln>
        </p:spPr>
      </p:pic>
      <p:sp>
        <p:nvSpPr>
          <p:cNvPr id="193" name="Google Shape;193;p30"/>
          <p:cNvSpPr txBox="1"/>
          <p:nvPr>
            <p:ph idx="1" type="body"/>
          </p:nvPr>
        </p:nvSpPr>
        <p:spPr>
          <a:xfrm>
            <a:off x="311700" y="3076600"/>
            <a:ext cx="8520600" cy="474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Nos queda que la complejidad esperada es 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Elección del pivote</a:t>
            </a:r>
            <a:endParaRPr/>
          </a:p>
        </p:txBody>
      </p:sp>
      <p:sp>
        <p:nvSpPr>
          <p:cNvPr id="199" name="Google Shape;199;p3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Podría ser completamente al azar como acabamos de ver.</a:t>
            </a:r>
            <a:endParaRPr/>
          </a:p>
          <a:p>
            <a:pPr indent="0" lvl="0" marL="0" rtl="0" algn="l">
              <a:spcBef>
                <a:spcPts val="1600"/>
              </a:spcBef>
              <a:spcAft>
                <a:spcPts val="1600"/>
              </a:spcAft>
              <a:buNone/>
            </a:pPr>
            <a:r>
              <a:rPr lang="es"/>
              <a:t>Opción 2: Elegir 3 elementos al azar y quedarnos con la mediana. </a:t>
            </a:r>
            <a:br>
              <a:rPr lang="es"/>
            </a:br>
            <a:r>
              <a:rPr lang="es"/>
              <a:t>¿Cuál es la probabilidad de elegir un mal pivote en este caso? ¿Cuál es la probabilidad de pasar de fase en 1 única iteración/llamada?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Quicksort</a:t>
            </a:r>
            <a:endParaRPr/>
          </a:p>
        </p:txBody>
      </p:sp>
      <p:pic>
        <p:nvPicPr>
          <p:cNvPr id="205" name="Google Shape;205;p32"/>
          <p:cNvPicPr preferRelativeResize="0"/>
          <p:nvPr/>
        </p:nvPicPr>
        <p:blipFill>
          <a:blip r:embed="rId3">
            <a:alphaModFix/>
          </a:blip>
          <a:stretch>
            <a:fillRect/>
          </a:stretch>
        </p:blipFill>
        <p:spPr>
          <a:xfrm>
            <a:off x="2681763" y="1058225"/>
            <a:ext cx="3780475" cy="3780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Quicksort (y pivot)</a:t>
            </a:r>
            <a:endParaRPr/>
          </a:p>
        </p:txBody>
      </p:sp>
      <p:pic>
        <p:nvPicPr>
          <p:cNvPr id="211" name="Google Shape;211;p33"/>
          <p:cNvPicPr preferRelativeResize="0"/>
          <p:nvPr/>
        </p:nvPicPr>
        <p:blipFill>
          <a:blip r:embed="rId3">
            <a:alphaModFix/>
          </a:blip>
          <a:stretch>
            <a:fillRect/>
          </a:stretch>
        </p:blipFill>
        <p:spPr>
          <a:xfrm>
            <a:off x="1900875" y="4408963"/>
            <a:ext cx="5734050" cy="466725"/>
          </a:xfrm>
          <a:prstGeom prst="rect">
            <a:avLst/>
          </a:prstGeom>
          <a:noFill/>
          <a:ln>
            <a:noFill/>
          </a:ln>
        </p:spPr>
      </p:pic>
      <p:sp>
        <p:nvSpPr>
          <p:cNvPr id="212" name="Google Shape;212;p33"/>
          <p:cNvSpPr txBox="1"/>
          <p:nvPr>
            <p:ph idx="1" type="body"/>
          </p:nvPr>
        </p:nvSpPr>
        <p:spPr>
          <a:xfrm>
            <a:off x="311700" y="1171600"/>
            <a:ext cx="8520600" cy="35196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s">
                <a:latin typeface="Consolas"/>
                <a:ea typeface="Consolas"/>
                <a:cs typeface="Consolas"/>
                <a:sym typeface="Consolas"/>
              </a:rPr>
              <a:t>def quicksort(S):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t>
            </a:r>
            <a:r>
              <a:rPr lang="es">
                <a:latin typeface="Consolas"/>
                <a:ea typeface="Consolas"/>
                <a:cs typeface="Consolas"/>
                <a:sym typeface="Consolas"/>
              </a:rPr>
              <a:t>if |S|&lt;=2: #caso base: return orden trivial</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ai = elegir_pivot(S)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for elem in 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Agregar elem a S- si elem&lt;ai</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Agregar elem a S+ si elem</a:t>
            </a:r>
            <a:r>
              <a:rPr lang="es" sz="1500">
                <a:solidFill>
                  <a:srgbClr val="202124"/>
                </a:solidFill>
                <a:highlight>
                  <a:srgbClr val="FFFFFF"/>
                </a:highlight>
                <a:latin typeface="Arial"/>
                <a:ea typeface="Arial"/>
                <a:cs typeface="Arial"/>
                <a:sym typeface="Arial"/>
              </a:rPr>
              <a:t>&gt;</a:t>
            </a:r>
            <a:r>
              <a:rPr lang="es">
                <a:latin typeface="Consolas"/>
                <a:ea typeface="Consolas"/>
                <a:cs typeface="Consolas"/>
                <a:sym typeface="Consolas"/>
              </a:rPr>
              <a:t>ai</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return quicksort(S-) + [ai] + quicksort(S+)</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Sin importar la selección del pivot, el algoritmo es correcto</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Peor caso: </a:t>
            </a:r>
            <a:endParaRPr>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animEffect filter="fade" transition="in">
                                      <p:cBhvr>
                                        <p:cTn dur="1000"/>
                                        <p:tgtEl>
                                          <p:spTgt spid="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animEffect filter="fade" transition="in">
                                      <p:cBhvr>
                                        <p:cTn dur="1000"/>
                                        <p:tgtEl>
                                          <p:spTgt spid="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animEffect filter="fade" transition="in">
                                      <p:cBhvr>
                                        <p:cTn dur="1000"/>
                                        <p:tgtEl>
                                          <p:spTgt spid="2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animEffect filter="fade" transition="in">
                                      <p:cBhvr>
                                        <p:cTn dur="1000"/>
                                        <p:tgtEl>
                                          <p:spTgt spid="2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animEffect filter="fade" transition="in">
                                      <p:cBhvr>
                                        <p:cTn dur="1000"/>
                                        <p:tgtEl>
                                          <p:spTgt spid="2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5" st="5"/>
                                            </p:txEl>
                                          </p:spTgt>
                                        </p:tgtEl>
                                        <p:attrNameLst>
                                          <p:attrName>style.visibility</p:attrName>
                                        </p:attrNameLst>
                                      </p:cBhvr>
                                      <p:to>
                                        <p:strVal val="visible"/>
                                      </p:to>
                                    </p:set>
                                    <p:animEffect filter="fade" transition="in">
                                      <p:cBhvr>
                                        <p:cTn dur="1000"/>
                                        <p:tgtEl>
                                          <p:spTgt spid="2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6" st="6"/>
                                            </p:txEl>
                                          </p:spTgt>
                                        </p:tgtEl>
                                        <p:attrNameLst>
                                          <p:attrName>style.visibility</p:attrName>
                                        </p:attrNameLst>
                                      </p:cBhvr>
                                      <p:to>
                                        <p:strVal val="visible"/>
                                      </p:to>
                                    </p:set>
                                    <p:animEffect filter="fade" transition="in">
                                      <p:cBhvr>
                                        <p:cTn dur="1000"/>
                                        <p:tgtEl>
                                          <p:spTgt spid="2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7" st="7"/>
                                            </p:txEl>
                                          </p:spTgt>
                                        </p:tgtEl>
                                        <p:attrNameLst>
                                          <p:attrName>style.visibility</p:attrName>
                                        </p:attrNameLst>
                                      </p:cBhvr>
                                      <p:to>
                                        <p:strVal val="visible"/>
                                      </p:to>
                                    </p:set>
                                    <p:animEffect filter="fade" transition="in">
                                      <p:cBhvr>
                                        <p:cTn dur="1000"/>
                                        <p:tgtEl>
                                          <p:spTgt spid="2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8" st="8"/>
                                            </p:txEl>
                                          </p:spTgt>
                                        </p:tgtEl>
                                        <p:attrNameLst>
                                          <p:attrName>style.visibility</p:attrName>
                                        </p:attrNameLst>
                                      </p:cBhvr>
                                      <p:to>
                                        <p:strVal val="visible"/>
                                      </p:to>
                                    </p:set>
                                    <p:animEffect filter="fade" transition="in">
                                      <p:cBhvr>
                                        <p:cTn dur="1000"/>
                                        <p:tgtEl>
                                          <p:spTgt spid="2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9" st="9"/>
                                            </p:txEl>
                                          </p:spTgt>
                                        </p:tgtEl>
                                        <p:attrNameLst>
                                          <p:attrName>style.visibility</p:attrName>
                                        </p:attrNameLst>
                                      </p:cBhvr>
                                      <p:to>
                                        <p:strVal val="visible"/>
                                      </p:to>
                                    </p:set>
                                    <p:animEffect filter="fade" transition="in">
                                      <p:cBhvr>
                                        <p:cTn dur="1000"/>
                                        <p:tgtEl>
                                          <p:spTgt spid="21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10" st="10"/>
                                            </p:txEl>
                                          </p:spTgt>
                                        </p:tgtEl>
                                        <p:attrNameLst>
                                          <p:attrName>style.visibility</p:attrName>
                                        </p:attrNameLst>
                                      </p:cBhvr>
                                      <p:to>
                                        <p:strVal val="visible"/>
                                      </p:to>
                                    </p:set>
                                    <p:animEffect filter="fade" transition="in">
                                      <p:cBhvr>
                                        <p:cTn dur="1000"/>
                                        <p:tgtEl>
                                          <p:spTgt spid="21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Quicksort: Peor Caso</a:t>
            </a:r>
            <a:endParaRPr/>
          </a:p>
        </p:txBody>
      </p:sp>
      <p:pic>
        <p:nvPicPr>
          <p:cNvPr id="218" name="Google Shape;218;p34"/>
          <p:cNvPicPr preferRelativeResize="0"/>
          <p:nvPr/>
        </p:nvPicPr>
        <p:blipFill>
          <a:blip r:embed="rId3">
            <a:alphaModFix/>
          </a:blip>
          <a:stretch>
            <a:fillRect/>
          </a:stretch>
        </p:blipFill>
        <p:spPr>
          <a:xfrm>
            <a:off x="1718863" y="1058225"/>
            <a:ext cx="5706274" cy="3780475"/>
          </a:xfrm>
          <a:prstGeom prst="rect">
            <a:avLst/>
          </a:prstGeom>
          <a:noFill/>
          <a:ln>
            <a:noFill/>
          </a:ln>
        </p:spPr>
      </p:pic>
      <p:pic>
        <p:nvPicPr>
          <p:cNvPr id="219" name="Google Shape;219;p34"/>
          <p:cNvPicPr preferRelativeResize="0"/>
          <p:nvPr/>
        </p:nvPicPr>
        <p:blipFill>
          <a:blip r:embed="rId4">
            <a:alphaModFix/>
          </a:blip>
          <a:stretch>
            <a:fillRect/>
          </a:stretch>
        </p:blipFill>
        <p:spPr>
          <a:xfrm>
            <a:off x="5281988" y="518250"/>
            <a:ext cx="2143125" cy="466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Quicksort: Mejor Caso</a:t>
            </a:r>
            <a:endParaRPr/>
          </a:p>
        </p:txBody>
      </p:sp>
      <p:pic>
        <p:nvPicPr>
          <p:cNvPr id="225" name="Google Shape;225;p35"/>
          <p:cNvPicPr preferRelativeResize="0"/>
          <p:nvPr/>
        </p:nvPicPr>
        <p:blipFill>
          <a:blip r:embed="rId3">
            <a:alphaModFix/>
          </a:blip>
          <a:stretch>
            <a:fillRect/>
          </a:stretch>
        </p:blipFill>
        <p:spPr>
          <a:xfrm>
            <a:off x="1947775" y="1058225"/>
            <a:ext cx="5248450" cy="3980900"/>
          </a:xfrm>
          <a:prstGeom prst="rect">
            <a:avLst/>
          </a:prstGeom>
          <a:noFill/>
          <a:ln>
            <a:noFill/>
          </a:ln>
        </p:spPr>
      </p:pic>
      <p:pic>
        <p:nvPicPr>
          <p:cNvPr id="226" name="Google Shape;226;p35"/>
          <p:cNvPicPr preferRelativeResize="0"/>
          <p:nvPr/>
        </p:nvPicPr>
        <p:blipFill>
          <a:blip r:embed="rId4">
            <a:alphaModFix/>
          </a:blip>
          <a:stretch>
            <a:fillRect/>
          </a:stretch>
        </p:blipFill>
        <p:spPr>
          <a:xfrm>
            <a:off x="5605550" y="537313"/>
            <a:ext cx="1590675" cy="428625"/>
          </a:xfrm>
          <a:prstGeom prst="rect">
            <a:avLst/>
          </a:prstGeom>
          <a:noFill/>
          <a:ln>
            <a:noFill/>
          </a:ln>
        </p:spPr>
      </p:pic>
      <p:pic>
        <p:nvPicPr>
          <p:cNvPr id="227" name="Google Shape;227;p35"/>
          <p:cNvPicPr preferRelativeResize="0"/>
          <p:nvPr/>
        </p:nvPicPr>
        <p:blipFill>
          <a:blip r:embed="rId5">
            <a:alphaModFix/>
          </a:blip>
          <a:stretch>
            <a:fillRect/>
          </a:stretch>
        </p:blipFill>
        <p:spPr>
          <a:xfrm>
            <a:off x="7320525" y="3226423"/>
            <a:ext cx="1823475" cy="1799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Quicksort: Tiempo Esperado</a:t>
            </a:r>
            <a:endParaRPr/>
          </a:p>
        </p:txBody>
      </p:sp>
      <p:sp>
        <p:nvSpPr>
          <p:cNvPr id="233" name="Google Shape;233;p36"/>
          <p:cNvSpPr txBox="1"/>
          <p:nvPr>
            <p:ph idx="1" type="body"/>
          </p:nvPr>
        </p:nvSpPr>
        <p:spPr>
          <a:xfrm>
            <a:off x="311700" y="1019200"/>
            <a:ext cx="8759700" cy="3896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s">
                <a:latin typeface="Consolas"/>
                <a:ea typeface="Consolas"/>
                <a:cs typeface="Consolas"/>
                <a:sym typeface="Consolas"/>
              </a:rPr>
              <a:t>def quicksort(S):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if |S|&lt;=2: #caso base: return orden trivial</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ai = elegir_pivot(S)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Iterar hasta encontrar un pivot central:</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for elem in 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Agregar elem a S- si elem&lt;ai</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Agregar elem a S+ si elem&gt;ai</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si |</a:t>
            </a:r>
            <a:r>
              <a:rPr lang="es">
                <a:latin typeface="Consolas"/>
                <a:ea typeface="Consolas"/>
                <a:cs typeface="Consolas"/>
                <a:sym typeface="Consolas"/>
              </a:rPr>
              <a:t>S-</a:t>
            </a:r>
            <a:r>
              <a:rPr lang="es">
                <a:latin typeface="Consolas"/>
                <a:ea typeface="Consolas"/>
                <a:cs typeface="Consolas"/>
                <a:sym typeface="Consolas"/>
              </a:rPr>
              <a:t>| y |</a:t>
            </a:r>
            <a:r>
              <a:rPr lang="es">
                <a:latin typeface="Consolas"/>
                <a:ea typeface="Consolas"/>
                <a:cs typeface="Consolas"/>
                <a:sym typeface="Consolas"/>
              </a:rPr>
              <a:t>S+</a:t>
            </a:r>
            <a:r>
              <a:rPr lang="es">
                <a:latin typeface="Consolas"/>
                <a:ea typeface="Consolas"/>
                <a:cs typeface="Consolas"/>
                <a:sym typeface="Consolas"/>
              </a:rPr>
              <a:t>| son mayores a </a:t>
            </a:r>
            <a:r>
              <a:rPr lang="es">
                <a:latin typeface="Consolas"/>
                <a:ea typeface="Consolas"/>
                <a:cs typeface="Consolas"/>
                <a:sym typeface="Consolas"/>
              </a:rPr>
              <a:t>|S/4|, el pivot es central</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sino ai = elegir_pivot(S)</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return quicksort(S-) + [ai] + quicksort(S+)</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es">
                <a:latin typeface="Consolas"/>
                <a:ea typeface="Consolas"/>
                <a:cs typeface="Consolas"/>
                <a:sym typeface="Consolas"/>
              </a:rPr>
              <a:t># idea: para cada llamada recursiva del algoritmo, avanzamos de fase</a:t>
            </a:r>
            <a:endParaRPr>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Quicksort: Tiempo Esperado</a:t>
            </a:r>
            <a:endParaRPr/>
          </a:p>
        </p:txBody>
      </p:sp>
      <p:sp>
        <p:nvSpPr>
          <p:cNvPr id="239" name="Google Shape;239;p37"/>
          <p:cNvSpPr txBox="1"/>
          <p:nvPr>
            <p:ph idx="1" type="body"/>
          </p:nvPr>
        </p:nvSpPr>
        <p:spPr>
          <a:xfrm>
            <a:off x="219650" y="1019200"/>
            <a:ext cx="8753700" cy="38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tiempo esperado del algoritmo para un Set S, sin contar llamadas recursivas, es linealmente </a:t>
            </a:r>
            <a:r>
              <a:rPr lang="es"/>
              <a:t>proporcional</a:t>
            </a:r>
            <a:r>
              <a:rPr lang="es"/>
              <a:t> a S, repetido una cantidad esperada de hasta 2 (y probablemente menos). Es O(</a:t>
            </a:r>
            <a:r>
              <a:rPr lang="es">
                <a:latin typeface="Consolas"/>
                <a:ea typeface="Consolas"/>
                <a:cs typeface="Consolas"/>
                <a:sym typeface="Consolas"/>
              </a:rPr>
              <a:t>|S|</a:t>
            </a:r>
            <a:r>
              <a:rPr lang="es"/>
              <a:t>)</a:t>
            </a:r>
            <a:endParaRPr/>
          </a:p>
          <a:p>
            <a:pPr indent="0" lvl="0" marL="0" rtl="0" algn="l">
              <a:spcBef>
                <a:spcPts val="1600"/>
              </a:spcBef>
              <a:spcAft>
                <a:spcPts val="0"/>
              </a:spcAft>
              <a:buNone/>
            </a:pPr>
            <a:r>
              <a:rPr lang="es"/>
              <a:t>Las llamadas recursivas las agrupamos por tamaño </a:t>
            </a:r>
            <a:r>
              <a:rPr lang="es"/>
              <a:t>en fase j, si la cantidad está entre n(¾)</a:t>
            </a:r>
            <a:r>
              <a:rPr baseline="30000" lang="es"/>
              <a:t>j</a:t>
            </a:r>
            <a:r>
              <a:rPr lang="es"/>
              <a:t> y n(¾)</a:t>
            </a:r>
            <a:r>
              <a:rPr baseline="30000" lang="es"/>
              <a:t>j+1</a:t>
            </a:r>
            <a:r>
              <a:rPr lang="es"/>
              <a:t>. Fuera de la recursividad tenemos en fase j: O(n(¾)</a:t>
            </a:r>
            <a:r>
              <a:rPr baseline="30000" lang="es"/>
              <a:t>j</a:t>
            </a:r>
            <a:r>
              <a:rPr lang="es"/>
              <a:t>)</a:t>
            </a:r>
            <a:endParaRPr/>
          </a:p>
          <a:p>
            <a:pPr indent="0" lvl="0" marL="0" rtl="0" algn="l">
              <a:spcBef>
                <a:spcPts val="1600"/>
              </a:spcBef>
              <a:spcAft>
                <a:spcPts val="0"/>
              </a:spcAft>
              <a:buNone/>
            </a:pPr>
            <a:r>
              <a:rPr lang="es"/>
              <a:t>Partir con un pivot central, genera Sets del tamaño de la siguiente fase</a:t>
            </a:r>
            <a:endParaRPr/>
          </a:p>
          <a:p>
            <a:pPr indent="0" lvl="0" marL="0" rtl="0" algn="l">
              <a:spcBef>
                <a:spcPts val="1600"/>
              </a:spcBef>
              <a:spcAft>
                <a:spcPts val="0"/>
              </a:spcAft>
              <a:buNone/>
            </a:pPr>
            <a:r>
              <a:rPr lang="es"/>
              <a:t>El número máximo de problemas de fase j es (4/3)</a:t>
            </a:r>
            <a:r>
              <a:rPr baseline="30000" lang="es"/>
              <a:t>j+1</a:t>
            </a:r>
            <a:r>
              <a:rPr lang="es"/>
              <a:t>, con costo O(n(¾)</a:t>
            </a:r>
            <a:r>
              <a:rPr baseline="30000" lang="es"/>
              <a:t>j</a:t>
            </a:r>
            <a:r>
              <a:rPr lang="es"/>
              <a:t>) cada uno</a:t>
            </a:r>
            <a:endParaRPr/>
          </a:p>
          <a:p>
            <a:pPr indent="0" lvl="0" marL="0" rtl="0" algn="l">
              <a:spcBef>
                <a:spcPts val="1600"/>
              </a:spcBef>
              <a:spcAft>
                <a:spcPts val="0"/>
              </a:spcAft>
              <a:buNone/>
            </a:pPr>
            <a:r>
              <a:rPr lang="es"/>
              <a:t>E[X</a:t>
            </a:r>
            <a:r>
              <a:rPr b="1" baseline="-25000" lang="es" sz="1700"/>
              <a:t>j</a:t>
            </a:r>
            <a:r>
              <a:rPr lang="es"/>
              <a:t>] = O(n) para cada j, y por linealidad de la esperanza podemos sumar las fases</a:t>
            </a:r>
            <a:endParaRPr/>
          </a:p>
          <a:p>
            <a:pPr indent="0" lvl="0" marL="0" rtl="0" algn="l">
              <a:spcBef>
                <a:spcPts val="1600"/>
              </a:spcBef>
              <a:spcAft>
                <a:spcPts val="1600"/>
              </a:spcAft>
              <a:buNone/>
            </a:pPr>
            <a:r>
              <a:rPr lang="es"/>
              <a:t>Cantidad máxima de fases en función de n</a:t>
            </a:r>
            <a:endParaRPr/>
          </a:p>
        </p:txBody>
      </p:sp>
      <p:pic>
        <p:nvPicPr>
          <p:cNvPr id="240" name="Google Shape;240;p37"/>
          <p:cNvPicPr preferRelativeResize="0"/>
          <p:nvPr/>
        </p:nvPicPr>
        <p:blipFill>
          <a:blip r:embed="rId3">
            <a:alphaModFix/>
          </a:blip>
          <a:stretch>
            <a:fillRect/>
          </a:stretch>
        </p:blipFill>
        <p:spPr>
          <a:xfrm>
            <a:off x="4695172" y="4565147"/>
            <a:ext cx="1896775" cy="426950"/>
          </a:xfrm>
          <a:prstGeom prst="rect">
            <a:avLst/>
          </a:prstGeom>
          <a:noFill/>
          <a:ln>
            <a:noFill/>
          </a:ln>
        </p:spPr>
      </p:pic>
      <p:cxnSp>
        <p:nvCxnSpPr>
          <p:cNvPr id="241" name="Google Shape;241;p37"/>
          <p:cNvCxnSpPr/>
          <p:nvPr/>
        </p:nvCxnSpPr>
        <p:spPr>
          <a:xfrm>
            <a:off x="6648075" y="4745922"/>
            <a:ext cx="870000" cy="0"/>
          </a:xfrm>
          <a:prstGeom prst="straightConnector1">
            <a:avLst/>
          </a:prstGeom>
          <a:noFill/>
          <a:ln cap="flat" cmpd="sng" w="38100">
            <a:solidFill>
              <a:srgbClr val="00695C"/>
            </a:solidFill>
            <a:prstDash val="solid"/>
            <a:round/>
            <a:headEnd len="med" w="med" type="none"/>
            <a:tailEnd len="med" w="med" type="triangle"/>
          </a:ln>
        </p:spPr>
      </p:cxnSp>
      <p:pic>
        <p:nvPicPr>
          <p:cNvPr id="242" name="Google Shape;242;p37"/>
          <p:cNvPicPr preferRelativeResize="0"/>
          <p:nvPr/>
        </p:nvPicPr>
        <p:blipFill>
          <a:blip r:embed="rId4">
            <a:alphaModFix/>
          </a:blip>
          <a:stretch>
            <a:fillRect/>
          </a:stretch>
        </p:blipFill>
        <p:spPr>
          <a:xfrm>
            <a:off x="7518075" y="4531597"/>
            <a:ext cx="1590675"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8"/>
          <p:cNvSpPr txBox="1"/>
          <p:nvPr>
            <p:ph type="title"/>
          </p:nvPr>
        </p:nvSpPr>
        <p:spPr>
          <a:xfrm>
            <a:off x="311700" y="2926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Ejemplos (cantidad de elementos por rama)</a:t>
            </a:r>
            <a:endParaRPr/>
          </a:p>
        </p:txBody>
      </p:sp>
      <p:pic>
        <p:nvPicPr>
          <p:cNvPr id="248" name="Google Shape;248;p38"/>
          <p:cNvPicPr preferRelativeResize="0"/>
          <p:nvPr/>
        </p:nvPicPr>
        <p:blipFill>
          <a:blip r:embed="rId3">
            <a:alphaModFix/>
          </a:blip>
          <a:stretch>
            <a:fillRect/>
          </a:stretch>
        </p:blipFill>
        <p:spPr>
          <a:xfrm>
            <a:off x="194325" y="1198450"/>
            <a:ext cx="8755350" cy="327436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311700" y="2926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Ejemplos</a:t>
            </a:r>
            <a:r>
              <a:rPr lang="es"/>
              <a:t> (cantidad de elementos por rama)</a:t>
            </a:r>
            <a:endParaRPr/>
          </a:p>
        </p:txBody>
      </p:sp>
      <p:pic>
        <p:nvPicPr>
          <p:cNvPr id="254" name="Google Shape;254;p39"/>
          <p:cNvPicPr preferRelativeResize="0"/>
          <p:nvPr/>
        </p:nvPicPr>
        <p:blipFill>
          <a:blip r:embed="rId3">
            <a:alphaModFix/>
          </a:blip>
          <a:stretch>
            <a:fillRect/>
          </a:stretch>
        </p:blipFill>
        <p:spPr>
          <a:xfrm>
            <a:off x="1082675" y="1003850"/>
            <a:ext cx="6978649" cy="39264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Elección aleatoria de Pivot</a:t>
            </a:r>
            <a:endParaRPr/>
          </a:p>
        </p:txBody>
      </p:sp>
      <p:sp>
        <p:nvSpPr>
          <p:cNvPr id="260" name="Google Shape;260;p4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El tiempo del algoritmo es independiente del orden de los elementos de entrada</a:t>
            </a:r>
            <a:endParaRPr/>
          </a:p>
          <a:p>
            <a:pPr indent="-342900" lvl="0" marL="457200" rtl="0" algn="l">
              <a:spcBef>
                <a:spcPts val="1000"/>
              </a:spcBef>
              <a:spcAft>
                <a:spcPts val="0"/>
              </a:spcAft>
              <a:buSzPts val="1800"/>
              <a:buChar char="●"/>
            </a:pPr>
            <a:r>
              <a:rPr lang="es"/>
              <a:t>No hay un conjunto de datos de entrada que pueda garantizar el peor caso</a:t>
            </a:r>
            <a:endParaRPr/>
          </a:p>
          <a:p>
            <a:pPr indent="-342900" lvl="0" marL="457200" rtl="0" algn="l">
              <a:spcBef>
                <a:spcPts val="1000"/>
              </a:spcBef>
              <a:spcAft>
                <a:spcPts val="1000"/>
              </a:spcAft>
              <a:buSzPts val="1800"/>
              <a:buChar char="●"/>
            </a:pPr>
            <a:r>
              <a:rPr lang="es"/>
              <a:t>El peor caso solamente surge de un mal caso de las selecciones aleatorias realizadas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 ABB salvaje aparece</a:t>
            </a:r>
            <a:endParaRPr/>
          </a:p>
        </p:txBody>
      </p:sp>
      <p:sp>
        <p:nvSpPr>
          <p:cNvPr id="266" name="Google Shape;266;p41"/>
          <p:cNvSpPr txBox="1"/>
          <p:nvPr>
            <p:ph idx="1" type="body"/>
          </p:nvPr>
        </p:nvSpPr>
        <p:spPr>
          <a:xfrm>
            <a:off x="311700" y="1171600"/>
            <a:ext cx="5547300" cy="286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Dado un conjunto de elementos</a:t>
            </a:r>
            <a:endParaRPr/>
          </a:p>
          <a:p>
            <a:pPr indent="0" lvl="0" marL="0" rtl="0" algn="l">
              <a:spcBef>
                <a:spcPts val="1600"/>
              </a:spcBef>
              <a:spcAft>
                <a:spcPts val="0"/>
              </a:spcAft>
              <a:buNone/>
            </a:pPr>
            <a:r>
              <a:rPr lang="es"/>
              <a:t>Ordenarlos exclusivamente utilizando un árbol binario de búsqueda</a:t>
            </a:r>
            <a:endParaRPr/>
          </a:p>
          <a:p>
            <a:pPr indent="0" lvl="0" marL="0" rtl="0" algn="l">
              <a:spcBef>
                <a:spcPts val="1600"/>
              </a:spcBef>
              <a:spcAft>
                <a:spcPts val="0"/>
              </a:spcAft>
              <a:buNone/>
            </a:pPr>
            <a:r>
              <a:rPr lang="es"/>
              <a:t>¿Ideas</a:t>
            </a:r>
            <a:r>
              <a:rPr lang="es"/>
              <a:t>?</a:t>
            </a:r>
            <a:endParaRPr/>
          </a:p>
          <a:p>
            <a:pPr indent="0" lvl="0" marL="0" rtl="0" algn="l">
              <a:spcBef>
                <a:spcPts val="1600"/>
              </a:spcBef>
              <a:spcAft>
                <a:spcPts val="0"/>
              </a:spcAft>
              <a:buNone/>
            </a:pPr>
            <a:r>
              <a:rPr lang="es"/>
              <a:t>Insertar los elementos en el árbol</a:t>
            </a:r>
            <a:endParaRPr/>
          </a:p>
          <a:p>
            <a:pPr indent="0" lvl="0" marL="0" rtl="0" algn="l">
              <a:spcBef>
                <a:spcPts val="1600"/>
              </a:spcBef>
              <a:spcAft>
                <a:spcPts val="1600"/>
              </a:spcAft>
              <a:buNone/>
            </a:pPr>
            <a:r>
              <a:rPr lang="es"/>
              <a:t>Hacer recorrido In-order</a:t>
            </a:r>
            <a:endParaRPr/>
          </a:p>
        </p:txBody>
      </p:sp>
      <p:pic>
        <p:nvPicPr>
          <p:cNvPr id="267" name="Google Shape;267;p41"/>
          <p:cNvPicPr preferRelativeResize="0"/>
          <p:nvPr/>
        </p:nvPicPr>
        <p:blipFill>
          <a:blip r:embed="rId3">
            <a:alphaModFix/>
          </a:blip>
          <a:stretch>
            <a:fillRect/>
          </a:stretch>
        </p:blipFill>
        <p:spPr>
          <a:xfrm>
            <a:off x="5858896" y="0"/>
            <a:ext cx="3285099" cy="3214574"/>
          </a:xfrm>
          <a:prstGeom prst="rect">
            <a:avLst/>
          </a:prstGeom>
          <a:noFill/>
          <a:ln>
            <a:noFill/>
          </a:ln>
        </p:spPr>
      </p:pic>
      <p:pic>
        <p:nvPicPr>
          <p:cNvPr id="268" name="Google Shape;268;p41"/>
          <p:cNvPicPr preferRelativeResize="0"/>
          <p:nvPr/>
        </p:nvPicPr>
        <p:blipFill>
          <a:blip r:embed="rId4">
            <a:alphaModFix/>
          </a:blip>
          <a:stretch>
            <a:fillRect/>
          </a:stretch>
        </p:blipFill>
        <p:spPr>
          <a:xfrm>
            <a:off x="7635875" y="-5"/>
            <a:ext cx="1243300" cy="1159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Un ABB salvaje aparece</a:t>
            </a:r>
            <a:endParaRPr/>
          </a:p>
        </p:txBody>
      </p:sp>
      <p:pic>
        <p:nvPicPr>
          <p:cNvPr id="274" name="Google Shape;274;p42"/>
          <p:cNvPicPr preferRelativeResize="0"/>
          <p:nvPr/>
        </p:nvPicPr>
        <p:blipFill>
          <a:blip r:embed="rId3">
            <a:alphaModFix/>
          </a:blip>
          <a:stretch>
            <a:fillRect/>
          </a:stretch>
        </p:blipFill>
        <p:spPr>
          <a:xfrm>
            <a:off x="4572008" y="445025"/>
            <a:ext cx="4401425" cy="732500"/>
          </a:xfrm>
          <a:prstGeom prst="rect">
            <a:avLst/>
          </a:prstGeom>
          <a:noFill/>
          <a:ln>
            <a:noFill/>
          </a:ln>
        </p:spPr>
      </p:pic>
      <p:pic>
        <p:nvPicPr>
          <p:cNvPr id="275" name="Google Shape;275;p42"/>
          <p:cNvPicPr preferRelativeResize="0"/>
          <p:nvPr/>
        </p:nvPicPr>
        <p:blipFill>
          <a:blip r:embed="rId4">
            <a:alphaModFix/>
          </a:blip>
          <a:stretch>
            <a:fillRect/>
          </a:stretch>
        </p:blipFill>
        <p:spPr>
          <a:xfrm>
            <a:off x="2591900" y="1221018"/>
            <a:ext cx="3960200" cy="36936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Quicksort</a:t>
            </a:r>
            <a:endParaRPr/>
          </a:p>
        </p:txBody>
      </p:sp>
      <p:sp>
        <p:nvSpPr>
          <p:cNvPr id="281" name="Google Shape;281;p43"/>
          <p:cNvSpPr txBox="1"/>
          <p:nvPr>
            <p:ph idx="1" type="body"/>
          </p:nvPr>
        </p:nvSpPr>
        <p:spPr>
          <a:xfrm>
            <a:off x="311700" y="1171600"/>
            <a:ext cx="8520600" cy="365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3,1,8,2,6,7,5</a:t>
            </a:r>
            <a:endParaRPr/>
          </a:p>
          <a:p>
            <a:pPr indent="0" lvl="0" marL="0" rtl="0" algn="ctr">
              <a:spcBef>
                <a:spcPts val="1600"/>
              </a:spcBef>
              <a:spcAft>
                <a:spcPts val="0"/>
              </a:spcAft>
              <a:buNone/>
            </a:pPr>
            <a:r>
              <a:rPr lang="es"/>
              <a:t>3</a:t>
            </a:r>
            <a:endParaRPr/>
          </a:p>
          <a:p>
            <a:pPr indent="0" lvl="0" marL="0" rtl="0" algn="ctr">
              <a:spcBef>
                <a:spcPts val="1600"/>
              </a:spcBef>
              <a:spcAft>
                <a:spcPts val="0"/>
              </a:spcAft>
              <a:buNone/>
            </a:pPr>
            <a:r>
              <a:rPr lang="es"/>
              <a:t>1,2                      8,6,7,5</a:t>
            </a:r>
            <a:endParaRPr/>
          </a:p>
          <a:p>
            <a:pPr indent="0" lvl="0" marL="0" rtl="0" algn="ctr">
              <a:spcBef>
                <a:spcPts val="1600"/>
              </a:spcBef>
              <a:spcAft>
                <a:spcPts val="0"/>
              </a:spcAft>
              <a:buNone/>
            </a:pPr>
            <a:r>
              <a:rPr lang="es"/>
              <a:t>1                                  8</a:t>
            </a:r>
            <a:endParaRPr/>
          </a:p>
          <a:p>
            <a:pPr indent="0" lvl="0" marL="0" rtl="0" algn="ctr">
              <a:spcBef>
                <a:spcPts val="1600"/>
              </a:spcBef>
              <a:spcAft>
                <a:spcPts val="0"/>
              </a:spcAft>
              <a:buNone/>
            </a:pPr>
            <a:r>
              <a:rPr lang="es"/>
              <a:t>  2             6,7,5</a:t>
            </a:r>
            <a:endParaRPr/>
          </a:p>
          <a:p>
            <a:pPr indent="0" lvl="0" marL="0" rtl="0" algn="ctr">
              <a:spcBef>
                <a:spcPts val="1600"/>
              </a:spcBef>
              <a:spcAft>
                <a:spcPts val="0"/>
              </a:spcAft>
              <a:buNone/>
            </a:pPr>
            <a:r>
              <a:rPr lang="es"/>
              <a:t>         6</a:t>
            </a:r>
            <a:endParaRPr/>
          </a:p>
          <a:p>
            <a:pPr indent="0" lvl="0" marL="0" rtl="0" algn="ctr">
              <a:spcBef>
                <a:spcPts val="1600"/>
              </a:spcBef>
              <a:spcAft>
                <a:spcPts val="0"/>
              </a:spcAft>
              <a:buNone/>
            </a:pPr>
            <a:r>
              <a:rPr lang="es"/>
              <a:t>           5          7</a:t>
            </a:r>
            <a:endParaRPr/>
          </a:p>
          <a:p>
            <a:pPr indent="0" lvl="0" marL="0" rtl="0" algn="ctr">
              <a:spcBef>
                <a:spcPts val="1600"/>
              </a:spcBef>
              <a:spcAft>
                <a:spcPts val="0"/>
              </a:spcAft>
              <a:buNone/>
            </a:pPr>
            <a:r>
              <a:rPr lang="es"/>
              <a:t>         </a:t>
            </a:r>
            <a:endParaRPr/>
          </a:p>
          <a:p>
            <a:pPr indent="0" lvl="0" marL="0" rtl="0" algn="ctr">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Quicksort y ABBs</a:t>
            </a:r>
            <a:endParaRPr/>
          </a:p>
        </p:txBody>
      </p:sp>
      <p:sp>
        <p:nvSpPr>
          <p:cNvPr id="287" name="Google Shape;287;p44"/>
          <p:cNvSpPr txBox="1"/>
          <p:nvPr>
            <p:ph idx="1" type="body"/>
          </p:nvPr>
        </p:nvSpPr>
        <p:spPr>
          <a:xfrm>
            <a:off x="311700" y="1171600"/>
            <a:ext cx="8520600" cy="365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3,1,8,2,6,7,5</a:t>
            </a:r>
            <a:endParaRPr/>
          </a:p>
          <a:p>
            <a:pPr indent="0" lvl="0" marL="0" rtl="0" algn="ctr">
              <a:spcBef>
                <a:spcPts val="1600"/>
              </a:spcBef>
              <a:spcAft>
                <a:spcPts val="0"/>
              </a:spcAft>
              <a:buNone/>
            </a:pPr>
            <a:r>
              <a:rPr lang="es"/>
              <a:t>3</a:t>
            </a:r>
            <a:endParaRPr/>
          </a:p>
          <a:p>
            <a:pPr indent="0" lvl="0" marL="0" rtl="0" algn="ctr">
              <a:spcBef>
                <a:spcPts val="1600"/>
              </a:spcBef>
              <a:spcAft>
                <a:spcPts val="0"/>
              </a:spcAft>
              <a:buNone/>
            </a:pPr>
            <a:r>
              <a:rPr lang="es"/>
              <a:t>1,2                      8,6,7,5</a:t>
            </a:r>
            <a:endParaRPr/>
          </a:p>
          <a:p>
            <a:pPr indent="0" lvl="0" marL="0" rtl="0" algn="ctr">
              <a:spcBef>
                <a:spcPts val="1600"/>
              </a:spcBef>
              <a:spcAft>
                <a:spcPts val="0"/>
              </a:spcAft>
              <a:buNone/>
            </a:pPr>
            <a:r>
              <a:rPr lang="es"/>
              <a:t>1                                  8</a:t>
            </a:r>
            <a:endParaRPr/>
          </a:p>
          <a:p>
            <a:pPr indent="0" lvl="0" marL="0" rtl="0" algn="ctr">
              <a:spcBef>
                <a:spcPts val="1600"/>
              </a:spcBef>
              <a:spcAft>
                <a:spcPts val="0"/>
              </a:spcAft>
              <a:buNone/>
            </a:pPr>
            <a:r>
              <a:rPr lang="es"/>
              <a:t>  2             6,7,5</a:t>
            </a:r>
            <a:endParaRPr/>
          </a:p>
          <a:p>
            <a:pPr indent="0" lvl="0" marL="0" rtl="0" algn="ctr">
              <a:spcBef>
                <a:spcPts val="1600"/>
              </a:spcBef>
              <a:spcAft>
                <a:spcPts val="0"/>
              </a:spcAft>
              <a:buNone/>
            </a:pPr>
            <a:r>
              <a:rPr lang="es"/>
              <a:t>         6</a:t>
            </a:r>
            <a:endParaRPr/>
          </a:p>
          <a:p>
            <a:pPr indent="0" lvl="0" marL="0" rtl="0" algn="ctr">
              <a:spcBef>
                <a:spcPts val="1600"/>
              </a:spcBef>
              <a:spcAft>
                <a:spcPts val="0"/>
              </a:spcAft>
              <a:buNone/>
            </a:pPr>
            <a:r>
              <a:rPr lang="es"/>
              <a:t>           5          7</a:t>
            </a:r>
            <a:endParaRPr/>
          </a:p>
          <a:p>
            <a:pPr indent="0" lvl="0" marL="0" rtl="0" algn="ctr">
              <a:spcBef>
                <a:spcPts val="1600"/>
              </a:spcBef>
              <a:spcAft>
                <a:spcPts val="0"/>
              </a:spcAft>
              <a:buNone/>
            </a:pPr>
            <a:r>
              <a:rPr lang="es"/>
              <a:t>         </a:t>
            </a:r>
            <a:endParaRPr/>
          </a:p>
          <a:p>
            <a:pPr indent="0" lvl="0" marL="0" rtl="0" algn="ctr">
              <a:spcBef>
                <a:spcPts val="1600"/>
              </a:spcBef>
              <a:spcAft>
                <a:spcPts val="1600"/>
              </a:spcAft>
              <a:buNone/>
            </a:pPr>
            <a:r>
              <a:t/>
            </a:r>
            <a:endParaRPr/>
          </a:p>
        </p:txBody>
      </p:sp>
      <p:sp>
        <p:nvSpPr>
          <p:cNvPr id="288" name="Google Shape;288;p44"/>
          <p:cNvSpPr/>
          <p:nvPr/>
        </p:nvSpPr>
        <p:spPr>
          <a:xfrm>
            <a:off x="4326750" y="1668100"/>
            <a:ext cx="490500" cy="4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4"/>
          <p:cNvSpPr/>
          <p:nvPr/>
        </p:nvSpPr>
        <p:spPr>
          <a:xfrm>
            <a:off x="3286350" y="2679550"/>
            <a:ext cx="490500" cy="4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4"/>
          <p:cNvSpPr/>
          <p:nvPr/>
        </p:nvSpPr>
        <p:spPr>
          <a:xfrm>
            <a:off x="5374350" y="2679550"/>
            <a:ext cx="490500" cy="4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4"/>
          <p:cNvSpPr/>
          <p:nvPr/>
        </p:nvSpPr>
        <p:spPr>
          <a:xfrm>
            <a:off x="3776850" y="3245350"/>
            <a:ext cx="490500" cy="4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4"/>
          <p:cNvSpPr/>
          <p:nvPr/>
        </p:nvSpPr>
        <p:spPr>
          <a:xfrm>
            <a:off x="4615497" y="3692273"/>
            <a:ext cx="490500" cy="4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4"/>
          <p:cNvSpPr/>
          <p:nvPr/>
        </p:nvSpPr>
        <p:spPr>
          <a:xfrm>
            <a:off x="4299973" y="4302550"/>
            <a:ext cx="490500" cy="4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4"/>
          <p:cNvSpPr/>
          <p:nvPr/>
        </p:nvSpPr>
        <p:spPr>
          <a:xfrm>
            <a:off x="5016148" y="4280721"/>
            <a:ext cx="490500" cy="4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5" name="Google Shape;295;p44"/>
          <p:cNvCxnSpPr>
            <a:endCxn id="289" idx="7"/>
          </p:cNvCxnSpPr>
          <p:nvPr/>
        </p:nvCxnSpPr>
        <p:spPr>
          <a:xfrm flipH="1">
            <a:off x="3705018" y="2113882"/>
            <a:ext cx="712200" cy="637500"/>
          </a:xfrm>
          <a:prstGeom prst="straightConnector1">
            <a:avLst/>
          </a:prstGeom>
          <a:noFill/>
          <a:ln cap="flat" cmpd="sng" w="9525">
            <a:solidFill>
              <a:schemeClr val="dk2"/>
            </a:solidFill>
            <a:prstDash val="solid"/>
            <a:round/>
            <a:headEnd len="med" w="med" type="none"/>
            <a:tailEnd len="med" w="med" type="none"/>
          </a:ln>
        </p:spPr>
      </p:cxnSp>
      <p:cxnSp>
        <p:nvCxnSpPr>
          <p:cNvPr id="296" name="Google Shape;296;p44"/>
          <p:cNvCxnSpPr>
            <a:stCxn id="288" idx="5"/>
            <a:endCxn id="290" idx="1"/>
          </p:cNvCxnSpPr>
          <p:nvPr/>
        </p:nvCxnSpPr>
        <p:spPr>
          <a:xfrm>
            <a:off x="4745418" y="2086768"/>
            <a:ext cx="700800" cy="6645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44"/>
          <p:cNvCxnSpPr>
            <a:stCxn id="289" idx="5"/>
            <a:endCxn id="291" idx="1"/>
          </p:cNvCxnSpPr>
          <p:nvPr/>
        </p:nvCxnSpPr>
        <p:spPr>
          <a:xfrm>
            <a:off x="3705018" y="3098218"/>
            <a:ext cx="143700" cy="2190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44"/>
          <p:cNvCxnSpPr>
            <a:stCxn id="290" idx="3"/>
            <a:endCxn id="292" idx="7"/>
          </p:cNvCxnSpPr>
          <p:nvPr/>
        </p:nvCxnSpPr>
        <p:spPr>
          <a:xfrm flipH="1">
            <a:off x="5034282" y="3098218"/>
            <a:ext cx="411900" cy="6660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44"/>
          <p:cNvCxnSpPr>
            <a:stCxn id="292" idx="3"/>
            <a:endCxn id="293" idx="0"/>
          </p:cNvCxnSpPr>
          <p:nvPr/>
        </p:nvCxnSpPr>
        <p:spPr>
          <a:xfrm flipH="1">
            <a:off x="4545129" y="4110941"/>
            <a:ext cx="142200" cy="191700"/>
          </a:xfrm>
          <a:prstGeom prst="straightConnector1">
            <a:avLst/>
          </a:prstGeom>
          <a:noFill/>
          <a:ln cap="flat" cmpd="sng" w="9525">
            <a:solidFill>
              <a:schemeClr val="dk2"/>
            </a:solidFill>
            <a:prstDash val="solid"/>
            <a:round/>
            <a:headEnd len="med" w="med" type="none"/>
            <a:tailEnd len="med" w="med" type="none"/>
          </a:ln>
        </p:spPr>
      </p:cxnSp>
      <p:cxnSp>
        <p:nvCxnSpPr>
          <p:cNvPr id="300" name="Google Shape;300;p44"/>
          <p:cNvCxnSpPr>
            <a:stCxn id="292" idx="5"/>
            <a:endCxn id="294" idx="0"/>
          </p:cNvCxnSpPr>
          <p:nvPr/>
        </p:nvCxnSpPr>
        <p:spPr>
          <a:xfrm>
            <a:off x="5034165" y="4110941"/>
            <a:ext cx="227100" cy="169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Teorema para el ABB</a:t>
            </a:r>
            <a:endParaRPr/>
          </a:p>
        </p:txBody>
      </p:sp>
      <p:sp>
        <p:nvSpPr>
          <p:cNvPr id="306" name="Google Shape;306;p4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altura esperada de un árbol creado en orden aleatorio es O(log n)</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s"/>
              <a:t>Cualquier cosita la demostración la hacen en</a:t>
            </a:r>
            <a:endParaRPr/>
          </a:p>
          <a:p>
            <a:pPr indent="0" lvl="0" marL="0" rtl="0" algn="l">
              <a:spcBef>
                <a:spcPts val="1600"/>
              </a:spcBef>
              <a:spcAft>
                <a:spcPts val="0"/>
              </a:spcAft>
              <a:buNone/>
            </a:pPr>
            <a:r>
              <a:rPr lang="es" u="sng">
                <a:solidFill>
                  <a:schemeClr val="hlink"/>
                </a:solidFill>
                <a:hlinkClick r:id="rId3"/>
              </a:rPr>
              <a:t>https://ocw.mit.edu/courses/6-046j-introduction-to-algorithms-sma-5503-fall-2005/resources/lecture-9-relation-of-bsts-to-quicksort-analysis-of-random-bst/</a:t>
            </a:r>
            <a:endParaRPr/>
          </a:p>
          <a:p>
            <a:pPr indent="0" lvl="0" marL="0" rtl="0" algn="l">
              <a:spcBef>
                <a:spcPts val="1600"/>
              </a:spcBef>
              <a:spcAft>
                <a:spcPts val="1600"/>
              </a:spcAft>
              <a:buNone/>
            </a:pPr>
            <a:r>
              <a:rPr lang="es"/>
              <a:t>Y les toma una horita nomás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Listas Ordenadas</a:t>
            </a:r>
            <a:endParaRPr/>
          </a:p>
        </p:txBody>
      </p:sp>
      <p:sp>
        <p:nvSpPr>
          <p:cNvPr id="312" name="Google Shape;312;p4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Motivación: queremos tener una lista de datos ordenada dinámicamente</a:t>
            </a:r>
            <a:endParaRPr/>
          </a:p>
          <a:p>
            <a:pPr indent="0" lvl="0" marL="0" rtl="0" algn="l">
              <a:spcBef>
                <a:spcPts val="1600"/>
              </a:spcBef>
              <a:spcAft>
                <a:spcPts val="0"/>
              </a:spcAft>
              <a:buClr>
                <a:schemeClr val="dk1"/>
              </a:buClr>
              <a:buSzPts val="1100"/>
              <a:buFont typeface="Arial"/>
              <a:buNone/>
            </a:pPr>
            <a:r>
              <a:rPr lang="es"/>
              <a:t>Los arreglos ordenados nos permiten buscar en O(log n)</a:t>
            </a:r>
            <a:endParaRPr/>
          </a:p>
          <a:p>
            <a:pPr indent="0" lvl="0" marL="0" rtl="0" algn="l">
              <a:spcBef>
                <a:spcPts val="1600"/>
              </a:spcBef>
              <a:spcAft>
                <a:spcPts val="0"/>
              </a:spcAft>
              <a:buNone/>
            </a:pPr>
            <a:r>
              <a:rPr lang="es"/>
              <a:t>El mantenimiento de un arreglo ordenado requiere O(n) para las operaciones de guardado y borrado</a:t>
            </a:r>
            <a:endParaRPr/>
          </a:p>
          <a:p>
            <a:pPr indent="0" lvl="0" marL="0" rtl="0" algn="l">
              <a:spcBef>
                <a:spcPts val="1600"/>
              </a:spcBef>
              <a:spcAft>
                <a:spcPts val="0"/>
              </a:spcAft>
              <a:buNone/>
            </a:pPr>
            <a:r>
              <a:rPr lang="es"/>
              <a:t>Podemos pasarnos al dominio de las listas enlazadas, logrando un tiempo O(1) para agregar un elemento si sabemos su posición deseada</a:t>
            </a:r>
            <a:endParaRPr/>
          </a:p>
          <a:p>
            <a:pPr indent="0" lvl="0" marL="0" rtl="0" algn="l">
              <a:spcBef>
                <a:spcPts val="1600"/>
              </a:spcBef>
              <a:spcAft>
                <a:spcPts val="1600"/>
              </a:spcAft>
              <a:buClr>
                <a:schemeClr val="dk1"/>
              </a:buClr>
              <a:buSzPts val="1100"/>
              <a:buFont typeface="Arial"/>
              <a:buNone/>
            </a:pPr>
            <a:r>
              <a:rPr lang="es"/>
              <a:t>El problema es que encontrar elementos es 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Skip Lists</a:t>
            </a:r>
            <a:endParaRPr/>
          </a:p>
        </p:txBody>
      </p:sp>
      <p:sp>
        <p:nvSpPr>
          <p:cNvPr id="318" name="Google Shape;318;p47"/>
          <p:cNvSpPr txBox="1"/>
          <p:nvPr>
            <p:ph idx="1" type="body"/>
          </p:nvPr>
        </p:nvSpPr>
        <p:spPr>
          <a:xfrm>
            <a:off x="311700" y="1117227"/>
            <a:ext cx="8520600" cy="2051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a:t>Solución: ¿más listas?</a:t>
            </a:r>
            <a:endParaRPr/>
          </a:p>
          <a:p>
            <a:pPr indent="0" lvl="0" marL="0" rtl="0" algn="l">
              <a:lnSpc>
                <a:spcPct val="150000"/>
              </a:lnSpc>
              <a:spcBef>
                <a:spcPts val="0"/>
              </a:spcBef>
              <a:spcAft>
                <a:spcPts val="0"/>
              </a:spcAft>
              <a:buNone/>
            </a:pPr>
            <a:r>
              <a:rPr lang="es"/>
              <a:t>Las Skip Lists son estructuras que incorporan una randomización para permitir de forma eficiente, con </a:t>
            </a:r>
            <a:r>
              <a:rPr b="1" lang="es"/>
              <a:t>alta probabilidad</a:t>
            </a:r>
            <a:r>
              <a:rPr lang="es"/>
              <a:t>, la búsqueda, guardado y borrado en una lista ordenada</a:t>
            </a:r>
            <a:endParaRPr/>
          </a:p>
          <a:p>
            <a:pPr indent="0" lvl="0" marL="0" rtl="0" algn="l">
              <a:lnSpc>
                <a:spcPct val="150000"/>
              </a:lnSpc>
              <a:spcBef>
                <a:spcPts val="0"/>
              </a:spcBef>
              <a:spcAft>
                <a:spcPts val="0"/>
              </a:spcAft>
              <a:buNone/>
            </a:pPr>
            <a:r>
              <a:rPr lang="es" u="sng">
                <a:solidFill>
                  <a:schemeClr val="hlink"/>
                </a:solidFill>
                <a:hlinkClick r:id="rId3"/>
              </a:rPr>
              <a:t>https://cmps-people.ok.ubc.ca/ylucet/DS/SkipList.html</a:t>
            </a:r>
            <a:endParaRPr/>
          </a:p>
        </p:txBody>
      </p:sp>
      <p:pic>
        <p:nvPicPr>
          <p:cNvPr id="319" name="Google Shape;319;p47"/>
          <p:cNvPicPr preferRelativeResize="0"/>
          <p:nvPr/>
        </p:nvPicPr>
        <p:blipFill>
          <a:blip r:embed="rId4">
            <a:alphaModFix/>
          </a:blip>
          <a:stretch>
            <a:fillRect/>
          </a:stretch>
        </p:blipFill>
        <p:spPr>
          <a:xfrm>
            <a:off x="123363" y="3168324"/>
            <a:ext cx="8897275" cy="185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Skip Lists</a:t>
            </a:r>
            <a:endParaRPr/>
          </a:p>
        </p:txBody>
      </p:sp>
      <p:sp>
        <p:nvSpPr>
          <p:cNvPr id="325" name="Google Shape;325;p48"/>
          <p:cNvSpPr txBox="1"/>
          <p:nvPr>
            <p:ph idx="1" type="body"/>
          </p:nvPr>
        </p:nvSpPr>
        <p:spPr>
          <a:xfrm>
            <a:off x="311700" y="2777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busca simil búsqueda binaria, empezando por las capas superiores</a:t>
            </a:r>
            <a:endParaRPr/>
          </a:p>
          <a:p>
            <a:pPr indent="0" lvl="0" marL="0" rtl="0" algn="l">
              <a:spcBef>
                <a:spcPts val="1600"/>
              </a:spcBef>
              <a:spcAft>
                <a:spcPts val="0"/>
              </a:spcAft>
              <a:buNone/>
            </a:pPr>
            <a:r>
              <a:rPr lang="es"/>
              <a:t>Al insertar siempre se insertará en la base, y se sube de capa con probabilidad p</a:t>
            </a:r>
            <a:endParaRPr/>
          </a:p>
          <a:p>
            <a:pPr indent="0" lvl="0" marL="0" rtl="0" algn="l">
              <a:spcBef>
                <a:spcPts val="1600"/>
              </a:spcBef>
              <a:spcAft>
                <a:spcPts val="0"/>
              </a:spcAft>
              <a:buNone/>
            </a:pPr>
            <a:r>
              <a:rPr lang="es"/>
              <a:t>Las capas superiores tienden a tener menos elementos. Al buscar cualquier número mayor a 12, se hace “skip” de todos los anteriores</a:t>
            </a:r>
            <a:endParaRPr/>
          </a:p>
          <a:p>
            <a:pPr indent="0" lvl="0" marL="0" rtl="0" algn="l">
              <a:spcBef>
                <a:spcPts val="1600"/>
              </a:spcBef>
              <a:spcAft>
                <a:spcPts val="1600"/>
              </a:spcAft>
              <a:buNone/>
            </a:pPr>
            <a:r>
              <a:rPr lang="es"/>
              <a:t>Las capas superiores funcionan como ruta express para llegar al elemento</a:t>
            </a:r>
            <a:endParaRPr/>
          </a:p>
        </p:txBody>
      </p:sp>
      <p:pic>
        <p:nvPicPr>
          <p:cNvPr id="326" name="Google Shape;326;p48"/>
          <p:cNvPicPr preferRelativeResize="0"/>
          <p:nvPr/>
        </p:nvPicPr>
        <p:blipFill>
          <a:blip r:embed="rId3">
            <a:alphaModFix/>
          </a:blip>
          <a:stretch>
            <a:fillRect/>
          </a:stretch>
        </p:blipFill>
        <p:spPr>
          <a:xfrm>
            <a:off x="2128300" y="199325"/>
            <a:ext cx="7015700" cy="2577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Skip Lists</a:t>
            </a:r>
            <a:endParaRPr/>
          </a:p>
        </p:txBody>
      </p:sp>
      <p:sp>
        <p:nvSpPr>
          <p:cNvPr id="332" name="Google Shape;332;p4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 temporal promedio, con </a:t>
            </a:r>
            <a:r>
              <a:rPr b="1" lang="es"/>
              <a:t>alta probabilidad</a:t>
            </a:r>
            <a:r>
              <a:rPr lang="es"/>
              <a:t>:</a:t>
            </a:r>
            <a:endParaRPr/>
          </a:p>
          <a:p>
            <a:pPr indent="-342900" lvl="0" marL="457200" rtl="0" algn="l">
              <a:spcBef>
                <a:spcPts val="1600"/>
              </a:spcBef>
              <a:spcAft>
                <a:spcPts val="0"/>
              </a:spcAft>
              <a:buSzPts val="1800"/>
              <a:buChar char="-"/>
            </a:pPr>
            <a:r>
              <a:rPr lang="es"/>
              <a:t>Búsqueda: O(log n)</a:t>
            </a:r>
            <a:endParaRPr/>
          </a:p>
          <a:p>
            <a:pPr indent="-342900" lvl="0" marL="457200" rtl="0" algn="l">
              <a:spcBef>
                <a:spcPts val="0"/>
              </a:spcBef>
              <a:spcAft>
                <a:spcPts val="0"/>
              </a:spcAft>
              <a:buSzPts val="1800"/>
              <a:buChar char="-"/>
            </a:pPr>
            <a:r>
              <a:rPr lang="es"/>
              <a:t>Inserción: O(log n)</a:t>
            </a:r>
            <a:endParaRPr/>
          </a:p>
          <a:p>
            <a:pPr indent="-342900" lvl="0" marL="457200" rtl="0" algn="l">
              <a:spcBef>
                <a:spcPts val="0"/>
              </a:spcBef>
              <a:spcAft>
                <a:spcPts val="0"/>
              </a:spcAft>
              <a:buSzPts val="1800"/>
              <a:buChar char="-"/>
            </a:pPr>
            <a:r>
              <a:rPr lang="es"/>
              <a:t>Borrado: O(log n)</a:t>
            </a:r>
            <a:endParaRPr/>
          </a:p>
          <a:p>
            <a:pPr indent="0" lvl="0" marL="0" rtl="0" algn="l">
              <a:spcBef>
                <a:spcPts val="1600"/>
              </a:spcBef>
              <a:spcAft>
                <a:spcPts val="0"/>
              </a:spcAft>
              <a:buNone/>
            </a:pPr>
            <a:r>
              <a:rPr lang="es"/>
              <a:t>Orden temporal de los peores casos: O(n)</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s"/>
              <a:t>Orden espacial en el peor caso: O(n log n)</a:t>
            </a:r>
            <a:endParaRPr/>
          </a:p>
        </p:txBody>
      </p:sp>
      <p:pic>
        <p:nvPicPr>
          <p:cNvPr id="333" name="Google Shape;333;p49"/>
          <p:cNvPicPr preferRelativeResize="0"/>
          <p:nvPr/>
        </p:nvPicPr>
        <p:blipFill>
          <a:blip r:embed="rId3">
            <a:alphaModFix/>
          </a:blip>
          <a:stretch>
            <a:fillRect/>
          </a:stretch>
        </p:blipFill>
        <p:spPr>
          <a:xfrm>
            <a:off x="5748875" y="1058225"/>
            <a:ext cx="1930500" cy="81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Skip Lists</a:t>
            </a:r>
            <a:endParaRPr/>
          </a:p>
        </p:txBody>
      </p:sp>
      <p:sp>
        <p:nvSpPr>
          <p:cNvPr id="339" name="Google Shape;339;p50"/>
          <p:cNvSpPr txBox="1"/>
          <p:nvPr>
            <p:ph idx="1" type="body"/>
          </p:nvPr>
        </p:nvSpPr>
        <p:spPr>
          <a:xfrm>
            <a:off x="311700" y="2162200"/>
            <a:ext cx="6914100" cy="4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En promedio, cada elemento está presente en un número de listas:</a:t>
            </a:r>
            <a:endParaRPr/>
          </a:p>
        </p:txBody>
      </p:sp>
      <p:sp>
        <p:nvSpPr>
          <p:cNvPr id="340" name="Google Shape;340;p50"/>
          <p:cNvSpPr txBox="1"/>
          <p:nvPr>
            <p:ph idx="1" type="body"/>
          </p:nvPr>
        </p:nvSpPr>
        <p:spPr>
          <a:xfrm>
            <a:off x="311700" y="3610000"/>
            <a:ext cx="8520600" cy="134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posible modificar el valor de p para regular el uso de memoria y la velocidad esperada de las operaciones.</a:t>
            </a:r>
            <a:endParaRPr/>
          </a:p>
          <a:p>
            <a:pPr indent="0" lvl="0" marL="0" rtl="0" algn="l">
              <a:spcBef>
                <a:spcPts val="1600"/>
              </a:spcBef>
              <a:spcAft>
                <a:spcPts val="1600"/>
              </a:spcAft>
              <a:buNone/>
            </a:pPr>
            <a:r>
              <a:rPr lang="es"/>
              <a:t>A mayor p, mayor uso de memoria y velocidad</a:t>
            </a:r>
            <a:endParaRPr/>
          </a:p>
        </p:txBody>
      </p:sp>
      <p:sp>
        <p:nvSpPr>
          <p:cNvPr id="341" name="Google Shape;341;p50"/>
          <p:cNvSpPr txBox="1"/>
          <p:nvPr>
            <p:ph idx="1" type="body"/>
          </p:nvPr>
        </p:nvSpPr>
        <p:spPr>
          <a:xfrm>
            <a:off x="310500" y="2694000"/>
            <a:ext cx="8520600" cy="67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La cantidad esperada de listas es: </a:t>
            </a:r>
            <a:endParaRPr/>
          </a:p>
        </p:txBody>
      </p:sp>
      <p:pic>
        <p:nvPicPr>
          <p:cNvPr id="342" name="Google Shape;342;p50"/>
          <p:cNvPicPr preferRelativeResize="0"/>
          <p:nvPr/>
        </p:nvPicPr>
        <p:blipFill>
          <a:blip r:embed="rId3">
            <a:alphaModFix/>
          </a:blip>
          <a:stretch>
            <a:fillRect/>
          </a:stretch>
        </p:blipFill>
        <p:spPr>
          <a:xfrm>
            <a:off x="4058275" y="2617800"/>
            <a:ext cx="1280300" cy="566825"/>
          </a:xfrm>
          <a:prstGeom prst="rect">
            <a:avLst/>
          </a:prstGeom>
          <a:noFill/>
          <a:ln>
            <a:noFill/>
          </a:ln>
        </p:spPr>
      </p:pic>
      <p:sp>
        <p:nvSpPr>
          <p:cNvPr id="343" name="Google Shape;343;p50"/>
          <p:cNvSpPr txBox="1"/>
          <p:nvPr/>
        </p:nvSpPr>
        <p:spPr>
          <a:xfrm>
            <a:off x="304800" y="1175703"/>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s" sz="1800">
                <a:solidFill>
                  <a:schemeClr val="dk1"/>
                </a:solidFill>
                <a:latin typeface="Proxima Nova"/>
                <a:ea typeface="Proxima Nova"/>
                <a:cs typeface="Proxima Nova"/>
                <a:sym typeface="Proxima Nova"/>
              </a:rPr>
              <a:t>Orden temporal promedio:</a:t>
            </a:r>
            <a:endParaRPr/>
          </a:p>
        </p:txBody>
      </p:sp>
      <p:pic>
        <p:nvPicPr>
          <p:cNvPr id="344" name="Google Shape;344;p50"/>
          <p:cNvPicPr preferRelativeResize="0"/>
          <p:nvPr/>
        </p:nvPicPr>
        <p:blipFill>
          <a:blip r:embed="rId4">
            <a:alphaModFix/>
          </a:blip>
          <a:stretch>
            <a:fillRect/>
          </a:stretch>
        </p:blipFill>
        <p:spPr>
          <a:xfrm>
            <a:off x="3943750" y="1058225"/>
            <a:ext cx="1930500" cy="817200"/>
          </a:xfrm>
          <a:prstGeom prst="rect">
            <a:avLst/>
          </a:prstGeom>
          <a:noFill/>
          <a:ln>
            <a:noFill/>
          </a:ln>
        </p:spPr>
      </p:pic>
      <p:pic>
        <p:nvPicPr>
          <p:cNvPr id="345" name="Google Shape;345;p50"/>
          <p:cNvPicPr preferRelativeResize="0"/>
          <p:nvPr/>
        </p:nvPicPr>
        <p:blipFill>
          <a:blip r:embed="rId5">
            <a:alphaModFix/>
          </a:blip>
          <a:stretch>
            <a:fillRect/>
          </a:stretch>
        </p:blipFill>
        <p:spPr>
          <a:xfrm>
            <a:off x="7225775" y="2162195"/>
            <a:ext cx="1280300" cy="4678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Árboles Binarios de Búsqueda</a:t>
            </a:r>
            <a:endParaRPr/>
          </a:p>
        </p:txBody>
      </p:sp>
      <p:sp>
        <p:nvSpPr>
          <p:cNvPr id="351" name="Google Shape;351;p51"/>
          <p:cNvSpPr txBox="1"/>
          <p:nvPr>
            <p:ph idx="1" type="body"/>
          </p:nvPr>
        </p:nvSpPr>
        <p:spPr>
          <a:xfrm>
            <a:off x="311700" y="1084600"/>
            <a:ext cx="8520600" cy="405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Permiten mantener dinámicamente una estructura de tipo diccionario, permitiendo además presentar los datos según una relación de orden</a:t>
            </a:r>
            <a:endParaRPr/>
          </a:p>
          <a:p>
            <a:pPr indent="-342900" lvl="0" marL="457200" rtl="0" algn="l">
              <a:spcBef>
                <a:spcPts val="0"/>
              </a:spcBef>
              <a:spcAft>
                <a:spcPts val="0"/>
              </a:spcAft>
              <a:buSzPts val="1800"/>
              <a:buChar char="●"/>
            </a:pPr>
            <a:r>
              <a:rPr lang="es"/>
              <a:t>Típicamente sus operaciones son log(n)...</a:t>
            </a:r>
            <a:endParaRPr/>
          </a:p>
          <a:p>
            <a:pPr indent="0" lvl="0" marL="0" rtl="0" algn="l">
              <a:spcBef>
                <a:spcPts val="1600"/>
              </a:spcBef>
              <a:spcAft>
                <a:spcPts val="0"/>
              </a:spcAft>
              <a:buNone/>
            </a:pPr>
            <a:r>
              <a:rPr lang="es"/>
              <a:t>Siempre y cuando esté balanceado</a:t>
            </a:r>
            <a:endParaRPr/>
          </a:p>
          <a:p>
            <a:pPr indent="0" lvl="0" marL="0" rtl="0" algn="l">
              <a:spcBef>
                <a:spcPts val="1600"/>
              </a:spcBef>
              <a:spcAft>
                <a:spcPts val="0"/>
              </a:spcAft>
              <a:buNone/>
            </a:pPr>
            <a:r>
              <a:rPr lang="es"/>
              <a:t>Es por eso que hay varias </a:t>
            </a:r>
            <a:r>
              <a:rPr lang="es"/>
              <a:t>metodologías</a:t>
            </a:r>
            <a:r>
              <a:rPr lang="es"/>
              <a:t> de balanceo de árboles</a:t>
            </a:r>
            <a:endParaRPr/>
          </a:p>
          <a:p>
            <a:pPr indent="-342900" lvl="0" marL="457200" rtl="0" algn="l">
              <a:spcBef>
                <a:spcPts val="1600"/>
              </a:spcBef>
              <a:spcAft>
                <a:spcPts val="0"/>
              </a:spcAft>
              <a:buSzPts val="1800"/>
              <a:buChar char="-"/>
            </a:pPr>
            <a:r>
              <a:rPr lang="es"/>
              <a:t>AVL</a:t>
            </a:r>
            <a:endParaRPr/>
          </a:p>
          <a:p>
            <a:pPr indent="-342900" lvl="0" marL="457200" rtl="0" algn="l">
              <a:spcBef>
                <a:spcPts val="0"/>
              </a:spcBef>
              <a:spcAft>
                <a:spcPts val="0"/>
              </a:spcAft>
              <a:buSzPts val="1800"/>
              <a:buChar char="-"/>
            </a:pPr>
            <a:r>
              <a:rPr lang="es"/>
              <a:t>Red-Black</a:t>
            </a:r>
            <a:endParaRPr/>
          </a:p>
          <a:p>
            <a:pPr indent="0" lvl="0" marL="0" rtl="0" algn="l">
              <a:spcBef>
                <a:spcPts val="1600"/>
              </a:spcBef>
              <a:spcAft>
                <a:spcPts val="0"/>
              </a:spcAft>
              <a:buNone/>
            </a:pPr>
            <a:r>
              <a:rPr lang="es"/>
              <a:t>Hace un ratito vimos una propiedad muy interesante</a:t>
            </a:r>
            <a:endParaRPr/>
          </a:p>
          <a:p>
            <a:pPr indent="-342900" lvl="0" marL="457200" rtl="0" algn="l">
              <a:spcBef>
                <a:spcPts val="1600"/>
              </a:spcBef>
              <a:spcAft>
                <a:spcPts val="1600"/>
              </a:spcAft>
              <a:buSzPts val="1800"/>
              <a:buChar char="-"/>
            </a:pPr>
            <a:r>
              <a:rPr lang="es"/>
              <a:t>La altura esperada de un árbol creado en orden aleatorio es O(log 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Treaps</a:t>
            </a:r>
            <a:endParaRPr/>
          </a:p>
        </p:txBody>
      </p:sp>
      <p:sp>
        <p:nvSpPr>
          <p:cNvPr id="357" name="Google Shape;357;p5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la </a:t>
            </a:r>
            <a:r>
              <a:rPr lang="es"/>
              <a:t>altura esperada de un árbol creado en orden aleatorio es O(log n), mantengamos un árbol como si fuese creado en orden aleatorio</a:t>
            </a:r>
            <a:endParaRPr/>
          </a:p>
          <a:p>
            <a:pPr indent="0" lvl="0" marL="0" rtl="0" algn="l">
              <a:spcBef>
                <a:spcPts val="1600"/>
              </a:spcBef>
              <a:spcAft>
                <a:spcPts val="1600"/>
              </a:spcAft>
              <a:buNone/>
            </a:pPr>
            <a:r>
              <a:rPr lang="es"/>
              <a:t>Treaps = Tree + Heap</a:t>
            </a:r>
            <a:endParaRPr/>
          </a:p>
        </p:txBody>
      </p:sp>
      <p:pic>
        <p:nvPicPr>
          <p:cNvPr id="358" name="Google Shape;358;p52"/>
          <p:cNvPicPr preferRelativeResize="0"/>
          <p:nvPr/>
        </p:nvPicPr>
        <p:blipFill>
          <a:blip r:embed="rId3">
            <a:alphaModFix/>
          </a:blip>
          <a:stretch>
            <a:fillRect/>
          </a:stretch>
        </p:blipFill>
        <p:spPr>
          <a:xfrm>
            <a:off x="2796725" y="1899701"/>
            <a:ext cx="4147224" cy="3117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Treaps</a:t>
            </a:r>
            <a:endParaRPr/>
          </a:p>
        </p:txBody>
      </p:sp>
      <p:sp>
        <p:nvSpPr>
          <p:cNvPr id="364" name="Google Shape;364;p53"/>
          <p:cNvSpPr txBox="1"/>
          <p:nvPr>
            <p:ph idx="1" type="body"/>
          </p:nvPr>
        </p:nvSpPr>
        <p:spPr>
          <a:xfrm>
            <a:off x="0" y="1073725"/>
            <a:ext cx="6017400" cy="3954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sz="1700"/>
              <a:t>Cada nodo tiene la clave correspondiente al árbol</a:t>
            </a:r>
            <a:endParaRPr sz="1700"/>
          </a:p>
          <a:p>
            <a:pPr indent="0" lvl="0" marL="0" rtl="0" algn="l">
              <a:lnSpc>
                <a:spcPct val="150000"/>
              </a:lnSpc>
              <a:spcBef>
                <a:spcPts val="0"/>
              </a:spcBef>
              <a:spcAft>
                <a:spcPts val="0"/>
              </a:spcAft>
              <a:buNone/>
            </a:pPr>
            <a:r>
              <a:rPr lang="es" sz="1700"/>
              <a:t>Además tiene una prioridad que es calculada de manera aleatoria</a:t>
            </a:r>
            <a:endParaRPr sz="1700"/>
          </a:p>
          <a:p>
            <a:pPr indent="0" lvl="0" marL="0" rtl="0" algn="l">
              <a:lnSpc>
                <a:spcPct val="150000"/>
              </a:lnSpc>
              <a:spcBef>
                <a:spcPts val="0"/>
              </a:spcBef>
              <a:spcAft>
                <a:spcPts val="0"/>
              </a:spcAft>
              <a:buNone/>
            </a:pPr>
            <a:r>
              <a:rPr lang="es" sz="1700"/>
              <a:t>La estructura debe mantener ambos datos, las claves en orden, y las prioridades en propiedad de parva</a:t>
            </a:r>
            <a:endParaRPr sz="1700"/>
          </a:p>
          <a:p>
            <a:pPr indent="0" lvl="0" marL="0" rtl="0" algn="l">
              <a:lnSpc>
                <a:spcPct val="150000"/>
              </a:lnSpc>
              <a:spcBef>
                <a:spcPts val="0"/>
              </a:spcBef>
              <a:spcAft>
                <a:spcPts val="0"/>
              </a:spcAft>
              <a:buNone/>
            </a:pPr>
            <a:r>
              <a:rPr lang="es" sz="1700"/>
              <a:t>El orden aleatorio de las prioridades mantendrá balanceado el árbol con alta probabilidad</a:t>
            </a:r>
            <a:endParaRPr sz="1700"/>
          </a:p>
          <a:p>
            <a:pPr indent="0" lvl="0" marL="0" rtl="0" algn="l">
              <a:lnSpc>
                <a:spcPct val="150000"/>
              </a:lnSpc>
              <a:spcBef>
                <a:spcPts val="0"/>
              </a:spcBef>
              <a:spcAft>
                <a:spcPts val="0"/>
              </a:spcAft>
              <a:buNone/>
            </a:pPr>
            <a:r>
              <a:rPr lang="es" sz="1700"/>
              <a:t>Por lo tanto, son esperables operaciones O(log n)</a:t>
            </a:r>
            <a:endParaRPr sz="1700"/>
          </a:p>
          <a:p>
            <a:pPr indent="0" lvl="0" marL="0" rtl="0" algn="l">
              <a:lnSpc>
                <a:spcPct val="150000"/>
              </a:lnSpc>
              <a:spcBef>
                <a:spcPts val="0"/>
              </a:spcBef>
              <a:spcAft>
                <a:spcPts val="0"/>
              </a:spcAft>
              <a:buNone/>
            </a:pPr>
            <a:r>
              <a:rPr lang="es" sz="1700"/>
              <a:t>Es como si los nodos se hubieren insertado primero a mayor prioridad (siendo la prioridad al azar)</a:t>
            </a:r>
            <a:endParaRPr sz="1700"/>
          </a:p>
        </p:txBody>
      </p:sp>
      <p:pic>
        <p:nvPicPr>
          <p:cNvPr id="365" name="Google Shape;365;p53"/>
          <p:cNvPicPr preferRelativeResize="0"/>
          <p:nvPr/>
        </p:nvPicPr>
        <p:blipFill>
          <a:blip r:embed="rId3">
            <a:alphaModFix/>
          </a:blip>
          <a:stretch>
            <a:fillRect/>
          </a:stretch>
        </p:blipFill>
        <p:spPr>
          <a:xfrm>
            <a:off x="6017415" y="650350"/>
            <a:ext cx="3119675" cy="3842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Treaps</a:t>
            </a:r>
            <a:endParaRPr/>
          </a:p>
        </p:txBody>
      </p:sp>
      <p:pic>
        <p:nvPicPr>
          <p:cNvPr id="371" name="Google Shape;371;p54"/>
          <p:cNvPicPr preferRelativeResize="0"/>
          <p:nvPr/>
        </p:nvPicPr>
        <p:blipFill>
          <a:blip r:embed="rId3">
            <a:alphaModFix/>
          </a:blip>
          <a:stretch>
            <a:fillRect/>
          </a:stretch>
        </p:blipFill>
        <p:spPr>
          <a:xfrm>
            <a:off x="2033950" y="0"/>
            <a:ext cx="5765350" cy="5067200"/>
          </a:xfrm>
          <a:prstGeom prst="rect">
            <a:avLst/>
          </a:prstGeom>
          <a:noFill/>
          <a:ln>
            <a:noFill/>
          </a:ln>
        </p:spPr>
      </p:pic>
      <p:pic>
        <p:nvPicPr>
          <p:cNvPr id="372" name="Google Shape;372;p54"/>
          <p:cNvPicPr preferRelativeResize="0"/>
          <p:nvPr/>
        </p:nvPicPr>
        <p:blipFill>
          <a:blip r:embed="rId4">
            <a:alphaModFix/>
          </a:blip>
          <a:stretch>
            <a:fillRect/>
          </a:stretch>
        </p:blipFill>
        <p:spPr>
          <a:xfrm>
            <a:off x="385650" y="2417169"/>
            <a:ext cx="2553650" cy="200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Treaps</a:t>
            </a:r>
            <a:endParaRPr/>
          </a:p>
        </p:txBody>
      </p:sp>
      <p:pic>
        <p:nvPicPr>
          <p:cNvPr id="378" name="Google Shape;378;p55"/>
          <p:cNvPicPr preferRelativeResize="0"/>
          <p:nvPr/>
        </p:nvPicPr>
        <p:blipFill>
          <a:blip r:embed="rId3">
            <a:alphaModFix/>
          </a:blip>
          <a:stretch>
            <a:fillRect/>
          </a:stretch>
        </p:blipFill>
        <p:spPr>
          <a:xfrm>
            <a:off x="1609525" y="609600"/>
            <a:ext cx="7534474" cy="438530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Árbol binario de búsqueda aleatorio</a:t>
            </a:r>
            <a:endParaRPr/>
          </a:p>
        </p:txBody>
      </p:sp>
      <p:pic>
        <p:nvPicPr>
          <p:cNvPr id="384" name="Google Shape;384;p56"/>
          <p:cNvPicPr preferRelativeResize="0"/>
          <p:nvPr/>
        </p:nvPicPr>
        <p:blipFill>
          <a:blip r:embed="rId3">
            <a:alphaModFix/>
          </a:blip>
          <a:stretch>
            <a:fillRect/>
          </a:stretch>
        </p:blipFill>
        <p:spPr>
          <a:xfrm>
            <a:off x="1211575" y="1058225"/>
            <a:ext cx="6720844" cy="3780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Árbol binario de búsqueda aleatorio</a:t>
            </a:r>
            <a:endParaRPr/>
          </a:p>
        </p:txBody>
      </p:sp>
      <p:sp>
        <p:nvSpPr>
          <p:cNvPr id="390" name="Google Shape;390;p57"/>
          <p:cNvSpPr txBox="1"/>
          <p:nvPr>
            <p:ph idx="1" type="body"/>
          </p:nvPr>
        </p:nvSpPr>
        <p:spPr>
          <a:xfrm>
            <a:off x="311700" y="1171600"/>
            <a:ext cx="8520600" cy="380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Nuevamente aprovecha que la altura esperada de un árbol creado en orden aleatorio es O(log n).</a:t>
            </a:r>
            <a:endParaRPr/>
          </a:p>
          <a:p>
            <a:pPr indent="0" lvl="0" marL="0" rtl="0" algn="l">
              <a:spcBef>
                <a:spcPts val="1600"/>
              </a:spcBef>
              <a:spcAft>
                <a:spcPts val="0"/>
              </a:spcAft>
              <a:buNone/>
            </a:pPr>
            <a:r>
              <a:rPr lang="es"/>
              <a:t>Lo hace de una forma bastante más literal.</a:t>
            </a:r>
            <a:endParaRPr/>
          </a:p>
          <a:p>
            <a:pPr indent="0" lvl="0" marL="0" rtl="0" algn="l">
              <a:spcBef>
                <a:spcPts val="1600"/>
              </a:spcBef>
              <a:spcAft>
                <a:spcPts val="0"/>
              </a:spcAft>
              <a:buNone/>
            </a:pPr>
            <a:r>
              <a:rPr lang="es"/>
              <a:t>Cuando hay que hacer una inserción, por cada nodo que se visita se lanza una moneda con cierta probabilidad, en caso de éxito corresponde insertar ese elemento en esa posición del árbol.</a:t>
            </a:r>
            <a:endParaRPr/>
          </a:p>
          <a:p>
            <a:pPr indent="0" lvl="0" marL="0" rtl="0" algn="l">
              <a:spcBef>
                <a:spcPts val="1600"/>
              </a:spcBef>
              <a:spcAft>
                <a:spcPts val="0"/>
              </a:spcAft>
              <a:buNone/>
            </a:pPr>
            <a:r>
              <a:rPr lang="es"/>
              <a:t>Para mantener la uniformidad de la probabilidad </a:t>
            </a:r>
            <a:r>
              <a:rPr i="1" lang="es"/>
              <a:t>p</a:t>
            </a:r>
            <a:r>
              <a:rPr lang="es"/>
              <a:t>, cada nodo mantiene la cantidad </a:t>
            </a:r>
            <a:r>
              <a:rPr i="1" lang="es"/>
              <a:t>k</a:t>
            </a:r>
            <a:r>
              <a:rPr lang="es"/>
              <a:t> de nodos descendientes (contándose a sí mismo).</a:t>
            </a:r>
            <a:endParaRPr/>
          </a:p>
          <a:p>
            <a:pPr indent="0" lvl="0" marL="0" rtl="0" algn="l">
              <a:spcBef>
                <a:spcPts val="1600"/>
              </a:spcBef>
              <a:spcAft>
                <a:spcPts val="1600"/>
              </a:spcAft>
              <a:buNone/>
            </a:pPr>
            <a:r>
              <a:rPr lang="es"/>
              <a:t>La probabilidad p en cada paso de la inserción es 1/(k+1).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Árbol binario de búsqueda aleatorio</a:t>
            </a:r>
            <a:endParaRPr/>
          </a:p>
        </p:txBody>
      </p:sp>
      <p:sp>
        <p:nvSpPr>
          <p:cNvPr id="396" name="Google Shape;396;p58"/>
          <p:cNvSpPr txBox="1"/>
          <p:nvPr>
            <p:ph idx="1" type="body"/>
          </p:nvPr>
        </p:nvSpPr>
        <p:spPr>
          <a:xfrm>
            <a:off x="311700" y="1171600"/>
            <a:ext cx="8520600" cy="387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probabilidad p en cada paso de la inserción es 1/(k+1)</a:t>
            </a:r>
            <a:br>
              <a:rPr lang="es"/>
            </a:br>
            <a:r>
              <a:rPr lang="es"/>
              <a:t>Ejemplo: al comenzar a insertar por la raíz, la probabilidad de que el nuevo elemento esté en la raíz es igual a la probabilidad de que en un orden aleatorio para estos n+1 elementos, el nuevo elemento haya sido el primero.</a:t>
            </a:r>
            <a:endParaRPr/>
          </a:p>
          <a:p>
            <a:pPr indent="0" lvl="0" marL="0" rtl="0" algn="l">
              <a:spcBef>
                <a:spcPts val="1600"/>
              </a:spcBef>
              <a:spcAft>
                <a:spcPts val="0"/>
              </a:spcAft>
              <a:buNone/>
            </a:pPr>
            <a:r>
              <a:rPr lang="es"/>
              <a:t>Por lo tanto, p = </a:t>
            </a:r>
            <a:r>
              <a:rPr lang="es"/>
              <a:t>1/(n+1).</a:t>
            </a:r>
            <a:endParaRPr/>
          </a:p>
          <a:p>
            <a:pPr indent="0" lvl="0" marL="0" rtl="0" algn="l">
              <a:spcBef>
                <a:spcPts val="1600"/>
              </a:spcBef>
              <a:spcAft>
                <a:spcPts val="0"/>
              </a:spcAft>
              <a:buNone/>
            </a:pPr>
            <a:r>
              <a:rPr lang="es"/>
              <a:t>Este análisis se transporta análogamente a cada subárbol, y por ello cada nodo necesita almacenar el valor de la cantidad de descendientes.</a:t>
            </a:r>
            <a:endParaRPr/>
          </a:p>
          <a:p>
            <a:pPr indent="0" lvl="0" marL="0" rtl="0" algn="l">
              <a:spcBef>
                <a:spcPts val="1600"/>
              </a:spcBef>
              <a:spcAft>
                <a:spcPts val="1600"/>
              </a:spcAft>
              <a:buNone/>
            </a:pPr>
            <a:r>
              <a:rPr lang="es"/>
              <a:t>Nuevamente, es equivalente a crear un árbol en un cierto orden aleatorio, en este caso determinado por los resultados de las evaluaciones de las probabilidades p, que equivalen a cierta permutación de todas las posibles para estos elementos.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Generación de números aleatorios</a:t>
            </a:r>
            <a:endParaRPr/>
          </a:p>
        </p:txBody>
      </p:sp>
      <p:sp>
        <p:nvSpPr>
          <p:cNvPr id="402" name="Google Shape;402;p59"/>
          <p:cNvSpPr txBox="1"/>
          <p:nvPr>
            <p:ph idx="1" type="body"/>
          </p:nvPr>
        </p:nvSpPr>
        <p:spPr>
          <a:xfrm>
            <a:off x="311700" y="1171600"/>
            <a:ext cx="8520600" cy="442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También llamado Random Number Generator (RNG)</a:t>
            </a:r>
            <a:endParaRPr/>
          </a:p>
        </p:txBody>
      </p:sp>
      <p:pic>
        <p:nvPicPr>
          <p:cNvPr id="403" name="Google Shape;403;p59"/>
          <p:cNvPicPr preferRelativeResize="0"/>
          <p:nvPr/>
        </p:nvPicPr>
        <p:blipFill>
          <a:blip r:embed="rId3">
            <a:alphaModFix/>
          </a:blip>
          <a:stretch>
            <a:fillRect/>
          </a:stretch>
        </p:blipFill>
        <p:spPr>
          <a:xfrm>
            <a:off x="1792638" y="1613800"/>
            <a:ext cx="5558725" cy="3368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Generación de números aleatorios</a:t>
            </a:r>
            <a:endParaRPr/>
          </a:p>
        </p:txBody>
      </p:sp>
      <p:sp>
        <p:nvSpPr>
          <p:cNvPr id="409" name="Google Shape;409;p60"/>
          <p:cNvSpPr txBox="1"/>
          <p:nvPr>
            <p:ph idx="1" type="body"/>
          </p:nvPr>
        </p:nvSpPr>
        <p:spPr>
          <a:xfrm>
            <a:off x="311700" y="1171600"/>
            <a:ext cx="8520600" cy="247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busca generar una secuencia de números que no pueda </a:t>
            </a:r>
            <a:r>
              <a:rPr lang="es"/>
              <a:t>predecirse</a:t>
            </a:r>
            <a:r>
              <a:rPr lang="es"/>
              <a:t> mejor que por mero azar</a:t>
            </a:r>
            <a:endParaRPr/>
          </a:p>
          <a:p>
            <a:pPr indent="0" lvl="0" marL="0" rtl="0" algn="l">
              <a:spcBef>
                <a:spcPts val="1600"/>
              </a:spcBef>
              <a:spcAft>
                <a:spcPts val="0"/>
              </a:spcAft>
              <a:buNone/>
            </a:pPr>
            <a:r>
              <a:rPr lang="es"/>
              <a:t>Métodos de generación:</a:t>
            </a:r>
            <a:br>
              <a:rPr lang="es"/>
            </a:br>
            <a:r>
              <a:rPr lang="es"/>
              <a:t>- True random: en base a mediciones de Hardware de procesos impredecibles</a:t>
            </a:r>
            <a:endParaRPr/>
          </a:p>
          <a:p>
            <a:pPr indent="0" lvl="0" marL="0" rtl="0" algn="l">
              <a:spcBef>
                <a:spcPts val="1600"/>
              </a:spcBef>
              <a:spcAft>
                <a:spcPts val="1600"/>
              </a:spcAft>
              <a:buNone/>
            </a:pPr>
            <a:r>
              <a:rPr lang="es"/>
              <a:t>- Pseudo random: algoritmos que emulan el azar mediante procesos determinísticos dado una semilla inicial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True Random</a:t>
            </a:r>
            <a:endParaRPr/>
          </a:p>
        </p:txBody>
      </p:sp>
      <p:sp>
        <p:nvSpPr>
          <p:cNvPr id="415" name="Google Shape;415;p61"/>
          <p:cNvSpPr txBox="1"/>
          <p:nvPr>
            <p:ph idx="1" type="body"/>
          </p:nvPr>
        </p:nvSpPr>
        <p:spPr>
          <a:xfrm>
            <a:off x="311700" y="1171600"/>
            <a:ext cx="8520600" cy="24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Mediciones de fenómenos físicos impredecibles:</a:t>
            </a:r>
            <a:endParaRPr/>
          </a:p>
          <a:p>
            <a:pPr indent="-342900" lvl="0" marL="457200" rtl="0" algn="l">
              <a:spcBef>
                <a:spcPts val="1600"/>
              </a:spcBef>
              <a:spcAft>
                <a:spcPts val="0"/>
              </a:spcAft>
              <a:buSzPts val="1800"/>
              <a:buChar char="-"/>
            </a:pPr>
            <a:r>
              <a:rPr lang="es"/>
              <a:t>Ruido atmosférico</a:t>
            </a:r>
            <a:endParaRPr/>
          </a:p>
          <a:p>
            <a:pPr indent="-342900" lvl="0" marL="457200" rtl="0" algn="l">
              <a:spcBef>
                <a:spcPts val="0"/>
              </a:spcBef>
              <a:spcAft>
                <a:spcPts val="0"/>
              </a:spcAft>
              <a:buSzPts val="1800"/>
              <a:buChar char="-"/>
            </a:pPr>
            <a:r>
              <a:rPr lang="es"/>
              <a:t>Ruido térmico</a:t>
            </a:r>
            <a:endParaRPr/>
          </a:p>
          <a:p>
            <a:pPr indent="-342900" lvl="0" marL="457200" rtl="0" algn="l">
              <a:spcBef>
                <a:spcPts val="0"/>
              </a:spcBef>
              <a:spcAft>
                <a:spcPts val="0"/>
              </a:spcAft>
              <a:buSzPts val="1800"/>
              <a:buChar char="-"/>
            </a:pPr>
            <a:r>
              <a:rPr lang="es"/>
              <a:t>Efectos </a:t>
            </a:r>
            <a:r>
              <a:rPr lang="es"/>
              <a:t>fotoeléctricos</a:t>
            </a:r>
            <a:endParaRPr/>
          </a:p>
          <a:p>
            <a:pPr indent="-342900" lvl="0" marL="457200" rtl="0" algn="l">
              <a:spcBef>
                <a:spcPts val="0"/>
              </a:spcBef>
              <a:spcAft>
                <a:spcPts val="0"/>
              </a:spcAft>
              <a:buSzPts val="1800"/>
              <a:buChar char="-"/>
            </a:pPr>
            <a:r>
              <a:rPr lang="es"/>
              <a:t>Fenómenos electromagnéticos</a:t>
            </a:r>
            <a:endParaRPr/>
          </a:p>
          <a:p>
            <a:pPr indent="-342900" lvl="0" marL="457200" rtl="0" algn="l">
              <a:spcBef>
                <a:spcPts val="0"/>
              </a:spcBef>
              <a:spcAft>
                <a:spcPts val="0"/>
              </a:spcAft>
              <a:buSzPts val="1800"/>
              <a:buChar char="-"/>
            </a:pPr>
            <a:r>
              <a:rPr lang="es"/>
              <a:t>Fenómenos cuánticos</a:t>
            </a:r>
            <a:endParaRPr/>
          </a:p>
          <a:p>
            <a:pPr indent="-342900" lvl="0" marL="457200" rtl="0" algn="l">
              <a:spcBef>
                <a:spcPts val="0"/>
              </a:spcBef>
              <a:spcAft>
                <a:spcPts val="0"/>
              </a:spcAft>
              <a:buSzPts val="1800"/>
              <a:buChar char="-"/>
            </a:pPr>
            <a:r>
              <a:rPr lang="es" u="sng">
                <a:solidFill>
                  <a:schemeClr val="hlink"/>
                </a:solidFill>
                <a:hlinkClick r:id="rId3"/>
              </a:rPr>
              <a:t>Estados de lámparas de lava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Pseudo Random</a:t>
            </a:r>
            <a:endParaRPr/>
          </a:p>
        </p:txBody>
      </p:sp>
      <p:sp>
        <p:nvSpPr>
          <p:cNvPr id="421" name="Google Shape;421;p62"/>
          <p:cNvSpPr txBox="1"/>
          <p:nvPr>
            <p:ph idx="1" type="body"/>
          </p:nvPr>
        </p:nvSpPr>
        <p:spPr>
          <a:xfrm>
            <a:off x="311700" y="1171600"/>
            <a:ext cx="8520600" cy="25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Generación determinística de números aleatorios.</a:t>
            </a:r>
            <a:endParaRPr/>
          </a:p>
          <a:p>
            <a:pPr indent="0" lvl="0" marL="0" rtl="0" algn="l">
              <a:spcBef>
                <a:spcPts val="1600"/>
              </a:spcBef>
              <a:spcAft>
                <a:spcPts val="0"/>
              </a:spcAft>
              <a:buNone/>
            </a:pPr>
            <a:r>
              <a:rPr lang="es"/>
              <a:t>Es un algoritmo que genera una </a:t>
            </a:r>
            <a:r>
              <a:rPr lang="es"/>
              <a:t>secuencia</a:t>
            </a:r>
            <a:r>
              <a:rPr lang="es"/>
              <a:t> de números con propiedades aproximadamente similares a las que generaría un verdadero random.</a:t>
            </a:r>
            <a:endParaRPr/>
          </a:p>
          <a:p>
            <a:pPr indent="0" lvl="0" marL="0" rtl="0" algn="l">
              <a:spcBef>
                <a:spcPts val="1600"/>
              </a:spcBef>
              <a:spcAft>
                <a:spcPts val="0"/>
              </a:spcAft>
              <a:buNone/>
            </a:pPr>
            <a:r>
              <a:rPr lang="es"/>
              <a:t>Es determinístico para una semilla (seed).</a:t>
            </a:r>
            <a:endParaRPr/>
          </a:p>
          <a:p>
            <a:pPr indent="0" lvl="0" marL="0" rtl="0" algn="l">
              <a:spcBef>
                <a:spcPts val="1600"/>
              </a:spcBef>
              <a:spcAft>
                <a:spcPts val="1600"/>
              </a:spcAft>
              <a:buNone/>
            </a:pPr>
            <a:r>
              <a:rPr lang="es"/>
              <a:t>Tiene la capacidad de generar números a una velocidad mucho mayor.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Contemos, de forma aleatoria</a:t>
            </a:r>
            <a:endParaRPr/>
          </a:p>
        </p:txBody>
      </p:sp>
      <p:sp>
        <p:nvSpPr>
          <p:cNvPr id="427" name="Google Shape;427;p6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yo quiero contar la cantidad de </a:t>
            </a:r>
            <a:r>
              <a:rPr lang="es"/>
              <a:t>apariciones</a:t>
            </a:r>
            <a:r>
              <a:rPr lang="es"/>
              <a:t> de cada uno de los posibles elementos que haya, en una secuencia de elementos (ej palabras), ¿cuánto me consumirá en memoria?</a:t>
            </a:r>
            <a:endParaRPr/>
          </a:p>
          <a:p>
            <a:pPr indent="-342900" lvl="0" marL="457200" rtl="0" algn="l">
              <a:spcBef>
                <a:spcPts val="1600"/>
              </a:spcBef>
              <a:spcAft>
                <a:spcPts val="0"/>
              </a:spcAft>
              <a:buSzPts val="1800"/>
              <a:buChar char="●"/>
            </a:pPr>
            <a:r>
              <a:rPr lang="es"/>
              <a:t>Counting Filters: primer algoritmo utilizado por twitter para determinar los TT.</a:t>
            </a:r>
            <a:endParaRPr/>
          </a:p>
          <a:p>
            <a:pPr indent="-342900" lvl="0" marL="457200" rtl="0" algn="l">
              <a:spcBef>
                <a:spcPts val="0"/>
              </a:spcBef>
              <a:spcAft>
                <a:spcPts val="0"/>
              </a:spcAft>
              <a:buSzPts val="1800"/>
              <a:buChar char="●"/>
            </a:pPr>
            <a:r>
              <a:rPr lang="es"/>
              <a:t>Depende fuertemente de las funciones de hashing.</a:t>
            </a:r>
            <a:endParaRPr/>
          </a:p>
          <a:p>
            <a:pPr indent="0" lvl="0" marL="0" rtl="0" algn="l">
              <a:spcBef>
                <a:spcPts val="1600"/>
              </a:spcBef>
              <a:spcAft>
                <a:spcPts val="0"/>
              </a:spcAft>
              <a:buNone/>
            </a:pPr>
            <a:r>
              <a:rPr lang="es"/>
              <a:t>Supongamos que ahora sólo quiero contar la cantidad de elementos/palabras diferentes que hay… y además tenemos una memoria limitada…</a:t>
            </a:r>
            <a:endParaRPr/>
          </a:p>
          <a:p>
            <a:pPr indent="0" lvl="0" marL="0" rtl="0" algn="l">
              <a:spcBef>
                <a:spcPts val="1600"/>
              </a:spcBef>
              <a:spcAft>
                <a:spcPts val="1600"/>
              </a:spcAft>
              <a:buNone/>
            </a:pPr>
            <a:r>
              <a:rPr lang="es"/>
              <a:t>¿Y si contamos completamente de forma aleatoria?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3"/>
              </a:rPr>
              <a:t>Contando aleatoriamente</a:t>
            </a:r>
            <a:endParaRPr/>
          </a:p>
        </p:txBody>
      </p:sp>
      <p:sp>
        <p:nvSpPr>
          <p:cNvPr id="433" name="Google Shape;433;p6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Supongamos que podemos tener en memoria m = 100 elementos (palabras).</a:t>
            </a:r>
            <a:endParaRPr/>
          </a:p>
          <a:p>
            <a:pPr indent="0" lvl="0" marL="0" rtl="0" algn="l">
              <a:spcBef>
                <a:spcPts val="1600"/>
              </a:spcBef>
              <a:spcAft>
                <a:spcPts val="0"/>
              </a:spcAft>
              <a:buNone/>
            </a:pPr>
            <a:r>
              <a:rPr lang="es"/>
              <a:t>Los primeros 100 que nos topemos, lo guardamos, perfecto. Una vez que llegamos a 100, por cada elemento tiramos una moneda, si sale cara lo mantenemos, si sale cruz lo olvidamos. ¿Cuántos elementos esperamos tener cuando termine este proceso? </a:t>
            </a:r>
            <a:endParaRPr/>
          </a:p>
          <a:p>
            <a:pPr indent="0" lvl="0" marL="0" rtl="0" algn="l">
              <a:spcBef>
                <a:spcPts val="1600"/>
              </a:spcBef>
              <a:spcAft>
                <a:spcPts val="1600"/>
              </a:spcAft>
              <a:buNone/>
            </a:pPr>
            <a:r>
              <a:rPr lang="es"/>
              <a:t>Ahora proseguimos, pero cada vez que me topo con una palabra ya vista tiramos una moneda para ver si la mantenemos o borramos.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u="sng">
                <a:solidFill>
                  <a:schemeClr val="accent5"/>
                </a:solidFill>
                <a:hlinkClick r:id="rId3">
                  <a:extLst>
                    <a:ext uri="{A12FA001-AC4F-418D-AE19-62706E023703}">
                      <ahyp:hlinkClr val="tx"/>
                    </a:ext>
                  </a:extLst>
                </a:hlinkClick>
              </a:rPr>
              <a:t>Contando aleatoriamente</a:t>
            </a:r>
            <a:endParaRPr/>
          </a:p>
        </p:txBody>
      </p:sp>
      <p:sp>
        <p:nvSpPr>
          <p:cNvPr id="439" name="Google Shape;439;p6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en cualquier momento llegamos a 100 palabras, volvemos a aplicar el proceso anterior. </a:t>
            </a:r>
            <a:endParaRPr/>
          </a:p>
          <a:p>
            <a:pPr indent="0" lvl="0" marL="0" rtl="0" algn="l">
              <a:spcBef>
                <a:spcPts val="1600"/>
              </a:spcBef>
              <a:spcAft>
                <a:spcPts val="0"/>
              </a:spcAft>
              <a:buNone/>
            </a:pPr>
            <a:r>
              <a:rPr lang="es"/>
              <a:t>Si aplicamos ese segundo procesamiento, entonces para mantener una palabra en memoria no lanzaremos una moneda, sino 2 (y ambas deben salir cara para mantener).</a:t>
            </a:r>
            <a:endParaRPr/>
          </a:p>
          <a:p>
            <a:pPr indent="0" lvl="0" marL="0" rtl="0" algn="l">
              <a:spcBef>
                <a:spcPts val="1600"/>
              </a:spcBef>
              <a:spcAft>
                <a:spcPts val="0"/>
              </a:spcAft>
              <a:buNone/>
            </a:pPr>
            <a:r>
              <a:rPr lang="es"/>
              <a:t>Si se aplica el procesamiento de 100 otra vez, serán 3 monedas, y así. </a:t>
            </a:r>
            <a:endParaRPr/>
          </a:p>
          <a:p>
            <a:pPr indent="0" lvl="0" marL="0" rtl="0" algn="l">
              <a:spcBef>
                <a:spcPts val="1600"/>
              </a:spcBef>
              <a:spcAft>
                <a:spcPts val="1600"/>
              </a:spcAft>
              <a:buClr>
                <a:schemeClr val="dk1"/>
              </a:buClr>
              <a:buSzPts val="1100"/>
              <a:buFont typeface="Arial"/>
              <a:buNone/>
            </a:pPr>
            <a:r>
              <a:rPr lang="es"/>
              <a:t>Con este método, nos aseguramos que cada palabra tenga probabilidad (½)</a:t>
            </a:r>
            <a:r>
              <a:rPr baseline="30000" lang="es"/>
              <a:t>K</a:t>
            </a:r>
            <a:r>
              <a:rPr lang="es"/>
              <a:t> de estar en nuestro listado, con K = cantidad de veces que se hizo el procesamiento al llegar a m = 100.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Ejemplos</a:t>
            </a:r>
            <a:endParaRPr/>
          </a:p>
        </p:txBody>
      </p:sp>
      <p:sp>
        <p:nvSpPr>
          <p:cNvPr id="445" name="Google Shape;445;p6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Supongamos que nos tomó 6 rondas completar de procesar Hamlet. Terminamos con 61 palabras en nuestro listado → la cantidad de palabras estimadas es 61 * 2</a:t>
            </a:r>
            <a:r>
              <a:rPr baseline="30000" lang="es"/>
              <a:t>6</a:t>
            </a:r>
            <a:r>
              <a:rPr lang="es"/>
              <a:t> = 3904. Hamlet tiene 3967, menos de 2% de error. </a:t>
            </a:r>
            <a:endParaRPr/>
          </a:p>
          <a:p>
            <a:pPr indent="0" lvl="0" marL="0" rtl="0" algn="l">
              <a:spcBef>
                <a:spcPts val="1600"/>
              </a:spcBef>
              <a:spcAft>
                <a:spcPts val="0"/>
              </a:spcAft>
              <a:buNone/>
            </a:pPr>
            <a:r>
              <a:rPr lang="es"/>
              <a:t>Si cambiamos m = 100 por m = 1000, el resultado llega a ser aprox de 3964 (menos de 0.01% de error). </a:t>
            </a:r>
            <a:endParaRPr/>
          </a:p>
          <a:p>
            <a:pPr indent="0" lvl="0" marL="0" rtl="0" algn="l">
              <a:spcBef>
                <a:spcPts val="1600"/>
              </a:spcBef>
              <a:spcAft>
                <a:spcPts val="1600"/>
              </a:spcAft>
              <a:buNone/>
            </a:pPr>
            <a:r>
              <a:rPr lang="es"/>
              <a:t>Si m = suficientemente grande para que entren todas las palabras, la precisión será del 100%.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N-Reinas aleatorio</a:t>
            </a:r>
            <a:endParaRPr/>
          </a:p>
        </p:txBody>
      </p:sp>
      <p:pic>
        <p:nvPicPr>
          <p:cNvPr id="451" name="Google Shape;451;p67" title="image.png"/>
          <p:cNvPicPr preferRelativeResize="0"/>
          <p:nvPr/>
        </p:nvPicPr>
        <p:blipFill>
          <a:blip r:embed="rId3">
            <a:alphaModFix/>
          </a:blip>
          <a:stretch>
            <a:fillRect/>
          </a:stretch>
        </p:blipFill>
        <p:spPr>
          <a:xfrm>
            <a:off x="952500" y="1110213"/>
            <a:ext cx="7239000" cy="1266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