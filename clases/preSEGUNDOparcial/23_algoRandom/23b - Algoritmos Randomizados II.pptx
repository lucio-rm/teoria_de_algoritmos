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5143500" cx="9144000"/>
  <p:notesSz cx="6858000" cy="9144000"/>
  <p:embeddedFontLst>
    <p:embeddedFont>
      <p:font typeface="Proxima Nova"/>
      <p:regular r:id="rId61"/>
      <p:bold r:id="rId62"/>
      <p:italic r:id="rId63"/>
      <p:boldItalic r:id="rId64"/>
    </p:embeddedFont>
    <p:embeddedFont>
      <p:font typeface="Montserrat"/>
      <p:regular r:id="rId65"/>
      <p:bold r:id="rId66"/>
      <p:italic r:id="rId67"/>
      <p:boldItalic r:id="rId68"/>
    </p:embeddedFont>
    <p:embeddedFont>
      <p:font typeface="Old Standard TT"/>
      <p:regular r:id="rId69"/>
      <p:bold r:id="rId70"/>
      <p: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OldStandardTT-italic.fntdata"/><Relationship Id="rId70" Type="http://schemas.openxmlformats.org/officeDocument/2006/relationships/font" Target="fonts/OldStandardTT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roximaNova-bold.fntdata"/><Relationship Id="rId61" Type="http://schemas.openxmlformats.org/officeDocument/2006/relationships/font" Target="fonts/ProximaNova-regular.fntdata"/><Relationship Id="rId20" Type="http://schemas.openxmlformats.org/officeDocument/2006/relationships/slide" Target="slides/slide15.xml"/><Relationship Id="rId64" Type="http://schemas.openxmlformats.org/officeDocument/2006/relationships/font" Target="fonts/ProximaNova-boldItalic.fntdata"/><Relationship Id="rId63" Type="http://schemas.openxmlformats.org/officeDocument/2006/relationships/font" Target="fonts/ProximaNova-italic.fntdata"/><Relationship Id="rId22" Type="http://schemas.openxmlformats.org/officeDocument/2006/relationships/slide" Target="slides/slide17.xml"/><Relationship Id="rId66" Type="http://schemas.openxmlformats.org/officeDocument/2006/relationships/font" Target="fonts/Montserrat-bold.fntdata"/><Relationship Id="rId21" Type="http://schemas.openxmlformats.org/officeDocument/2006/relationships/slide" Target="slides/slide16.xml"/><Relationship Id="rId65" Type="http://schemas.openxmlformats.org/officeDocument/2006/relationships/font" Target="fonts/Montserrat-regular.fntdata"/><Relationship Id="rId24" Type="http://schemas.openxmlformats.org/officeDocument/2006/relationships/slide" Target="slides/slide19.xml"/><Relationship Id="rId68" Type="http://schemas.openxmlformats.org/officeDocument/2006/relationships/font" Target="fonts/Montserrat-boldItalic.fntdata"/><Relationship Id="rId23" Type="http://schemas.openxmlformats.org/officeDocument/2006/relationships/slide" Target="slides/slide18.xml"/><Relationship Id="rId67" Type="http://schemas.openxmlformats.org/officeDocument/2006/relationships/font" Target="fonts/Montserrat-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OldStandardTT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4ca68f9a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4ca68f9a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4b437f44c3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4b437f44c3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4b437f44c3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4b437f44c3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4b437f44c3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4b437f44c3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4b437f44c3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4b437f44c3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4b437f44c3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4b437f44c3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eb6513d5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eb6513d5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4b437f44c3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4b437f44c3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4b437f44c3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4b437f44c3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4b437f44c3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4b437f44c3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4b437f44c3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4b437f44c3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4b437f44c3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4b437f44c3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4b437f44c3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4b437f44c3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eb66f75f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eb66f75f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eb66f75f8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eb66f75f8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eb66f75f8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eb66f75f8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4b437f44c3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4b437f44c3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0a4f04f1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0a4f04f1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4ca68f9ab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4ca68f9ab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8891afd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8891afd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0a4f04f19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0a4f04f19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0a4f04f19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0a4f04f19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0a4f04f19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0a4f04f19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0a4f04f19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0a4f04f19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0a4f04f19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0a4f04f19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0a4f04f19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0a4f04f19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0a4f04f19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0a4f04f19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0a4f04f19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0a4f04f19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0a4f04f19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0a4f04f19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0a4f04f19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0a4f04f19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a0c3fc9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5a0c3fc9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8891afd0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68891afd0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694dd946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694dd946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68891afd0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68891afd0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68891afd0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68891afd0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68891afd0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68891afd0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8891afd0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8891afd0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8891afd0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68891afd0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8891afd0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68891afd0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68891afd0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68891afd0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8891afd0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68891afd0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0a4f04f19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0a4f04f19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0a4f04f197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0a4f04f197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0a4f04f197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0a4f04f197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0a4f04f197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0a4f04f197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0a4f04f197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0a4f04f197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0a4f04f197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0a4f04f197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0a4f04f197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0a4f04f197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0a4f04f197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0a4f04f197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0a4f04f197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0a4f04f197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0a4f04f197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0a4f04f197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6243d6e2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6243d6e2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a4956d92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a4956d92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6243d6e2b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6243d6e2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4956d9233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a4956d9233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drive.google.com/file/d/1dShz7X3W-Rmy5T3rGk6ecoA5rxZAzIMw/view" TargetMode="External"/><Relationship Id="rId4" Type="http://schemas.openxmlformats.org/officeDocument/2006/relationships/image" Target="../media/image21.jpg"/><Relationship Id="rId5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39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4.png"/><Relationship Id="rId4" Type="http://schemas.openxmlformats.org/officeDocument/2006/relationships/image" Target="../media/image3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9" Type="http://schemas.openxmlformats.org/officeDocument/2006/relationships/image" Target="../media/image36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Algoritmos Randomizados II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Diccionarios y Hashing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71600"/>
            <a:ext cx="8520600" cy="37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un gran U</a:t>
            </a:r>
            <a:r>
              <a:rPr lang="es"/>
              <a:t>ni</a:t>
            </a:r>
            <a:r>
              <a:rPr lang="es"/>
              <a:t>verso de U elementos, un diccionario nos permite: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Crear Diccionario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Guardar un elemento 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Borrar un elemento 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Buscar un elemento 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¿Pertenece</a:t>
            </a:r>
            <a:r>
              <a:rPr lang="es"/>
              <a:t> un elemento u?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Todas estas operaciones lo más rápido posible.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Cosa que siempre se pudo hacer, para un u</a:t>
            </a:r>
            <a:r>
              <a:rPr lang="es"/>
              <a:t>ni</a:t>
            </a:r>
            <a:r>
              <a:rPr lang="es"/>
              <a:t>verso de n elementos, con un arreglo de n posiciones. Pero el u</a:t>
            </a:r>
            <a:r>
              <a:rPr lang="es"/>
              <a:t>ni</a:t>
            </a:r>
            <a:r>
              <a:rPr lang="es"/>
              <a:t>verso U es muy grande.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Diccionarios y Hashing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71600"/>
            <a:ext cx="8520600" cy="3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Diccionarios resuelven este problema mediante una función que transforma el elemento u a un valor numérico, posición de un arreglo, la Función de Hashing.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h: U ➝ {0, 1, …, </a:t>
            </a:r>
            <a:r>
              <a:rPr lang="es"/>
              <a:t>n</a:t>
            </a:r>
            <a:r>
              <a:rPr lang="es"/>
              <a:t>-1} para indexar la tabla de Hash.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Sería ge</a:t>
            </a:r>
            <a:r>
              <a:rPr lang="es"/>
              <a:t>ni</a:t>
            </a:r>
            <a:r>
              <a:rPr lang="es"/>
              <a:t>al que para u≠v, h(</a:t>
            </a:r>
            <a:r>
              <a:rPr lang="es"/>
              <a:t>u) ≠ h(v). Sino ➝ colisión.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Nuestras funciones de Hashing deben distribuir los elementos del Universo U de la mejor manera posible en las n posiciones de nuestra tabla de Hash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Problema: para cualquier |U| &gt; n</a:t>
            </a:r>
            <a:r>
              <a:rPr b="1" baseline="30000" lang="es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s"/>
              <a:t>, existen n elementos que coinciden en el valor de la función h, creando colisión para todos ellos, y se degrada la complejidad a O(n)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Funciones de Hash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Podríamos usar los primeros bits de cada elemento: dichos bits, según el domi</a:t>
            </a:r>
            <a:r>
              <a:rPr lang="es"/>
              <a:t>ni</a:t>
            </a:r>
            <a:r>
              <a:rPr lang="es"/>
              <a:t>o del problema podrían repetirse con frecuencia.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Tomar siempre módulo n: ídem, especialmente para potencias de 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En general, cualquier selección fija puede estar consultando algún tipo de propiedad sobre los elementos utilizados, y generar una mala distribución.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Tomar siempre módulo p para algún número primo: no necesariamente funciona en toda aplicación, y no funciona bien para </a:t>
            </a:r>
            <a:r>
              <a:rPr lang="es"/>
              <a:t>primos</a:t>
            </a:r>
            <a:r>
              <a:rPr lang="es"/>
              <a:t> cercanos a potencias de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Hay muchas funciones que han probado funcionar a </a:t>
            </a:r>
            <a:r>
              <a:rPr lang="es"/>
              <a:t>ni</a:t>
            </a:r>
            <a:r>
              <a:rPr lang="es"/>
              <a:t>vel empírico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Vamos a ver cómo crear funciones que teóricamente funcionan bien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Funciones de Hash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71600"/>
            <a:ext cx="8520600" cy="9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 insertar un elemento u, tomamos h(u) como un valor al azar </a:t>
            </a:r>
            <a:r>
              <a:rPr lang="es"/>
              <a:t>{0, 1, …, n-1}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La probabilidad de colisión es bajísima, 1/n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2325" y="2124700"/>
            <a:ext cx="4639350" cy="284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Funciones de Hash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038" y="1058225"/>
            <a:ext cx="3911916" cy="37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Cómo se resuelve este problema?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3780475" cy="37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5275" y="1441163"/>
            <a:ext cx="4906325" cy="331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Clases de </a:t>
            </a:r>
            <a:r>
              <a:rPr lang="es"/>
              <a:t>Funciones de Hash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Vamos a elegir, al azar, una función de Hash dentro de una Clase de Funciones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Propiedades deseadas: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Para cualquier par de elementos u,v en el U</a:t>
            </a:r>
            <a:r>
              <a:rPr lang="es"/>
              <a:t>ni</a:t>
            </a:r>
            <a:r>
              <a:rPr lang="es"/>
              <a:t>verso, la probabilidad de colisión es como mucho 1/n ➝ La Clase es U</a:t>
            </a:r>
            <a:r>
              <a:rPr lang="es"/>
              <a:t>ni</a:t>
            </a:r>
            <a:r>
              <a:rPr lang="es"/>
              <a:t>versal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La función h puede ser representada de forma compacta, y podemos calcular el valor h(u) de manera eficiente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En el ejemplo anterior, no cumplimos con esta segunda propiedad, necesitábamos un Hash para poder guardar la Función de Hash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5125" y="1252325"/>
            <a:ext cx="269900" cy="2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Clases de Funciones de Hash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71600"/>
            <a:ext cx="8520600" cy="13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la Clase es U</a:t>
            </a:r>
            <a:r>
              <a:rPr lang="es"/>
              <a:t>ni</a:t>
            </a:r>
            <a:r>
              <a:rPr lang="es"/>
              <a:t>versal, las funciones h dentro de la clase cumplen la propiedad: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Para cualquier Set S en U de tamaño hasta n, sería esperable que la cantidad de elementos en S que colisionan un elemento u sea a lo sumo 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513" y="2504625"/>
            <a:ext cx="5250975" cy="73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2475" y="3540700"/>
            <a:ext cx="4505325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Diseñando una Clase U</a:t>
            </a:r>
            <a:r>
              <a:rPr lang="es"/>
              <a:t>ni</a:t>
            </a:r>
            <a:r>
              <a:rPr lang="es"/>
              <a:t>versal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154425" y="1171600"/>
            <a:ext cx="8851500" cy="24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Buscamos un número primo p similar al valor de n como tamaño de tabla de Hash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Cada función dentro de la clase se identifica como a = (</a:t>
            </a:r>
            <a:r>
              <a:rPr lang="es"/>
              <a:t>a</a:t>
            </a:r>
            <a:r>
              <a:rPr b="1" baseline="-25000" lang="es"/>
              <a:t>1</a:t>
            </a:r>
            <a:r>
              <a:rPr lang="es"/>
              <a:t>, a</a:t>
            </a:r>
            <a:r>
              <a:rPr b="1" baseline="-25000" lang="es"/>
              <a:t>2</a:t>
            </a:r>
            <a:r>
              <a:rPr lang="es"/>
              <a:t>,..., a</a:t>
            </a:r>
            <a:r>
              <a:rPr b="1" baseline="-25000" lang="es"/>
              <a:t>r</a:t>
            </a:r>
            <a:r>
              <a:rPr lang="es"/>
              <a:t>) con 0≤a</a:t>
            </a:r>
            <a:r>
              <a:rPr b="1" baseline="-25000" lang="es"/>
              <a:t>i</a:t>
            </a:r>
            <a:r>
              <a:rPr lang="es"/>
              <a:t>≤p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Para un Universo de N elementos, r ≈ log N / log n, tomando un conjunto de bits en c/u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Vamos a definir el valor de la F. de Hash, dado algún vector x: con 0≤x</a:t>
            </a:r>
            <a:r>
              <a:rPr b="1" baseline="-25000" lang="es"/>
              <a:t>i</a:t>
            </a:r>
            <a:r>
              <a:rPr lang="es"/>
              <a:t>≤p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La representación de cada F de Hash cumple propiedad 2, es compacta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050" y="3758325"/>
            <a:ext cx="377190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Diseñando una Clase Universal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Podemos probar que defi</a:t>
            </a:r>
            <a:r>
              <a:rPr lang="es"/>
              <a:t>ni</a:t>
            </a:r>
            <a:r>
              <a:rPr lang="es"/>
              <a:t>r nuestra clase de funciones de esta manera y ver si la hace una Clase U</a:t>
            </a:r>
            <a:r>
              <a:rPr lang="es"/>
              <a:t>ni</a:t>
            </a:r>
            <a:r>
              <a:rPr lang="es"/>
              <a:t>versal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Tendríamos que ver que para cualquier par de elementos </a:t>
            </a:r>
            <a:r>
              <a:rPr lang="es"/>
              <a:t>x = (x</a:t>
            </a:r>
            <a:r>
              <a:rPr b="1" baseline="-25000" lang="es"/>
              <a:t>1</a:t>
            </a:r>
            <a:r>
              <a:rPr lang="es"/>
              <a:t>, x</a:t>
            </a:r>
            <a:r>
              <a:rPr b="1" baseline="-25000" lang="es"/>
              <a:t>2</a:t>
            </a:r>
            <a:r>
              <a:rPr lang="es"/>
              <a:t>,..., x</a:t>
            </a:r>
            <a:r>
              <a:rPr b="1" baseline="-25000" lang="es"/>
              <a:t>r</a:t>
            </a:r>
            <a:r>
              <a:rPr lang="es"/>
              <a:t>), y</a:t>
            </a:r>
            <a:r>
              <a:rPr lang="es"/>
              <a:t> = (y</a:t>
            </a:r>
            <a:r>
              <a:rPr b="1" baseline="-25000" lang="es"/>
              <a:t>1</a:t>
            </a:r>
            <a:r>
              <a:rPr lang="es"/>
              <a:t>, y</a:t>
            </a:r>
            <a:r>
              <a:rPr b="1" baseline="-25000" lang="es"/>
              <a:t>2</a:t>
            </a:r>
            <a:r>
              <a:rPr lang="es"/>
              <a:t>,..., y</a:t>
            </a:r>
            <a:r>
              <a:rPr b="1" baseline="-25000" lang="es"/>
              <a:t>r</a:t>
            </a:r>
            <a:r>
              <a:rPr lang="es"/>
              <a:t>) tenga como mucho una probabilidad 1/p de tener una colisión, que h(x)=h(y)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Siendo que x e y no son el mismo elemento, existe al menos un j tal que </a:t>
            </a:r>
            <a:r>
              <a:rPr lang="es"/>
              <a:t>x</a:t>
            </a:r>
            <a:r>
              <a:rPr b="1" baseline="-25000" lang="es"/>
              <a:t>j</a:t>
            </a:r>
            <a:r>
              <a:rPr lang="es"/>
              <a:t>≠</a:t>
            </a:r>
            <a:r>
              <a:rPr lang="es"/>
              <a:t>y</a:t>
            </a:r>
            <a:r>
              <a:rPr b="1" baseline="-25000" lang="es"/>
              <a:t>j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La selección de nuestra función h requiere seleccionar cada uno de los valores de a: </a:t>
            </a:r>
            <a:r>
              <a:rPr lang="es"/>
              <a:t>(a</a:t>
            </a:r>
            <a:r>
              <a:rPr b="1" baseline="-25000" lang="es"/>
              <a:t>1</a:t>
            </a:r>
            <a:r>
              <a:rPr lang="es"/>
              <a:t>, a</a:t>
            </a:r>
            <a:r>
              <a:rPr b="1" baseline="-25000" lang="es"/>
              <a:t>2</a:t>
            </a:r>
            <a:r>
              <a:rPr lang="es"/>
              <a:t>,..., a</a:t>
            </a:r>
            <a:r>
              <a:rPr b="1" baseline="-25000" lang="es"/>
              <a:t>r</a:t>
            </a:r>
            <a:r>
              <a:rPr lang="es"/>
              <a:t>). Nos centramos en la coordenada a</a:t>
            </a:r>
            <a:r>
              <a:rPr b="1" baseline="-25000" lang="es"/>
              <a:t>j</a:t>
            </a:r>
            <a:r>
              <a:rPr lang="es"/>
              <a:t> donde sabemos difieren x e 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Clase Universal de Funciones de Hash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71600"/>
            <a:ext cx="8520600" cy="15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Nos centramos en la coordenada a</a:t>
            </a:r>
            <a:r>
              <a:rPr b="1" baseline="-25000" lang="es"/>
              <a:t>j</a:t>
            </a:r>
            <a:r>
              <a:rPr lang="es"/>
              <a:t> donde sabemos difieren x e 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Sin importar el resto de los valores de a, la probabilidad de colisión sería 1/p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Veamos el valor de a</a:t>
            </a:r>
            <a:r>
              <a:rPr b="1" baseline="-25000" lang="es"/>
              <a:t>j</a:t>
            </a:r>
            <a:r>
              <a:rPr lang="es"/>
              <a:t>. La colisión se da cuando h</a:t>
            </a:r>
            <a:r>
              <a:rPr b="1" baseline="-25000" lang="es"/>
              <a:t>a</a:t>
            </a:r>
            <a:r>
              <a:rPr lang="es"/>
              <a:t>(x) = h</a:t>
            </a:r>
            <a:r>
              <a:rPr b="1" baseline="-25000" lang="es"/>
              <a:t>a</a:t>
            </a:r>
            <a:r>
              <a:rPr lang="es"/>
              <a:t>(y)</a:t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400" y="4027875"/>
            <a:ext cx="4829175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850" y="2684838"/>
            <a:ext cx="381000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5925" y="2684850"/>
            <a:ext cx="3809969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 U</a:t>
            </a:r>
            <a:r>
              <a:rPr lang="es"/>
              <a:t>ni</a:t>
            </a:r>
            <a:r>
              <a:rPr lang="es"/>
              <a:t>versal de Funciones de Hash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2248050"/>
            <a:ext cx="8520600" cy="10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Del lado derecho la ecuación da algún número </a:t>
            </a:r>
            <a:r>
              <a:rPr i="1" lang="es"/>
              <a:t>m mod p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¿Cuántos valores de </a:t>
            </a:r>
            <a:r>
              <a:rPr lang="es"/>
              <a:t>a</a:t>
            </a:r>
            <a:r>
              <a:rPr b="1" baseline="-25000" lang="es"/>
              <a:t>j</a:t>
            </a:r>
            <a:r>
              <a:rPr lang="es"/>
              <a:t> satisfacen esta igualdad?</a:t>
            </a:r>
            <a:endParaRPr i="1"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413" y="1171600"/>
            <a:ext cx="4829175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 Universal de Funciones de Hash</a:t>
            </a:r>
            <a:endParaRPr/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59888"/>
            <a:ext cx="8839202" cy="2023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 Universal de Funciones de Hash</a:t>
            </a:r>
            <a:endParaRPr/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419225"/>
            <a:ext cx="8382000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/>
          <p:nvPr/>
        </p:nvSpPr>
        <p:spPr>
          <a:xfrm>
            <a:off x="3750375" y="2956060"/>
            <a:ext cx="2525700" cy="28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3750375" y="3325087"/>
            <a:ext cx="2525700" cy="28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3750375" y="2574620"/>
            <a:ext cx="2525700" cy="28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3750375" y="2193195"/>
            <a:ext cx="2525700" cy="28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3750375" y="1834835"/>
            <a:ext cx="2525700" cy="28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 Universal de Funciones de Hash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2248050"/>
            <a:ext cx="8520600" cy="10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Del lado derecho la ecuación da algún número </a:t>
            </a:r>
            <a:r>
              <a:rPr i="1" lang="es"/>
              <a:t>m mod p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¿Cuántos valores de a</a:t>
            </a:r>
            <a:r>
              <a:rPr b="1" baseline="-25000" lang="es"/>
              <a:t>j</a:t>
            </a:r>
            <a:r>
              <a:rPr lang="es"/>
              <a:t> satisfacen esta igualdad?</a:t>
            </a:r>
            <a:endParaRPr i="1"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413" y="1171600"/>
            <a:ext cx="4829175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311713" y="3198987"/>
            <a:ext cx="8520600" cy="18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 z = y</a:t>
            </a:r>
            <a:r>
              <a:rPr b="1" baseline="-25000" lang="es"/>
              <a:t>j </a:t>
            </a:r>
            <a:r>
              <a:rPr lang="es"/>
              <a:t>- x</a:t>
            </a:r>
            <a:r>
              <a:rPr b="1" baseline="-25000" lang="es"/>
              <a:t>j</a:t>
            </a:r>
            <a:r>
              <a:rPr lang="es"/>
              <a:t>, la igualdad es a</a:t>
            </a:r>
            <a:r>
              <a:rPr b="1" baseline="-25000" lang="es"/>
              <a:t>j</a:t>
            </a:r>
            <a:r>
              <a:rPr lang="es"/>
              <a:t>z = m mod 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Siendo que 0≤a</a:t>
            </a:r>
            <a:r>
              <a:rPr b="1" baseline="-25000" lang="es"/>
              <a:t>j</a:t>
            </a:r>
            <a:r>
              <a:rPr lang="es"/>
              <a:t>≤p, y que p es un número primo, hay solamente un valor que satisface la igualdad, valor seleccionado con una probabilidad de 1/p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Y así concluye nuestra </a:t>
            </a:r>
            <a:r>
              <a:rPr b="1" lang="es"/>
              <a:t>clase</a:t>
            </a:r>
            <a:r>
              <a:rPr lang="es"/>
              <a:t> sobre </a:t>
            </a:r>
            <a:r>
              <a:rPr i="1" lang="es"/>
              <a:t>Clases Universales de Funciones de Hash</a:t>
            </a:r>
            <a:endParaRPr i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/>
              <a:t>Aplicación: Perfect Hashing</a:t>
            </a:r>
            <a:endParaRPr sz="2600"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311700" y="1171600"/>
            <a:ext cx="8520600" cy="36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FKS Hashing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Se aplica cuándo sabemos cuáles/cuántos elementos habrán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Tabla de tamaño número primo, con prob de </a:t>
            </a:r>
            <a:r>
              <a:rPr lang="es"/>
              <a:t>colisión</a:t>
            </a:r>
            <a:r>
              <a:rPr lang="es"/>
              <a:t> 1/</a:t>
            </a:r>
            <a:r>
              <a:rPr lang="es"/>
              <a:t>n</a:t>
            </a:r>
            <a:r>
              <a:rPr lang="es"/>
              <a:t> (Clase U</a:t>
            </a:r>
            <a:r>
              <a:rPr lang="es"/>
              <a:t>ni</a:t>
            </a:r>
            <a:r>
              <a:rPr lang="es"/>
              <a:t>versal)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Para los elementos que colisionan en una posición, se crea una nueva sub-tabla de Hash solamente para esos elementos, de tamaño </a:t>
            </a:r>
            <a:r>
              <a:rPr lang="es"/>
              <a:t>n</a:t>
            </a:r>
            <a:r>
              <a:rPr b="1" baseline="-25000" lang="es"/>
              <a:t>i</a:t>
            </a:r>
            <a:r>
              <a:rPr b="1" baseline="30000" lang="es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Para esta nueva sub-tabla se usa cualquier función de la clase universal que cumpla que no genera colisiones para los n</a:t>
            </a:r>
            <a:r>
              <a:rPr b="1" baseline="-25000" lang="es"/>
              <a:t>i</a:t>
            </a:r>
            <a:r>
              <a:rPr lang="es"/>
              <a:t> elementos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Al tomar cualquier función al azar de la clase, la cantidad esperada de colisiones es ½ . Encontraremos una función adecuada rápidamente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El espacio utilizado es aproximadamente 2n, es decir, O(n)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Vegas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019200"/>
            <a:ext cx="8520600" cy="38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metodología Las Vegas es una forma de crear algoritmos randomizados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Siempre dan la respuesta correcta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tiempo en encontrar la solución puede variar aleatoriamente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Ejemplos de Algoritmos tipo Las Vegas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Selección con pivote aleatorio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Quicksort con pivote aleatorio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Bogosort: mezcla todos los elementos del arreglo, revisa si están ordenados, en ese caso, termina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1600"/>
              </a:spcAft>
              <a:buSzPts val="1800"/>
              <a:buChar char="-"/>
            </a:pPr>
            <a:r>
              <a:rPr lang="es"/>
              <a:t>FKS Hashing (Perfect Hashing)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Montecarlo</a:t>
            </a:r>
            <a:endParaRPr/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metodología Montecarlo es otra forma de crear algoritmos randomizados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Puede dar la respuesta incorrecta con cierta probabilidad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tiempo en el que corre un algoritmo Montecarlo está siempre acotado polinomialmente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s"/>
              <a:t>Como parte de un esquema podemos correr un algoritmo Montecarlo varias veces para incrementar la confianza en la solución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Ejemplo, busquemos el m</a:t>
            </a:r>
            <a:r>
              <a:rPr lang="es"/>
              <a:t>áximo de un arreglo… en O(log n)</a:t>
            </a:r>
            <a:endParaRPr/>
          </a:p>
        </p:txBody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311700" y="1543325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</a:t>
            </a:r>
            <a:r>
              <a:rPr lang="es"/>
              <a:t>ómo podemos hacer?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¿Qué probabilidad de acertar tenemos? Más fácil, probabilidad de no acertar: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No acertar a la primera: (n-1)/n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Lo aplicamos log n veces, la probabilidad de no acertar es [(n-1)/n]</a:t>
            </a:r>
            <a:r>
              <a:rPr baseline="30000" lang="es"/>
              <a:t>log n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Entonces la probabilidad de acertar es: 1 - </a:t>
            </a:r>
            <a:r>
              <a:rPr lang="es"/>
              <a:t>[(n-1)/n]</a:t>
            </a:r>
            <a:r>
              <a:rPr baseline="30000" lang="es"/>
              <a:t>log n</a:t>
            </a:r>
            <a:r>
              <a:rPr lang="es"/>
              <a:t> , si n = 2</a:t>
            </a:r>
            <a:r>
              <a:rPr baseline="30000" lang="es"/>
              <a:t>5</a:t>
            </a:r>
            <a:r>
              <a:rPr lang="es"/>
              <a:t> → 0.27 … y a medida que n crece, se hace peor.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No es el mejor ejemplo, pero si uno fácil de entender.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Algoritmo de Karger: Ejemplo de Montecarlo</a:t>
            </a:r>
            <a:endParaRPr/>
          </a:p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la clase de Flujos vimos el problema del Corte Mínimo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El corte mínimo de un grafo es el peso total (mínimo) que necesitamos desconectar para que un grafo deje de estar conectado (conexo para grafos no dirigidos, débilmente conexo para dirigido).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Y también vimos una resolución para grafos que son red de flujo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El Algoritmo de Karger busca el corte mínimo de un grafo, en general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Algoritmo de Karger: Ejemplo de Montecarlo</a:t>
            </a:r>
            <a:endParaRPr/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311700" y="1171600"/>
            <a:ext cx="8520600" cy="20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algoritmo hace unas “contracciones”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Las aristas que contrae son al azar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s"/>
              <a:t>La probabilidad de que una corrida del algoritmo encuentre exactamente el corte mínimo es:</a:t>
            </a:r>
            <a:endParaRPr/>
          </a:p>
        </p:txBody>
      </p:sp>
      <p:pic>
        <p:nvPicPr>
          <p:cNvPr id="205" name="Google Shape;20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3300" y="2712025"/>
            <a:ext cx="557458" cy="61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311700" y="3152800"/>
            <a:ext cx="8520600" cy="10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Como parte del esquema, se hacen varias corridas aleatorias del algoritmo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s"/>
              <a:t>Repitiendo el algoritmo una cantidad de veces: </a:t>
            </a:r>
            <a:endParaRPr/>
          </a:p>
        </p:txBody>
      </p:sp>
      <p:pic>
        <p:nvPicPr>
          <p:cNvPr id="207" name="Google Shape;20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3613" y="3648025"/>
            <a:ext cx="981075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311700" y="4152400"/>
            <a:ext cx="8520600" cy="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1600"/>
              </a:spcAft>
              <a:buSzPts val="1800"/>
              <a:buChar char="●"/>
            </a:pPr>
            <a:r>
              <a:rPr lang="es"/>
              <a:t>Y </a:t>
            </a:r>
            <a:r>
              <a:rPr lang="es"/>
              <a:t>quedándose</a:t>
            </a:r>
            <a:r>
              <a:rPr lang="es"/>
              <a:t> siempre con el mejor resultado, la probabilidad de que </a:t>
            </a:r>
            <a:r>
              <a:rPr b="1" lang="es"/>
              <a:t>no</a:t>
            </a:r>
            <a:r>
              <a:rPr lang="es"/>
              <a:t> se encuentre el Corte Mínimo es acotada por 1/n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Heurísticas</a:t>
            </a:r>
            <a:endParaRPr/>
          </a:p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311700" y="1171600"/>
            <a:ext cx="8520600" cy="38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Métodos para aproximarse más rápidamente a una solución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Usado en casos de algoritmos de búsqueda u optimización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función heurística es una función que permite rankear diferentes opciones basada en la información disponible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algoritmos Greedy pueden verse como heurísticas que tratan de aproximar la solución óptima de un problema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s"/>
              <a:t>Ejemplo de problema de la mochila: heurística de guardar primero los elementos con mejor función valor/peso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Algoritmo A*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171600"/>
            <a:ext cx="8520600" cy="35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trata de una extensión al Algoritmo de </a:t>
            </a:r>
            <a:r>
              <a:rPr lang="es"/>
              <a:t>Dijkstra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Algoritmo de Dijkstra encuentra todos los caminos mínimos desde un vértice a todos los demás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Algoritmo A* busca el camino mínimo hasta un solo destino. NO busca un camino más corto. Encuentra el camino, pero más rápido.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Adicionalmente, intenta encontrar ese camino lo más rápido posible con el uso de heurísticas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s"/>
              <a:t>Realiza búsquedas informadas, siempre buscando primero el mejor caso según la Heurística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7" title="A_Star_Algorithm.webm.720p.vp9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-8575"/>
            <a:ext cx="8839200" cy="2596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740340"/>
            <a:ext cx="8839199" cy="2222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Algoritmo A*</a:t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311700" y="1019200"/>
            <a:ext cx="8520600" cy="40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Empezando por el vértice de origen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Evaluará las posibilidades que tiene, empezando primero por aquella que tenga mejores posibilidades de dar buen resultado según la Heurística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600"/>
              <a:t>H(n): función Heurística de costo estimado hasta el vértice destino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Se elige el camino con mejor suma g(n), distancia ya calculada, más h(n)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Mantiene este valor en el Heap (como Dijkstra),  y siempre continúa la búsqueda por el mejor </a:t>
            </a:r>
            <a:r>
              <a:rPr lang="es" sz="1600"/>
              <a:t>g(n)+h(n)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600"/>
              <a:t>h(destino) debería ser 0. Al desencolar el destino del Heap, encontró el camino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600"/>
              <a:t>Si la Heurística es Admisible, el camino encontrado es el óptimo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9588" y="479350"/>
            <a:ext cx="4184800" cy="4194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9588" y="479338"/>
            <a:ext cx="4184825" cy="41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Heurística Admisible</a:t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311700" y="1171600"/>
            <a:ext cx="8520600" cy="21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heurística es Admisible si nunca </a:t>
            </a:r>
            <a:r>
              <a:rPr lang="es"/>
              <a:t>sobreestima</a:t>
            </a:r>
            <a:r>
              <a:rPr lang="es"/>
              <a:t> el costo entre dos vértices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Siempre que A* haya completado un camino real hasta el destino, ese camino debió ser mejor que un camino </a:t>
            </a:r>
            <a:r>
              <a:rPr lang="es"/>
              <a:t>alternativo</a:t>
            </a:r>
            <a:r>
              <a:rPr lang="es"/>
              <a:t> con una Heurística optimista (ya que nunca se sobreestima un costo al destino).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Por lo tanto, al desencolar el destino el algoritmo se termina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Distancia Manhattan o Geometría del Taxista</a:t>
            </a:r>
            <a:endParaRPr/>
          </a:p>
        </p:txBody>
      </p:sp>
      <p:sp>
        <p:nvSpPr>
          <p:cNvPr id="250" name="Google Shape;250;p41"/>
          <p:cNvSpPr txBox="1"/>
          <p:nvPr>
            <p:ph idx="1" type="body"/>
          </p:nvPr>
        </p:nvSpPr>
        <p:spPr>
          <a:xfrm>
            <a:off x="311700" y="1171600"/>
            <a:ext cx="4623900" cy="3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Puede utilizarse como función Heurística en casos donde la distancia </a:t>
            </a:r>
            <a:r>
              <a:rPr lang="es"/>
              <a:t>euclídea</a:t>
            </a:r>
            <a:r>
              <a:rPr lang="es"/>
              <a:t> no sea lo suficientemente fiel al problema: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Movimiento en calles de Manhattan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En dominios donde los movimientos son solamente verticales / horizontales</a:t>
            </a:r>
            <a:endParaRPr/>
          </a:p>
        </p:txBody>
      </p:sp>
      <p:pic>
        <p:nvPicPr>
          <p:cNvPr id="251" name="Google Shape;25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2650" y="1058225"/>
            <a:ext cx="3829650" cy="38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9464" y="3474650"/>
            <a:ext cx="1408375" cy="141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Distancia de Chebyshev</a:t>
            </a:r>
            <a:endParaRPr/>
          </a:p>
        </p:txBody>
      </p:sp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311700" y="117160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Para casos donde el movimiento diagonal también está permitido</a:t>
            </a:r>
            <a:endParaRPr/>
          </a:p>
        </p:txBody>
      </p:sp>
      <p:pic>
        <p:nvPicPr>
          <p:cNvPr id="259" name="Google Shape;2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3288" y="1672200"/>
            <a:ext cx="3017436" cy="30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Hill Climbing</a:t>
            </a:r>
            <a:endParaRPr/>
          </a:p>
        </p:txBody>
      </p:sp>
      <p:pic>
        <p:nvPicPr>
          <p:cNvPr id="265" name="Google Shape;26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7175" y="1215525"/>
            <a:ext cx="5055125" cy="245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3"/>
          <p:cNvSpPr txBox="1"/>
          <p:nvPr>
            <p:ph idx="1" type="body"/>
          </p:nvPr>
        </p:nvSpPr>
        <p:spPr>
          <a:xfrm>
            <a:off x="311700" y="1171600"/>
            <a:ext cx="3465600" cy="3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Búsqueda de optimización local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Tomar una posición inicial aleatoria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Hacer movimientos en dirección de mejorar la optimización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Algoritmo Greedy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Encuentra óptimo local pero no necesariamente el global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Tabu Search</a:t>
            </a:r>
            <a:endParaRPr/>
          </a:p>
        </p:txBody>
      </p:sp>
      <p:sp>
        <p:nvSpPr>
          <p:cNvPr id="272" name="Google Shape;272;p4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Cuando llegamos a una potencial soluci</a:t>
            </a:r>
            <a:r>
              <a:rPr lang="es"/>
              <a:t>ón, la marcamos en una lista, si llegamos nuevamente a esa solución nos movemos de forma aleatoria a otro punto y seguimos adelante (para aumentar el espacio de soluciones analizadas).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Now, what if two solutions had babies?</a:t>
            </a:r>
            <a:endParaRPr/>
          </a:p>
        </p:txBody>
      </p:sp>
      <p:pic>
        <p:nvPicPr>
          <p:cNvPr id="278" name="Google Shape;27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336" y="1210625"/>
            <a:ext cx="4791328" cy="378047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5"/>
          <p:cNvSpPr txBox="1"/>
          <p:nvPr/>
        </p:nvSpPr>
        <p:spPr>
          <a:xfrm>
            <a:off x="3474000" y="2378855"/>
            <a:ext cx="10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Solución 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problema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0" name="Google Shape;280;p45"/>
          <p:cNvSpPr txBox="1"/>
          <p:nvPr/>
        </p:nvSpPr>
        <p:spPr>
          <a:xfrm>
            <a:off x="4734822" y="2089744"/>
            <a:ext cx="109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Solución </a:t>
            </a: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problema</a:t>
            </a: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1" name="Google Shape;281;p45"/>
          <p:cNvSpPr txBox="1"/>
          <p:nvPr/>
        </p:nvSpPr>
        <p:spPr>
          <a:xfrm>
            <a:off x="5843244" y="3842344"/>
            <a:ext cx="109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Mejor </a:t>
            </a:r>
            <a:r>
              <a:rPr lang="es" sz="1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Solución </a:t>
            </a: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problema</a:t>
            </a: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2" name="Google Shape;282;p45"/>
          <p:cNvSpPr txBox="1"/>
          <p:nvPr/>
        </p:nvSpPr>
        <p:spPr>
          <a:xfrm>
            <a:off x="2287783" y="3613750"/>
            <a:ext cx="92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Mejor Solución </a:t>
            </a:r>
            <a:endParaRPr sz="10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problema</a:t>
            </a:r>
            <a:endParaRPr sz="10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3" name="Google Shape;283;p45"/>
          <p:cNvSpPr txBox="1"/>
          <p:nvPr/>
        </p:nvSpPr>
        <p:spPr>
          <a:xfrm>
            <a:off x="1413000" y="1349100"/>
            <a:ext cx="239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Oh, yes, the traditional family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Algoritmos gen</a:t>
            </a:r>
            <a:r>
              <a:rPr lang="es"/>
              <a:t>éticos</a:t>
            </a:r>
            <a:endParaRPr/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otras metodolog</a:t>
            </a:r>
            <a:r>
              <a:rPr lang="es"/>
              <a:t>ías, aplicamos el algoritmo varias veces sin necesidad de usar información previa de base.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Los algoritmos genéticos tratan de usar la información obtenida en </a:t>
            </a:r>
            <a:r>
              <a:rPr i="1" lang="es"/>
              <a:t>generaciones </a:t>
            </a:r>
            <a:r>
              <a:rPr lang="es"/>
              <a:t>anteriores → se basan en procesos evolutivos.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Individuos: un estado posible de solución al problema. Iniciamos con </a:t>
            </a:r>
            <a:r>
              <a:rPr i="1" lang="es"/>
              <a:t>p</a:t>
            </a:r>
            <a:r>
              <a:rPr lang="es"/>
              <a:t> individuos. Los individuos iniciales se pueden obtener al azar o con un procesamiento previo.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Iteración: una generación. La iteración </a:t>
            </a:r>
            <a:r>
              <a:rPr i="1" lang="es"/>
              <a:t>i+1</a:t>
            </a:r>
            <a:r>
              <a:rPr lang="es"/>
              <a:t> es descendiente de la iteración </a:t>
            </a:r>
            <a:r>
              <a:rPr i="1" lang="es"/>
              <a:t>i</a:t>
            </a:r>
            <a:r>
              <a:rPr lang="es"/>
              <a:t>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Caracterizaci</a:t>
            </a:r>
            <a:r>
              <a:rPr lang="es"/>
              <a:t>ón de un individuo (simplificado)</a:t>
            </a:r>
            <a:endParaRPr/>
          </a:p>
        </p:txBody>
      </p:sp>
      <p:sp>
        <p:nvSpPr>
          <p:cNvPr id="295" name="Google Shape;295;p4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individuo va a tener: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Cromosomas: expresan su naturaleza interna (vector con estado de soluci</a:t>
            </a:r>
            <a:r>
              <a:rPr lang="es"/>
              <a:t>ón).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Este tiene genes, que representa a una variable del problema.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Los genes pueden tomar diferentes alelos (valores posibles, válidos)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Los individuos </a:t>
            </a:r>
            <a:r>
              <a:rPr i="1" lang="es"/>
              <a:t>exitosos</a:t>
            </a:r>
            <a:r>
              <a:rPr lang="es"/>
              <a:t> deberían poder llevar sus </a:t>
            </a:r>
            <a:r>
              <a:rPr i="1" lang="es"/>
              <a:t>genes</a:t>
            </a:r>
            <a:r>
              <a:rPr lang="es"/>
              <a:t> a las siguientes generaciones, y si tenemos un grupo de individuos con un patrón común exitoso, esto debería ser más probable.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Éxito de un individuo</a:t>
            </a:r>
            <a:endParaRPr/>
          </a:p>
        </p:txBody>
      </p:sp>
      <p:sp>
        <p:nvSpPr>
          <p:cNvPr id="301" name="Google Shape;301;p4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Funci</a:t>
            </a:r>
            <a:r>
              <a:rPr lang="es"/>
              <a:t>ón de aptitud (fitness), que sería muy similar a lo que vimos de función objetivo en PL.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Operadores gen</a:t>
            </a:r>
            <a:r>
              <a:rPr lang="es"/>
              <a:t>éticos (simplificado)</a:t>
            </a:r>
            <a:endParaRPr/>
          </a:p>
        </p:txBody>
      </p:sp>
      <p:sp>
        <p:nvSpPr>
          <p:cNvPr id="307" name="Google Shape;307;p4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Selecci</a:t>
            </a:r>
            <a:r>
              <a:rPr lang="es"/>
              <a:t>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Recombinación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Mutación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Qué individuos sobreviven a una generación. Se eligen al x% más apto según la función de aptitud. </a:t>
            </a:r>
            <a:endParaRPr/>
          </a:p>
        </p:txBody>
      </p:sp>
      <p:sp>
        <p:nvSpPr>
          <p:cNvPr id="313" name="Google Shape;313;p5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Selecci</a:t>
            </a:r>
            <a:r>
              <a:rPr lang="es"/>
              <a:t>ón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Recombinaci</a:t>
            </a:r>
            <a:r>
              <a:rPr lang="es"/>
              <a:t>ón</a:t>
            </a:r>
            <a:endParaRPr/>
          </a:p>
        </p:txBody>
      </p:sp>
      <p:sp>
        <p:nvSpPr>
          <p:cNvPr id="319" name="Google Shape;319;p5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Generamos nueva generación en base a la selección.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Opción 1, más sencilla: reproducción asexual (individuo con mismos cromosomas → misma instancia, digamos).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Opción 2: reproducción sexual: agarramos dos individuos, los llevamos al boliche más turbio que conozcan, y esperamos que suceda lo inevitable. Se combinan los cromosomas (ej: se eligen genes al azar de cada uno, tal vez ponderando por cuál progenitor es más apto; también se puede hacer combinando al azar y los que no se eligieron forman otra instancia). Técnicamente… se podría hacer entre 3 o más. El emparejamiento puede ser al azar, puede preferirse los que tengan mayor aptitud, los que más con menos, etc.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Mutaci</a:t>
            </a:r>
            <a:r>
              <a:rPr lang="es"/>
              <a:t>ón</a:t>
            </a:r>
            <a:endParaRPr/>
          </a:p>
        </p:txBody>
      </p:sp>
      <p:sp>
        <p:nvSpPr>
          <p:cNvPr id="325" name="Google Shape;325;p5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Modificaci</a:t>
            </a:r>
            <a:r>
              <a:rPr lang="es"/>
              <a:t>ón aleatoria de los genes de los individuos.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Tomamos un valor umbral entre 0 y 1, y si se llega al valor umbral se modifica el valor (o ubicación) de un gen.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Demo: ordenamiento e IS</a:t>
            </a:r>
            <a:endParaRPr/>
          </a:p>
        </p:txBody>
      </p:sp>
      <p:sp>
        <p:nvSpPr>
          <p:cNvPr id="331" name="Google Shape;331;p5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Random Walks</a:t>
            </a:r>
            <a:endParaRPr/>
          </a:p>
        </p:txBody>
      </p:sp>
      <p:sp>
        <p:nvSpPr>
          <p:cNvPr id="337" name="Google Shape;337;p54"/>
          <p:cNvSpPr txBox="1"/>
          <p:nvPr>
            <p:ph idx="1" type="body"/>
          </p:nvPr>
        </p:nvSpPr>
        <p:spPr>
          <a:xfrm>
            <a:off x="311700" y="1171600"/>
            <a:ext cx="8520600" cy="3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Random Walk es un proceso aleatorio que describe un camino que consiste en dar pasos al azar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Se elige el próximo vértice a utilizar en el camino de forma aleatoria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Un Random Walk no sería necesariamente una buena manera de crear un espacio de búsqueda para un objetivo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Pero puede darnos varias ideas respecto a cómo es la red modelada por el grafo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Son una buena medida de </a:t>
            </a:r>
            <a:r>
              <a:rPr i="1" lang="es"/>
              <a:t>Similaridad</a:t>
            </a:r>
            <a:r>
              <a:rPr lang="es"/>
              <a:t> entre vértices y </a:t>
            </a:r>
            <a:r>
              <a:rPr i="1" lang="es"/>
              <a:t>Centralidad</a:t>
            </a:r>
            <a:endParaRPr i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Node/Graph Embeddings</a:t>
            </a:r>
            <a:endParaRPr/>
          </a:p>
        </p:txBody>
      </p:sp>
      <p:pic>
        <p:nvPicPr>
          <p:cNvPr id="343" name="Google Shape;34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8839200" cy="283053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5"/>
          <p:cNvSpPr txBox="1"/>
          <p:nvPr/>
        </p:nvSpPr>
        <p:spPr>
          <a:xfrm>
            <a:off x="464400" y="4296200"/>
            <a:ext cx="821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Similaridad de embedding → Similaridad del nodo en la red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idea entre embeddings y RW</a:t>
            </a:r>
            <a:endParaRPr/>
          </a:p>
        </p:txBody>
      </p:sp>
      <p:sp>
        <p:nvSpPr>
          <p:cNvPr id="350" name="Google Shape;350;p5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Podemos decir que: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								Probabilidad que </a:t>
            </a:r>
            <a:r>
              <a:rPr i="1" lang="es"/>
              <a:t>u</a:t>
            </a:r>
            <a:r>
              <a:rPr lang="es"/>
              <a:t> y </a:t>
            </a:r>
            <a:r>
              <a:rPr i="1" lang="es"/>
              <a:t>v</a:t>
            </a:r>
            <a:r>
              <a:rPr lang="es"/>
              <a:t> ocurran en un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								random walk sobre la red</a:t>
            </a:r>
            <a:endParaRPr/>
          </a:p>
        </p:txBody>
      </p:sp>
      <p:pic>
        <p:nvPicPr>
          <p:cNvPr id="351" name="Google Shape;35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5850" y="2202850"/>
            <a:ext cx="1320625" cy="9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Entonces...</a:t>
            </a:r>
            <a:endParaRPr/>
          </a:p>
        </p:txBody>
      </p:sp>
      <p:sp>
        <p:nvSpPr>
          <p:cNvPr id="357" name="Google Shape;357;p5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Estimamos esa probabilidad, haciendo random walks. Empezamos desde el vértice </a:t>
            </a:r>
            <a:r>
              <a:rPr i="1" lang="es"/>
              <a:t>u</a:t>
            </a:r>
            <a:r>
              <a:rPr lang="es"/>
              <a:t> y vemos en cuántos RW aparece </a:t>
            </a:r>
            <a:r>
              <a:rPr i="1" lang="es"/>
              <a:t>v</a:t>
            </a:r>
            <a:r>
              <a:rPr lang="es"/>
              <a:t>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Sabiendo que el producto interno es igual al coseno del ángulo entre los vectores, optimizamos los embeddings para que quede semejante a esa frecuencia obtenida.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Pará, ¿por qué RW?</a:t>
            </a:r>
            <a:endParaRPr/>
          </a:p>
        </p:txBody>
      </p:sp>
      <p:sp>
        <p:nvSpPr>
          <p:cNvPr id="363" name="Google Shape;363;p5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Muy simple de programar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Muy eficiente (no necesitamos tener en cuenta todos los pares de nodos)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Expresividad: nos permite tener una definición clara de similaridad mientras usa un montón de conceptos estocásticos por detrás → Da información local y de mayor orden del vecindario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Potencial problema: dos nodos que estén muy alejados tal vez sean muy similares (roles?).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la Centralidad?</a:t>
            </a:r>
            <a:endParaRPr/>
          </a:p>
        </p:txBody>
      </p:sp>
      <p:sp>
        <p:nvSpPr>
          <p:cNvPr id="369" name="Google Shape;369;p59"/>
          <p:cNvSpPr txBox="1"/>
          <p:nvPr>
            <p:ph idx="1" type="body"/>
          </p:nvPr>
        </p:nvSpPr>
        <p:spPr>
          <a:xfrm>
            <a:off x="311700" y="1171600"/>
            <a:ext cx="8520600" cy="31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medida de los</a:t>
            </a:r>
            <a:r>
              <a:rPr lang="es"/>
              <a:t> vértices más importantes o influyentes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Dependiendo de la red, o hasta de la aplicación que se le quiere dar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¿Hay una única forma de medirla?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Centralidad de Grado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Centralidad de Proximidad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Centralidad basada en caminos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PageRank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Random Walks y Centralidad</a:t>
            </a:r>
            <a:endParaRPr/>
          </a:p>
        </p:txBody>
      </p:sp>
      <p:sp>
        <p:nvSpPr>
          <p:cNvPr id="375" name="Google Shape;375;p60"/>
          <p:cNvSpPr txBox="1"/>
          <p:nvPr>
            <p:ph idx="1" type="body"/>
          </p:nvPr>
        </p:nvSpPr>
        <p:spPr>
          <a:xfrm>
            <a:off x="311700" y="1552600"/>
            <a:ext cx="85206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Podemos realizar una aproximación realizando muchos random walks, y contando la cantidad de veces que un vértice en particular aparece en los caminos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Si la red es pesada, se puede ponderar </a:t>
            </a:r>
            <a:r>
              <a:rPr lang="es"/>
              <a:t>por pesos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1"/>
          <p:cNvSpPr txBox="1"/>
          <p:nvPr>
            <p:ph idx="1" type="body"/>
          </p:nvPr>
        </p:nvSpPr>
        <p:spPr>
          <a:xfrm>
            <a:off x="311700" y="1171600"/>
            <a:ext cx="8520600" cy="25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d: coeficiente de amortiguación (usualmente 0.85)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El primer término está relacionado con la probabilidad de dejar de navegar entre links y moverse al azar (sirve para eliminar caminos sin salida en estos recorridos).</a:t>
            </a:r>
            <a:endParaRPr/>
          </a:p>
        </p:txBody>
      </p:sp>
      <p:sp>
        <p:nvSpPr>
          <p:cNvPr id="381" name="Google Shape;381;p6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PageRank</a:t>
            </a:r>
            <a:endParaRPr/>
          </a:p>
        </p:txBody>
      </p:sp>
      <p:pic>
        <p:nvPicPr>
          <p:cNvPr id="382" name="Google Shape;38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3124" y="1286501"/>
            <a:ext cx="3917751" cy="82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PageRank Personalizado</a:t>
            </a:r>
            <a:endParaRPr/>
          </a:p>
        </p:txBody>
      </p:sp>
      <p:sp>
        <p:nvSpPr>
          <p:cNvPr id="388" name="Google Shape;388;p62"/>
          <p:cNvSpPr txBox="1"/>
          <p:nvPr>
            <p:ph idx="1" type="body"/>
          </p:nvPr>
        </p:nvSpPr>
        <p:spPr>
          <a:xfrm>
            <a:off x="311700" y="1171600"/>
            <a:ext cx="8520600" cy="16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Empezamos desde uno o más vértices (vamos eligiendo al azar de los de interés).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Hacemos un random walk desde dicho vértice elegido.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Transferimos valor de pagerank, considerando el grado (total, o de salida si es dirigido), dividiendo la transferencia por la cantidad de adyacentes</a:t>
            </a:r>
            <a:endParaRPr/>
          </a:p>
        </p:txBody>
      </p:sp>
      <p:pic>
        <p:nvPicPr>
          <p:cNvPr id="389" name="Google Shape;389;p62"/>
          <p:cNvPicPr preferRelativeResize="0"/>
          <p:nvPr/>
        </p:nvPicPr>
        <p:blipFill rotWithShape="1">
          <a:blip r:embed="rId3">
            <a:alphaModFix/>
          </a:blip>
          <a:srcRect b="2410" l="0" r="1623" t="0"/>
          <a:stretch/>
        </p:blipFill>
        <p:spPr>
          <a:xfrm>
            <a:off x="3155950" y="2810800"/>
            <a:ext cx="2786075" cy="216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Ya que estamos… SimRank</a:t>
            </a:r>
            <a:endParaRPr/>
          </a:p>
        </p:txBody>
      </p:sp>
      <p:sp>
        <p:nvSpPr>
          <p:cNvPr id="395" name="Google Shape;395;p63"/>
          <p:cNvSpPr txBox="1"/>
          <p:nvPr>
            <p:ph idx="1" type="body"/>
          </p:nvPr>
        </p:nvSpPr>
        <p:spPr>
          <a:xfrm>
            <a:off x="311700" y="1171600"/>
            <a:ext cx="8520600" cy="13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Dos objetos son similares si se relacionan con objetos similares → Una forma sencilla de medir similitud entre objetos es aplicar N Random Walks de largo L desde el vértice de interés, y ver quién tiene mayor transferencia de PageRank.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Memes post parcial</a:t>
            </a:r>
            <a:endParaRPr/>
          </a:p>
        </p:txBody>
      </p:sp>
      <p:pic>
        <p:nvPicPr>
          <p:cNvPr id="401" name="Google Shape;40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450" y="1297075"/>
            <a:ext cx="3684600" cy="19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1450" y="1210625"/>
            <a:ext cx="4760150" cy="2673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Memes post parcial</a:t>
            </a:r>
            <a:endParaRPr/>
          </a:p>
        </p:txBody>
      </p:sp>
      <p:pic>
        <p:nvPicPr>
          <p:cNvPr id="408" name="Google Shape;40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4207" y="1210625"/>
            <a:ext cx="5317393" cy="3410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6"/>
          <p:cNvSpPr txBox="1"/>
          <p:nvPr>
            <p:ph idx="1" type="body"/>
          </p:nvPr>
        </p:nvSpPr>
        <p:spPr>
          <a:xfrm>
            <a:off x="311700" y="1171600"/>
            <a:ext cx="4926900" cy="1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Aprobación por ejercicio: 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PL</a:t>
            </a:r>
            <a:r>
              <a:rPr lang="es" sz="1400"/>
              <a:t>: </a:t>
            </a:r>
            <a:r>
              <a:rPr lang="es"/>
              <a:t>13%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Flujo: 16%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Reducciones</a:t>
            </a:r>
            <a:r>
              <a:rPr lang="es" sz="1400"/>
              <a:t>: </a:t>
            </a:r>
            <a:r>
              <a:rPr lang="es"/>
              <a:t>9%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Aproximaciones</a:t>
            </a:r>
            <a:r>
              <a:rPr lang="es" sz="1400"/>
              <a:t>: </a:t>
            </a:r>
            <a:r>
              <a:rPr lang="es"/>
              <a:t>17</a:t>
            </a:r>
            <a:r>
              <a:rPr lang="es" sz="1400"/>
              <a:t>%</a:t>
            </a:r>
            <a:endParaRPr sz="1400"/>
          </a:p>
        </p:txBody>
      </p:sp>
      <p:sp>
        <p:nvSpPr>
          <p:cNvPr id="414" name="Google Shape;414;p6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Algunos numeritos del examen</a:t>
            </a:r>
            <a:endParaRPr/>
          </a:p>
        </p:txBody>
      </p:sp>
      <p:sp>
        <p:nvSpPr>
          <p:cNvPr id="415" name="Google Shape;415;p66"/>
          <p:cNvSpPr txBox="1"/>
          <p:nvPr/>
        </p:nvSpPr>
        <p:spPr>
          <a:xfrm>
            <a:off x="309584" y="2273511"/>
            <a:ext cx="6682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Si nos centramos en quienes hicieron el ejercicio: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PL: 14%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Flujo: 22%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Reducciones: 21%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Aproximaciones: 39%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Estado actual (2026c1)</a:t>
            </a:r>
            <a:endParaRPr/>
          </a:p>
        </p:txBody>
      </p:sp>
      <p:sp>
        <p:nvSpPr>
          <p:cNvPr id="421" name="Google Shape;421;p67"/>
          <p:cNvSpPr txBox="1"/>
          <p:nvPr>
            <p:ph idx="1" type="body"/>
          </p:nvPr>
        </p:nvSpPr>
        <p:spPr>
          <a:xfrm>
            <a:off x="311700" y="1171600"/>
            <a:ext cx="8520600" cy="21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 0 ejercicios aprobados: 25%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 1: 41%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 2: 16%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 3: 12%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 4: 2%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 5: 3%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 6 o más: 1%</a:t>
            </a:r>
            <a:endParaRPr/>
          </a:p>
        </p:txBody>
      </p:sp>
      <p:cxnSp>
        <p:nvCxnSpPr>
          <p:cNvPr id="422" name="Google Shape;422;p67"/>
          <p:cNvCxnSpPr/>
          <p:nvPr/>
        </p:nvCxnSpPr>
        <p:spPr>
          <a:xfrm>
            <a:off x="4158025" y="1426350"/>
            <a:ext cx="11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" name="Google Shape;423;p67"/>
          <p:cNvCxnSpPr/>
          <p:nvPr/>
        </p:nvCxnSpPr>
        <p:spPr>
          <a:xfrm flipH="1" rot="10800000">
            <a:off x="2206775" y="1703110"/>
            <a:ext cx="30405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" name="Google Shape;424;p67"/>
          <p:cNvCxnSpPr/>
          <p:nvPr/>
        </p:nvCxnSpPr>
        <p:spPr>
          <a:xfrm flipH="1" rot="10800000">
            <a:off x="2206775" y="1964687"/>
            <a:ext cx="30405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p67"/>
          <p:cNvCxnSpPr/>
          <p:nvPr/>
        </p:nvCxnSpPr>
        <p:spPr>
          <a:xfrm flipH="1" rot="10800000">
            <a:off x="2206775" y="2219221"/>
            <a:ext cx="30405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" name="Google Shape;426;p67"/>
          <p:cNvCxnSpPr/>
          <p:nvPr/>
        </p:nvCxnSpPr>
        <p:spPr>
          <a:xfrm flipH="1" rot="10800000">
            <a:off x="2206775" y="2499688"/>
            <a:ext cx="30405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" name="Google Shape;427;p67"/>
          <p:cNvCxnSpPr/>
          <p:nvPr/>
        </p:nvCxnSpPr>
        <p:spPr>
          <a:xfrm flipH="1" rot="10800000">
            <a:off x="2206775" y="2769910"/>
            <a:ext cx="30405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8" name="Google Shape;428;p67"/>
          <p:cNvCxnSpPr/>
          <p:nvPr/>
        </p:nvCxnSpPr>
        <p:spPr>
          <a:xfrm flipH="1" rot="10800000">
            <a:off x="2816375" y="3060176"/>
            <a:ext cx="24222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29" name="Google Shape;42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5325" y="2156990"/>
            <a:ext cx="2422200" cy="1728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4899" y="1888975"/>
            <a:ext cx="3069605" cy="16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4894" y="1486200"/>
            <a:ext cx="1912275" cy="24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1188" y="818775"/>
            <a:ext cx="2772224" cy="312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1200" y="1171600"/>
            <a:ext cx="1799975" cy="17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67"/>
          <p:cNvPicPr preferRelativeResize="0"/>
          <p:nvPr/>
        </p:nvPicPr>
        <p:blipFill rotWithShape="1">
          <a:blip r:embed="rId8">
            <a:alphaModFix/>
          </a:blip>
          <a:srcRect b="0" l="6474" r="5085" t="0"/>
          <a:stretch/>
        </p:blipFill>
        <p:spPr>
          <a:xfrm>
            <a:off x="5401200" y="490600"/>
            <a:ext cx="3677686" cy="23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7"/>
          <p:cNvSpPr/>
          <p:nvPr/>
        </p:nvSpPr>
        <p:spPr>
          <a:xfrm>
            <a:off x="6777325" y="2316725"/>
            <a:ext cx="1469700" cy="29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36" name="Google Shape;436;p67"/>
          <p:cNvSpPr txBox="1"/>
          <p:nvPr/>
        </p:nvSpPr>
        <p:spPr>
          <a:xfrm>
            <a:off x="6723863" y="2298011"/>
            <a:ext cx="184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CUATRI MUY DIVERTIDO"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7" name="Google Shape;437;p6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04901" y="471850"/>
            <a:ext cx="2873510" cy="19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