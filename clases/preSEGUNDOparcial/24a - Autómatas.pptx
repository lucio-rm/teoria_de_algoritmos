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y="5143500" cx="9144000"/>
  <p:notesSz cx="6858000" cy="9144000"/>
  <p:embeddedFontLst>
    <p:embeddedFont>
      <p:font typeface="Proxima Nova"/>
      <p:regular r:id="rId43"/>
      <p:bold r:id="rId44"/>
      <p:italic r:id="rId45"/>
      <p:boldItalic r:id="rId46"/>
    </p:embeddedFont>
    <p:embeddedFont>
      <p:font typeface="Old Standard TT"/>
      <p:regular r:id="rId47"/>
      <p:bold r:id="rId48"/>
      <p:italic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font" Target="fonts/ProximaNova-bold.fntdata"/><Relationship Id="rId43" Type="http://schemas.openxmlformats.org/officeDocument/2006/relationships/font" Target="fonts/ProximaNova-regular.fntdata"/><Relationship Id="rId46" Type="http://schemas.openxmlformats.org/officeDocument/2006/relationships/font" Target="fonts/ProximaNova-boldItalic.fntdata"/><Relationship Id="rId45" Type="http://schemas.openxmlformats.org/officeDocument/2006/relationships/font" Target="fonts/ProximaNova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OldStandardTT-bold.fntdata"/><Relationship Id="rId47" Type="http://schemas.openxmlformats.org/officeDocument/2006/relationships/font" Target="fonts/OldStandardTT-regular.fntdata"/><Relationship Id="rId49" Type="http://schemas.openxmlformats.org/officeDocument/2006/relationships/font" Target="fonts/OldStandardT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9b03970df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9b03970df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4399293b1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4399293b1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4b650a338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4b650a338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4b650a338d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4b650a338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4b650a338d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4b650a338d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4b650a338d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4b650a338d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4b650a338d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4b650a338d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1ec32906211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1ec32906211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4b650a338d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4b650a338d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4b650a338d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24b650a338d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4b650a338d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4b650a338d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73a1dca708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273a1dca70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4b650a338d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24b650a338d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4b650a338d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24b650a338d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24b650a338d_0_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24b650a338d_0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1ec32906211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1ec32906211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24b650a338d_0_3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24b650a338d_0_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24b650a338d_0_3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24b650a338d_0_3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1ec32906211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1ec32906211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24b650a338d_0_3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24b650a338d_0_3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24b650a338d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24b650a338d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24b650a338d_0_3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24b650a338d_0_3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24b650a338d_0_3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24b650a338d_0_3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24b650a338d_0_3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24b650a338d_0_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24b650a338d_0_3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24b650a338d_0_3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24b650a338d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24b650a338d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24b650a338d_0_4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24b650a338d_0_4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24b650a338d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24b650a338d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24b650a338d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24b650a338d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24b650a338d_0_4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24b650a338d_0_4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24b650a338d_0_4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3" name="Google Shape;543;g24b650a338d_0_4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24b650a338d_0_4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24b650a338d_0_4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2ad03febb7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5" name="Google Shape;555;g2ad03febb7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1ec32906211_0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1ec32906211_0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1ec32906211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8" name="Google Shape;568;g1ec32906211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211dc3537cc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4" name="Google Shape;574;g211dc3537cc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211dc3537cc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9" name="Google Shape;579;g211dc3537cc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Proxima Nova"/>
              <a:buNone/>
              <a:defRPr sz="42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Proxima Nova"/>
              <a:buNone/>
              <a:defRPr sz="2400">
                <a:solidFill>
                  <a:schemeClr val="accent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Font typeface="Proxima Nova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Proxima Nova"/>
              <a:buChar char="●"/>
              <a:defRPr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●"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●"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Font typeface="Proxima Nova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Proxima Nova"/>
              <a:buChar char="●"/>
              <a:defRPr sz="1400"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●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●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Proxima Nova"/>
              <a:buChar char="●"/>
              <a:defRPr sz="1400"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●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●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Proxima Nova"/>
              <a:buNone/>
              <a:defRPr sz="5400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rgbClr val="EFEFE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s://www.cs.odu.edu/~zeil/automat/automat.cgi" TargetMode="Externa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6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Autómatas, Lenguajes y Gramáticas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Teoría de Algoritmos</a:t>
            </a:r>
            <a:endParaRPr/>
          </a:p>
        </p:txBody>
      </p:sp>
      <p:pic>
        <p:nvPicPr>
          <p:cNvPr id="61" name="Google Shape;61;p13"/>
          <p:cNvPicPr preferRelativeResize="0"/>
          <p:nvPr/>
        </p:nvPicPr>
        <p:blipFill rotWithShape="1">
          <a:blip r:embed="rId3">
            <a:alphaModFix/>
          </a:blip>
          <a:srcRect b="80" l="0" r="0" t="70"/>
          <a:stretch/>
        </p:blipFill>
        <p:spPr>
          <a:xfrm>
            <a:off x="7060492" y="4349400"/>
            <a:ext cx="2079858" cy="787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¿Qué es un modelo de Computabilidad?</a:t>
            </a:r>
            <a:endParaRPr/>
          </a:p>
        </p:txBody>
      </p:sp>
      <p:sp>
        <p:nvSpPr>
          <p:cNvPr id="67" name="Google Shape;67;p1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Objeto matemático que nos permite analizar características, propiedades, capacidad y limitaciones de la computabilidad → Qué puedo hacer.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¿Qué modelo es mejor?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Vamos a ver algunos, no todos los modelos que hay.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Uno importante que no vamos a ver: Cálculo Lambda.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Alfabeto, Strings, Lenguaje</a:t>
            </a:r>
            <a:endParaRPr/>
          </a:p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Alfabeto: Conjunto de símbolos. Finito, no vacío. Ej: Binario, Latino, …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Strings: secuencia (finita) del alfabeto. Ej: 101010100 → longitud 9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Tenemos la cadena vacía: cadena de longitud 0 para cualquier alfabeto.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Lenguaje: Conjunto de strings de un alfabeto.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Ej: 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 sz="1400"/>
              <a:t>todos los binarios terminados en 0; 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 sz="1400"/>
              <a:t>Cadenas de longitud 5 del alfabeto latino; 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 sz="1400"/>
              <a:t>lenguaje de programación; 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 sz="1400"/>
              <a:t>Inglés</a:t>
            </a:r>
            <a:endParaRPr sz="1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Autómata Finito</a:t>
            </a:r>
            <a:endParaRPr/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No tiene memoria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Reconoce una cantidad finita de cadenas.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Se encuentra en todo momento en un estado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Ejemplo: Escalera Mecánica</a:t>
            </a:r>
            <a:endParaRPr/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095400"/>
            <a:ext cx="8520600" cy="12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Hay un sensor que dice si alguien está en la escalera.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Si hay alguien en la escalera, se mueve.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Si no hay nadie en la escalera, no se mueve. </a:t>
            </a:r>
            <a:endParaRPr/>
          </a:p>
        </p:txBody>
      </p:sp>
      <p:sp>
        <p:nvSpPr>
          <p:cNvPr id="86" name="Google Shape;86;p17"/>
          <p:cNvSpPr/>
          <p:nvPr/>
        </p:nvSpPr>
        <p:spPr>
          <a:xfrm>
            <a:off x="1755700" y="2604725"/>
            <a:ext cx="1228200" cy="1228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80975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latin typeface="Proxima Nova"/>
                <a:ea typeface="Proxima Nova"/>
                <a:cs typeface="Proxima Nova"/>
                <a:sym typeface="Proxima Nova"/>
              </a:rPr>
              <a:t>Moviéndose</a:t>
            </a:r>
            <a:endParaRPr sz="16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7" name="Google Shape;87;p17"/>
          <p:cNvSpPr/>
          <p:nvPr/>
        </p:nvSpPr>
        <p:spPr>
          <a:xfrm>
            <a:off x="4150150" y="2604725"/>
            <a:ext cx="1228200" cy="1228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8000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latin typeface="Proxima Nova"/>
                <a:ea typeface="Proxima Nova"/>
                <a:cs typeface="Proxima Nova"/>
                <a:sym typeface="Proxima Nova"/>
              </a:rPr>
              <a:t>Quieta</a:t>
            </a:r>
            <a:endParaRPr sz="16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88" name="Google Shape;88;p17"/>
          <p:cNvCxnSpPr>
            <a:stCxn id="86" idx="7"/>
            <a:endCxn id="87" idx="1"/>
          </p:cNvCxnSpPr>
          <p:nvPr/>
        </p:nvCxnSpPr>
        <p:spPr>
          <a:xfrm>
            <a:off x="2804034" y="2784591"/>
            <a:ext cx="1526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9" name="Google Shape;89;p17"/>
          <p:cNvCxnSpPr>
            <a:stCxn id="87" idx="3"/>
            <a:endCxn id="86" idx="5"/>
          </p:cNvCxnSpPr>
          <p:nvPr/>
        </p:nvCxnSpPr>
        <p:spPr>
          <a:xfrm rot="10800000">
            <a:off x="2803916" y="3653059"/>
            <a:ext cx="1526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" name="Google Shape;90;p17"/>
          <p:cNvCxnSpPr>
            <a:stCxn id="86" idx="0"/>
            <a:endCxn id="86" idx="2"/>
          </p:cNvCxnSpPr>
          <p:nvPr/>
        </p:nvCxnSpPr>
        <p:spPr>
          <a:xfrm rot="5400000">
            <a:off x="1755700" y="2604725"/>
            <a:ext cx="614100" cy="614100"/>
          </a:xfrm>
          <a:prstGeom prst="curvedConnector4">
            <a:avLst>
              <a:gd fmla="val -38776" name="adj1"/>
              <a:gd fmla="val 138776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1" name="Google Shape;91;p17"/>
          <p:cNvCxnSpPr>
            <a:stCxn id="87" idx="6"/>
            <a:endCxn id="87" idx="4"/>
          </p:cNvCxnSpPr>
          <p:nvPr/>
        </p:nvCxnSpPr>
        <p:spPr>
          <a:xfrm flipH="1">
            <a:off x="4764250" y="3218825"/>
            <a:ext cx="614100" cy="614100"/>
          </a:xfrm>
          <a:prstGeom prst="curvedConnector4">
            <a:avLst>
              <a:gd fmla="val -38776" name="adj1"/>
              <a:gd fmla="val 138776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2" name="Google Shape;92;p17"/>
          <p:cNvSpPr txBox="1"/>
          <p:nvPr/>
        </p:nvSpPr>
        <p:spPr>
          <a:xfrm>
            <a:off x="2872450" y="2363725"/>
            <a:ext cx="127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No hay nadie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3" name="Google Shape;93;p17"/>
          <p:cNvSpPr txBox="1"/>
          <p:nvPr/>
        </p:nvSpPr>
        <p:spPr>
          <a:xfrm>
            <a:off x="5662550" y="3398100"/>
            <a:ext cx="127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No hay nadie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4" name="Google Shape;94;p17"/>
          <p:cNvSpPr txBox="1"/>
          <p:nvPr/>
        </p:nvSpPr>
        <p:spPr>
          <a:xfrm>
            <a:off x="2928225" y="3740100"/>
            <a:ext cx="127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Hay alguien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5" name="Google Shape;95;p17"/>
          <p:cNvSpPr txBox="1"/>
          <p:nvPr/>
        </p:nvSpPr>
        <p:spPr>
          <a:xfrm>
            <a:off x="435325" y="2591175"/>
            <a:ext cx="127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Hay alguien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Autómata Finito</a:t>
            </a:r>
            <a:endParaRPr/>
          </a:p>
        </p:txBody>
      </p:sp>
      <p:sp>
        <p:nvSpPr>
          <p:cNvPr id="101" name="Google Shape;101;p18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Tenemos un conjunto de estados posibles.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Tenemos un alfabeto.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Tenemos una función de transición que dado un símbolo y un estado (actual), nos indique el estado siguiente.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No tenemos memoria.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Tenemos un estado inicial Q</a:t>
            </a:r>
            <a:r>
              <a:rPr baseline="-25000" lang="es"/>
              <a:t>0</a:t>
            </a:r>
            <a:r>
              <a:rPr lang="es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Tenemos un conjunto de estado de aceptación.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Ejemplo</a:t>
            </a:r>
            <a:endParaRPr/>
          </a:p>
        </p:txBody>
      </p:sp>
      <p:sp>
        <p:nvSpPr>
          <p:cNvPr id="107" name="Google Shape;107;p19"/>
          <p:cNvSpPr/>
          <p:nvPr/>
        </p:nvSpPr>
        <p:spPr>
          <a:xfrm>
            <a:off x="1038600" y="1533150"/>
            <a:ext cx="593400" cy="593400"/>
          </a:xfrm>
          <a:prstGeom prst="flowChartConnec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Q</a:t>
            </a:r>
            <a:r>
              <a:rPr baseline="-25000" lang="es"/>
              <a:t>0</a:t>
            </a:r>
            <a:endParaRPr/>
          </a:p>
        </p:txBody>
      </p:sp>
      <p:sp>
        <p:nvSpPr>
          <p:cNvPr id="108" name="Google Shape;108;p19"/>
          <p:cNvSpPr/>
          <p:nvPr/>
        </p:nvSpPr>
        <p:spPr>
          <a:xfrm>
            <a:off x="2410200" y="1533150"/>
            <a:ext cx="593400" cy="593400"/>
          </a:xfrm>
          <a:prstGeom prst="flowChartConnec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Q</a:t>
            </a:r>
            <a:r>
              <a:rPr baseline="-25000" lang="es"/>
              <a:t>1</a:t>
            </a:r>
            <a:endParaRPr/>
          </a:p>
        </p:txBody>
      </p:sp>
      <p:sp>
        <p:nvSpPr>
          <p:cNvPr id="109" name="Google Shape;109;p19"/>
          <p:cNvSpPr/>
          <p:nvPr/>
        </p:nvSpPr>
        <p:spPr>
          <a:xfrm>
            <a:off x="3934200" y="1533150"/>
            <a:ext cx="593400" cy="593400"/>
          </a:xfrm>
          <a:prstGeom prst="flowChartConnec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Q</a:t>
            </a:r>
            <a:r>
              <a:rPr baseline="-25000" lang="es"/>
              <a:t>2</a:t>
            </a:r>
            <a:endParaRPr/>
          </a:p>
        </p:txBody>
      </p:sp>
      <p:sp>
        <p:nvSpPr>
          <p:cNvPr id="110" name="Google Shape;110;p19"/>
          <p:cNvSpPr/>
          <p:nvPr/>
        </p:nvSpPr>
        <p:spPr>
          <a:xfrm>
            <a:off x="2410200" y="2828550"/>
            <a:ext cx="593400" cy="593400"/>
          </a:xfrm>
          <a:prstGeom prst="flowChartConnector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Q</a:t>
            </a:r>
            <a:r>
              <a:rPr baseline="-25000" lang="es"/>
              <a:t>3</a:t>
            </a:r>
            <a:endParaRPr/>
          </a:p>
        </p:txBody>
      </p:sp>
      <p:cxnSp>
        <p:nvCxnSpPr>
          <p:cNvPr id="111" name="Google Shape;111;p19"/>
          <p:cNvCxnSpPr>
            <a:stCxn id="107" idx="6"/>
            <a:endCxn id="108" idx="2"/>
          </p:cNvCxnSpPr>
          <p:nvPr/>
        </p:nvCxnSpPr>
        <p:spPr>
          <a:xfrm>
            <a:off x="1632000" y="1829850"/>
            <a:ext cx="778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" name="Google Shape;112;p19"/>
          <p:cNvCxnSpPr>
            <a:stCxn id="108" idx="6"/>
            <a:endCxn id="109" idx="2"/>
          </p:cNvCxnSpPr>
          <p:nvPr/>
        </p:nvCxnSpPr>
        <p:spPr>
          <a:xfrm>
            <a:off x="3003600" y="1829850"/>
            <a:ext cx="93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" name="Google Shape;113;p19"/>
          <p:cNvCxnSpPr>
            <a:stCxn id="109" idx="0"/>
            <a:endCxn id="108" idx="0"/>
          </p:cNvCxnSpPr>
          <p:nvPr/>
        </p:nvCxnSpPr>
        <p:spPr>
          <a:xfrm rot="5400000">
            <a:off x="3468600" y="771450"/>
            <a:ext cx="600" cy="15240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" name="Google Shape;114;p19"/>
          <p:cNvCxnSpPr>
            <a:stCxn id="108" idx="3"/>
            <a:endCxn id="108" idx="5"/>
          </p:cNvCxnSpPr>
          <p:nvPr/>
        </p:nvCxnSpPr>
        <p:spPr>
          <a:xfrm flipH="1" rot="-5400000">
            <a:off x="2706651" y="1830099"/>
            <a:ext cx="600" cy="419700"/>
          </a:xfrm>
          <a:prstGeom prst="curvedConnector3">
            <a:avLst>
              <a:gd fmla="val 5417107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5" name="Google Shape;115;p19"/>
          <p:cNvCxnSpPr>
            <a:stCxn id="109" idx="4"/>
            <a:endCxn id="110" idx="7"/>
          </p:cNvCxnSpPr>
          <p:nvPr/>
        </p:nvCxnSpPr>
        <p:spPr>
          <a:xfrm flipH="1">
            <a:off x="2916600" y="2126550"/>
            <a:ext cx="1314300" cy="78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6" name="Google Shape;116;p19"/>
          <p:cNvCxnSpPr>
            <a:stCxn id="110" idx="1"/>
            <a:endCxn id="108" idx="2"/>
          </p:cNvCxnSpPr>
          <p:nvPr/>
        </p:nvCxnSpPr>
        <p:spPr>
          <a:xfrm flipH="1" rot="5400000">
            <a:off x="1910751" y="2329101"/>
            <a:ext cx="1085700" cy="87000"/>
          </a:xfrm>
          <a:prstGeom prst="curvedConnector4">
            <a:avLst>
              <a:gd fmla="val 40334" name="adj1"/>
              <a:gd fmla="val 373594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7" name="Google Shape;117;p19"/>
          <p:cNvSpPr txBox="1"/>
          <p:nvPr/>
        </p:nvSpPr>
        <p:spPr>
          <a:xfrm>
            <a:off x="1660900" y="1467175"/>
            <a:ext cx="48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0,1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8" name="Google Shape;118;p19"/>
          <p:cNvSpPr txBox="1"/>
          <p:nvPr/>
        </p:nvSpPr>
        <p:spPr>
          <a:xfrm>
            <a:off x="3333000" y="968400"/>
            <a:ext cx="48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0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9" name="Google Shape;119;p19"/>
          <p:cNvSpPr txBox="1"/>
          <p:nvPr/>
        </p:nvSpPr>
        <p:spPr>
          <a:xfrm>
            <a:off x="1780350" y="2371650"/>
            <a:ext cx="48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0,1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0" name="Google Shape;120;p19"/>
          <p:cNvSpPr txBox="1"/>
          <p:nvPr/>
        </p:nvSpPr>
        <p:spPr>
          <a:xfrm>
            <a:off x="2706900" y="2172500"/>
            <a:ext cx="48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0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1" name="Google Shape;121;p19"/>
          <p:cNvSpPr txBox="1"/>
          <p:nvPr/>
        </p:nvSpPr>
        <p:spPr>
          <a:xfrm>
            <a:off x="3452700" y="2449075"/>
            <a:ext cx="48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2" name="Google Shape;122;p19"/>
          <p:cNvSpPr txBox="1"/>
          <p:nvPr/>
        </p:nvSpPr>
        <p:spPr>
          <a:xfrm>
            <a:off x="3188400" y="1467175"/>
            <a:ext cx="48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3" name="Google Shape;123;p19"/>
          <p:cNvSpPr txBox="1"/>
          <p:nvPr/>
        </p:nvSpPr>
        <p:spPr>
          <a:xfrm>
            <a:off x="5250650" y="1261150"/>
            <a:ext cx="1187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Apliquemos: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roxima Nova"/>
              <a:buChar char="●"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001011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roxima Nova"/>
              <a:buChar char="●"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011110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Ejemplo</a:t>
            </a:r>
            <a:endParaRPr/>
          </a:p>
        </p:txBody>
      </p:sp>
      <p:sp>
        <p:nvSpPr>
          <p:cNvPr id="129" name="Google Shape;129;p20"/>
          <p:cNvSpPr/>
          <p:nvPr/>
        </p:nvSpPr>
        <p:spPr>
          <a:xfrm>
            <a:off x="1038600" y="1533150"/>
            <a:ext cx="593400" cy="593400"/>
          </a:xfrm>
          <a:prstGeom prst="flowChartConnec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Q</a:t>
            </a:r>
            <a:r>
              <a:rPr baseline="-25000" lang="es"/>
              <a:t>0</a:t>
            </a:r>
            <a:endParaRPr/>
          </a:p>
        </p:txBody>
      </p:sp>
      <p:sp>
        <p:nvSpPr>
          <p:cNvPr id="130" name="Google Shape;130;p20"/>
          <p:cNvSpPr/>
          <p:nvPr/>
        </p:nvSpPr>
        <p:spPr>
          <a:xfrm>
            <a:off x="2410200" y="1533150"/>
            <a:ext cx="593400" cy="593400"/>
          </a:xfrm>
          <a:prstGeom prst="flowChartConnec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Q</a:t>
            </a:r>
            <a:r>
              <a:rPr baseline="-25000" lang="es"/>
              <a:t>1</a:t>
            </a:r>
            <a:endParaRPr/>
          </a:p>
        </p:txBody>
      </p:sp>
      <p:sp>
        <p:nvSpPr>
          <p:cNvPr id="131" name="Google Shape;131;p20"/>
          <p:cNvSpPr/>
          <p:nvPr/>
        </p:nvSpPr>
        <p:spPr>
          <a:xfrm>
            <a:off x="3934200" y="1533150"/>
            <a:ext cx="593400" cy="593400"/>
          </a:xfrm>
          <a:prstGeom prst="flowChartConnec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Q</a:t>
            </a:r>
            <a:r>
              <a:rPr baseline="-25000" lang="es"/>
              <a:t>2</a:t>
            </a:r>
            <a:endParaRPr/>
          </a:p>
        </p:txBody>
      </p:sp>
      <p:sp>
        <p:nvSpPr>
          <p:cNvPr id="132" name="Google Shape;132;p20"/>
          <p:cNvSpPr/>
          <p:nvPr/>
        </p:nvSpPr>
        <p:spPr>
          <a:xfrm>
            <a:off x="2410200" y="2828550"/>
            <a:ext cx="593400" cy="593400"/>
          </a:xfrm>
          <a:prstGeom prst="flowChartConnector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Q</a:t>
            </a:r>
            <a:r>
              <a:rPr baseline="-25000" lang="es"/>
              <a:t>3</a:t>
            </a:r>
            <a:endParaRPr/>
          </a:p>
        </p:txBody>
      </p:sp>
      <p:cxnSp>
        <p:nvCxnSpPr>
          <p:cNvPr id="133" name="Google Shape;133;p20"/>
          <p:cNvCxnSpPr>
            <a:stCxn id="129" idx="6"/>
            <a:endCxn id="130" idx="2"/>
          </p:cNvCxnSpPr>
          <p:nvPr/>
        </p:nvCxnSpPr>
        <p:spPr>
          <a:xfrm>
            <a:off x="1632000" y="1829850"/>
            <a:ext cx="778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4" name="Google Shape;134;p20"/>
          <p:cNvCxnSpPr>
            <a:stCxn id="130" idx="6"/>
            <a:endCxn id="131" idx="2"/>
          </p:cNvCxnSpPr>
          <p:nvPr/>
        </p:nvCxnSpPr>
        <p:spPr>
          <a:xfrm>
            <a:off x="3003600" y="1829850"/>
            <a:ext cx="93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5" name="Google Shape;135;p20"/>
          <p:cNvCxnSpPr>
            <a:stCxn id="131" idx="0"/>
            <a:endCxn id="130" idx="0"/>
          </p:cNvCxnSpPr>
          <p:nvPr/>
        </p:nvCxnSpPr>
        <p:spPr>
          <a:xfrm rot="5400000">
            <a:off x="3468600" y="771450"/>
            <a:ext cx="600" cy="15240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6" name="Google Shape;136;p20"/>
          <p:cNvCxnSpPr>
            <a:stCxn id="130" idx="3"/>
            <a:endCxn id="130" idx="5"/>
          </p:cNvCxnSpPr>
          <p:nvPr/>
        </p:nvCxnSpPr>
        <p:spPr>
          <a:xfrm flipH="1" rot="-5400000">
            <a:off x="2706651" y="1830099"/>
            <a:ext cx="600" cy="419700"/>
          </a:xfrm>
          <a:prstGeom prst="curvedConnector3">
            <a:avLst>
              <a:gd fmla="val 5417107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7" name="Google Shape;137;p20"/>
          <p:cNvCxnSpPr>
            <a:stCxn id="131" idx="4"/>
            <a:endCxn id="132" idx="7"/>
          </p:cNvCxnSpPr>
          <p:nvPr/>
        </p:nvCxnSpPr>
        <p:spPr>
          <a:xfrm flipH="1">
            <a:off x="2916600" y="2126550"/>
            <a:ext cx="1314300" cy="78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8" name="Google Shape;138;p20"/>
          <p:cNvCxnSpPr>
            <a:stCxn id="132" idx="1"/>
            <a:endCxn id="130" idx="2"/>
          </p:cNvCxnSpPr>
          <p:nvPr/>
        </p:nvCxnSpPr>
        <p:spPr>
          <a:xfrm flipH="1" rot="5400000">
            <a:off x="1910751" y="2329101"/>
            <a:ext cx="1085700" cy="87000"/>
          </a:xfrm>
          <a:prstGeom prst="curvedConnector4">
            <a:avLst>
              <a:gd fmla="val 40334" name="adj1"/>
              <a:gd fmla="val 373594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9" name="Google Shape;139;p20"/>
          <p:cNvSpPr txBox="1"/>
          <p:nvPr/>
        </p:nvSpPr>
        <p:spPr>
          <a:xfrm>
            <a:off x="1660900" y="1467175"/>
            <a:ext cx="48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0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0" name="Google Shape;140;p20"/>
          <p:cNvSpPr txBox="1"/>
          <p:nvPr/>
        </p:nvSpPr>
        <p:spPr>
          <a:xfrm>
            <a:off x="3333000" y="968400"/>
            <a:ext cx="48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0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1" name="Google Shape;141;p20"/>
          <p:cNvSpPr txBox="1"/>
          <p:nvPr/>
        </p:nvSpPr>
        <p:spPr>
          <a:xfrm>
            <a:off x="1780350" y="2371650"/>
            <a:ext cx="48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0,1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2" name="Google Shape;142;p20"/>
          <p:cNvSpPr txBox="1"/>
          <p:nvPr/>
        </p:nvSpPr>
        <p:spPr>
          <a:xfrm>
            <a:off x="2706900" y="2172500"/>
            <a:ext cx="48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0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3" name="Google Shape;143;p20"/>
          <p:cNvSpPr txBox="1"/>
          <p:nvPr/>
        </p:nvSpPr>
        <p:spPr>
          <a:xfrm>
            <a:off x="3452700" y="2449075"/>
            <a:ext cx="48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4" name="Google Shape;144;p20"/>
          <p:cNvSpPr txBox="1"/>
          <p:nvPr/>
        </p:nvSpPr>
        <p:spPr>
          <a:xfrm>
            <a:off x="3188400" y="1467175"/>
            <a:ext cx="48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5" name="Google Shape;145;p20"/>
          <p:cNvSpPr txBox="1"/>
          <p:nvPr/>
        </p:nvSpPr>
        <p:spPr>
          <a:xfrm>
            <a:off x="5250650" y="1261150"/>
            <a:ext cx="2063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No acepta cadenas que empiezan en 1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Lenguaje de una máquina</a:t>
            </a:r>
            <a:endParaRPr/>
          </a:p>
        </p:txBody>
      </p:sp>
      <p:sp>
        <p:nvSpPr>
          <p:cNvPr id="151" name="Google Shape;151;p2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s"/>
              <a:t>Siendo M una máquina, L(M) = A, siendo A el lenguaje de M, que son los valores que acepta, que reconoce M.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2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Ejemplo: ¿Cómo podemos hacer una máquina que reconozca los binarios que terminen con al menos 3 0s?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3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Ejemplo: ¿Cómo podemos hacer una máquina que reconozca los binarios que terminen con al menos 3 0s? </a:t>
            </a:r>
            <a:endParaRPr/>
          </a:p>
        </p:txBody>
      </p:sp>
      <p:sp>
        <p:nvSpPr>
          <p:cNvPr id="162" name="Google Shape;162;p23"/>
          <p:cNvSpPr/>
          <p:nvPr/>
        </p:nvSpPr>
        <p:spPr>
          <a:xfrm>
            <a:off x="1343400" y="2752350"/>
            <a:ext cx="593400" cy="593400"/>
          </a:xfrm>
          <a:prstGeom prst="flowChartConnec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Q</a:t>
            </a:r>
            <a:r>
              <a:rPr baseline="-25000" lang="es"/>
              <a:t>0</a:t>
            </a:r>
            <a:endParaRPr/>
          </a:p>
        </p:txBody>
      </p:sp>
      <p:sp>
        <p:nvSpPr>
          <p:cNvPr id="163" name="Google Shape;163;p23"/>
          <p:cNvSpPr/>
          <p:nvPr/>
        </p:nvSpPr>
        <p:spPr>
          <a:xfrm>
            <a:off x="2715000" y="2752350"/>
            <a:ext cx="593400" cy="593400"/>
          </a:xfrm>
          <a:prstGeom prst="flowChartConnec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Q</a:t>
            </a:r>
            <a:r>
              <a:rPr baseline="-25000" lang="es"/>
              <a:t>1</a:t>
            </a:r>
            <a:endParaRPr/>
          </a:p>
        </p:txBody>
      </p:sp>
      <p:sp>
        <p:nvSpPr>
          <p:cNvPr id="164" name="Google Shape;164;p23"/>
          <p:cNvSpPr/>
          <p:nvPr/>
        </p:nvSpPr>
        <p:spPr>
          <a:xfrm>
            <a:off x="4239000" y="2752350"/>
            <a:ext cx="593400" cy="593400"/>
          </a:xfrm>
          <a:prstGeom prst="flowChartConnec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Q</a:t>
            </a:r>
            <a:r>
              <a:rPr baseline="-25000" lang="es"/>
              <a:t>2</a:t>
            </a:r>
            <a:endParaRPr/>
          </a:p>
        </p:txBody>
      </p:sp>
      <p:sp>
        <p:nvSpPr>
          <p:cNvPr id="165" name="Google Shape;165;p23"/>
          <p:cNvSpPr/>
          <p:nvPr/>
        </p:nvSpPr>
        <p:spPr>
          <a:xfrm>
            <a:off x="2715000" y="4047750"/>
            <a:ext cx="593400" cy="593400"/>
          </a:xfrm>
          <a:prstGeom prst="flowChartConnector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Q</a:t>
            </a:r>
            <a:r>
              <a:rPr baseline="-25000" lang="es"/>
              <a:t>3</a:t>
            </a:r>
            <a:endParaRPr/>
          </a:p>
        </p:txBody>
      </p:sp>
      <p:cxnSp>
        <p:nvCxnSpPr>
          <p:cNvPr id="166" name="Google Shape;166;p23"/>
          <p:cNvCxnSpPr>
            <a:stCxn id="162" idx="6"/>
            <a:endCxn id="163" idx="2"/>
          </p:cNvCxnSpPr>
          <p:nvPr/>
        </p:nvCxnSpPr>
        <p:spPr>
          <a:xfrm>
            <a:off x="1936800" y="3049050"/>
            <a:ext cx="778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7" name="Google Shape;167;p23"/>
          <p:cNvCxnSpPr>
            <a:stCxn id="163" idx="6"/>
            <a:endCxn id="164" idx="2"/>
          </p:cNvCxnSpPr>
          <p:nvPr/>
        </p:nvCxnSpPr>
        <p:spPr>
          <a:xfrm>
            <a:off x="3308400" y="3049050"/>
            <a:ext cx="93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8" name="Google Shape;168;p23"/>
          <p:cNvCxnSpPr>
            <a:stCxn id="164" idx="0"/>
            <a:endCxn id="162" idx="0"/>
          </p:cNvCxnSpPr>
          <p:nvPr/>
        </p:nvCxnSpPr>
        <p:spPr>
          <a:xfrm rot="5400000">
            <a:off x="3087600" y="1304850"/>
            <a:ext cx="600" cy="28956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9" name="Google Shape;169;p23"/>
          <p:cNvCxnSpPr>
            <a:stCxn id="163" idx="3"/>
            <a:endCxn id="162" idx="4"/>
          </p:cNvCxnSpPr>
          <p:nvPr/>
        </p:nvCxnSpPr>
        <p:spPr>
          <a:xfrm rot="5400000">
            <a:off x="2177451" y="2721399"/>
            <a:ext cx="87000" cy="1161900"/>
          </a:xfrm>
          <a:prstGeom prst="curvedConnector3">
            <a:avLst>
              <a:gd fmla="val 373594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0" name="Google Shape;170;p23"/>
          <p:cNvCxnSpPr>
            <a:stCxn id="164" idx="4"/>
            <a:endCxn id="165" idx="7"/>
          </p:cNvCxnSpPr>
          <p:nvPr/>
        </p:nvCxnSpPr>
        <p:spPr>
          <a:xfrm flipH="1">
            <a:off x="3221400" y="3345750"/>
            <a:ext cx="1314300" cy="78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1" name="Google Shape;171;p23"/>
          <p:cNvCxnSpPr>
            <a:stCxn id="165" idx="2"/>
            <a:endCxn id="162" idx="3"/>
          </p:cNvCxnSpPr>
          <p:nvPr/>
        </p:nvCxnSpPr>
        <p:spPr>
          <a:xfrm rot="10800000">
            <a:off x="1430400" y="3258750"/>
            <a:ext cx="1284600" cy="10857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2" name="Google Shape;172;p23"/>
          <p:cNvSpPr txBox="1"/>
          <p:nvPr/>
        </p:nvSpPr>
        <p:spPr>
          <a:xfrm>
            <a:off x="1965700" y="2686375"/>
            <a:ext cx="48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0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73" name="Google Shape;173;p23"/>
          <p:cNvSpPr txBox="1"/>
          <p:nvPr/>
        </p:nvSpPr>
        <p:spPr>
          <a:xfrm>
            <a:off x="3637800" y="2187600"/>
            <a:ext cx="48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74" name="Google Shape;174;p23"/>
          <p:cNvSpPr txBox="1"/>
          <p:nvPr/>
        </p:nvSpPr>
        <p:spPr>
          <a:xfrm>
            <a:off x="2249700" y="3239300"/>
            <a:ext cx="48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75" name="Google Shape;175;p23"/>
          <p:cNvSpPr txBox="1"/>
          <p:nvPr/>
        </p:nvSpPr>
        <p:spPr>
          <a:xfrm>
            <a:off x="3757500" y="3668275"/>
            <a:ext cx="48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0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76" name="Google Shape;176;p23"/>
          <p:cNvSpPr txBox="1"/>
          <p:nvPr/>
        </p:nvSpPr>
        <p:spPr>
          <a:xfrm>
            <a:off x="3493200" y="2686375"/>
            <a:ext cx="48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0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77" name="Google Shape;177;p23"/>
          <p:cNvSpPr txBox="1"/>
          <p:nvPr/>
        </p:nvSpPr>
        <p:spPr>
          <a:xfrm>
            <a:off x="1831950" y="3734550"/>
            <a:ext cx="48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178" name="Google Shape;178;p23"/>
          <p:cNvCxnSpPr>
            <a:stCxn id="162" idx="0"/>
            <a:endCxn id="162" idx="2"/>
          </p:cNvCxnSpPr>
          <p:nvPr/>
        </p:nvCxnSpPr>
        <p:spPr>
          <a:xfrm rot="5400000">
            <a:off x="1343400" y="2752350"/>
            <a:ext cx="296700" cy="296700"/>
          </a:xfrm>
          <a:prstGeom prst="curvedConnector4">
            <a:avLst>
              <a:gd fmla="val -80258" name="adj1"/>
              <a:gd fmla="val 180258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9" name="Google Shape;179;p23"/>
          <p:cNvSpPr txBox="1"/>
          <p:nvPr/>
        </p:nvSpPr>
        <p:spPr>
          <a:xfrm>
            <a:off x="1131888" y="2187600"/>
            <a:ext cx="48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180" name="Google Shape;180;p23"/>
          <p:cNvCxnSpPr>
            <a:stCxn id="165" idx="6"/>
            <a:endCxn id="165" idx="4"/>
          </p:cNvCxnSpPr>
          <p:nvPr/>
        </p:nvCxnSpPr>
        <p:spPr>
          <a:xfrm flipH="1">
            <a:off x="3011700" y="4344450"/>
            <a:ext cx="296700" cy="296700"/>
          </a:xfrm>
          <a:prstGeom prst="curvedConnector4">
            <a:avLst>
              <a:gd fmla="val -80258" name="adj1"/>
              <a:gd fmla="val 180258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1" name="Google Shape;181;p23"/>
          <p:cNvSpPr txBox="1"/>
          <p:nvPr/>
        </p:nvSpPr>
        <p:spPr>
          <a:xfrm>
            <a:off x="3493200" y="4479175"/>
            <a:ext cx="48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0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Esto se codea?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Autómata Finito No Determinístico</a:t>
            </a:r>
            <a:endParaRPr/>
          </a:p>
        </p:txBody>
      </p:sp>
      <p:sp>
        <p:nvSpPr>
          <p:cNvPr id="192" name="Google Shape;192;p25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Ahora vamos a considerar que se pueda pasar de un estado a más de uno. Cada ramificación se computa en paralelo.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(El autómata finito determinístico es un caso particular del no determinístico)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Ejemplo</a:t>
            </a:r>
            <a:endParaRPr/>
          </a:p>
        </p:txBody>
      </p:sp>
      <p:sp>
        <p:nvSpPr>
          <p:cNvPr id="198" name="Google Shape;198;p26"/>
          <p:cNvSpPr/>
          <p:nvPr/>
        </p:nvSpPr>
        <p:spPr>
          <a:xfrm>
            <a:off x="1269400" y="2068950"/>
            <a:ext cx="585300" cy="552300"/>
          </a:xfrm>
          <a:prstGeom prst="flowChartConnec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Q</a:t>
            </a:r>
            <a:r>
              <a:rPr baseline="-25000" lang="es"/>
              <a:t>0</a:t>
            </a:r>
            <a:endParaRPr baseline="-25000"/>
          </a:p>
        </p:txBody>
      </p:sp>
      <p:sp>
        <p:nvSpPr>
          <p:cNvPr id="199" name="Google Shape;199;p26"/>
          <p:cNvSpPr/>
          <p:nvPr/>
        </p:nvSpPr>
        <p:spPr>
          <a:xfrm>
            <a:off x="2564800" y="2068950"/>
            <a:ext cx="585300" cy="552300"/>
          </a:xfrm>
          <a:prstGeom prst="flowChartConnec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Q</a:t>
            </a:r>
            <a:r>
              <a:rPr baseline="-25000" lang="es"/>
              <a:t>1</a:t>
            </a:r>
            <a:endParaRPr baseline="-25000"/>
          </a:p>
        </p:txBody>
      </p:sp>
      <p:sp>
        <p:nvSpPr>
          <p:cNvPr id="200" name="Google Shape;200;p26"/>
          <p:cNvSpPr/>
          <p:nvPr/>
        </p:nvSpPr>
        <p:spPr>
          <a:xfrm>
            <a:off x="3936400" y="2068950"/>
            <a:ext cx="585300" cy="552300"/>
          </a:xfrm>
          <a:prstGeom prst="flowChartConnec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Q</a:t>
            </a:r>
            <a:r>
              <a:rPr baseline="-25000" lang="es"/>
              <a:t>2</a:t>
            </a:r>
            <a:endParaRPr baseline="-25000"/>
          </a:p>
        </p:txBody>
      </p:sp>
      <p:sp>
        <p:nvSpPr>
          <p:cNvPr id="201" name="Google Shape;201;p26"/>
          <p:cNvSpPr/>
          <p:nvPr/>
        </p:nvSpPr>
        <p:spPr>
          <a:xfrm>
            <a:off x="5155600" y="2068950"/>
            <a:ext cx="585300" cy="552300"/>
          </a:xfrm>
          <a:prstGeom prst="flowChartConnector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Q</a:t>
            </a:r>
            <a:r>
              <a:rPr baseline="-25000" lang="es"/>
              <a:t>3</a:t>
            </a:r>
            <a:endParaRPr baseline="-25000"/>
          </a:p>
        </p:txBody>
      </p:sp>
      <p:cxnSp>
        <p:nvCxnSpPr>
          <p:cNvPr id="202" name="Google Shape;202;p26"/>
          <p:cNvCxnSpPr>
            <a:stCxn id="198" idx="6"/>
            <a:endCxn id="199" idx="2"/>
          </p:cNvCxnSpPr>
          <p:nvPr/>
        </p:nvCxnSpPr>
        <p:spPr>
          <a:xfrm>
            <a:off x="1854700" y="2345100"/>
            <a:ext cx="710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3" name="Google Shape;203;p26"/>
          <p:cNvCxnSpPr>
            <a:stCxn id="199" idx="6"/>
            <a:endCxn id="200" idx="2"/>
          </p:cNvCxnSpPr>
          <p:nvPr/>
        </p:nvCxnSpPr>
        <p:spPr>
          <a:xfrm>
            <a:off x="3150100" y="2345100"/>
            <a:ext cx="786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4" name="Google Shape;204;p26"/>
          <p:cNvCxnSpPr>
            <a:stCxn id="200" idx="6"/>
            <a:endCxn id="201" idx="2"/>
          </p:cNvCxnSpPr>
          <p:nvPr/>
        </p:nvCxnSpPr>
        <p:spPr>
          <a:xfrm>
            <a:off x="4521700" y="2345100"/>
            <a:ext cx="633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5" name="Google Shape;205;p26"/>
          <p:cNvCxnSpPr>
            <a:stCxn id="198" idx="5"/>
            <a:endCxn id="198" idx="3"/>
          </p:cNvCxnSpPr>
          <p:nvPr/>
        </p:nvCxnSpPr>
        <p:spPr>
          <a:xfrm rot="5400000">
            <a:off x="1561685" y="2333668"/>
            <a:ext cx="600" cy="414000"/>
          </a:xfrm>
          <a:prstGeom prst="curvedConnector3">
            <a:avLst>
              <a:gd fmla="val 5316791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6" name="Google Shape;206;p26"/>
          <p:cNvCxnSpPr>
            <a:stCxn id="201" idx="5"/>
            <a:endCxn id="201" idx="3"/>
          </p:cNvCxnSpPr>
          <p:nvPr/>
        </p:nvCxnSpPr>
        <p:spPr>
          <a:xfrm rot="5400000">
            <a:off x="5447885" y="2333668"/>
            <a:ext cx="600" cy="414000"/>
          </a:xfrm>
          <a:prstGeom prst="curvedConnector3">
            <a:avLst>
              <a:gd fmla="val 5316791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7" name="Google Shape;207;p26"/>
          <p:cNvSpPr txBox="1"/>
          <p:nvPr/>
        </p:nvSpPr>
        <p:spPr>
          <a:xfrm>
            <a:off x="1969000" y="1944900"/>
            <a:ext cx="48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08" name="Google Shape;208;p26"/>
          <p:cNvSpPr txBox="1"/>
          <p:nvPr/>
        </p:nvSpPr>
        <p:spPr>
          <a:xfrm>
            <a:off x="3302500" y="2006250"/>
            <a:ext cx="48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0,ε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09" name="Google Shape;209;p26"/>
          <p:cNvSpPr txBox="1"/>
          <p:nvPr/>
        </p:nvSpPr>
        <p:spPr>
          <a:xfrm>
            <a:off x="4521700" y="2006250"/>
            <a:ext cx="48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10" name="Google Shape;210;p26"/>
          <p:cNvSpPr txBox="1"/>
          <p:nvPr/>
        </p:nvSpPr>
        <p:spPr>
          <a:xfrm>
            <a:off x="5259400" y="2813850"/>
            <a:ext cx="48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0,1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11" name="Google Shape;211;p26"/>
          <p:cNvSpPr txBox="1"/>
          <p:nvPr/>
        </p:nvSpPr>
        <p:spPr>
          <a:xfrm>
            <a:off x="1321225" y="2859375"/>
            <a:ext cx="48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0,1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12" name="Google Shape;212;p26"/>
          <p:cNvSpPr txBox="1"/>
          <p:nvPr/>
        </p:nvSpPr>
        <p:spPr>
          <a:xfrm>
            <a:off x="1269400" y="1301463"/>
            <a:ext cx="175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Procesemos 010110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7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Ejemplo</a:t>
            </a:r>
            <a:endParaRPr/>
          </a:p>
        </p:txBody>
      </p:sp>
      <p:sp>
        <p:nvSpPr>
          <p:cNvPr id="218" name="Google Shape;218;p27"/>
          <p:cNvSpPr/>
          <p:nvPr/>
        </p:nvSpPr>
        <p:spPr>
          <a:xfrm>
            <a:off x="1269400" y="2068950"/>
            <a:ext cx="585300" cy="552300"/>
          </a:xfrm>
          <a:prstGeom prst="flowChartConnec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Q</a:t>
            </a:r>
            <a:r>
              <a:rPr baseline="-25000" lang="es"/>
              <a:t>0</a:t>
            </a:r>
            <a:endParaRPr baseline="-25000"/>
          </a:p>
        </p:txBody>
      </p:sp>
      <p:sp>
        <p:nvSpPr>
          <p:cNvPr id="219" name="Google Shape;219;p27"/>
          <p:cNvSpPr/>
          <p:nvPr/>
        </p:nvSpPr>
        <p:spPr>
          <a:xfrm>
            <a:off x="2564800" y="2068950"/>
            <a:ext cx="585300" cy="552300"/>
          </a:xfrm>
          <a:prstGeom prst="flowChartConnec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Q</a:t>
            </a:r>
            <a:r>
              <a:rPr baseline="-25000" lang="es"/>
              <a:t>1</a:t>
            </a:r>
            <a:endParaRPr baseline="-25000"/>
          </a:p>
        </p:txBody>
      </p:sp>
      <p:sp>
        <p:nvSpPr>
          <p:cNvPr id="220" name="Google Shape;220;p27"/>
          <p:cNvSpPr/>
          <p:nvPr/>
        </p:nvSpPr>
        <p:spPr>
          <a:xfrm>
            <a:off x="3936400" y="2068950"/>
            <a:ext cx="585300" cy="552300"/>
          </a:xfrm>
          <a:prstGeom prst="flowChartConnec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Q</a:t>
            </a:r>
            <a:r>
              <a:rPr baseline="-25000" lang="es"/>
              <a:t>2</a:t>
            </a:r>
            <a:endParaRPr baseline="-25000"/>
          </a:p>
        </p:txBody>
      </p:sp>
      <p:sp>
        <p:nvSpPr>
          <p:cNvPr id="221" name="Google Shape;221;p27"/>
          <p:cNvSpPr/>
          <p:nvPr/>
        </p:nvSpPr>
        <p:spPr>
          <a:xfrm>
            <a:off x="5155600" y="2068950"/>
            <a:ext cx="585300" cy="552300"/>
          </a:xfrm>
          <a:prstGeom prst="flowChartConnector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Q</a:t>
            </a:r>
            <a:r>
              <a:rPr baseline="-25000" lang="es"/>
              <a:t>3</a:t>
            </a:r>
            <a:endParaRPr baseline="-25000"/>
          </a:p>
        </p:txBody>
      </p:sp>
      <p:cxnSp>
        <p:nvCxnSpPr>
          <p:cNvPr id="222" name="Google Shape;222;p27"/>
          <p:cNvCxnSpPr>
            <a:stCxn id="218" idx="6"/>
            <a:endCxn id="219" idx="2"/>
          </p:cNvCxnSpPr>
          <p:nvPr/>
        </p:nvCxnSpPr>
        <p:spPr>
          <a:xfrm>
            <a:off x="1854700" y="2345100"/>
            <a:ext cx="710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3" name="Google Shape;223;p27"/>
          <p:cNvCxnSpPr>
            <a:stCxn id="219" idx="6"/>
            <a:endCxn id="220" idx="2"/>
          </p:cNvCxnSpPr>
          <p:nvPr/>
        </p:nvCxnSpPr>
        <p:spPr>
          <a:xfrm>
            <a:off x="3150100" y="2345100"/>
            <a:ext cx="786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4" name="Google Shape;224;p27"/>
          <p:cNvCxnSpPr>
            <a:stCxn id="220" idx="6"/>
            <a:endCxn id="221" idx="2"/>
          </p:cNvCxnSpPr>
          <p:nvPr/>
        </p:nvCxnSpPr>
        <p:spPr>
          <a:xfrm>
            <a:off x="4521700" y="2345100"/>
            <a:ext cx="633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5" name="Google Shape;225;p27"/>
          <p:cNvCxnSpPr>
            <a:stCxn id="218" idx="5"/>
            <a:endCxn id="218" idx="3"/>
          </p:cNvCxnSpPr>
          <p:nvPr/>
        </p:nvCxnSpPr>
        <p:spPr>
          <a:xfrm rot="5400000">
            <a:off x="1561685" y="2333668"/>
            <a:ext cx="600" cy="414000"/>
          </a:xfrm>
          <a:prstGeom prst="curvedConnector3">
            <a:avLst>
              <a:gd fmla="val 5316791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6" name="Google Shape;226;p27"/>
          <p:cNvCxnSpPr>
            <a:stCxn id="221" idx="5"/>
            <a:endCxn id="221" idx="3"/>
          </p:cNvCxnSpPr>
          <p:nvPr/>
        </p:nvCxnSpPr>
        <p:spPr>
          <a:xfrm rot="5400000">
            <a:off x="5447885" y="2333668"/>
            <a:ext cx="600" cy="414000"/>
          </a:xfrm>
          <a:prstGeom prst="curvedConnector3">
            <a:avLst>
              <a:gd fmla="val 5316791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7" name="Google Shape;227;p27"/>
          <p:cNvSpPr txBox="1"/>
          <p:nvPr/>
        </p:nvSpPr>
        <p:spPr>
          <a:xfrm>
            <a:off x="1969000" y="1944900"/>
            <a:ext cx="48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28" name="Google Shape;228;p27"/>
          <p:cNvSpPr txBox="1"/>
          <p:nvPr/>
        </p:nvSpPr>
        <p:spPr>
          <a:xfrm>
            <a:off x="3302500" y="2006250"/>
            <a:ext cx="48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0,ε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29" name="Google Shape;229;p27"/>
          <p:cNvSpPr txBox="1"/>
          <p:nvPr/>
        </p:nvSpPr>
        <p:spPr>
          <a:xfrm>
            <a:off x="4521700" y="2006250"/>
            <a:ext cx="48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30" name="Google Shape;230;p27"/>
          <p:cNvSpPr txBox="1"/>
          <p:nvPr/>
        </p:nvSpPr>
        <p:spPr>
          <a:xfrm>
            <a:off x="5259400" y="2813850"/>
            <a:ext cx="48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0,1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31" name="Google Shape;231;p27"/>
          <p:cNvSpPr txBox="1"/>
          <p:nvPr/>
        </p:nvSpPr>
        <p:spPr>
          <a:xfrm>
            <a:off x="1321225" y="2859375"/>
            <a:ext cx="48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0,1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32" name="Google Shape;232;p27"/>
          <p:cNvSpPr txBox="1"/>
          <p:nvPr/>
        </p:nvSpPr>
        <p:spPr>
          <a:xfrm>
            <a:off x="1269400" y="1301463"/>
            <a:ext cx="175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Procesemos 010110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33" name="Google Shape;233;p27"/>
          <p:cNvSpPr/>
          <p:nvPr/>
        </p:nvSpPr>
        <p:spPr>
          <a:xfrm>
            <a:off x="7204200" y="296725"/>
            <a:ext cx="197700" cy="197700"/>
          </a:xfrm>
          <a:prstGeom prst="ellipse">
            <a:avLst/>
          </a:prstGeom>
          <a:solidFill>
            <a:srgbClr val="4A86E8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85725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/>
              <a:t>Q</a:t>
            </a:r>
            <a:r>
              <a:rPr baseline="-25000" lang="es" sz="600"/>
              <a:t>0</a:t>
            </a:r>
            <a:endParaRPr baseline="-25000" sz="600"/>
          </a:p>
        </p:txBody>
      </p:sp>
      <p:sp>
        <p:nvSpPr>
          <p:cNvPr id="234" name="Google Shape;234;p27"/>
          <p:cNvSpPr/>
          <p:nvPr/>
        </p:nvSpPr>
        <p:spPr>
          <a:xfrm>
            <a:off x="7204200" y="860525"/>
            <a:ext cx="197700" cy="197700"/>
          </a:xfrm>
          <a:prstGeom prst="ellipse">
            <a:avLst/>
          </a:prstGeom>
          <a:solidFill>
            <a:srgbClr val="4A86E8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85725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/>
              <a:t>Q</a:t>
            </a:r>
            <a:r>
              <a:rPr baseline="-25000" lang="es" sz="600"/>
              <a:t>0</a:t>
            </a:r>
            <a:endParaRPr baseline="-25000" sz="600"/>
          </a:p>
        </p:txBody>
      </p:sp>
      <p:sp>
        <p:nvSpPr>
          <p:cNvPr id="235" name="Google Shape;235;p27"/>
          <p:cNvSpPr/>
          <p:nvPr/>
        </p:nvSpPr>
        <p:spPr>
          <a:xfrm>
            <a:off x="7204200" y="1458775"/>
            <a:ext cx="197700" cy="197700"/>
          </a:xfrm>
          <a:prstGeom prst="ellipse">
            <a:avLst/>
          </a:prstGeom>
          <a:solidFill>
            <a:srgbClr val="4A86E8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85725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/>
              <a:t>Q</a:t>
            </a:r>
            <a:r>
              <a:rPr baseline="-25000" lang="es" sz="600"/>
              <a:t>0</a:t>
            </a:r>
            <a:endParaRPr baseline="-25000" sz="600"/>
          </a:p>
        </p:txBody>
      </p:sp>
      <p:sp>
        <p:nvSpPr>
          <p:cNvPr id="236" name="Google Shape;236;p27"/>
          <p:cNvSpPr/>
          <p:nvPr/>
        </p:nvSpPr>
        <p:spPr>
          <a:xfrm>
            <a:off x="7826250" y="1458775"/>
            <a:ext cx="197700" cy="197700"/>
          </a:xfrm>
          <a:prstGeom prst="ellipse">
            <a:avLst/>
          </a:prstGeom>
          <a:solidFill>
            <a:srgbClr val="4A86E8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85725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/>
              <a:t>Q</a:t>
            </a:r>
            <a:r>
              <a:rPr baseline="-25000" lang="es" sz="600"/>
              <a:t>1</a:t>
            </a:r>
            <a:endParaRPr baseline="-25000" sz="600"/>
          </a:p>
        </p:txBody>
      </p:sp>
      <p:sp>
        <p:nvSpPr>
          <p:cNvPr id="237" name="Google Shape;237;p27"/>
          <p:cNvSpPr/>
          <p:nvPr/>
        </p:nvSpPr>
        <p:spPr>
          <a:xfrm>
            <a:off x="8448300" y="1458775"/>
            <a:ext cx="197700" cy="197700"/>
          </a:xfrm>
          <a:prstGeom prst="ellipse">
            <a:avLst/>
          </a:prstGeom>
          <a:solidFill>
            <a:srgbClr val="4A86E8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85725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/>
              <a:t>Q</a:t>
            </a:r>
            <a:r>
              <a:rPr baseline="-25000" lang="es" sz="600"/>
              <a:t>2</a:t>
            </a:r>
            <a:endParaRPr baseline="-25000" sz="600"/>
          </a:p>
        </p:txBody>
      </p:sp>
      <p:sp>
        <p:nvSpPr>
          <p:cNvPr id="238" name="Google Shape;238;p27"/>
          <p:cNvSpPr/>
          <p:nvPr/>
        </p:nvSpPr>
        <p:spPr>
          <a:xfrm>
            <a:off x="7204200" y="2046150"/>
            <a:ext cx="197700" cy="197700"/>
          </a:xfrm>
          <a:prstGeom prst="ellipse">
            <a:avLst/>
          </a:prstGeom>
          <a:solidFill>
            <a:srgbClr val="4A86E8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85725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/>
              <a:t>Q</a:t>
            </a:r>
            <a:r>
              <a:rPr baseline="-25000" lang="es" sz="600"/>
              <a:t>0</a:t>
            </a:r>
            <a:endParaRPr baseline="-25000" sz="600"/>
          </a:p>
        </p:txBody>
      </p:sp>
      <p:cxnSp>
        <p:nvCxnSpPr>
          <p:cNvPr id="239" name="Google Shape;239;p27"/>
          <p:cNvCxnSpPr>
            <a:stCxn id="233" idx="4"/>
            <a:endCxn id="234" idx="0"/>
          </p:cNvCxnSpPr>
          <p:nvPr/>
        </p:nvCxnSpPr>
        <p:spPr>
          <a:xfrm>
            <a:off x="7303050" y="494425"/>
            <a:ext cx="0" cy="3660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0" name="Google Shape;240;p27"/>
          <p:cNvCxnSpPr>
            <a:stCxn id="234" idx="4"/>
            <a:endCxn id="235" idx="0"/>
          </p:cNvCxnSpPr>
          <p:nvPr/>
        </p:nvCxnSpPr>
        <p:spPr>
          <a:xfrm>
            <a:off x="7303050" y="1058225"/>
            <a:ext cx="0" cy="4005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1" name="Google Shape;241;p27"/>
          <p:cNvCxnSpPr>
            <a:stCxn id="234" idx="4"/>
            <a:endCxn id="236" idx="0"/>
          </p:cNvCxnSpPr>
          <p:nvPr/>
        </p:nvCxnSpPr>
        <p:spPr>
          <a:xfrm>
            <a:off x="7303050" y="1058225"/>
            <a:ext cx="622200" cy="4005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2" name="Google Shape;242;p27"/>
          <p:cNvCxnSpPr>
            <a:stCxn id="236" idx="6"/>
            <a:endCxn id="237" idx="2"/>
          </p:cNvCxnSpPr>
          <p:nvPr/>
        </p:nvCxnSpPr>
        <p:spPr>
          <a:xfrm>
            <a:off x="8023950" y="1557625"/>
            <a:ext cx="424500" cy="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3" name="Google Shape;243;p27"/>
          <p:cNvCxnSpPr>
            <a:stCxn id="235" idx="4"/>
            <a:endCxn id="238" idx="0"/>
          </p:cNvCxnSpPr>
          <p:nvPr/>
        </p:nvCxnSpPr>
        <p:spPr>
          <a:xfrm>
            <a:off x="7303050" y="1656475"/>
            <a:ext cx="0" cy="3897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4" name="Google Shape;244;p27"/>
          <p:cNvSpPr/>
          <p:nvPr/>
        </p:nvSpPr>
        <p:spPr>
          <a:xfrm>
            <a:off x="7826250" y="2057025"/>
            <a:ext cx="197700" cy="197700"/>
          </a:xfrm>
          <a:prstGeom prst="ellipse">
            <a:avLst/>
          </a:prstGeom>
          <a:solidFill>
            <a:srgbClr val="4A86E8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85725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/>
              <a:t>Q</a:t>
            </a:r>
            <a:r>
              <a:rPr baseline="-25000" lang="es" sz="600"/>
              <a:t>2</a:t>
            </a:r>
            <a:endParaRPr baseline="-25000" sz="600"/>
          </a:p>
        </p:txBody>
      </p:sp>
      <p:sp>
        <p:nvSpPr>
          <p:cNvPr id="245" name="Google Shape;245;p27"/>
          <p:cNvSpPr/>
          <p:nvPr/>
        </p:nvSpPr>
        <p:spPr>
          <a:xfrm>
            <a:off x="8377350" y="2016012"/>
            <a:ext cx="339600" cy="258000"/>
          </a:xfrm>
          <a:prstGeom prst="mathMultiply">
            <a:avLst>
              <a:gd fmla="val 23520" name="adj1"/>
            </a:avLst>
          </a:prstGeom>
          <a:solidFill>
            <a:srgbClr val="FF0000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6" name="Google Shape;246;p27"/>
          <p:cNvCxnSpPr>
            <a:stCxn id="236" idx="4"/>
            <a:endCxn id="244" idx="0"/>
          </p:cNvCxnSpPr>
          <p:nvPr/>
        </p:nvCxnSpPr>
        <p:spPr>
          <a:xfrm>
            <a:off x="7925100" y="1656475"/>
            <a:ext cx="0" cy="4005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7" name="Google Shape;247;p27"/>
          <p:cNvCxnSpPr/>
          <p:nvPr/>
        </p:nvCxnSpPr>
        <p:spPr>
          <a:xfrm>
            <a:off x="8534700" y="1656475"/>
            <a:ext cx="0" cy="4005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8" name="Google Shape;248;p27"/>
          <p:cNvSpPr/>
          <p:nvPr/>
        </p:nvSpPr>
        <p:spPr>
          <a:xfrm>
            <a:off x="7204200" y="2655750"/>
            <a:ext cx="197700" cy="197700"/>
          </a:xfrm>
          <a:prstGeom prst="ellipse">
            <a:avLst/>
          </a:prstGeom>
          <a:solidFill>
            <a:srgbClr val="4A86E8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85725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/>
              <a:t>Q</a:t>
            </a:r>
            <a:r>
              <a:rPr baseline="-25000" lang="es" sz="600"/>
              <a:t>0</a:t>
            </a:r>
            <a:endParaRPr baseline="-25000" sz="600"/>
          </a:p>
        </p:txBody>
      </p:sp>
      <p:sp>
        <p:nvSpPr>
          <p:cNvPr id="249" name="Google Shape;249;p27"/>
          <p:cNvSpPr/>
          <p:nvPr/>
        </p:nvSpPr>
        <p:spPr>
          <a:xfrm>
            <a:off x="8865200" y="2655275"/>
            <a:ext cx="197700" cy="197700"/>
          </a:xfrm>
          <a:prstGeom prst="ellipse">
            <a:avLst/>
          </a:prstGeom>
          <a:solidFill>
            <a:srgbClr val="4A86E8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85725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/>
              <a:t>Q</a:t>
            </a:r>
            <a:r>
              <a:rPr baseline="-25000" lang="es" sz="600"/>
              <a:t>3</a:t>
            </a:r>
            <a:endParaRPr baseline="-25000" sz="600"/>
          </a:p>
        </p:txBody>
      </p:sp>
      <p:sp>
        <p:nvSpPr>
          <p:cNvPr id="250" name="Google Shape;250;p27"/>
          <p:cNvSpPr/>
          <p:nvPr/>
        </p:nvSpPr>
        <p:spPr>
          <a:xfrm>
            <a:off x="7826250" y="2655275"/>
            <a:ext cx="197700" cy="197700"/>
          </a:xfrm>
          <a:prstGeom prst="ellipse">
            <a:avLst/>
          </a:prstGeom>
          <a:solidFill>
            <a:srgbClr val="4A86E8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85725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/>
              <a:t>Q</a:t>
            </a:r>
            <a:r>
              <a:rPr baseline="-25000" lang="es" sz="600"/>
              <a:t>1</a:t>
            </a:r>
            <a:endParaRPr baseline="-25000" sz="600"/>
          </a:p>
        </p:txBody>
      </p:sp>
      <p:cxnSp>
        <p:nvCxnSpPr>
          <p:cNvPr id="251" name="Google Shape;251;p27"/>
          <p:cNvCxnSpPr>
            <a:stCxn id="238" idx="4"/>
            <a:endCxn id="248" idx="0"/>
          </p:cNvCxnSpPr>
          <p:nvPr/>
        </p:nvCxnSpPr>
        <p:spPr>
          <a:xfrm>
            <a:off x="7303050" y="2243850"/>
            <a:ext cx="0" cy="4119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2" name="Google Shape;252;p27"/>
          <p:cNvCxnSpPr>
            <a:stCxn id="238" idx="4"/>
            <a:endCxn id="250" idx="0"/>
          </p:cNvCxnSpPr>
          <p:nvPr/>
        </p:nvCxnSpPr>
        <p:spPr>
          <a:xfrm>
            <a:off x="7303050" y="2243850"/>
            <a:ext cx="622200" cy="4113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3" name="Google Shape;253;p27"/>
          <p:cNvCxnSpPr>
            <a:stCxn id="244" idx="4"/>
            <a:endCxn id="249" idx="0"/>
          </p:cNvCxnSpPr>
          <p:nvPr/>
        </p:nvCxnSpPr>
        <p:spPr>
          <a:xfrm>
            <a:off x="7925100" y="2254725"/>
            <a:ext cx="1038900" cy="4005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4" name="Google Shape;254;p27"/>
          <p:cNvSpPr/>
          <p:nvPr/>
        </p:nvSpPr>
        <p:spPr>
          <a:xfrm>
            <a:off x="8345725" y="2655225"/>
            <a:ext cx="197700" cy="197700"/>
          </a:xfrm>
          <a:prstGeom prst="ellipse">
            <a:avLst/>
          </a:prstGeom>
          <a:solidFill>
            <a:srgbClr val="4A86E8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85725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/>
              <a:t>Q</a:t>
            </a:r>
            <a:r>
              <a:rPr baseline="-25000" lang="es" sz="600"/>
              <a:t>2</a:t>
            </a:r>
            <a:endParaRPr baseline="-25000" sz="600"/>
          </a:p>
        </p:txBody>
      </p:sp>
      <p:cxnSp>
        <p:nvCxnSpPr>
          <p:cNvPr id="255" name="Google Shape;255;p27"/>
          <p:cNvCxnSpPr>
            <a:stCxn id="250" idx="6"/>
            <a:endCxn id="254" idx="2"/>
          </p:cNvCxnSpPr>
          <p:nvPr/>
        </p:nvCxnSpPr>
        <p:spPr>
          <a:xfrm>
            <a:off x="8023950" y="2754125"/>
            <a:ext cx="321900" cy="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6" name="Google Shape;256;p27"/>
          <p:cNvSpPr/>
          <p:nvPr/>
        </p:nvSpPr>
        <p:spPr>
          <a:xfrm>
            <a:off x="8865200" y="3214050"/>
            <a:ext cx="197700" cy="197700"/>
          </a:xfrm>
          <a:prstGeom prst="ellipse">
            <a:avLst/>
          </a:prstGeom>
          <a:solidFill>
            <a:srgbClr val="4A86E8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85725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/>
              <a:t>Q</a:t>
            </a:r>
            <a:r>
              <a:rPr baseline="-25000" lang="es" sz="600"/>
              <a:t>3</a:t>
            </a:r>
            <a:endParaRPr baseline="-25000" sz="600"/>
          </a:p>
        </p:txBody>
      </p:sp>
      <p:sp>
        <p:nvSpPr>
          <p:cNvPr id="257" name="Google Shape;257;p27"/>
          <p:cNvSpPr/>
          <p:nvPr/>
        </p:nvSpPr>
        <p:spPr>
          <a:xfrm>
            <a:off x="8345725" y="3214050"/>
            <a:ext cx="197700" cy="197700"/>
          </a:xfrm>
          <a:prstGeom prst="ellipse">
            <a:avLst/>
          </a:prstGeom>
          <a:solidFill>
            <a:srgbClr val="4A86E8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85725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/>
              <a:t>Q</a:t>
            </a:r>
            <a:r>
              <a:rPr baseline="-25000" lang="es" sz="600"/>
              <a:t>3</a:t>
            </a:r>
            <a:endParaRPr baseline="-25000" sz="600"/>
          </a:p>
        </p:txBody>
      </p:sp>
      <p:cxnSp>
        <p:nvCxnSpPr>
          <p:cNvPr id="258" name="Google Shape;258;p27"/>
          <p:cNvCxnSpPr>
            <a:stCxn id="254" idx="4"/>
            <a:endCxn id="257" idx="0"/>
          </p:cNvCxnSpPr>
          <p:nvPr/>
        </p:nvCxnSpPr>
        <p:spPr>
          <a:xfrm>
            <a:off x="8444575" y="2852925"/>
            <a:ext cx="0" cy="3612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9" name="Google Shape;259;p27"/>
          <p:cNvCxnSpPr>
            <a:stCxn id="249" idx="4"/>
            <a:endCxn id="256" idx="0"/>
          </p:cNvCxnSpPr>
          <p:nvPr/>
        </p:nvCxnSpPr>
        <p:spPr>
          <a:xfrm>
            <a:off x="8964050" y="2852975"/>
            <a:ext cx="0" cy="3612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0" name="Google Shape;260;p27"/>
          <p:cNvSpPr/>
          <p:nvPr/>
        </p:nvSpPr>
        <p:spPr>
          <a:xfrm>
            <a:off x="7767750" y="3208468"/>
            <a:ext cx="339600" cy="258000"/>
          </a:xfrm>
          <a:prstGeom prst="mathMultiply">
            <a:avLst>
              <a:gd fmla="val 23520" name="adj1"/>
            </a:avLst>
          </a:prstGeom>
          <a:solidFill>
            <a:srgbClr val="FF0000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1" name="Google Shape;261;p27"/>
          <p:cNvCxnSpPr/>
          <p:nvPr/>
        </p:nvCxnSpPr>
        <p:spPr>
          <a:xfrm>
            <a:off x="7925100" y="2848932"/>
            <a:ext cx="0" cy="4005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2" name="Google Shape;262;p27"/>
          <p:cNvSpPr/>
          <p:nvPr/>
        </p:nvSpPr>
        <p:spPr>
          <a:xfrm>
            <a:off x="7204200" y="3189150"/>
            <a:ext cx="197700" cy="197700"/>
          </a:xfrm>
          <a:prstGeom prst="ellipse">
            <a:avLst/>
          </a:prstGeom>
          <a:solidFill>
            <a:srgbClr val="4A86E8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85725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/>
              <a:t>Q</a:t>
            </a:r>
            <a:r>
              <a:rPr baseline="-25000" lang="es" sz="600"/>
              <a:t>0</a:t>
            </a:r>
            <a:endParaRPr baseline="-25000" sz="600"/>
          </a:p>
        </p:txBody>
      </p:sp>
      <p:sp>
        <p:nvSpPr>
          <p:cNvPr id="263" name="Google Shape;263;p27"/>
          <p:cNvSpPr/>
          <p:nvPr/>
        </p:nvSpPr>
        <p:spPr>
          <a:xfrm>
            <a:off x="6683250" y="3188675"/>
            <a:ext cx="197700" cy="197700"/>
          </a:xfrm>
          <a:prstGeom prst="ellipse">
            <a:avLst/>
          </a:prstGeom>
          <a:solidFill>
            <a:srgbClr val="4A86E8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85725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/>
              <a:t>Q</a:t>
            </a:r>
            <a:r>
              <a:rPr baseline="-25000" lang="es" sz="600"/>
              <a:t>1</a:t>
            </a:r>
            <a:endParaRPr baseline="-25000" sz="600"/>
          </a:p>
        </p:txBody>
      </p:sp>
      <p:sp>
        <p:nvSpPr>
          <p:cNvPr id="264" name="Google Shape;264;p27"/>
          <p:cNvSpPr/>
          <p:nvPr/>
        </p:nvSpPr>
        <p:spPr>
          <a:xfrm>
            <a:off x="6135925" y="3188625"/>
            <a:ext cx="197700" cy="197700"/>
          </a:xfrm>
          <a:prstGeom prst="ellipse">
            <a:avLst/>
          </a:prstGeom>
          <a:solidFill>
            <a:srgbClr val="4A86E8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85725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/>
              <a:t>Q</a:t>
            </a:r>
            <a:r>
              <a:rPr baseline="-25000" lang="es" sz="600"/>
              <a:t>2</a:t>
            </a:r>
            <a:endParaRPr baseline="-25000" sz="600"/>
          </a:p>
        </p:txBody>
      </p:sp>
      <p:cxnSp>
        <p:nvCxnSpPr>
          <p:cNvPr id="265" name="Google Shape;265;p27"/>
          <p:cNvCxnSpPr>
            <a:stCxn id="248" idx="4"/>
            <a:endCxn id="262" idx="0"/>
          </p:cNvCxnSpPr>
          <p:nvPr/>
        </p:nvCxnSpPr>
        <p:spPr>
          <a:xfrm>
            <a:off x="7303050" y="2853450"/>
            <a:ext cx="0" cy="3357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6" name="Google Shape;266;p27"/>
          <p:cNvCxnSpPr>
            <a:stCxn id="248" idx="4"/>
            <a:endCxn id="263" idx="0"/>
          </p:cNvCxnSpPr>
          <p:nvPr/>
        </p:nvCxnSpPr>
        <p:spPr>
          <a:xfrm flipH="1">
            <a:off x="6782250" y="2853450"/>
            <a:ext cx="520800" cy="3351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7" name="Google Shape;267;p27"/>
          <p:cNvCxnSpPr>
            <a:stCxn id="263" idx="2"/>
            <a:endCxn id="264" idx="6"/>
          </p:cNvCxnSpPr>
          <p:nvPr/>
        </p:nvCxnSpPr>
        <p:spPr>
          <a:xfrm rot="10800000">
            <a:off x="6333750" y="3287525"/>
            <a:ext cx="349500" cy="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8" name="Google Shape;268;p27"/>
          <p:cNvSpPr/>
          <p:nvPr/>
        </p:nvSpPr>
        <p:spPr>
          <a:xfrm>
            <a:off x="8865200" y="3823650"/>
            <a:ext cx="197700" cy="197700"/>
          </a:xfrm>
          <a:prstGeom prst="ellipse">
            <a:avLst/>
          </a:prstGeom>
          <a:solidFill>
            <a:srgbClr val="4A86E8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85725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/>
              <a:t>Q</a:t>
            </a:r>
            <a:r>
              <a:rPr baseline="-25000" lang="es" sz="600"/>
              <a:t>3</a:t>
            </a:r>
            <a:endParaRPr baseline="-25000" sz="600"/>
          </a:p>
        </p:txBody>
      </p:sp>
      <p:sp>
        <p:nvSpPr>
          <p:cNvPr id="269" name="Google Shape;269;p27"/>
          <p:cNvSpPr/>
          <p:nvPr/>
        </p:nvSpPr>
        <p:spPr>
          <a:xfrm>
            <a:off x="8345725" y="3823650"/>
            <a:ext cx="197700" cy="197700"/>
          </a:xfrm>
          <a:prstGeom prst="ellipse">
            <a:avLst/>
          </a:prstGeom>
          <a:solidFill>
            <a:srgbClr val="4A86E8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85725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/>
              <a:t>Q</a:t>
            </a:r>
            <a:r>
              <a:rPr baseline="-25000" lang="es" sz="600"/>
              <a:t>3</a:t>
            </a:r>
            <a:endParaRPr baseline="-25000" sz="600"/>
          </a:p>
        </p:txBody>
      </p:sp>
      <p:cxnSp>
        <p:nvCxnSpPr>
          <p:cNvPr id="270" name="Google Shape;270;p27"/>
          <p:cNvCxnSpPr>
            <a:stCxn id="256" idx="4"/>
            <a:endCxn id="268" idx="0"/>
          </p:cNvCxnSpPr>
          <p:nvPr/>
        </p:nvCxnSpPr>
        <p:spPr>
          <a:xfrm>
            <a:off x="8964050" y="3411750"/>
            <a:ext cx="0" cy="4119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1" name="Google Shape;271;p27"/>
          <p:cNvCxnSpPr>
            <a:stCxn id="257" idx="4"/>
            <a:endCxn id="269" idx="0"/>
          </p:cNvCxnSpPr>
          <p:nvPr/>
        </p:nvCxnSpPr>
        <p:spPr>
          <a:xfrm>
            <a:off x="8444575" y="3411750"/>
            <a:ext cx="0" cy="4119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2" name="Google Shape;272;p27"/>
          <p:cNvSpPr/>
          <p:nvPr/>
        </p:nvSpPr>
        <p:spPr>
          <a:xfrm>
            <a:off x="7204200" y="3798750"/>
            <a:ext cx="197700" cy="197700"/>
          </a:xfrm>
          <a:prstGeom prst="ellipse">
            <a:avLst/>
          </a:prstGeom>
          <a:solidFill>
            <a:srgbClr val="4A86E8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85725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/>
              <a:t>Q</a:t>
            </a:r>
            <a:r>
              <a:rPr baseline="-25000" lang="es" sz="600"/>
              <a:t>0</a:t>
            </a:r>
            <a:endParaRPr baseline="-25000" sz="600"/>
          </a:p>
        </p:txBody>
      </p:sp>
      <p:cxnSp>
        <p:nvCxnSpPr>
          <p:cNvPr id="273" name="Google Shape;273;p27"/>
          <p:cNvCxnSpPr>
            <a:stCxn id="262" idx="4"/>
            <a:endCxn id="272" idx="0"/>
          </p:cNvCxnSpPr>
          <p:nvPr/>
        </p:nvCxnSpPr>
        <p:spPr>
          <a:xfrm>
            <a:off x="7303050" y="3386850"/>
            <a:ext cx="0" cy="4119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4" name="Google Shape;274;p27"/>
          <p:cNvSpPr/>
          <p:nvPr/>
        </p:nvSpPr>
        <p:spPr>
          <a:xfrm>
            <a:off x="6683246" y="3798747"/>
            <a:ext cx="197700" cy="197700"/>
          </a:xfrm>
          <a:prstGeom prst="ellipse">
            <a:avLst/>
          </a:prstGeom>
          <a:solidFill>
            <a:srgbClr val="4A86E8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85725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/>
              <a:t>Q</a:t>
            </a:r>
            <a:r>
              <a:rPr baseline="-25000" lang="es" sz="600"/>
              <a:t>2</a:t>
            </a:r>
            <a:endParaRPr baseline="-25000" sz="600"/>
          </a:p>
        </p:txBody>
      </p:sp>
      <p:cxnSp>
        <p:nvCxnSpPr>
          <p:cNvPr id="275" name="Google Shape;275;p27"/>
          <p:cNvCxnSpPr>
            <a:stCxn id="263" idx="4"/>
            <a:endCxn id="274" idx="0"/>
          </p:cNvCxnSpPr>
          <p:nvPr/>
        </p:nvCxnSpPr>
        <p:spPr>
          <a:xfrm>
            <a:off x="6782100" y="3386375"/>
            <a:ext cx="0" cy="4125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6" name="Google Shape;276;p27"/>
          <p:cNvSpPr/>
          <p:nvPr/>
        </p:nvSpPr>
        <p:spPr>
          <a:xfrm>
            <a:off x="6066622" y="3741868"/>
            <a:ext cx="339600" cy="258000"/>
          </a:xfrm>
          <a:prstGeom prst="mathMultiply">
            <a:avLst>
              <a:gd fmla="val 23520" name="adj1"/>
            </a:avLst>
          </a:prstGeom>
          <a:solidFill>
            <a:srgbClr val="FF0000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7" name="Google Shape;277;p27"/>
          <p:cNvCxnSpPr/>
          <p:nvPr/>
        </p:nvCxnSpPr>
        <p:spPr>
          <a:xfrm>
            <a:off x="6223972" y="3382332"/>
            <a:ext cx="0" cy="4005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8" name="Google Shape;278;p27"/>
          <p:cNvSpPr/>
          <p:nvPr/>
        </p:nvSpPr>
        <p:spPr>
          <a:xfrm>
            <a:off x="6782099" y="3927876"/>
            <a:ext cx="197700" cy="150300"/>
          </a:xfrm>
          <a:prstGeom prst="mathMultiply">
            <a:avLst>
              <a:gd fmla="val 23520" name="adj1"/>
            </a:avLst>
          </a:prstGeom>
          <a:solidFill>
            <a:srgbClr val="FF0000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7"/>
          <p:cNvSpPr/>
          <p:nvPr/>
        </p:nvSpPr>
        <p:spPr>
          <a:xfrm>
            <a:off x="7303049" y="3920851"/>
            <a:ext cx="197700" cy="150300"/>
          </a:xfrm>
          <a:prstGeom prst="mathMultiply">
            <a:avLst>
              <a:gd fmla="val 23520" name="adj1"/>
            </a:avLst>
          </a:prstGeom>
          <a:solidFill>
            <a:srgbClr val="FF0000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0" name="Google Shape;28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97575" y="3793050"/>
            <a:ext cx="278908" cy="31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30975" y="3793050"/>
            <a:ext cx="278908" cy="31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150" y="1292575"/>
            <a:ext cx="5734050" cy="3228975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8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Ejemplo</a:t>
            </a:r>
            <a:endParaRPr/>
          </a:p>
        </p:txBody>
      </p:sp>
      <p:sp>
        <p:nvSpPr>
          <p:cNvPr id="288" name="Google Shape;288;p28"/>
          <p:cNvSpPr/>
          <p:nvPr/>
        </p:nvSpPr>
        <p:spPr>
          <a:xfrm>
            <a:off x="7204200" y="296725"/>
            <a:ext cx="197700" cy="197700"/>
          </a:xfrm>
          <a:prstGeom prst="ellipse">
            <a:avLst/>
          </a:prstGeom>
          <a:solidFill>
            <a:srgbClr val="4A86E8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85725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/>
              <a:t>Q</a:t>
            </a:r>
            <a:r>
              <a:rPr baseline="-25000" lang="es" sz="600"/>
              <a:t>0</a:t>
            </a:r>
            <a:endParaRPr baseline="-25000" sz="600"/>
          </a:p>
        </p:txBody>
      </p:sp>
      <p:sp>
        <p:nvSpPr>
          <p:cNvPr id="289" name="Google Shape;289;p28"/>
          <p:cNvSpPr/>
          <p:nvPr/>
        </p:nvSpPr>
        <p:spPr>
          <a:xfrm>
            <a:off x="7204200" y="860525"/>
            <a:ext cx="197700" cy="197700"/>
          </a:xfrm>
          <a:prstGeom prst="ellipse">
            <a:avLst/>
          </a:prstGeom>
          <a:solidFill>
            <a:srgbClr val="4A86E8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85725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/>
              <a:t>Q</a:t>
            </a:r>
            <a:r>
              <a:rPr baseline="-25000" lang="es" sz="600"/>
              <a:t>0</a:t>
            </a:r>
            <a:endParaRPr baseline="-25000" sz="600"/>
          </a:p>
        </p:txBody>
      </p:sp>
      <p:sp>
        <p:nvSpPr>
          <p:cNvPr id="290" name="Google Shape;290;p28"/>
          <p:cNvSpPr/>
          <p:nvPr/>
        </p:nvSpPr>
        <p:spPr>
          <a:xfrm>
            <a:off x="7204200" y="1458775"/>
            <a:ext cx="197700" cy="197700"/>
          </a:xfrm>
          <a:prstGeom prst="ellipse">
            <a:avLst/>
          </a:prstGeom>
          <a:solidFill>
            <a:srgbClr val="4A86E8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85725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/>
              <a:t>Q</a:t>
            </a:r>
            <a:r>
              <a:rPr baseline="-25000" lang="es" sz="600"/>
              <a:t>0</a:t>
            </a:r>
            <a:endParaRPr baseline="-25000" sz="600"/>
          </a:p>
        </p:txBody>
      </p:sp>
      <p:sp>
        <p:nvSpPr>
          <p:cNvPr id="291" name="Google Shape;291;p28"/>
          <p:cNvSpPr/>
          <p:nvPr/>
        </p:nvSpPr>
        <p:spPr>
          <a:xfrm>
            <a:off x="7826250" y="1458775"/>
            <a:ext cx="197700" cy="197700"/>
          </a:xfrm>
          <a:prstGeom prst="ellipse">
            <a:avLst/>
          </a:prstGeom>
          <a:solidFill>
            <a:srgbClr val="4A86E8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85725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/>
              <a:t>Q</a:t>
            </a:r>
            <a:r>
              <a:rPr baseline="-25000" lang="es" sz="600"/>
              <a:t>1</a:t>
            </a:r>
            <a:endParaRPr baseline="-25000" sz="600"/>
          </a:p>
        </p:txBody>
      </p:sp>
      <p:sp>
        <p:nvSpPr>
          <p:cNvPr id="292" name="Google Shape;292;p28"/>
          <p:cNvSpPr/>
          <p:nvPr/>
        </p:nvSpPr>
        <p:spPr>
          <a:xfrm>
            <a:off x="8448300" y="1458775"/>
            <a:ext cx="197700" cy="197700"/>
          </a:xfrm>
          <a:prstGeom prst="ellipse">
            <a:avLst/>
          </a:prstGeom>
          <a:solidFill>
            <a:srgbClr val="4A86E8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85725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/>
              <a:t>Q</a:t>
            </a:r>
            <a:r>
              <a:rPr baseline="-25000" lang="es" sz="600"/>
              <a:t>2</a:t>
            </a:r>
            <a:endParaRPr baseline="-25000" sz="600"/>
          </a:p>
        </p:txBody>
      </p:sp>
      <p:sp>
        <p:nvSpPr>
          <p:cNvPr id="293" name="Google Shape;293;p28"/>
          <p:cNvSpPr/>
          <p:nvPr/>
        </p:nvSpPr>
        <p:spPr>
          <a:xfrm>
            <a:off x="7204200" y="2046150"/>
            <a:ext cx="197700" cy="197700"/>
          </a:xfrm>
          <a:prstGeom prst="ellipse">
            <a:avLst/>
          </a:prstGeom>
          <a:solidFill>
            <a:srgbClr val="4A86E8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85725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/>
              <a:t>Q</a:t>
            </a:r>
            <a:r>
              <a:rPr baseline="-25000" lang="es" sz="600"/>
              <a:t>0</a:t>
            </a:r>
            <a:endParaRPr baseline="-25000" sz="600"/>
          </a:p>
        </p:txBody>
      </p:sp>
      <p:cxnSp>
        <p:nvCxnSpPr>
          <p:cNvPr id="294" name="Google Shape;294;p28"/>
          <p:cNvCxnSpPr>
            <a:stCxn id="288" idx="4"/>
            <a:endCxn id="289" idx="0"/>
          </p:cNvCxnSpPr>
          <p:nvPr/>
        </p:nvCxnSpPr>
        <p:spPr>
          <a:xfrm>
            <a:off x="7303050" y="494425"/>
            <a:ext cx="0" cy="3660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5" name="Google Shape;295;p28"/>
          <p:cNvCxnSpPr>
            <a:stCxn id="289" idx="4"/>
            <a:endCxn id="290" idx="0"/>
          </p:cNvCxnSpPr>
          <p:nvPr/>
        </p:nvCxnSpPr>
        <p:spPr>
          <a:xfrm>
            <a:off x="7303050" y="1058225"/>
            <a:ext cx="0" cy="4005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6" name="Google Shape;296;p28"/>
          <p:cNvCxnSpPr>
            <a:stCxn id="289" idx="4"/>
            <a:endCxn id="291" idx="0"/>
          </p:cNvCxnSpPr>
          <p:nvPr/>
        </p:nvCxnSpPr>
        <p:spPr>
          <a:xfrm>
            <a:off x="7303050" y="1058225"/>
            <a:ext cx="622200" cy="4005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7" name="Google Shape;297;p28"/>
          <p:cNvCxnSpPr>
            <a:stCxn id="291" idx="6"/>
            <a:endCxn id="292" idx="2"/>
          </p:cNvCxnSpPr>
          <p:nvPr/>
        </p:nvCxnSpPr>
        <p:spPr>
          <a:xfrm>
            <a:off x="8023950" y="1557625"/>
            <a:ext cx="424500" cy="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8" name="Google Shape;298;p28"/>
          <p:cNvCxnSpPr>
            <a:stCxn id="290" idx="4"/>
            <a:endCxn id="293" idx="0"/>
          </p:cNvCxnSpPr>
          <p:nvPr/>
        </p:nvCxnSpPr>
        <p:spPr>
          <a:xfrm>
            <a:off x="7303050" y="1656475"/>
            <a:ext cx="0" cy="3897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9" name="Google Shape;299;p28"/>
          <p:cNvSpPr/>
          <p:nvPr/>
        </p:nvSpPr>
        <p:spPr>
          <a:xfrm>
            <a:off x="7826250" y="2057025"/>
            <a:ext cx="197700" cy="197700"/>
          </a:xfrm>
          <a:prstGeom prst="ellipse">
            <a:avLst/>
          </a:prstGeom>
          <a:solidFill>
            <a:srgbClr val="4A86E8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85725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/>
              <a:t>Q</a:t>
            </a:r>
            <a:r>
              <a:rPr baseline="-25000" lang="es" sz="600"/>
              <a:t>2</a:t>
            </a:r>
            <a:endParaRPr baseline="-25000" sz="600"/>
          </a:p>
        </p:txBody>
      </p:sp>
      <p:sp>
        <p:nvSpPr>
          <p:cNvPr id="300" name="Google Shape;300;p28"/>
          <p:cNvSpPr/>
          <p:nvPr/>
        </p:nvSpPr>
        <p:spPr>
          <a:xfrm>
            <a:off x="8377350" y="2016012"/>
            <a:ext cx="339600" cy="258000"/>
          </a:xfrm>
          <a:prstGeom prst="mathMultiply">
            <a:avLst>
              <a:gd fmla="val 23520" name="adj1"/>
            </a:avLst>
          </a:prstGeom>
          <a:solidFill>
            <a:srgbClr val="FF0000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01" name="Google Shape;301;p28"/>
          <p:cNvCxnSpPr>
            <a:stCxn id="291" idx="4"/>
            <a:endCxn id="299" idx="0"/>
          </p:cNvCxnSpPr>
          <p:nvPr/>
        </p:nvCxnSpPr>
        <p:spPr>
          <a:xfrm>
            <a:off x="7925100" y="1656475"/>
            <a:ext cx="0" cy="4005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2" name="Google Shape;302;p28"/>
          <p:cNvCxnSpPr/>
          <p:nvPr/>
        </p:nvCxnSpPr>
        <p:spPr>
          <a:xfrm>
            <a:off x="8534700" y="1656475"/>
            <a:ext cx="0" cy="4005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3" name="Google Shape;303;p28"/>
          <p:cNvSpPr/>
          <p:nvPr/>
        </p:nvSpPr>
        <p:spPr>
          <a:xfrm>
            <a:off x="7204200" y="2655750"/>
            <a:ext cx="197700" cy="197700"/>
          </a:xfrm>
          <a:prstGeom prst="ellipse">
            <a:avLst/>
          </a:prstGeom>
          <a:solidFill>
            <a:srgbClr val="4A86E8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85725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/>
              <a:t>Q</a:t>
            </a:r>
            <a:r>
              <a:rPr baseline="-25000" lang="es" sz="600"/>
              <a:t>0</a:t>
            </a:r>
            <a:endParaRPr baseline="-25000" sz="600"/>
          </a:p>
        </p:txBody>
      </p:sp>
      <p:sp>
        <p:nvSpPr>
          <p:cNvPr id="304" name="Google Shape;304;p28"/>
          <p:cNvSpPr/>
          <p:nvPr/>
        </p:nvSpPr>
        <p:spPr>
          <a:xfrm>
            <a:off x="8865200" y="2655275"/>
            <a:ext cx="197700" cy="197700"/>
          </a:xfrm>
          <a:prstGeom prst="ellipse">
            <a:avLst/>
          </a:prstGeom>
          <a:solidFill>
            <a:srgbClr val="4A86E8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85725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/>
              <a:t>Q</a:t>
            </a:r>
            <a:r>
              <a:rPr baseline="-25000" lang="es" sz="600"/>
              <a:t>3</a:t>
            </a:r>
            <a:endParaRPr baseline="-25000" sz="600"/>
          </a:p>
        </p:txBody>
      </p:sp>
      <p:sp>
        <p:nvSpPr>
          <p:cNvPr id="305" name="Google Shape;305;p28"/>
          <p:cNvSpPr/>
          <p:nvPr/>
        </p:nvSpPr>
        <p:spPr>
          <a:xfrm>
            <a:off x="7826250" y="2655275"/>
            <a:ext cx="197700" cy="197700"/>
          </a:xfrm>
          <a:prstGeom prst="ellipse">
            <a:avLst/>
          </a:prstGeom>
          <a:solidFill>
            <a:srgbClr val="4A86E8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85725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/>
              <a:t>Q</a:t>
            </a:r>
            <a:r>
              <a:rPr baseline="-25000" lang="es" sz="600"/>
              <a:t>1</a:t>
            </a:r>
            <a:endParaRPr baseline="-25000" sz="600"/>
          </a:p>
        </p:txBody>
      </p:sp>
      <p:cxnSp>
        <p:nvCxnSpPr>
          <p:cNvPr id="306" name="Google Shape;306;p28"/>
          <p:cNvCxnSpPr>
            <a:stCxn id="293" idx="4"/>
            <a:endCxn id="303" idx="0"/>
          </p:cNvCxnSpPr>
          <p:nvPr/>
        </p:nvCxnSpPr>
        <p:spPr>
          <a:xfrm>
            <a:off x="7303050" y="2243850"/>
            <a:ext cx="0" cy="4119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7" name="Google Shape;307;p28"/>
          <p:cNvCxnSpPr>
            <a:stCxn id="293" idx="4"/>
            <a:endCxn id="305" idx="0"/>
          </p:cNvCxnSpPr>
          <p:nvPr/>
        </p:nvCxnSpPr>
        <p:spPr>
          <a:xfrm>
            <a:off x="7303050" y="2243850"/>
            <a:ext cx="622200" cy="4113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8" name="Google Shape;308;p28"/>
          <p:cNvCxnSpPr>
            <a:stCxn id="299" idx="4"/>
            <a:endCxn id="304" idx="0"/>
          </p:cNvCxnSpPr>
          <p:nvPr/>
        </p:nvCxnSpPr>
        <p:spPr>
          <a:xfrm>
            <a:off x="7925100" y="2254725"/>
            <a:ext cx="1038900" cy="4005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9" name="Google Shape;309;p28"/>
          <p:cNvSpPr/>
          <p:nvPr/>
        </p:nvSpPr>
        <p:spPr>
          <a:xfrm>
            <a:off x="8345725" y="2655225"/>
            <a:ext cx="197700" cy="197700"/>
          </a:xfrm>
          <a:prstGeom prst="ellipse">
            <a:avLst/>
          </a:prstGeom>
          <a:solidFill>
            <a:srgbClr val="4A86E8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85725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/>
              <a:t>Q</a:t>
            </a:r>
            <a:r>
              <a:rPr baseline="-25000" lang="es" sz="600"/>
              <a:t>2</a:t>
            </a:r>
            <a:endParaRPr baseline="-25000" sz="600"/>
          </a:p>
        </p:txBody>
      </p:sp>
      <p:cxnSp>
        <p:nvCxnSpPr>
          <p:cNvPr id="310" name="Google Shape;310;p28"/>
          <p:cNvCxnSpPr>
            <a:stCxn id="305" idx="6"/>
            <a:endCxn id="309" idx="2"/>
          </p:cNvCxnSpPr>
          <p:nvPr/>
        </p:nvCxnSpPr>
        <p:spPr>
          <a:xfrm>
            <a:off x="8023950" y="2754125"/>
            <a:ext cx="321900" cy="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1" name="Google Shape;311;p28"/>
          <p:cNvSpPr/>
          <p:nvPr/>
        </p:nvSpPr>
        <p:spPr>
          <a:xfrm>
            <a:off x="8865200" y="3214050"/>
            <a:ext cx="197700" cy="197700"/>
          </a:xfrm>
          <a:prstGeom prst="ellipse">
            <a:avLst/>
          </a:prstGeom>
          <a:solidFill>
            <a:srgbClr val="4A86E8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85725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/>
              <a:t>Q</a:t>
            </a:r>
            <a:r>
              <a:rPr baseline="-25000" lang="es" sz="600"/>
              <a:t>3</a:t>
            </a:r>
            <a:endParaRPr baseline="-25000" sz="600"/>
          </a:p>
        </p:txBody>
      </p:sp>
      <p:sp>
        <p:nvSpPr>
          <p:cNvPr id="312" name="Google Shape;312;p28"/>
          <p:cNvSpPr/>
          <p:nvPr/>
        </p:nvSpPr>
        <p:spPr>
          <a:xfrm>
            <a:off x="8345725" y="3214050"/>
            <a:ext cx="197700" cy="197700"/>
          </a:xfrm>
          <a:prstGeom prst="ellipse">
            <a:avLst/>
          </a:prstGeom>
          <a:solidFill>
            <a:srgbClr val="4A86E8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85725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/>
              <a:t>Q</a:t>
            </a:r>
            <a:r>
              <a:rPr baseline="-25000" lang="es" sz="600"/>
              <a:t>3</a:t>
            </a:r>
            <a:endParaRPr baseline="-25000" sz="600"/>
          </a:p>
        </p:txBody>
      </p:sp>
      <p:cxnSp>
        <p:nvCxnSpPr>
          <p:cNvPr id="313" name="Google Shape;313;p28"/>
          <p:cNvCxnSpPr>
            <a:stCxn id="309" idx="4"/>
            <a:endCxn id="312" idx="0"/>
          </p:cNvCxnSpPr>
          <p:nvPr/>
        </p:nvCxnSpPr>
        <p:spPr>
          <a:xfrm>
            <a:off x="8444575" y="2852925"/>
            <a:ext cx="0" cy="3612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4" name="Google Shape;314;p28"/>
          <p:cNvCxnSpPr>
            <a:stCxn id="304" idx="4"/>
            <a:endCxn id="311" idx="0"/>
          </p:cNvCxnSpPr>
          <p:nvPr/>
        </p:nvCxnSpPr>
        <p:spPr>
          <a:xfrm>
            <a:off x="8964050" y="2852975"/>
            <a:ext cx="0" cy="3612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5" name="Google Shape;315;p28"/>
          <p:cNvSpPr/>
          <p:nvPr/>
        </p:nvSpPr>
        <p:spPr>
          <a:xfrm>
            <a:off x="7767750" y="3208468"/>
            <a:ext cx="339600" cy="258000"/>
          </a:xfrm>
          <a:prstGeom prst="mathMultiply">
            <a:avLst>
              <a:gd fmla="val 23520" name="adj1"/>
            </a:avLst>
          </a:prstGeom>
          <a:solidFill>
            <a:srgbClr val="FF0000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16" name="Google Shape;316;p28"/>
          <p:cNvCxnSpPr/>
          <p:nvPr/>
        </p:nvCxnSpPr>
        <p:spPr>
          <a:xfrm>
            <a:off x="7925100" y="2848932"/>
            <a:ext cx="0" cy="4005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7" name="Google Shape;317;p28"/>
          <p:cNvSpPr/>
          <p:nvPr/>
        </p:nvSpPr>
        <p:spPr>
          <a:xfrm>
            <a:off x="7204200" y="3189150"/>
            <a:ext cx="197700" cy="197700"/>
          </a:xfrm>
          <a:prstGeom prst="ellipse">
            <a:avLst/>
          </a:prstGeom>
          <a:solidFill>
            <a:srgbClr val="4A86E8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85725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/>
              <a:t>Q</a:t>
            </a:r>
            <a:r>
              <a:rPr baseline="-25000" lang="es" sz="600"/>
              <a:t>0</a:t>
            </a:r>
            <a:endParaRPr baseline="-25000" sz="600"/>
          </a:p>
        </p:txBody>
      </p:sp>
      <p:sp>
        <p:nvSpPr>
          <p:cNvPr id="318" name="Google Shape;318;p28"/>
          <p:cNvSpPr/>
          <p:nvPr/>
        </p:nvSpPr>
        <p:spPr>
          <a:xfrm>
            <a:off x="6683250" y="3188675"/>
            <a:ext cx="197700" cy="197700"/>
          </a:xfrm>
          <a:prstGeom prst="ellipse">
            <a:avLst/>
          </a:prstGeom>
          <a:solidFill>
            <a:srgbClr val="4A86E8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85725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/>
              <a:t>Q</a:t>
            </a:r>
            <a:r>
              <a:rPr baseline="-25000" lang="es" sz="600"/>
              <a:t>1</a:t>
            </a:r>
            <a:endParaRPr baseline="-25000" sz="600"/>
          </a:p>
        </p:txBody>
      </p:sp>
      <p:sp>
        <p:nvSpPr>
          <p:cNvPr id="319" name="Google Shape;319;p28"/>
          <p:cNvSpPr/>
          <p:nvPr/>
        </p:nvSpPr>
        <p:spPr>
          <a:xfrm>
            <a:off x="6135925" y="3188625"/>
            <a:ext cx="197700" cy="197700"/>
          </a:xfrm>
          <a:prstGeom prst="ellipse">
            <a:avLst/>
          </a:prstGeom>
          <a:solidFill>
            <a:srgbClr val="4A86E8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85725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/>
              <a:t>Q</a:t>
            </a:r>
            <a:r>
              <a:rPr baseline="-25000" lang="es" sz="600"/>
              <a:t>2</a:t>
            </a:r>
            <a:endParaRPr baseline="-25000" sz="600"/>
          </a:p>
        </p:txBody>
      </p:sp>
      <p:cxnSp>
        <p:nvCxnSpPr>
          <p:cNvPr id="320" name="Google Shape;320;p28"/>
          <p:cNvCxnSpPr>
            <a:stCxn id="303" idx="4"/>
            <a:endCxn id="317" idx="0"/>
          </p:cNvCxnSpPr>
          <p:nvPr/>
        </p:nvCxnSpPr>
        <p:spPr>
          <a:xfrm>
            <a:off x="7303050" y="2853450"/>
            <a:ext cx="0" cy="3357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1" name="Google Shape;321;p28"/>
          <p:cNvCxnSpPr>
            <a:stCxn id="303" idx="4"/>
            <a:endCxn id="318" idx="0"/>
          </p:cNvCxnSpPr>
          <p:nvPr/>
        </p:nvCxnSpPr>
        <p:spPr>
          <a:xfrm flipH="1">
            <a:off x="6782250" y="2853450"/>
            <a:ext cx="520800" cy="3351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2" name="Google Shape;322;p28"/>
          <p:cNvCxnSpPr>
            <a:stCxn id="318" idx="2"/>
            <a:endCxn id="319" idx="6"/>
          </p:cNvCxnSpPr>
          <p:nvPr/>
        </p:nvCxnSpPr>
        <p:spPr>
          <a:xfrm rot="10800000">
            <a:off x="6333750" y="3287525"/>
            <a:ext cx="349500" cy="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3" name="Google Shape;323;p28"/>
          <p:cNvSpPr/>
          <p:nvPr/>
        </p:nvSpPr>
        <p:spPr>
          <a:xfrm>
            <a:off x="8865200" y="3823650"/>
            <a:ext cx="197700" cy="197700"/>
          </a:xfrm>
          <a:prstGeom prst="ellipse">
            <a:avLst/>
          </a:prstGeom>
          <a:solidFill>
            <a:srgbClr val="4A86E8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85725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/>
              <a:t>Q</a:t>
            </a:r>
            <a:r>
              <a:rPr baseline="-25000" lang="es" sz="600"/>
              <a:t>3</a:t>
            </a:r>
            <a:endParaRPr baseline="-25000" sz="600"/>
          </a:p>
        </p:txBody>
      </p:sp>
      <p:sp>
        <p:nvSpPr>
          <p:cNvPr id="324" name="Google Shape;324;p28"/>
          <p:cNvSpPr/>
          <p:nvPr/>
        </p:nvSpPr>
        <p:spPr>
          <a:xfrm>
            <a:off x="8345725" y="3823650"/>
            <a:ext cx="197700" cy="197700"/>
          </a:xfrm>
          <a:prstGeom prst="ellipse">
            <a:avLst/>
          </a:prstGeom>
          <a:solidFill>
            <a:srgbClr val="4A86E8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85725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/>
              <a:t>Q</a:t>
            </a:r>
            <a:r>
              <a:rPr baseline="-25000" lang="es" sz="600"/>
              <a:t>3</a:t>
            </a:r>
            <a:endParaRPr baseline="-25000" sz="600"/>
          </a:p>
        </p:txBody>
      </p:sp>
      <p:cxnSp>
        <p:nvCxnSpPr>
          <p:cNvPr id="325" name="Google Shape;325;p28"/>
          <p:cNvCxnSpPr>
            <a:stCxn id="311" idx="4"/>
            <a:endCxn id="323" idx="0"/>
          </p:cNvCxnSpPr>
          <p:nvPr/>
        </p:nvCxnSpPr>
        <p:spPr>
          <a:xfrm>
            <a:off x="8964050" y="3411750"/>
            <a:ext cx="0" cy="4119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6" name="Google Shape;326;p28"/>
          <p:cNvCxnSpPr>
            <a:stCxn id="312" idx="4"/>
            <a:endCxn id="324" idx="0"/>
          </p:cNvCxnSpPr>
          <p:nvPr/>
        </p:nvCxnSpPr>
        <p:spPr>
          <a:xfrm>
            <a:off x="8444575" y="3411750"/>
            <a:ext cx="0" cy="4119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7" name="Google Shape;327;p28"/>
          <p:cNvSpPr/>
          <p:nvPr/>
        </p:nvSpPr>
        <p:spPr>
          <a:xfrm>
            <a:off x="7204200" y="3798750"/>
            <a:ext cx="197700" cy="197700"/>
          </a:xfrm>
          <a:prstGeom prst="ellipse">
            <a:avLst/>
          </a:prstGeom>
          <a:solidFill>
            <a:srgbClr val="4A86E8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85725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/>
              <a:t>Q</a:t>
            </a:r>
            <a:r>
              <a:rPr baseline="-25000" lang="es" sz="600"/>
              <a:t>0</a:t>
            </a:r>
            <a:endParaRPr baseline="-25000" sz="600"/>
          </a:p>
        </p:txBody>
      </p:sp>
      <p:cxnSp>
        <p:nvCxnSpPr>
          <p:cNvPr id="328" name="Google Shape;328;p28"/>
          <p:cNvCxnSpPr>
            <a:stCxn id="317" idx="4"/>
            <a:endCxn id="327" idx="0"/>
          </p:cNvCxnSpPr>
          <p:nvPr/>
        </p:nvCxnSpPr>
        <p:spPr>
          <a:xfrm>
            <a:off x="7303050" y="3386850"/>
            <a:ext cx="0" cy="4119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9" name="Google Shape;329;p28"/>
          <p:cNvSpPr/>
          <p:nvPr/>
        </p:nvSpPr>
        <p:spPr>
          <a:xfrm>
            <a:off x="6683246" y="3798747"/>
            <a:ext cx="197700" cy="197700"/>
          </a:xfrm>
          <a:prstGeom prst="ellipse">
            <a:avLst/>
          </a:prstGeom>
          <a:solidFill>
            <a:srgbClr val="4A86E8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85725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/>
              <a:t>Q</a:t>
            </a:r>
            <a:r>
              <a:rPr baseline="-25000" lang="es" sz="600"/>
              <a:t>2</a:t>
            </a:r>
            <a:endParaRPr baseline="-25000" sz="600"/>
          </a:p>
        </p:txBody>
      </p:sp>
      <p:cxnSp>
        <p:nvCxnSpPr>
          <p:cNvPr id="330" name="Google Shape;330;p28"/>
          <p:cNvCxnSpPr>
            <a:stCxn id="318" idx="4"/>
            <a:endCxn id="329" idx="0"/>
          </p:cNvCxnSpPr>
          <p:nvPr/>
        </p:nvCxnSpPr>
        <p:spPr>
          <a:xfrm>
            <a:off x="6782100" y="3386375"/>
            <a:ext cx="0" cy="4125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1" name="Google Shape;331;p28"/>
          <p:cNvSpPr/>
          <p:nvPr/>
        </p:nvSpPr>
        <p:spPr>
          <a:xfrm>
            <a:off x="6066622" y="3741868"/>
            <a:ext cx="339600" cy="258000"/>
          </a:xfrm>
          <a:prstGeom prst="mathMultiply">
            <a:avLst>
              <a:gd fmla="val 23520" name="adj1"/>
            </a:avLst>
          </a:prstGeom>
          <a:solidFill>
            <a:srgbClr val="FF0000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32" name="Google Shape;332;p28"/>
          <p:cNvCxnSpPr/>
          <p:nvPr/>
        </p:nvCxnSpPr>
        <p:spPr>
          <a:xfrm>
            <a:off x="6223972" y="3382332"/>
            <a:ext cx="0" cy="4005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3" name="Google Shape;333;p28"/>
          <p:cNvSpPr/>
          <p:nvPr/>
        </p:nvSpPr>
        <p:spPr>
          <a:xfrm>
            <a:off x="6782099" y="3927876"/>
            <a:ext cx="197700" cy="150300"/>
          </a:xfrm>
          <a:prstGeom prst="mathMultiply">
            <a:avLst>
              <a:gd fmla="val 23520" name="adj1"/>
            </a:avLst>
          </a:prstGeom>
          <a:solidFill>
            <a:srgbClr val="FF0000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28"/>
          <p:cNvSpPr/>
          <p:nvPr/>
        </p:nvSpPr>
        <p:spPr>
          <a:xfrm>
            <a:off x="7303049" y="3920851"/>
            <a:ext cx="197700" cy="150300"/>
          </a:xfrm>
          <a:prstGeom prst="mathMultiply">
            <a:avLst>
              <a:gd fmla="val 23520" name="adj1"/>
            </a:avLst>
          </a:prstGeom>
          <a:solidFill>
            <a:srgbClr val="FF0000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5" name="Google Shape;335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97575" y="3793050"/>
            <a:ext cx="278908" cy="31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30975" y="3793050"/>
            <a:ext cx="278908" cy="31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9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¿Alguno de estos modelos tiene más poder de </a:t>
            </a:r>
            <a:r>
              <a:rPr lang="es"/>
              <a:t>cómputo</a:t>
            </a:r>
            <a:r>
              <a:rPr lang="es"/>
              <a:t>?</a:t>
            </a:r>
            <a:endParaRPr/>
          </a:p>
        </p:txBody>
      </p:sp>
      <p:sp>
        <p:nvSpPr>
          <p:cNvPr id="342" name="Google Shape;342;p29"/>
          <p:cNvSpPr txBox="1"/>
          <p:nvPr>
            <p:ph idx="1" type="body"/>
          </p:nvPr>
        </p:nvSpPr>
        <p:spPr>
          <a:xfrm>
            <a:off x="311700" y="14002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Dos máquinas son equivalentes sii ambos reconocen el mismo lenguaje.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Para todo Autómata Finito Determinístico tenemos un Autómata Finito No Determinístico, pero…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¿Vale la recíproca?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0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Respuesta: </a:t>
            </a:r>
            <a:endParaRPr/>
          </a:p>
        </p:txBody>
      </p:sp>
      <p:pic>
        <p:nvPicPr>
          <p:cNvPr id="348" name="Google Shape;34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1269" y="1210625"/>
            <a:ext cx="3381463" cy="378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Ejemplo</a:t>
            </a:r>
            <a:endParaRPr/>
          </a:p>
        </p:txBody>
      </p:sp>
      <p:sp>
        <p:nvSpPr>
          <p:cNvPr id="354" name="Google Shape;354;p31"/>
          <p:cNvSpPr/>
          <p:nvPr/>
        </p:nvSpPr>
        <p:spPr>
          <a:xfrm>
            <a:off x="7204200" y="296725"/>
            <a:ext cx="197700" cy="197700"/>
          </a:xfrm>
          <a:prstGeom prst="ellipse">
            <a:avLst/>
          </a:prstGeom>
          <a:solidFill>
            <a:srgbClr val="4A86E8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85725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/>
              <a:t>Q</a:t>
            </a:r>
            <a:r>
              <a:rPr baseline="-25000" lang="es" sz="600"/>
              <a:t>0</a:t>
            </a:r>
            <a:endParaRPr baseline="-25000" sz="600"/>
          </a:p>
        </p:txBody>
      </p:sp>
      <p:sp>
        <p:nvSpPr>
          <p:cNvPr id="355" name="Google Shape;355;p31"/>
          <p:cNvSpPr/>
          <p:nvPr/>
        </p:nvSpPr>
        <p:spPr>
          <a:xfrm>
            <a:off x="7204200" y="860525"/>
            <a:ext cx="197700" cy="197700"/>
          </a:xfrm>
          <a:prstGeom prst="ellipse">
            <a:avLst/>
          </a:prstGeom>
          <a:solidFill>
            <a:srgbClr val="4A86E8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85725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/>
              <a:t>Q</a:t>
            </a:r>
            <a:r>
              <a:rPr baseline="-25000" lang="es" sz="600"/>
              <a:t>0</a:t>
            </a:r>
            <a:endParaRPr baseline="-25000" sz="600"/>
          </a:p>
        </p:txBody>
      </p:sp>
      <p:sp>
        <p:nvSpPr>
          <p:cNvPr id="356" name="Google Shape;356;p31"/>
          <p:cNvSpPr/>
          <p:nvPr/>
        </p:nvSpPr>
        <p:spPr>
          <a:xfrm>
            <a:off x="7204200" y="1458775"/>
            <a:ext cx="197700" cy="197700"/>
          </a:xfrm>
          <a:prstGeom prst="ellipse">
            <a:avLst/>
          </a:prstGeom>
          <a:solidFill>
            <a:srgbClr val="4A86E8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85725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/>
              <a:t>Q</a:t>
            </a:r>
            <a:r>
              <a:rPr baseline="-25000" lang="es" sz="600"/>
              <a:t>0</a:t>
            </a:r>
            <a:endParaRPr baseline="-25000" sz="600"/>
          </a:p>
        </p:txBody>
      </p:sp>
      <p:sp>
        <p:nvSpPr>
          <p:cNvPr id="357" name="Google Shape;357;p31"/>
          <p:cNvSpPr/>
          <p:nvPr/>
        </p:nvSpPr>
        <p:spPr>
          <a:xfrm>
            <a:off x="7826250" y="1458775"/>
            <a:ext cx="197700" cy="197700"/>
          </a:xfrm>
          <a:prstGeom prst="ellipse">
            <a:avLst/>
          </a:prstGeom>
          <a:solidFill>
            <a:srgbClr val="4A86E8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85725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/>
              <a:t>Q</a:t>
            </a:r>
            <a:r>
              <a:rPr baseline="-25000" lang="es" sz="600"/>
              <a:t>1</a:t>
            </a:r>
            <a:endParaRPr baseline="-25000" sz="600"/>
          </a:p>
        </p:txBody>
      </p:sp>
      <p:sp>
        <p:nvSpPr>
          <p:cNvPr id="358" name="Google Shape;358;p31"/>
          <p:cNvSpPr/>
          <p:nvPr/>
        </p:nvSpPr>
        <p:spPr>
          <a:xfrm>
            <a:off x="8448300" y="1458775"/>
            <a:ext cx="197700" cy="197700"/>
          </a:xfrm>
          <a:prstGeom prst="ellipse">
            <a:avLst/>
          </a:prstGeom>
          <a:solidFill>
            <a:srgbClr val="4A86E8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85725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/>
              <a:t>Q</a:t>
            </a:r>
            <a:r>
              <a:rPr baseline="-25000" lang="es" sz="600"/>
              <a:t>2</a:t>
            </a:r>
            <a:endParaRPr baseline="-25000" sz="600"/>
          </a:p>
        </p:txBody>
      </p:sp>
      <p:sp>
        <p:nvSpPr>
          <p:cNvPr id="359" name="Google Shape;359;p31"/>
          <p:cNvSpPr/>
          <p:nvPr/>
        </p:nvSpPr>
        <p:spPr>
          <a:xfrm>
            <a:off x="7204200" y="2046150"/>
            <a:ext cx="197700" cy="197700"/>
          </a:xfrm>
          <a:prstGeom prst="ellipse">
            <a:avLst/>
          </a:prstGeom>
          <a:solidFill>
            <a:srgbClr val="4A86E8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85725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/>
              <a:t>Q</a:t>
            </a:r>
            <a:r>
              <a:rPr baseline="-25000" lang="es" sz="600"/>
              <a:t>0</a:t>
            </a:r>
            <a:endParaRPr baseline="-25000" sz="600"/>
          </a:p>
        </p:txBody>
      </p:sp>
      <p:cxnSp>
        <p:nvCxnSpPr>
          <p:cNvPr id="360" name="Google Shape;360;p31"/>
          <p:cNvCxnSpPr>
            <a:stCxn id="354" idx="4"/>
            <a:endCxn id="355" idx="0"/>
          </p:cNvCxnSpPr>
          <p:nvPr/>
        </p:nvCxnSpPr>
        <p:spPr>
          <a:xfrm>
            <a:off x="7303050" y="494425"/>
            <a:ext cx="0" cy="3660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1" name="Google Shape;361;p31"/>
          <p:cNvCxnSpPr>
            <a:stCxn id="355" idx="4"/>
            <a:endCxn id="356" idx="0"/>
          </p:cNvCxnSpPr>
          <p:nvPr/>
        </p:nvCxnSpPr>
        <p:spPr>
          <a:xfrm>
            <a:off x="7303050" y="1058225"/>
            <a:ext cx="0" cy="4005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2" name="Google Shape;362;p31"/>
          <p:cNvCxnSpPr>
            <a:stCxn id="355" idx="4"/>
            <a:endCxn id="357" idx="0"/>
          </p:cNvCxnSpPr>
          <p:nvPr/>
        </p:nvCxnSpPr>
        <p:spPr>
          <a:xfrm>
            <a:off x="7303050" y="1058225"/>
            <a:ext cx="622200" cy="4005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3" name="Google Shape;363;p31"/>
          <p:cNvCxnSpPr>
            <a:stCxn id="357" idx="6"/>
            <a:endCxn id="358" idx="2"/>
          </p:cNvCxnSpPr>
          <p:nvPr/>
        </p:nvCxnSpPr>
        <p:spPr>
          <a:xfrm>
            <a:off x="8023950" y="1557625"/>
            <a:ext cx="424500" cy="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4" name="Google Shape;364;p31"/>
          <p:cNvCxnSpPr>
            <a:stCxn id="356" idx="4"/>
            <a:endCxn id="359" idx="0"/>
          </p:cNvCxnSpPr>
          <p:nvPr/>
        </p:nvCxnSpPr>
        <p:spPr>
          <a:xfrm>
            <a:off x="7303050" y="1656475"/>
            <a:ext cx="0" cy="3897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5" name="Google Shape;365;p31"/>
          <p:cNvSpPr/>
          <p:nvPr/>
        </p:nvSpPr>
        <p:spPr>
          <a:xfrm>
            <a:off x="7826250" y="2057025"/>
            <a:ext cx="197700" cy="197700"/>
          </a:xfrm>
          <a:prstGeom prst="ellipse">
            <a:avLst/>
          </a:prstGeom>
          <a:solidFill>
            <a:srgbClr val="4A86E8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85725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/>
              <a:t>Q</a:t>
            </a:r>
            <a:r>
              <a:rPr baseline="-25000" lang="es" sz="600"/>
              <a:t>2</a:t>
            </a:r>
            <a:endParaRPr baseline="-25000" sz="600"/>
          </a:p>
        </p:txBody>
      </p:sp>
      <p:sp>
        <p:nvSpPr>
          <p:cNvPr id="366" name="Google Shape;366;p31"/>
          <p:cNvSpPr/>
          <p:nvPr/>
        </p:nvSpPr>
        <p:spPr>
          <a:xfrm>
            <a:off x="8377350" y="2016012"/>
            <a:ext cx="339600" cy="258000"/>
          </a:xfrm>
          <a:prstGeom prst="mathMultiply">
            <a:avLst>
              <a:gd fmla="val 23520" name="adj1"/>
            </a:avLst>
          </a:prstGeom>
          <a:solidFill>
            <a:srgbClr val="FF0000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67" name="Google Shape;367;p31"/>
          <p:cNvCxnSpPr>
            <a:stCxn id="357" idx="4"/>
            <a:endCxn id="365" idx="0"/>
          </p:cNvCxnSpPr>
          <p:nvPr/>
        </p:nvCxnSpPr>
        <p:spPr>
          <a:xfrm>
            <a:off x="7925100" y="1656475"/>
            <a:ext cx="0" cy="4005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8" name="Google Shape;368;p31"/>
          <p:cNvCxnSpPr/>
          <p:nvPr/>
        </p:nvCxnSpPr>
        <p:spPr>
          <a:xfrm>
            <a:off x="8534700" y="1656475"/>
            <a:ext cx="0" cy="4005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9" name="Google Shape;369;p31"/>
          <p:cNvSpPr/>
          <p:nvPr/>
        </p:nvSpPr>
        <p:spPr>
          <a:xfrm>
            <a:off x="7204200" y="2655750"/>
            <a:ext cx="197700" cy="197700"/>
          </a:xfrm>
          <a:prstGeom prst="ellipse">
            <a:avLst/>
          </a:prstGeom>
          <a:solidFill>
            <a:srgbClr val="4A86E8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85725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/>
              <a:t>Q</a:t>
            </a:r>
            <a:r>
              <a:rPr baseline="-25000" lang="es" sz="600"/>
              <a:t>0</a:t>
            </a:r>
            <a:endParaRPr baseline="-25000" sz="600"/>
          </a:p>
        </p:txBody>
      </p:sp>
      <p:sp>
        <p:nvSpPr>
          <p:cNvPr id="370" name="Google Shape;370;p31"/>
          <p:cNvSpPr/>
          <p:nvPr/>
        </p:nvSpPr>
        <p:spPr>
          <a:xfrm>
            <a:off x="8865200" y="2655275"/>
            <a:ext cx="197700" cy="197700"/>
          </a:xfrm>
          <a:prstGeom prst="ellipse">
            <a:avLst/>
          </a:prstGeom>
          <a:solidFill>
            <a:srgbClr val="4A86E8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85725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/>
              <a:t>Q</a:t>
            </a:r>
            <a:r>
              <a:rPr baseline="-25000" lang="es" sz="600"/>
              <a:t>3</a:t>
            </a:r>
            <a:endParaRPr baseline="-25000" sz="600"/>
          </a:p>
        </p:txBody>
      </p:sp>
      <p:sp>
        <p:nvSpPr>
          <p:cNvPr id="371" name="Google Shape;371;p31"/>
          <p:cNvSpPr/>
          <p:nvPr/>
        </p:nvSpPr>
        <p:spPr>
          <a:xfrm>
            <a:off x="7826250" y="2655275"/>
            <a:ext cx="197700" cy="197700"/>
          </a:xfrm>
          <a:prstGeom prst="ellipse">
            <a:avLst/>
          </a:prstGeom>
          <a:solidFill>
            <a:srgbClr val="4A86E8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85725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/>
              <a:t>Q</a:t>
            </a:r>
            <a:r>
              <a:rPr baseline="-25000" lang="es" sz="600"/>
              <a:t>1</a:t>
            </a:r>
            <a:endParaRPr baseline="-25000" sz="600"/>
          </a:p>
        </p:txBody>
      </p:sp>
      <p:cxnSp>
        <p:nvCxnSpPr>
          <p:cNvPr id="372" name="Google Shape;372;p31"/>
          <p:cNvCxnSpPr>
            <a:stCxn id="359" idx="4"/>
            <a:endCxn id="369" idx="0"/>
          </p:cNvCxnSpPr>
          <p:nvPr/>
        </p:nvCxnSpPr>
        <p:spPr>
          <a:xfrm>
            <a:off x="7303050" y="2243850"/>
            <a:ext cx="0" cy="4119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3" name="Google Shape;373;p31"/>
          <p:cNvCxnSpPr>
            <a:stCxn id="359" idx="4"/>
            <a:endCxn id="371" idx="0"/>
          </p:cNvCxnSpPr>
          <p:nvPr/>
        </p:nvCxnSpPr>
        <p:spPr>
          <a:xfrm>
            <a:off x="7303050" y="2243850"/>
            <a:ext cx="622200" cy="4113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4" name="Google Shape;374;p31"/>
          <p:cNvCxnSpPr>
            <a:stCxn id="365" idx="4"/>
            <a:endCxn id="370" idx="0"/>
          </p:cNvCxnSpPr>
          <p:nvPr/>
        </p:nvCxnSpPr>
        <p:spPr>
          <a:xfrm>
            <a:off x="7925100" y="2254725"/>
            <a:ext cx="1038900" cy="4005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5" name="Google Shape;375;p31"/>
          <p:cNvSpPr/>
          <p:nvPr/>
        </p:nvSpPr>
        <p:spPr>
          <a:xfrm>
            <a:off x="8345725" y="2655225"/>
            <a:ext cx="197700" cy="197700"/>
          </a:xfrm>
          <a:prstGeom prst="ellipse">
            <a:avLst/>
          </a:prstGeom>
          <a:solidFill>
            <a:srgbClr val="4A86E8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85725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/>
              <a:t>Q</a:t>
            </a:r>
            <a:r>
              <a:rPr baseline="-25000" lang="es" sz="600"/>
              <a:t>2</a:t>
            </a:r>
            <a:endParaRPr baseline="-25000" sz="600"/>
          </a:p>
        </p:txBody>
      </p:sp>
      <p:cxnSp>
        <p:nvCxnSpPr>
          <p:cNvPr id="376" name="Google Shape;376;p31"/>
          <p:cNvCxnSpPr>
            <a:stCxn id="371" idx="6"/>
            <a:endCxn id="375" idx="2"/>
          </p:cNvCxnSpPr>
          <p:nvPr/>
        </p:nvCxnSpPr>
        <p:spPr>
          <a:xfrm>
            <a:off x="8023950" y="2754125"/>
            <a:ext cx="321900" cy="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7" name="Google Shape;377;p31"/>
          <p:cNvSpPr/>
          <p:nvPr/>
        </p:nvSpPr>
        <p:spPr>
          <a:xfrm>
            <a:off x="8865200" y="3214050"/>
            <a:ext cx="197700" cy="197700"/>
          </a:xfrm>
          <a:prstGeom prst="ellipse">
            <a:avLst/>
          </a:prstGeom>
          <a:solidFill>
            <a:srgbClr val="4A86E8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85725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/>
              <a:t>Q</a:t>
            </a:r>
            <a:r>
              <a:rPr baseline="-25000" lang="es" sz="600"/>
              <a:t>3</a:t>
            </a:r>
            <a:endParaRPr baseline="-25000" sz="600"/>
          </a:p>
        </p:txBody>
      </p:sp>
      <p:sp>
        <p:nvSpPr>
          <p:cNvPr id="378" name="Google Shape;378;p31"/>
          <p:cNvSpPr/>
          <p:nvPr/>
        </p:nvSpPr>
        <p:spPr>
          <a:xfrm>
            <a:off x="8345725" y="3214050"/>
            <a:ext cx="197700" cy="197700"/>
          </a:xfrm>
          <a:prstGeom prst="ellipse">
            <a:avLst/>
          </a:prstGeom>
          <a:solidFill>
            <a:srgbClr val="4A86E8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85725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/>
              <a:t>Q</a:t>
            </a:r>
            <a:r>
              <a:rPr baseline="-25000" lang="es" sz="600"/>
              <a:t>3</a:t>
            </a:r>
            <a:endParaRPr baseline="-25000" sz="600"/>
          </a:p>
        </p:txBody>
      </p:sp>
      <p:cxnSp>
        <p:nvCxnSpPr>
          <p:cNvPr id="379" name="Google Shape;379;p31"/>
          <p:cNvCxnSpPr>
            <a:stCxn id="375" idx="4"/>
            <a:endCxn id="378" idx="0"/>
          </p:cNvCxnSpPr>
          <p:nvPr/>
        </p:nvCxnSpPr>
        <p:spPr>
          <a:xfrm>
            <a:off x="8444575" y="2852925"/>
            <a:ext cx="0" cy="3612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0" name="Google Shape;380;p31"/>
          <p:cNvCxnSpPr>
            <a:stCxn id="370" idx="4"/>
            <a:endCxn id="377" idx="0"/>
          </p:cNvCxnSpPr>
          <p:nvPr/>
        </p:nvCxnSpPr>
        <p:spPr>
          <a:xfrm>
            <a:off x="8964050" y="2852975"/>
            <a:ext cx="0" cy="3612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81" name="Google Shape;381;p31"/>
          <p:cNvSpPr/>
          <p:nvPr/>
        </p:nvSpPr>
        <p:spPr>
          <a:xfrm>
            <a:off x="7767750" y="3208468"/>
            <a:ext cx="339600" cy="258000"/>
          </a:xfrm>
          <a:prstGeom prst="mathMultiply">
            <a:avLst>
              <a:gd fmla="val 23520" name="adj1"/>
            </a:avLst>
          </a:prstGeom>
          <a:solidFill>
            <a:srgbClr val="FF0000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2" name="Google Shape;382;p31"/>
          <p:cNvCxnSpPr/>
          <p:nvPr/>
        </p:nvCxnSpPr>
        <p:spPr>
          <a:xfrm>
            <a:off x="7925100" y="2848932"/>
            <a:ext cx="0" cy="4005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83" name="Google Shape;383;p31"/>
          <p:cNvSpPr/>
          <p:nvPr/>
        </p:nvSpPr>
        <p:spPr>
          <a:xfrm>
            <a:off x="7204200" y="3189150"/>
            <a:ext cx="197700" cy="197700"/>
          </a:xfrm>
          <a:prstGeom prst="ellipse">
            <a:avLst/>
          </a:prstGeom>
          <a:solidFill>
            <a:srgbClr val="4A86E8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85725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/>
              <a:t>Q</a:t>
            </a:r>
            <a:r>
              <a:rPr baseline="-25000" lang="es" sz="600"/>
              <a:t>0</a:t>
            </a:r>
            <a:endParaRPr baseline="-25000" sz="600"/>
          </a:p>
        </p:txBody>
      </p:sp>
      <p:sp>
        <p:nvSpPr>
          <p:cNvPr id="384" name="Google Shape;384;p31"/>
          <p:cNvSpPr/>
          <p:nvPr/>
        </p:nvSpPr>
        <p:spPr>
          <a:xfrm>
            <a:off x="6683250" y="3188675"/>
            <a:ext cx="197700" cy="197700"/>
          </a:xfrm>
          <a:prstGeom prst="ellipse">
            <a:avLst/>
          </a:prstGeom>
          <a:solidFill>
            <a:srgbClr val="4A86E8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85725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/>
              <a:t>Q</a:t>
            </a:r>
            <a:r>
              <a:rPr baseline="-25000" lang="es" sz="600"/>
              <a:t>1</a:t>
            </a:r>
            <a:endParaRPr baseline="-25000" sz="600"/>
          </a:p>
        </p:txBody>
      </p:sp>
      <p:sp>
        <p:nvSpPr>
          <p:cNvPr id="385" name="Google Shape;385;p31"/>
          <p:cNvSpPr/>
          <p:nvPr/>
        </p:nvSpPr>
        <p:spPr>
          <a:xfrm>
            <a:off x="6135925" y="3188625"/>
            <a:ext cx="197700" cy="197700"/>
          </a:xfrm>
          <a:prstGeom prst="ellipse">
            <a:avLst/>
          </a:prstGeom>
          <a:solidFill>
            <a:srgbClr val="4A86E8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85725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/>
              <a:t>Q</a:t>
            </a:r>
            <a:r>
              <a:rPr baseline="-25000" lang="es" sz="600"/>
              <a:t>2</a:t>
            </a:r>
            <a:endParaRPr baseline="-25000" sz="600"/>
          </a:p>
        </p:txBody>
      </p:sp>
      <p:cxnSp>
        <p:nvCxnSpPr>
          <p:cNvPr id="386" name="Google Shape;386;p31"/>
          <p:cNvCxnSpPr>
            <a:stCxn id="369" idx="4"/>
            <a:endCxn id="383" idx="0"/>
          </p:cNvCxnSpPr>
          <p:nvPr/>
        </p:nvCxnSpPr>
        <p:spPr>
          <a:xfrm>
            <a:off x="7303050" y="2853450"/>
            <a:ext cx="0" cy="3357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7" name="Google Shape;387;p31"/>
          <p:cNvCxnSpPr>
            <a:stCxn id="369" idx="4"/>
            <a:endCxn id="384" idx="0"/>
          </p:cNvCxnSpPr>
          <p:nvPr/>
        </p:nvCxnSpPr>
        <p:spPr>
          <a:xfrm flipH="1">
            <a:off x="6782250" y="2853450"/>
            <a:ext cx="520800" cy="3351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8" name="Google Shape;388;p31"/>
          <p:cNvCxnSpPr>
            <a:stCxn id="384" idx="2"/>
            <a:endCxn id="385" idx="6"/>
          </p:cNvCxnSpPr>
          <p:nvPr/>
        </p:nvCxnSpPr>
        <p:spPr>
          <a:xfrm rot="10800000">
            <a:off x="6333750" y="3287525"/>
            <a:ext cx="349500" cy="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89" name="Google Shape;389;p31"/>
          <p:cNvSpPr/>
          <p:nvPr/>
        </p:nvSpPr>
        <p:spPr>
          <a:xfrm>
            <a:off x="8865200" y="3823650"/>
            <a:ext cx="197700" cy="197700"/>
          </a:xfrm>
          <a:prstGeom prst="ellipse">
            <a:avLst/>
          </a:prstGeom>
          <a:solidFill>
            <a:srgbClr val="4A86E8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85725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/>
              <a:t>Q</a:t>
            </a:r>
            <a:r>
              <a:rPr baseline="-25000" lang="es" sz="600"/>
              <a:t>3</a:t>
            </a:r>
            <a:endParaRPr baseline="-25000" sz="600"/>
          </a:p>
        </p:txBody>
      </p:sp>
      <p:sp>
        <p:nvSpPr>
          <p:cNvPr id="390" name="Google Shape;390;p31"/>
          <p:cNvSpPr/>
          <p:nvPr/>
        </p:nvSpPr>
        <p:spPr>
          <a:xfrm>
            <a:off x="8345725" y="3823650"/>
            <a:ext cx="197700" cy="197700"/>
          </a:xfrm>
          <a:prstGeom prst="ellipse">
            <a:avLst/>
          </a:prstGeom>
          <a:solidFill>
            <a:srgbClr val="4A86E8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85725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/>
              <a:t>Q</a:t>
            </a:r>
            <a:r>
              <a:rPr baseline="-25000" lang="es" sz="600"/>
              <a:t>3</a:t>
            </a:r>
            <a:endParaRPr baseline="-25000" sz="600"/>
          </a:p>
        </p:txBody>
      </p:sp>
      <p:cxnSp>
        <p:nvCxnSpPr>
          <p:cNvPr id="391" name="Google Shape;391;p31"/>
          <p:cNvCxnSpPr>
            <a:stCxn id="377" idx="4"/>
            <a:endCxn id="389" idx="0"/>
          </p:cNvCxnSpPr>
          <p:nvPr/>
        </p:nvCxnSpPr>
        <p:spPr>
          <a:xfrm>
            <a:off x="8964050" y="3411750"/>
            <a:ext cx="0" cy="4119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2" name="Google Shape;392;p31"/>
          <p:cNvCxnSpPr>
            <a:stCxn id="378" idx="4"/>
            <a:endCxn id="390" idx="0"/>
          </p:cNvCxnSpPr>
          <p:nvPr/>
        </p:nvCxnSpPr>
        <p:spPr>
          <a:xfrm>
            <a:off x="8444575" y="3411750"/>
            <a:ext cx="0" cy="4119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93" name="Google Shape;393;p31"/>
          <p:cNvSpPr/>
          <p:nvPr/>
        </p:nvSpPr>
        <p:spPr>
          <a:xfrm>
            <a:off x="7204200" y="3798750"/>
            <a:ext cx="197700" cy="197700"/>
          </a:xfrm>
          <a:prstGeom prst="ellipse">
            <a:avLst/>
          </a:prstGeom>
          <a:solidFill>
            <a:srgbClr val="4A86E8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85725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/>
              <a:t>Q</a:t>
            </a:r>
            <a:r>
              <a:rPr baseline="-25000" lang="es" sz="600"/>
              <a:t>0</a:t>
            </a:r>
            <a:endParaRPr baseline="-25000" sz="600"/>
          </a:p>
        </p:txBody>
      </p:sp>
      <p:cxnSp>
        <p:nvCxnSpPr>
          <p:cNvPr id="394" name="Google Shape;394;p31"/>
          <p:cNvCxnSpPr>
            <a:stCxn id="383" idx="4"/>
            <a:endCxn id="393" idx="0"/>
          </p:cNvCxnSpPr>
          <p:nvPr/>
        </p:nvCxnSpPr>
        <p:spPr>
          <a:xfrm>
            <a:off x="7303050" y="3386850"/>
            <a:ext cx="0" cy="4119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95" name="Google Shape;395;p31"/>
          <p:cNvSpPr/>
          <p:nvPr/>
        </p:nvSpPr>
        <p:spPr>
          <a:xfrm>
            <a:off x="6683246" y="3798747"/>
            <a:ext cx="197700" cy="197700"/>
          </a:xfrm>
          <a:prstGeom prst="ellipse">
            <a:avLst/>
          </a:prstGeom>
          <a:solidFill>
            <a:srgbClr val="4A86E8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85725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/>
              <a:t>Q</a:t>
            </a:r>
            <a:r>
              <a:rPr baseline="-25000" lang="es" sz="600"/>
              <a:t>2</a:t>
            </a:r>
            <a:endParaRPr baseline="-25000" sz="600"/>
          </a:p>
        </p:txBody>
      </p:sp>
      <p:cxnSp>
        <p:nvCxnSpPr>
          <p:cNvPr id="396" name="Google Shape;396;p31"/>
          <p:cNvCxnSpPr>
            <a:stCxn id="384" idx="4"/>
            <a:endCxn id="395" idx="0"/>
          </p:cNvCxnSpPr>
          <p:nvPr/>
        </p:nvCxnSpPr>
        <p:spPr>
          <a:xfrm>
            <a:off x="6782100" y="3386375"/>
            <a:ext cx="0" cy="4125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97" name="Google Shape;397;p31"/>
          <p:cNvSpPr/>
          <p:nvPr/>
        </p:nvSpPr>
        <p:spPr>
          <a:xfrm>
            <a:off x="6066622" y="3741868"/>
            <a:ext cx="339600" cy="258000"/>
          </a:xfrm>
          <a:prstGeom prst="mathMultiply">
            <a:avLst>
              <a:gd fmla="val 23520" name="adj1"/>
            </a:avLst>
          </a:prstGeom>
          <a:solidFill>
            <a:srgbClr val="FF0000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98" name="Google Shape;398;p31"/>
          <p:cNvCxnSpPr/>
          <p:nvPr/>
        </p:nvCxnSpPr>
        <p:spPr>
          <a:xfrm>
            <a:off x="6223972" y="3382332"/>
            <a:ext cx="0" cy="4005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99" name="Google Shape;399;p31"/>
          <p:cNvSpPr/>
          <p:nvPr/>
        </p:nvSpPr>
        <p:spPr>
          <a:xfrm>
            <a:off x="6782099" y="3927876"/>
            <a:ext cx="197700" cy="150300"/>
          </a:xfrm>
          <a:prstGeom prst="mathMultiply">
            <a:avLst>
              <a:gd fmla="val 23520" name="adj1"/>
            </a:avLst>
          </a:prstGeom>
          <a:solidFill>
            <a:srgbClr val="FF0000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31"/>
          <p:cNvSpPr/>
          <p:nvPr/>
        </p:nvSpPr>
        <p:spPr>
          <a:xfrm>
            <a:off x="7303049" y="3920851"/>
            <a:ext cx="197700" cy="150300"/>
          </a:xfrm>
          <a:prstGeom prst="mathMultiply">
            <a:avLst>
              <a:gd fmla="val 23520" name="adj1"/>
            </a:avLst>
          </a:prstGeom>
          <a:solidFill>
            <a:srgbClr val="FF0000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01" name="Google Shape;40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97575" y="3793050"/>
            <a:ext cx="278908" cy="31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30975" y="3793050"/>
            <a:ext cx="278908" cy="319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31"/>
          <p:cNvSpPr/>
          <p:nvPr/>
        </p:nvSpPr>
        <p:spPr>
          <a:xfrm>
            <a:off x="1269400" y="2068950"/>
            <a:ext cx="585300" cy="552300"/>
          </a:xfrm>
          <a:prstGeom prst="flowChartConnec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Q</a:t>
            </a:r>
            <a:r>
              <a:rPr baseline="-25000" lang="es"/>
              <a:t>0</a:t>
            </a:r>
            <a:endParaRPr baseline="-25000"/>
          </a:p>
        </p:txBody>
      </p:sp>
      <p:sp>
        <p:nvSpPr>
          <p:cNvPr id="404" name="Google Shape;404;p31"/>
          <p:cNvSpPr/>
          <p:nvPr/>
        </p:nvSpPr>
        <p:spPr>
          <a:xfrm>
            <a:off x="2564800" y="2068950"/>
            <a:ext cx="585300" cy="552300"/>
          </a:xfrm>
          <a:prstGeom prst="flowChartConnec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Q</a:t>
            </a:r>
            <a:r>
              <a:rPr baseline="-25000" lang="es"/>
              <a:t>1</a:t>
            </a:r>
            <a:endParaRPr baseline="-25000"/>
          </a:p>
        </p:txBody>
      </p:sp>
      <p:sp>
        <p:nvSpPr>
          <p:cNvPr id="405" name="Google Shape;405;p31"/>
          <p:cNvSpPr/>
          <p:nvPr/>
        </p:nvSpPr>
        <p:spPr>
          <a:xfrm>
            <a:off x="3936400" y="2068950"/>
            <a:ext cx="585300" cy="552300"/>
          </a:xfrm>
          <a:prstGeom prst="flowChartConnec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Q</a:t>
            </a:r>
            <a:r>
              <a:rPr baseline="-25000" lang="es"/>
              <a:t>2</a:t>
            </a:r>
            <a:endParaRPr baseline="-25000"/>
          </a:p>
        </p:txBody>
      </p:sp>
      <p:sp>
        <p:nvSpPr>
          <p:cNvPr id="406" name="Google Shape;406;p31"/>
          <p:cNvSpPr/>
          <p:nvPr/>
        </p:nvSpPr>
        <p:spPr>
          <a:xfrm>
            <a:off x="5155600" y="2068950"/>
            <a:ext cx="585300" cy="552300"/>
          </a:xfrm>
          <a:prstGeom prst="flowChartConnector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Q</a:t>
            </a:r>
            <a:r>
              <a:rPr baseline="-25000" lang="es"/>
              <a:t>3</a:t>
            </a:r>
            <a:endParaRPr baseline="-25000"/>
          </a:p>
        </p:txBody>
      </p:sp>
      <p:cxnSp>
        <p:nvCxnSpPr>
          <p:cNvPr id="407" name="Google Shape;407;p31"/>
          <p:cNvCxnSpPr>
            <a:stCxn id="403" idx="6"/>
            <a:endCxn id="404" idx="2"/>
          </p:cNvCxnSpPr>
          <p:nvPr/>
        </p:nvCxnSpPr>
        <p:spPr>
          <a:xfrm>
            <a:off x="1854700" y="2345100"/>
            <a:ext cx="710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8" name="Google Shape;408;p31"/>
          <p:cNvCxnSpPr>
            <a:stCxn id="404" idx="6"/>
            <a:endCxn id="405" idx="2"/>
          </p:cNvCxnSpPr>
          <p:nvPr/>
        </p:nvCxnSpPr>
        <p:spPr>
          <a:xfrm>
            <a:off x="3150100" y="2345100"/>
            <a:ext cx="786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9" name="Google Shape;409;p31"/>
          <p:cNvCxnSpPr>
            <a:stCxn id="405" idx="6"/>
            <a:endCxn id="406" idx="2"/>
          </p:cNvCxnSpPr>
          <p:nvPr/>
        </p:nvCxnSpPr>
        <p:spPr>
          <a:xfrm>
            <a:off x="4521700" y="2345100"/>
            <a:ext cx="633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0" name="Google Shape;410;p31"/>
          <p:cNvCxnSpPr>
            <a:stCxn id="403" idx="5"/>
            <a:endCxn id="403" idx="3"/>
          </p:cNvCxnSpPr>
          <p:nvPr/>
        </p:nvCxnSpPr>
        <p:spPr>
          <a:xfrm rot="5400000">
            <a:off x="1561685" y="2333668"/>
            <a:ext cx="600" cy="414000"/>
          </a:xfrm>
          <a:prstGeom prst="curvedConnector3">
            <a:avLst>
              <a:gd fmla="val 5316791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1" name="Google Shape;411;p31"/>
          <p:cNvCxnSpPr>
            <a:stCxn id="406" idx="5"/>
            <a:endCxn id="406" idx="3"/>
          </p:cNvCxnSpPr>
          <p:nvPr/>
        </p:nvCxnSpPr>
        <p:spPr>
          <a:xfrm rot="5400000">
            <a:off x="5447885" y="2333668"/>
            <a:ext cx="600" cy="414000"/>
          </a:xfrm>
          <a:prstGeom prst="curvedConnector3">
            <a:avLst>
              <a:gd fmla="val 5316791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12" name="Google Shape;412;p31"/>
          <p:cNvSpPr txBox="1"/>
          <p:nvPr/>
        </p:nvSpPr>
        <p:spPr>
          <a:xfrm>
            <a:off x="1969000" y="1944900"/>
            <a:ext cx="48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13" name="Google Shape;413;p31"/>
          <p:cNvSpPr txBox="1"/>
          <p:nvPr/>
        </p:nvSpPr>
        <p:spPr>
          <a:xfrm>
            <a:off x="3302500" y="2006250"/>
            <a:ext cx="48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0,ε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14" name="Google Shape;414;p31"/>
          <p:cNvSpPr txBox="1"/>
          <p:nvPr/>
        </p:nvSpPr>
        <p:spPr>
          <a:xfrm>
            <a:off x="4521700" y="2006250"/>
            <a:ext cx="48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15" name="Google Shape;415;p31"/>
          <p:cNvSpPr txBox="1"/>
          <p:nvPr/>
        </p:nvSpPr>
        <p:spPr>
          <a:xfrm>
            <a:off x="5259400" y="2813850"/>
            <a:ext cx="48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0,1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16" name="Google Shape;416;p31"/>
          <p:cNvSpPr txBox="1"/>
          <p:nvPr/>
        </p:nvSpPr>
        <p:spPr>
          <a:xfrm>
            <a:off x="1321225" y="2859375"/>
            <a:ext cx="48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0,1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17" name="Google Shape;417;p31"/>
          <p:cNvSpPr txBox="1"/>
          <p:nvPr/>
        </p:nvSpPr>
        <p:spPr>
          <a:xfrm>
            <a:off x="1269400" y="1301463"/>
            <a:ext cx="175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Procesemos 010110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18" name="Google Shape;418;p31"/>
          <p:cNvSpPr/>
          <p:nvPr/>
        </p:nvSpPr>
        <p:spPr>
          <a:xfrm>
            <a:off x="5906950" y="3037675"/>
            <a:ext cx="3237000" cy="5523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419" name="Google Shape;419;p31"/>
          <p:cNvSpPr txBox="1"/>
          <p:nvPr/>
        </p:nvSpPr>
        <p:spPr>
          <a:xfrm>
            <a:off x="5231025" y="1634150"/>
            <a:ext cx="48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0,1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20" name="Google Shape;420;p31"/>
          <p:cNvSpPr/>
          <p:nvPr/>
        </p:nvSpPr>
        <p:spPr>
          <a:xfrm>
            <a:off x="5878575" y="1857975"/>
            <a:ext cx="3237000" cy="5523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421" name="Google Shape;421;p31"/>
          <p:cNvSpPr/>
          <p:nvPr/>
        </p:nvSpPr>
        <p:spPr>
          <a:xfrm>
            <a:off x="5878575" y="78938"/>
            <a:ext cx="3237000" cy="5523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422" name="Google Shape;422;p31"/>
          <p:cNvSpPr/>
          <p:nvPr/>
        </p:nvSpPr>
        <p:spPr>
          <a:xfrm>
            <a:off x="5783400" y="700438"/>
            <a:ext cx="3237000" cy="5523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423" name="Google Shape;423;p31"/>
          <p:cNvSpPr/>
          <p:nvPr/>
        </p:nvSpPr>
        <p:spPr>
          <a:xfrm>
            <a:off x="5783400" y="1279200"/>
            <a:ext cx="3237000" cy="5523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424" name="Google Shape;424;p31"/>
          <p:cNvSpPr/>
          <p:nvPr/>
        </p:nvSpPr>
        <p:spPr>
          <a:xfrm>
            <a:off x="5906950" y="2447825"/>
            <a:ext cx="3237000" cy="5523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2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Explicación</a:t>
            </a:r>
            <a:endParaRPr/>
          </a:p>
        </p:txBody>
      </p:sp>
      <p:sp>
        <p:nvSpPr>
          <p:cNvPr id="430" name="Google Shape;430;p32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Podemos ver que una vez que llegamos a un estado, hasta una cierta lectura, todo lo que siga a ese estado va a ser lo mismo, no importa de dónde vine (no hay memoria) → podemos mergear.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Podemos considerar cada posible estado ejecutando o no ejecutando → 2</a:t>
            </a:r>
            <a:r>
              <a:rPr baseline="30000" lang="es"/>
              <a:t>n</a:t>
            </a:r>
            <a:r>
              <a:rPr lang="es"/>
              <a:t> (seguro son muchos menos).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Creamos una máquina finita determinística que tenga cada transición como equivalencia.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Los estados de finalización en la nueva máquina son aquellos estados donde los nodos de finalización de la original estarían activados.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33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Lenguajes Regulares</a:t>
            </a:r>
            <a:endParaRPr/>
          </a:p>
        </p:txBody>
      </p:sp>
      <p:sp>
        <p:nvSpPr>
          <p:cNvPr id="436" name="Google Shape;436;p33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Un lenguaje es regular si existe un autómata finito que lo reconozca.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Se pueden aplicar operaciones a estos lenguajes → Operaciones regulares → resultado = Lenguaje Regular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3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Operaciones Regulares</a:t>
            </a:r>
            <a:endParaRPr/>
          </a:p>
        </p:txBody>
      </p:sp>
      <p:sp>
        <p:nvSpPr>
          <p:cNvPr id="442" name="Google Shape;442;p3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Unión: A U B = {x / x ∈ A ∨ x ∈ B}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Concatenación: A o B = {xy / </a:t>
            </a:r>
            <a:r>
              <a:rPr lang="es"/>
              <a:t>x ∈ A, y ∈ B}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Estrella: A* = {x</a:t>
            </a:r>
            <a:r>
              <a:rPr baseline="-25000" lang="es"/>
              <a:t>1</a:t>
            </a:r>
            <a:r>
              <a:rPr lang="es"/>
              <a:t>x</a:t>
            </a:r>
            <a:r>
              <a:rPr baseline="-25000" lang="es"/>
              <a:t>2</a:t>
            </a:r>
            <a:r>
              <a:rPr lang="es"/>
              <a:t>…x</a:t>
            </a:r>
            <a:r>
              <a:rPr baseline="-25000" lang="es"/>
              <a:t>k</a:t>
            </a:r>
            <a:r>
              <a:rPr lang="es"/>
              <a:t>/ k ≥ 0 y cada x</a:t>
            </a:r>
            <a:r>
              <a:rPr baseline="-25000" lang="es"/>
              <a:t>i</a:t>
            </a:r>
            <a:r>
              <a:rPr lang="es"/>
              <a:t> ∈ A}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35"/>
          <p:cNvSpPr/>
          <p:nvPr/>
        </p:nvSpPr>
        <p:spPr>
          <a:xfrm>
            <a:off x="3848425" y="1097275"/>
            <a:ext cx="3387300" cy="938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3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Unión</a:t>
            </a:r>
            <a:endParaRPr/>
          </a:p>
        </p:txBody>
      </p:sp>
      <p:sp>
        <p:nvSpPr>
          <p:cNvPr id="449" name="Google Shape;449;p35"/>
          <p:cNvSpPr/>
          <p:nvPr/>
        </p:nvSpPr>
        <p:spPr>
          <a:xfrm>
            <a:off x="2390500" y="2140500"/>
            <a:ext cx="585300" cy="552300"/>
          </a:xfrm>
          <a:prstGeom prst="flowChartConnec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Q</a:t>
            </a:r>
            <a:r>
              <a:rPr baseline="-25000" lang="es"/>
              <a:t>0</a:t>
            </a:r>
            <a:endParaRPr baseline="-25000"/>
          </a:p>
        </p:txBody>
      </p:sp>
      <p:sp>
        <p:nvSpPr>
          <p:cNvPr id="450" name="Google Shape;450;p35"/>
          <p:cNvSpPr/>
          <p:nvPr/>
        </p:nvSpPr>
        <p:spPr>
          <a:xfrm>
            <a:off x="4035775" y="1393075"/>
            <a:ext cx="585300" cy="552300"/>
          </a:xfrm>
          <a:prstGeom prst="flowChartConnec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Q</a:t>
            </a:r>
            <a:r>
              <a:rPr baseline="-25000" lang="es"/>
              <a:t>1</a:t>
            </a:r>
            <a:endParaRPr baseline="-25000"/>
          </a:p>
        </p:txBody>
      </p:sp>
      <p:cxnSp>
        <p:nvCxnSpPr>
          <p:cNvPr id="451" name="Google Shape;451;p35"/>
          <p:cNvCxnSpPr>
            <a:stCxn id="449" idx="6"/>
            <a:endCxn id="450" idx="2"/>
          </p:cNvCxnSpPr>
          <p:nvPr/>
        </p:nvCxnSpPr>
        <p:spPr>
          <a:xfrm flipH="1" rot="10800000">
            <a:off x="2975800" y="1669350"/>
            <a:ext cx="1059900" cy="74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52" name="Google Shape;452;p35"/>
          <p:cNvSpPr txBox="1"/>
          <p:nvPr/>
        </p:nvSpPr>
        <p:spPr>
          <a:xfrm>
            <a:off x="4572000" y="1058225"/>
            <a:ext cx="42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M</a:t>
            </a:r>
            <a:r>
              <a:rPr baseline="-25000" lang="es">
                <a:latin typeface="Proxima Nova"/>
                <a:ea typeface="Proxima Nova"/>
                <a:cs typeface="Proxima Nova"/>
                <a:sym typeface="Proxima Nova"/>
              </a:rPr>
              <a:t>A</a:t>
            </a:r>
            <a:endParaRPr baseline="-250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53" name="Google Shape;453;p35"/>
          <p:cNvSpPr/>
          <p:nvPr/>
        </p:nvSpPr>
        <p:spPr>
          <a:xfrm>
            <a:off x="5051875" y="1338963"/>
            <a:ext cx="858708" cy="660528"/>
          </a:xfrm>
          <a:prstGeom prst="clou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54" name="Google Shape;454;p35"/>
          <p:cNvCxnSpPr>
            <a:stCxn id="450" idx="6"/>
            <a:endCxn id="453" idx="2"/>
          </p:cNvCxnSpPr>
          <p:nvPr/>
        </p:nvCxnSpPr>
        <p:spPr>
          <a:xfrm>
            <a:off x="4621075" y="1669225"/>
            <a:ext cx="433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55" name="Google Shape;455;p35"/>
          <p:cNvSpPr/>
          <p:nvPr/>
        </p:nvSpPr>
        <p:spPr>
          <a:xfrm>
            <a:off x="3848425" y="2545075"/>
            <a:ext cx="3387300" cy="938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35"/>
          <p:cNvSpPr/>
          <p:nvPr/>
        </p:nvSpPr>
        <p:spPr>
          <a:xfrm>
            <a:off x="4035775" y="2840875"/>
            <a:ext cx="585300" cy="552300"/>
          </a:xfrm>
          <a:prstGeom prst="flowChartConnec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Q</a:t>
            </a:r>
            <a:r>
              <a:rPr baseline="-25000" lang="es"/>
              <a:t>1</a:t>
            </a:r>
            <a:endParaRPr baseline="-25000"/>
          </a:p>
        </p:txBody>
      </p:sp>
      <p:sp>
        <p:nvSpPr>
          <p:cNvPr id="457" name="Google Shape;457;p35"/>
          <p:cNvSpPr txBox="1"/>
          <p:nvPr/>
        </p:nvSpPr>
        <p:spPr>
          <a:xfrm>
            <a:off x="4572000" y="2506025"/>
            <a:ext cx="42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M</a:t>
            </a:r>
            <a:r>
              <a:rPr baseline="-25000" lang="es">
                <a:latin typeface="Proxima Nova"/>
                <a:ea typeface="Proxima Nova"/>
                <a:cs typeface="Proxima Nova"/>
                <a:sym typeface="Proxima Nova"/>
              </a:rPr>
              <a:t>B</a:t>
            </a:r>
            <a:endParaRPr baseline="-250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58" name="Google Shape;458;p35"/>
          <p:cNvSpPr/>
          <p:nvPr/>
        </p:nvSpPr>
        <p:spPr>
          <a:xfrm>
            <a:off x="5051875" y="2786763"/>
            <a:ext cx="858708" cy="660528"/>
          </a:xfrm>
          <a:prstGeom prst="clou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59" name="Google Shape;459;p35"/>
          <p:cNvCxnSpPr>
            <a:stCxn id="456" idx="6"/>
            <a:endCxn id="458" idx="2"/>
          </p:cNvCxnSpPr>
          <p:nvPr/>
        </p:nvCxnSpPr>
        <p:spPr>
          <a:xfrm>
            <a:off x="4621075" y="3117025"/>
            <a:ext cx="433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60" name="Google Shape;460;p35"/>
          <p:cNvCxnSpPr>
            <a:stCxn id="449" idx="6"/>
            <a:endCxn id="456" idx="2"/>
          </p:cNvCxnSpPr>
          <p:nvPr/>
        </p:nvCxnSpPr>
        <p:spPr>
          <a:xfrm>
            <a:off x="2975800" y="2416650"/>
            <a:ext cx="1059900" cy="70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61" name="Google Shape;461;p35"/>
          <p:cNvSpPr txBox="1"/>
          <p:nvPr/>
        </p:nvSpPr>
        <p:spPr>
          <a:xfrm>
            <a:off x="3140775" y="1842900"/>
            <a:ext cx="246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ε</a:t>
            </a:r>
            <a:endParaRPr/>
          </a:p>
        </p:txBody>
      </p:sp>
      <p:sp>
        <p:nvSpPr>
          <p:cNvPr id="462" name="Google Shape;462;p35"/>
          <p:cNvSpPr txBox="1"/>
          <p:nvPr/>
        </p:nvSpPr>
        <p:spPr>
          <a:xfrm>
            <a:off x="3078475" y="2566800"/>
            <a:ext cx="246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ε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36"/>
          <p:cNvSpPr/>
          <p:nvPr/>
        </p:nvSpPr>
        <p:spPr>
          <a:xfrm>
            <a:off x="217675" y="1908400"/>
            <a:ext cx="3387300" cy="938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3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Concatenación</a:t>
            </a:r>
            <a:endParaRPr/>
          </a:p>
        </p:txBody>
      </p:sp>
      <p:sp>
        <p:nvSpPr>
          <p:cNvPr id="469" name="Google Shape;469;p36"/>
          <p:cNvSpPr/>
          <p:nvPr/>
        </p:nvSpPr>
        <p:spPr>
          <a:xfrm>
            <a:off x="405025" y="2204200"/>
            <a:ext cx="585300" cy="552300"/>
          </a:xfrm>
          <a:prstGeom prst="flowChartConnec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Q</a:t>
            </a:r>
            <a:r>
              <a:rPr baseline="-25000" lang="es"/>
              <a:t>1</a:t>
            </a:r>
            <a:endParaRPr baseline="-25000"/>
          </a:p>
        </p:txBody>
      </p:sp>
      <p:sp>
        <p:nvSpPr>
          <p:cNvPr id="470" name="Google Shape;470;p36"/>
          <p:cNvSpPr txBox="1"/>
          <p:nvPr/>
        </p:nvSpPr>
        <p:spPr>
          <a:xfrm>
            <a:off x="941250" y="1869350"/>
            <a:ext cx="42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M</a:t>
            </a:r>
            <a:r>
              <a:rPr baseline="-25000" lang="es">
                <a:latin typeface="Proxima Nova"/>
                <a:ea typeface="Proxima Nova"/>
                <a:cs typeface="Proxima Nova"/>
                <a:sym typeface="Proxima Nova"/>
              </a:rPr>
              <a:t>A</a:t>
            </a:r>
            <a:endParaRPr baseline="-250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71" name="Google Shape;471;p36"/>
          <p:cNvSpPr/>
          <p:nvPr/>
        </p:nvSpPr>
        <p:spPr>
          <a:xfrm>
            <a:off x="1421125" y="2150088"/>
            <a:ext cx="858708" cy="660528"/>
          </a:xfrm>
          <a:prstGeom prst="clou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2" name="Google Shape;472;p36"/>
          <p:cNvCxnSpPr>
            <a:stCxn id="469" idx="6"/>
            <a:endCxn id="471" idx="2"/>
          </p:cNvCxnSpPr>
          <p:nvPr/>
        </p:nvCxnSpPr>
        <p:spPr>
          <a:xfrm>
            <a:off x="990325" y="2480350"/>
            <a:ext cx="433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73" name="Google Shape;473;p36"/>
          <p:cNvSpPr/>
          <p:nvPr/>
        </p:nvSpPr>
        <p:spPr>
          <a:xfrm>
            <a:off x="5041125" y="1927925"/>
            <a:ext cx="3387300" cy="938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36"/>
          <p:cNvSpPr/>
          <p:nvPr/>
        </p:nvSpPr>
        <p:spPr>
          <a:xfrm>
            <a:off x="5228475" y="2223725"/>
            <a:ext cx="585300" cy="552300"/>
          </a:xfrm>
          <a:prstGeom prst="flowChartConnec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Q</a:t>
            </a:r>
            <a:r>
              <a:rPr baseline="-25000" lang="es"/>
              <a:t>1</a:t>
            </a:r>
            <a:endParaRPr baseline="-25000"/>
          </a:p>
        </p:txBody>
      </p:sp>
      <p:sp>
        <p:nvSpPr>
          <p:cNvPr id="475" name="Google Shape;475;p36"/>
          <p:cNvSpPr txBox="1"/>
          <p:nvPr/>
        </p:nvSpPr>
        <p:spPr>
          <a:xfrm>
            <a:off x="5764700" y="1888875"/>
            <a:ext cx="42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M</a:t>
            </a:r>
            <a:r>
              <a:rPr baseline="-25000" lang="es">
                <a:latin typeface="Proxima Nova"/>
                <a:ea typeface="Proxima Nova"/>
                <a:cs typeface="Proxima Nova"/>
                <a:sym typeface="Proxima Nova"/>
              </a:rPr>
              <a:t>B</a:t>
            </a:r>
            <a:endParaRPr baseline="-250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76" name="Google Shape;476;p36"/>
          <p:cNvSpPr/>
          <p:nvPr/>
        </p:nvSpPr>
        <p:spPr>
          <a:xfrm>
            <a:off x="6244575" y="2169613"/>
            <a:ext cx="858708" cy="660528"/>
          </a:xfrm>
          <a:prstGeom prst="clou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7" name="Google Shape;477;p36"/>
          <p:cNvCxnSpPr>
            <a:stCxn id="474" idx="6"/>
            <a:endCxn id="476" idx="2"/>
          </p:cNvCxnSpPr>
          <p:nvPr/>
        </p:nvCxnSpPr>
        <p:spPr>
          <a:xfrm>
            <a:off x="5813775" y="2499875"/>
            <a:ext cx="433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78" name="Google Shape;478;p36"/>
          <p:cNvSpPr txBox="1"/>
          <p:nvPr/>
        </p:nvSpPr>
        <p:spPr>
          <a:xfrm>
            <a:off x="4007475" y="2177338"/>
            <a:ext cx="246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ε</a:t>
            </a:r>
            <a:endParaRPr/>
          </a:p>
        </p:txBody>
      </p:sp>
      <p:cxnSp>
        <p:nvCxnSpPr>
          <p:cNvPr id="479" name="Google Shape;479;p36"/>
          <p:cNvCxnSpPr>
            <a:stCxn id="471" idx="0"/>
            <a:endCxn id="474" idx="2"/>
          </p:cNvCxnSpPr>
          <p:nvPr/>
        </p:nvCxnSpPr>
        <p:spPr>
          <a:xfrm>
            <a:off x="2279117" y="2480352"/>
            <a:ext cx="2949300" cy="1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80" name="Google Shape;480;p36"/>
          <p:cNvSpPr txBox="1"/>
          <p:nvPr/>
        </p:nvSpPr>
        <p:spPr>
          <a:xfrm>
            <a:off x="2735175" y="3113625"/>
            <a:ext cx="4954200" cy="5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(la transición las ponemos desde los estados de aceptación originales de la máquina A)</a:t>
            </a:r>
            <a:endParaRPr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7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Estrella</a:t>
            </a:r>
            <a:endParaRPr/>
          </a:p>
        </p:txBody>
      </p:sp>
      <p:sp>
        <p:nvSpPr>
          <p:cNvPr id="486" name="Google Shape;486;p37"/>
          <p:cNvSpPr/>
          <p:nvPr/>
        </p:nvSpPr>
        <p:spPr>
          <a:xfrm>
            <a:off x="3848425" y="1097275"/>
            <a:ext cx="3387300" cy="938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37"/>
          <p:cNvSpPr/>
          <p:nvPr/>
        </p:nvSpPr>
        <p:spPr>
          <a:xfrm>
            <a:off x="4035775" y="1393075"/>
            <a:ext cx="585300" cy="552300"/>
          </a:xfrm>
          <a:prstGeom prst="flowChartConnec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Q</a:t>
            </a:r>
            <a:r>
              <a:rPr baseline="-25000" lang="es"/>
              <a:t>1</a:t>
            </a:r>
            <a:endParaRPr baseline="-25000"/>
          </a:p>
        </p:txBody>
      </p:sp>
      <p:sp>
        <p:nvSpPr>
          <p:cNvPr id="488" name="Google Shape;488;p37"/>
          <p:cNvSpPr txBox="1"/>
          <p:nvPr/>
        </p:nvSpPr>
        <p:spPr>
          <a:xfrm>
            <a:off x="4572000" y="1058225"/>
            <a:ext cx="42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M</a:t>
            </a:r>
            <a:r>
              <a:rPr baseline="-25000" lang="es">
                <a:latin typeface="Proxima Nova"/>
                <a:ea typeface="Proxima Nova"/>
                <a:cs typeface="Proxima Nova"/>
                <a:sym typeface="Proxima Nova"/>
              </a:rPr>
              <a:t>A</a:t>
            </a:r>
            <a:endParaRPr baseline="-250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89" name="Google Shape;489;p37"/>
          <p:cNvSpPr/>
          <p:nvPr/>
        </p:nvSpPr>
        <p:spPr>
          <a:xfrm>
            <a:off x="5051875" y="1338963"/>
            <a:ext cx="858708" cy="660528"/>
          </a:xfrm>
          <a:prstGeom prst="clou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90" name="Google Shape;490;p37"/>
          <p:cNvCxnSpPr>
            <a:stCxn id="487" idx="6"/>
            <a:endCxn id="489" idx="2"/>
          </p:cNvCxnSpPr>
          <p:nvPr/>
        </p:nvCxnSpPr>
        <p:spPr>
          <a:xfrm>
            <a:off x="4621075" y="1669225"/>
            <a:ext cx="433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91" name="Google Shape;491;p37"/>
          <p:cNvSpPr/>
          <p:nvPr/>
        </p:nvSpPr>
        <p:spPr>
          <a:xfrm>
            <a:off x="2350750" y="1393088"/>
            <a:ext cx="585300" cy="552300"/>
          </a:xfrm>
          <a:prstGeom prst="flowChartConnector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Q</a:t>
            </a:r>
            <a:r>
              <a:rPr baseline="-25000" lang="es"/>
              <a:t>0</a:t>
            </a:r>
            <a:endParaRPr baseline="-25000"/>
          </a:p>
        </p:txBody>
      </p:sp>
      <p:cxnSp>
        <p:nvCxnSpPr>
          <p:cNvPr id="492" name="Google Shape;492;p37"/>
          <p:cNvCxnSpPr>
            <a:stCxn id="489" idx="0"/>
            <a:endCxn id="491" idx="2"/>
          </p:cNvCxnSpPr>
          <p:nvPr/>
        </p:nvCxnSpPr>
        <p:spPr>
          <a:xfrm flipH="1">
            <a:off x="2350667" y="1669227"/>
            <a:ext cx="3559200" cy="600"/>
          </a:xfrm>
          <a:prstGeom prst="curvedConnector5">
            <a:avLst>
              <a:gd fmla="val -6722" name="adj1"/>
              <a:gd fmla="val 229353917" name="adj2"/>
              <a:gd fmla="val 106688" name="adj3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3" name="Google Shape;493;p37"/>
          <p:cNvCxnSpPr>
            <a:stCxn id="491" idx="6"/>
          </p:cNvCxnSpPr>
          <p:nvPr/>
        </p:nvCxnSpPr>
        <p:spPr>
          <a:xfrm flipH="1" rot="10800000">
            <a:off x="2936050" y="1661738"/>
            <a:ext cx="1302000" cy="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94" name="Google Shape;494;p37"/>
          <p:cNvSpPr txBox="1"/>
          <p:nvPr/>
        </p:nvSpPr>
        <p:spPr>
          <a:xfrm>
            <a:off x="3991450" y="2749838"/>
            <a:ext cx="246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ε</a:t>
            </a:r>
            <a:endParaRPr/>
          </a:p>
        </p:txBody>
      </p:sp>
      <p:sp>
        <p:nvSpPr>
          <p:cNvPr id="495" name="Google Shape;495;p37"/>
          <p:cNvSpPr txBox="1"/>
          <p:nvPr/>
        </p:nvSpPr>
        <p:spPr>
          <a:xfrm>
            <a:off x="3324975" y="1366213"/>
            <a:ext cx="246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ε</a:t>
            </a:r>
            <a:endParaRPr/>
          </a:p>
        </p:txBody>
      </p:sp>
      <p:sp>
        <p:nvSpPr>
          <p:cNvPr id="496" name="Google Shape;496;p37"/>
          <p:cNvSpPr txBox="1"/>
          <p:nvPr/>
        </p:nvSpPr>
        <p:spPr>
          <a:xfrm>
            <a:off x="2735175" y="3113625"/>
            <a:ext cx="4954200" cy="5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(la transición las ponemos desde los estados de aceptación originales de la máquina A)</a:t>
            </a:r>
            <a:endParaRPr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38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Expresiones Regulares</a:t>
            </a:r>
            <a:endParaRPr/>
          </a:p>
        </p:txBody>
      </p:sp>
      <p:sp>
        <p:nvSpPr>
          <p:cNvPr id="502" name="Google Shape;502;p38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El uso de operaciones regulares para obtener un nuevo lenguaje regular, se lo llama "expresiones regulares".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Una expresión es Regular si: 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Es un elemento del alfabeto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Es una cadena vacía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No hay string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Es una unión, concatenación o estrella, de expresiones regulares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Podemos crear nuestros autómatas usándolos de building blocks.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39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Ejemplo de Lenguaje no regular</a:t>
            </a:r>
            <a:endParaRPr/>
          </a:p>
        </p:txBody>
      </p:sp>
      <p:sp>
        <p:nvSpPr>
          <p:cNvPr id="508" name="Google Shape;508;p39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B = {0…0</a:t>
            </a:r>
            <a:r>
              <a:rPr baseline="-25000" lang="es"/>
              <a:t>n</a:t>
            </a:r>
            <a:r>
              <a:rPr lang="es"/>
              <a:t>1…1</a:t>
            </a:r>
            <a:r>
              <a:rPr baseline="-25000" lang="es"/>
              <a:t>n</a:t>
            </a:r>
            <a:r>
              <a:rPr lang="es"/>
              <a:t>/ n ≥ 0}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No tenemos memoria…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40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Autómata de Pila</a:t>
            </a:r>
            <a:endParaRPr/>
          </a:p>
        </p:txBody>
      </p:sp>
      <p:sp>
        <p:nvSpPr>
          <p:cNvPr id="514" name="Google Shape;514;p40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Le agregamos algo de memoria a nuestro modelo.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Ahora en cada iteración: 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Leemos algo del input, o no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Leemos algo de la pila, o no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Se modifica el estado o nos quedamos en el mismo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Se guarda algo en la pila, o no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Se quita algo en la pila, o no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4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Ejemplo</a:t>
            </a:r>
            <a:endParaRPr/>
          </a:p>
        </p:txBody>
      </p:sp>
      <p:sp>
        <p:nvSpPr>
          <p:cNvPr id="520" name="Google Shape;520;p41"/>
          <p:cNvSpPr txBox="1"/>
          <p:nvPr>
            <p:ph idx="1" type="body"/>
          </p:nvPr>
        </p:nvSpPr>
        <p:spPr>
          <a:xfrm>
            <a:off x="311700" y="1171600"/>
            <a:ext cx="85206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B = {0…0</a:t>
            </a:r>
            <a:r>
              <a:rPr baseline="-25000" lang="es"/>
              <a:t>n</a:t>
            </a:r>
            <a:r>
              <a:rPr lang="es"/>
              <a:t>1…1</a:t>
            </a:r>
            <a:r>
              <a:rPr baseline="-25000" lang="es"/>
              <a:t>n</a:t>
            </a:r>
            <a:r>
              <a:rPr lang="es"/>
              <a:t>/ n ≥ 0}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21" name="Google Shape;521;p41"/>
          <p:cNvSpPr/>
          <p:nvPr/>
        </p:nvSpPr>
        <p:spPr>
          <a:xfrm>
            <a:off x="2336250" y="2068950"/>
            <a:ext cx="585300" cy="552300"/>
          </a:xfrm>
          <a:prstGeom prst="flowChartConnector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Q</a:t>
            </a:r>
            <a:r>
              <a:rPr baseline="-25000" lang="es"/>
              <a:t>0</a:t>
            </a:r>
            <a:endParaRPr baseline="-25000"/>
          </a:p>
        </p:txBody>
      </p:sp>
      <p:sp>
        <p:nvSpPr>
          <p:cNvPr id="522" name="Google Shape;522;p41"/>
          <p:cNvSpPr/>
          <p:nvPr/>
        </p:nvSpPr>
        <p:spPr>
          <a:xfrm>
            <a:off x="3631650" y="2068950"/>
            <a:ext cx="585300" cy="552300"/>
          </a:xfrm>
          <a:prstGeom prst="flowChartConnec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Q</a:t>
            </a:r>
            <a:r>
              <a:rPr baseline="-25000" lang="es"/>
              <a:t>1</a:t>
            </a:r>
            <a:endParaRPr baseline="-25000"/>
          </a:p>
        </p:txBody>
      </p:sp>
      <p:sp>
        <p:nvSpPr>
          <p:cNvPr id="523" name="Google Shape;523;p41"/>
          <p:cNvSpPr/>
          <p:nvPr/>
        </p:nvSpPr>
        <p:spPr>
          <a:xfrm>
            <a:off x="5003250" y="2068950"/>
            <a:ext cx="585300" cy="552300"/>
          </a:xfrm>
          <a:prstGeom prst="flowChartConnec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Q</a:t>
            </a:r>
            <a:r>
              <a:rPr baseline="-25000" lang="es"/>
              <a:t>2</a:t>
            </a:r>
            <a:endParaRPr baseline="-25000"/>
          </a:p>
        </p:txBody>
      </p:sp>
      <p:sp>
        <p:nvSpPr>
          <p:cNvPr id="524" name="Google Shape;524;p41"/>
          <p:cNvSpPr/>
          <p:nvPr/>
        </p:nvSpPr>
        <p:spPr>
          <a:xfrm>
            <a:off x="6222450" y="2068950"/>
            <a:ext cx="585300" cy="552300"/>
          </a:xfrm>
          <a:prstGeom prst="flowChartConnector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Q</a:t>
            </a:r>
            <a:r>
              <a:rPr baseline="-25000" lang="es"/>
              <a:t>3</a:t>
            </a:r>
            <a:endParaRPr baseline="-25000"/>
          </a:p>
        </p:txBody>
      </p:sp>
      <p:cxnSp>
        <p:nvCxnSpPr>
          <p:cNvPr id="525" name="Google Shape;525;p41"/>
          <p:cNvCxnSpPr>
            <a:stCxn id="521" idx="6"/>
            <a:endCxn id="522" idx="2"/>
          </p:cNvCxnSpPr>
          <p:nvPr/>
        </p:nvCxnSpPr>
        <p:spPr>
          <a:xfrm>
            <a:off x="2921550" y="2345100"/>
            <a:ext cx="710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26" name="Google Shape;526;p41"/>
          <p:cNvCxnSpPr>
            <a:stCxn id="522" idx="6"/>
            <a:endCxn id="523" idx="2"/>
          </p:cNvCxnSpPr>
          <p:nvPr/>
        </p:nvCxnSpPr>
        <p:spPr>
          <a:xfrm>
            <a:off x="4216950" y="2345100"/>
            <a:ext cx="786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27" name="Google Shape;527;p41"/>
          <p:cNvCxnSpPr>
            <a:stCxn id="523" idx="6"/>
            <a:endCxn id="524" idx="2"/>
          </p:cNvCxnSpPr>
          <p:nvPr/>
        </p:nvCxnSpPr>
        <p:spPr>
          <a:xfrm>
            <a:off x="5588550" y="2345100"/>
            <a:ext cx="633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28" name="Google Shape;528;p41"/>
          <p:cNvCxnSpPr>
            <a:stCxn id="522" idx="5"/>
            <a:endCxn id="522" idx="3"/>
          </p:cNvCxnSpPr>
          <p:nvPr/>
        </p:nvCxnSpPr>
        <p:spPr>
          <a:xfrm rot="5400000">
            <a:off x="3923935" y="2333668"/>
            <a:ext cx="600" cy="414000"/>
          </a:xfrm>
          <a:prstGeom prst="curvedConnector3">
            <a:avLst>
              <a:gd fmla="val 5316791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29" name="Google Shape;529;p41"/>
          <p:cNvCxnSpPr>
            <a:stCxn id="523" idx="5"/>
            <a:endCxn id="523" idx="3"/>
          </p:cNvCxnSpPr>
          <p:nvPr/>
        </p:nvCxnSpPr>
        <p:spPr>
          <a:xfrm rot="5400000">
            <a:off x="5295535" y="2333668"/>
            <a:ext cx="600" cy="414000"/>
          </a:xfrm>
          <a:prstGeom prst="curvedConnector3">
            <a:avLst>
              <a:gd fmla="val 5316791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30" name="Google Shape;530;p41"/>
          <p:cNvSpPr txBox="1"/>
          <p:nvPr/>
        </p:nvSpPr>
        <p:spPr>
          <a:xfrm>
            <a:off x="2930925" y="1944900"/>
            <a:ext cx="78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ε, ε→$ 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31" name="Google Shape;531;p41"/>
          <p:cNvSpPr txBox="1"/>
          <p:nvPr/>
        </p:nvSpPr>
        <p:spPr>
          <a:xfrm>
            <a:off x="3531075" y="2859375"/>
            <a:ext cx="78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0</a:t>
            </a:r>
            <a:r>
              <a:rPr lang="es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, ε→x 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32" name="Google Shape;532;p41"/>
          <p:cNvSpPr txBox="1"/>
          <p:nvPr/>
        </p:nvSpPr>
        <p:spPr>
          <a:xfrm>
            <a:off x="4216950" y="1986050"/>
            <a:ext cx="78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r>
              <a:rPr lang="es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, x→ε 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33" name="Google Shape;533;p41"/>
          <p:cNvSpPr txBox="1"/>
          <p:nvPr/>
        </p:nvSpPr>
        <p:spPr>
          <a:xfrm>
            <a:off x="4965700" y="2859375"/>
            <a:ext cx="78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1, x→ε 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34" name="Google Shape;534;p41"/>
          <p:cNvSpPr txBox="1"/>
          <p:nvPr/>
        </p:nvSpPr>
        <p:spPr>
          <a:xfrm>
            <a:off x="5588550" y="1986038"/>
            <a:ext cx="78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ε</a:t>
            </a:r>
            <a:r>
              <a:rPr lang="es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, $→ε 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42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Gramáticas</a:t>
            </a:r>
            <a:endParaRPr/>
          </a:p>
        </p:txBody>
      </p:sp>
      <p:sp>
        <p:nvSpPr>
          <p:cNvPr id="540" name="Google Shape;540;p42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Un conjunto de reglas de sustitución (derivación): variable → variable y/o terminales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Un string del lenguaje está conformado por terminales.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El conjunto de los strings del lenguaje conforman la gramática.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Ejemplo: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 sz="1400"/>
              <a:t>A → 0A1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/>
              <a:t>A → B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/>
              <a:t>B → #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/>
              <a:t>Podemos derivar desde A: A → 0A1 → 00A11 → 00B11 → 00#11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/>
              <a:t>→ L = {0…0</a:t>
            </a:r>
            <a:r>
              <a:rPr baseline="-25000" lang="es" sz="1400"/>
              <a:t>n</a:t>
            </a:r>
            <a:r>
              <a:rPr lang="es" sz="1400"/>
              <a:t>#1…1</a:t>
            </a:r>
            <a:r>
              <a:rPr baseline="-25000" lang="es" sz="1400"/>
              <a:t>n</a:t>
            </a:r>
            <a:r>
              <a:rPr lang="es" sz="1400"/>
              <a:t> / n </a:t>
            </a:r>
            <a:r>
              <a:rPr lang="es"/>
              <a:t>≥</a:t>
            </a:r>
            <a:r>
              <a:rPr lang="es" sz="1400"/>
              <a:t> 0}</a:t>
            </a:r>
            <a:endParaRPr sz="1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43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Lenguaje libre de contexto</a:t>
            </a:r>
            <a:endParaRPr/>
          </a:p>
        </p:txBody>
      </p:sp>
      <p:sp>
        <p:nvSpPr>
          <p:cNvPr id="546" name="Google Shape;546;p43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Gramática libre de contexto: todos los strings del lenguaje pueden generarse por derivación.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Un lenguaje que puede generarse por una gramática libre de contexto.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Si hay un string que puede derivarse de más de una manera → gramática ambigua.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4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Lenguajes libres de contexto</a:t>
            </a:r>
            <a:endParaRPr/>
          </a:p>
        </p:txBody>
      </p:sp>
      <p:sp>
        <p:nvSpPr>
          <p:cNvPr id="552" name="Google Shape;552;p4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Un lenguaje es libre de contexto sii existe un autómata finito de pila que lo reconozca.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Como un autómata de pila puede reconocer lenguajes regulares → Un lenguaje regular es un lenguaje libre de contexto.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Ejemplo de lenguaje no libre de contexto: B = {a…a</a:t>
            </a:r>
            <a:r>
              <a:rPr baseline="-25000" lang="es"/>
              <a:t>n</a:t>
            </a:r>
            <a:r>
              <a:rPr lang="es"/>
              <a:t>b…b</a:t>
            </a:r>
            <a:r>
              <a:rPr baseline="-25000" lang="es"/>
              <a:t>n</a:t>
            </a:r>
            <a:r>
              <a:rPr lang="es"/>
              <a:t>c…c</a:t>
            </a:r>
            <a:r>
              <a:rPr baseline="-25000" lang="es"/>
              <a:t>n</a:t>
            </a:r>
            <a:r>
              <a:rPr lang="es"/>
              <a:t>/ n ≥ 0}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4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Herramienta para probar autómatas</a:t>
            </a:r>
            <a:endParaRPr/>
          </a:p>
        </p:txBody>
      </p:sp>
      <p:sp>
        <p:nvSpPr>
          <p:cNvPr id="558" name="Google Shape;558;p45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s" u="sng">
                <a:solidFill>
                  <a:schemeClr val="hlink"/>
                </a:solidFill>
                <a:hlinkClick r:id="rId3"/>
              </a:rPr>
              <a:t>https://www.cs.odu.edu/~zeil/automat/automat.cgi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000000"/>
        </a:solidFill>
      </p:bgPr>
    </p:bg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46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Autómatas, Lenguajes y Gramáticas</a:t>
            </a:r>
            <a:endParaRPr/>
          </a:p>
        </p:txBody>
      </p:sp>
      <p:sp>
        <p:nvSpPr>
          <p:cNvPr id="564" name="Google Shape;564;p46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Teoría de Algoritmos I</a:t>
            </a:r>
            <a:endParaRPr/>
          </a:p>
        </p:txBody>
      </p:sp>
      <p:pic>
        <p:nvPicPr>
          <p:cNvPr id="565" name="Google Shape;565;p46"/>
          <p:cNvPicPr preferRelativeResize="0"/>
          <p:nvPr/>
        </p:nvPicPr>
        <p:blipFill rotWithShape="1">
          <a:blip r:embed="rId3">
            <a:alphaModFix/>
          </a:blip>
          <a:srcRect b="80" l="0" r="0" t="70"/>
          <a:stretch/>
        </p:blipFill>
        <p:spPr>
          <a:xfrm>
            <a:off x="7060492" y="4349400"/>
            <a:ext cx="2079858" cy="787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47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Máquina de Turing</a:t>
            </a:r>
            <a:endParaRPr/>
          </a:p>
        </p:txBody>
      </p:sp>
      <p:pic>
        <p:nvPicPr>
          <p:cNvPr id="571" name="Google Shape;571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650" y="1141425"/>
            <a:ext cx="8150704" cy="378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6" name="Google Shape;576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4988" y="152400"/>
            <a:ext cx="8374027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1" name="Google Shape;581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