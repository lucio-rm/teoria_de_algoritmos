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Proxima Nova"/>
      <p:regular r:id="rId41"/>
      <p:bold r:id="rId42"/>
      <p:italic r:id="rId43"/>
      <p:boldItalic r:id="rId44"/>
    </p:embeddedFont>
    <p:embeddedFont>
      <p:font typeface="Old Standard TT"/>
      <p:regular r:id="rId45"/>
      <p:bold r:id="rId46"/>
      <p: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ProximaNova-bold.fntdata"/><Relationship Id="rId41" Type="http://schemas.openxmlformats.org/officeDocument/2006/relationships/font" Target="fonts/ProximaNova-regular.fntdata"/><Relationship Id="rId22" Type="http://schemas.openxmlformats.org/officeDocument/2006/relationships/slide" Target="slides/slide17.xml"/><Relationship Id="rId44" Type="http://schemas.openxmlformats.org/officeDocument/2006/relationships/font" Target="fonts/ProximaNova-boldItalic.fntdata"/><Relationship Id="rId21" Type="http://schemas.openxmlformats.org/officeDocument/2006/relationships/slide" Target="slides/slide16.xml"/><Relationship Id="rId43" Type="http://schemas.openxmlformats.org/officeDocument/2006/relationships/font" Target="fonts/ProximaNova-italic.fntdata"/><Relationship Id="rId24" Type="http://schemas.openxmlformats.org/officeDocument/2006/relationships/slide" Target="slides/slide19.xml"/><Relationship Id="rId46" Type="http://schemas.openxmlformats.org/officeDocument/2006/relationships/font" Target="fonts/OldStandardTT-bold.fntdata"/><Relationship Id="rId23" Type="http://schemas.openxmlformats.org/officeDocument/2006/relationships/slide" Target="slides/slide18.xml"/><Relationship Id="rId45" Type="http://schemas.openxmlformats.org/officeDocument/2006/relationships/font" Target="fonts/OldStandardT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OldStandardTT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b650a338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b650a338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b650a338d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b650a338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4b650a338d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4b650a338d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4b650a338d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4b650a338d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b650a338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b650a338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b650a338d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b650a338d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b650a338d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4b650a338d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b650a338d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b650a338d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4751921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54751921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4751921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4751921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47519217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4751921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47519217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547519217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47519217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547519217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47519217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547519217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47519217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547519217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547519217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547519217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47519217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547519217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47519217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547519217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547519217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547519217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47519217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547519217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47519217d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47519217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547519217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547519217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547519217d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547519217d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47519217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547519217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547519217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547519217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547519217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547519217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547519217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547519217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47519217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547519217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547519217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547519217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547519217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547519217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547519217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547519217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547519217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547519217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547519217d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547519217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547519217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547519217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 Teoría de la Computabilidad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Máquina de Turing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47151" t="0"/>
          <a:stretch/>
        </p:blipFill>
        <p:spPr>
          <a:xfrm>
            <a:off x="7282327" y="0"/>
            <a:ext cx="1861674" cy="27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Pero antes… ¿Quién fue Alan Turing?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71600"/>
            <a:ext cx="6908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groso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Matemático, informático teórico, lógico, criptógrafo, filósofo, biólogo teórico, un avenger, … 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53670" r="-5" t="0"/>
          <a:stretch/>
        </p:blipFill>
        <p:spPr>
          <a:xfrm>
            <a:off x="7511834" y="0"/>
            <a:ext cx="1632165" cy="27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311700" y="2194600"/>
            <a:ext cx="6758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El padre de la computación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Creó el concepto de la máquina de Turing en 1936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Capo de criptografía → Máquina enigma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Test de Turing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Creó el primer programa que jugaba al ajedrez.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 quien hace TDAs en Algoritmos y que después Bárbara lo trata mal.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 mataron los mismos ingleses a los que les salvó el culo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Máquina de Turing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Pensada para el problema de decisión (Entscheidungsproblem).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Máquina de Turing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que parte del AF, pero con memoria infinita.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Tiene una cinta infinita de celdas, con el input inicialmente en la cinta y el resto </a:t>
            </a:r>
            <a:r>
              <a:rPr i="1" lang="es"/>
              <a:t>en blanco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 cada iteración puede leer o grabar una secuencia. Puede moverse a izquierda o derecha de la cinta.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Como en el AF tiene (una cantidad finita de) estados.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Hay estados especiales llamados de Halting (aceptación o rechazo)... que podría </a:t>
            </a:r>
            <a:r>
              <a:rPr i="1" lang="es"/>
              <a:t>nunca</a:t>
            </a:r>
            <a:r>
              <a:rPr lang="es"/>
              <a:t> alcanzar.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71600"/>
            <a:ext cx="85206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Queremos una </a:t>
            </a:r>
            <a:r>
              <a:rPr lang="es"/>
              <a:t>TM</a:t>
            </a:r>
            <a:r>
              <a:rPr lang="es"/>
              <a:t> tal que L(M) = {w ∈ {0, 1} / w = 01*0} </a:t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405025" y="22373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 baseline="-25000"/>
          </a:p>
        </p:txBody>
      </p:sp>
      <p:sp>
        <p:nvSpPr>
          <p:cNvPr id="96" name="Google Shape;96;p18"/>
          <p:cNvSpPr/>
          <p:nvPr/>
        </p:nvSpPr>
        <p:spPr>
          <a:xfrm>
            <a:off x="1853500" y="22373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97" name="Google Shape;97;p18"/>
          <p:cNvSpPr/>
          <p:nvPr/>
        </p:nvSpPr>
        <p:spPr>
          <a:xfrm>
            <a:off x="3381475" y="22373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 baseline="-25000"/>
          </a:p>
        </p:txBody>
      </p:sp>
      <p:sp>
        <p:nvSpPr>
          <p:cNvPr id="98" name="Google Shape;98;p18"/>
          <p:cNvSpPr/>
          <p:nvPr/>
        </p:nvSpPr>
        <p:spPr>
          <a:xfrm>
            <a:off x="4774375" y="2172400"/>
            <a:ext cx="719700" cy="6822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acc</a:t>
            </a:r>
            <a:endParaRPr baseline="-25000"/>
          </a:p>
        </p:txBody>
      </p:sp>
      <p:sp>
        <p:nvSpPr>
          <p:cNvPr id="99" name="Google Shape;99;p18"/>
          <p:cNvSpPr/>
          <p:nvPr/>
        </p:nvSpPr>
        <p:spPr>
          <a:xfrm>
            <a:off x="2342500" y="3569175"/>
            <a:ext cx="647100" cy="6132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rej</a:t>
            </a:r>
            <a:endParaRPr baseline="-25000"/>
          </a:p>
        </p:txBody>
      </p:sp>
      <p:cxnSp>
        <p:nvCxnSpPr>
          <p:cNvPr id="100" name="Google Shape;100;p18"/>
          <p:cNvCxnSpPr>
            <a:stCxn id="95" idx="6"/>
            <a:endCxn id="96" idx="2"/>
          </p:cNvCxnSpPr>
          <p:nvPr/>
        </p:nvCxnSpPr>
        <p:spPr>
          <a:xfrm>
            <a:off x="990325" y="2513500"/>
            <a:ext cx="86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8"/>
          <p:cNvCxnSpPr>
            <a:stCxn id="96" idx="6"/>
            <a:endCxn id="97" idx="2"/>
          </p:cNvCxnSpPr>
          <p:nvPr/>
        </p:nvCxnSpPr>
        <p:spPr>
          <a:xfrm>
            <a:off x="2438800" y="2513500"/>
            <a:ext cx="94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8"/>
          <p:cNvCxnSpPr>
            <a:stCxn id="97" idx="6"/>
            <a:endCxn id="98" idx="2"/>
          </p:cNvCxnSpPr>
          <p:nvPr/>
        </p:nvCxnSpPr>
        <p:spPr>
          <a:xfrm>
            <a:off x="3966775" y="2513500"/>
            <a:ext cx="8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8"/>
          <p:cNvCxnSpPr>
            <a:stCxn id="97" idx="5"/>
            <a:endCxn id="99" idx="5"/>
          </p:cNvCxnSpPr>
          <p:nvPr/>
        </p:nvCxnSpPr>
        <p:spPr>
          <a:xfrm rot="5400000">
            <a:off x="2696060" y="2907668"/>
            <a:ext cx="1383900" cy="986100"/>
          </a:xfrm>
          <a:prstGeom prst="curvedConnector3">
            <a:avLst>
              <a:gd fmla="val 1236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8"/>
          <p:cNvCxnSpPr>
            <a:stCxn id="96" idx="5"/>
            <a:endCxn id="99" idx="6"/>
          </p:cNvCxnSpPr>
          <p:nvPr/>
        </p:nvCxnSpPr>
        <p:spPr>
          <a:xfrm flipH="1" rot="-5400000">
            <a:off x="2087885" y="2973968"/>
            <a:ext cx="1167000" cy="636600"/>
          </a:xfrm>
          <a:prstGeom prst="curvedConnector4">
            <a:avLst>
              <a:gd fmla="val 40329" name="adj1"/>
              <a:gd fmla="val 13739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8"/>
          <p:cNvCxnSpPr>
            <a:stCxn id="95" idx="5"/>
            <a:endCxn id="99" idx="2"/>
          </p:cNvCxnSpPr>
          <p:nvPr/>
        </p:nvCxnSpPr>
        <p:spPr>
          <a:xfrm flipH="1" rot="-5400000">
            <a:off x="1040060" y="2573318"/>
            <a:ext cx="1167000" cy="1437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8"/>
          <p:cNvCxnSpPr>
            <a:stCxn id="96" idx="7"/>
            <a:endCxn id="96" idx="1"/>
          </p:cNvCxnSpPr>
          <p:nvPr/>
        </p:nvCxnSpPr>
        <p:spPr>
          <a:xfrm rot="5400000">
            <a:off x="2145785" y="2111532"/>
            <a:ext cx="600" cy="414000"/>
          </a:xfrm>
          <a:prstGeom prst="curvedConnector3">
            <a:avLst>
              <a:gd fmla="val -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8"/>
          <p:cNvSpPr txBox="1"/>
          <p:nvPr/>
        </p:nvSpPr>
        <p:spPr>
          <a:xfrm>
            <a:off x="1224500" y="2197875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2668688" y="2854600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894950" y="2140025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2192200" y="1777375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247275" y="2197875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3634438" y="3022900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298563" y="3254800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Configuración de una TM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medida que se ejecuta la </a:t>
            </a:r>
            <a:r>
              <a:rPr lang="es"/>
              <a:t>TM, el estado se modifica: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Contenido de la cinta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Posición del cabezal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Estado actual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→ Configuración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Podemos definir esto como un string, por ejemplo: 00Q</a:t>
            </a:r>
            <a:r>
              <a:rPr baseline="-25000" lang="es"/>
              <a:t>2</a:t>
            </a:r>
            <a:r>
              <a:rPr lang="es"/>
              <a:t>10.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Configuración inicial: Q</a:t>
            </a:r>
            <a:r>
              <a:rPr baseline="-25000" lang="es"/>
              <a:t>0</a:t>
            </a:r>
            <a:r>
              <a:rPr lang="es"/>
              <a:t>w</a:t>
            </a:r>
            <a:r>
              <a:rPr baseline="-25000" lang="es"/>
              <a:t>0</a:t>
            </a:r>
            <a:r>
              <a:rPr lang="es"/>
              <a:t>w</a:t>
            </a:r>
            <a:r>
              <a:rPr baseline="-25000" lang="es"/>
              <a:t>1</a:t>
            </a:r>
            <a:r>
              <a:rPr lang="es"/>
              <a:t>w</a:t>
            </a:r>
            <a:r>
              <a:rPr baseline="-25000" lang="es"/>
              <a:t>2</a:t>
            </a:r>
            <a:r>
              <a:rPr lang="es"/>
              <a:t>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Configuraciones de Aceptación o Rechazo: si el estado es Q</a:t>
            </a:r>
            <a:r>
              <a:rPr baseline="-25000" lang="es"/>
              <a:t>acc</a:t>
            </a:r>
            <a:r>
              <a:rPr lang="es"/>
              <a:t> o Q</a:t>
            </a:r>
            <a:r>
              <a:rPr baseline="-25000" lang="es"/>
              <a:t>rej</a:t>
            </a:r>
            <a:r>
              <a:rPr lang="es"/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967700" y="1171600"/>
            <a:ext cx="4864500" cy="12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Podemos ver la ejecución de una </a:t>
            </a:r>
            <a:r>
              <a:rPr lang="es"/>
              <a:t>TM</a:t>
            </a:r>
            <a:r>
              <a:rPr lang="es"/>
              <a:t> como una sucesión de configuraciones. Entonces C</a:t>
            </a:r>
            <a:r>
              <a:rPr baseline="-25000" lang="es"/>
              <a:t>x</a:t>
            </a:r>
            <a:r>
              <a:rPr lang="es"/>
              <a:t> produce C</a:t>
            </a:r>
            <a:r>
              <a:rPr baseline="-25000" lang="es"/>
              <a:t>y</a:t>
            </a:r>
            <a:r>
              <a:rPr lang="es"/>
              <a:t> (es determinístico). 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4553" l="0" r="0" t="0"/>
          <a:stretch/>
        </p:blipFill>
        <p:spPr>
          <a:xfrm>
            <a:off x="0" y="-1"/>
            <a:ext cx="3810000" cy="25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Cómputo de una TM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lenguaje es Turing reconocible sii existe una </a:t>
            </a:r>
            <a:r>
              <a:rPr lang="es"/>
              <a:t>TM</a:t>
            </a:r>
            <a:r>
              <a:rPr lang="es"/>
              <a:t> que la reconozca.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Ahora, el cómputo de una TM puede terminar con: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Aceptación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Rechazo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Loop infinito… ¿es que está demorando o que se quedó colgado?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Decidor: es una TM que nunca lupea, no importa el input.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→ Un lenguaje es Turing Decidible sii existe una TM que sea decidor de dicho lenguaje.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Complejidad Temporal para TM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Acá podemos utilizar notación O también (calcular el exacto es cuasi imposible).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Se define que M es una f(n)-Máquina de Turing si tiene complejidad O(f(n))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Modelos Polinomialmente Equivalentes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Vimos diferentes modelos. Todos tienen una capacidad &lt;= TM. Vimos también casos que son equivalentes.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→ Decimos que un modelo es equivalente a otro si puedo transformar de uno a otro incrementando el tiempo de ejecución en un tiempo polinomial.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Pensamos en una Máquina de Turing no Determinística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427125"/>
            <a:ext cx="50133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La complejidad temporal va a estar dada por la máxima cantidad de pasos que necesita en alguna rama, en función del tamaño de la entrada.</a:t>
            </a: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7051800" y="10587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151" name="Google Shape;151;p24"/>
          <p:cNvSpPr/>
          <p:nvPr/>
        </p:nvSpPr>
        <p:spPr>
          <a:xfrm>
            <a:off x="7051800" y="16225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152" name="Google Shape;152;p24"/>
          <p:cNvSpPr/>
          <p:nvPr/>
        </p:nvSpPr>
        <p:spPr>
          <a:xfrm>
            <a:off x="7051800" y="2220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153" name="Google Shape;153;p24"/>
          <p:cNvSpPr/>
          <p:nvPr/>
        </p:nvSpPr>
        <p:spPr>
          <a:xfrm>
            <a:off x="7673850" y="2220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154" name="Google Shape;154;p24"/>
          <p:cNvSpPr/>
          <p:nvPr/>
        </p:nvSpPr>
        <p:spPr>
          <a:xfrm>
            <a:off x="8295900" y="2220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155" name="Google Shape;155;p24"/>
          <p:cNvSpPr/>
          <p:nvPr/>
        </p:nvSpPr>
        <p:spPr>
          <a:xfrm>
            <a:off x="7051800" y="2808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156" name="Google Shape;156;p24"/>
          <p:cNvCxnSpPr>
            <a:stCxn id="150" idx="4"/>
            <a:endCxn id="151" idx="0"/>
          </p:cNvCxnSpPr>
          <p:nvPr/>
        </p:nvCxnSpPr>
        <p:spPr>
          <a:xfrm>
            <a:off x="7150650" y="1256425"/>
            <a:ext cx="0" cy="36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4"/>
          <p:cNvCxnSpPr>
            <a:stCxn id="151" idx="4"/>
            <a:endCxn id="152" idx="0"/>
          </p:cNvCxnSpPr>
          <p:nvPr/>
        </p:nvCxnSpPr>
        <p:spPr>
          <a:xfrm>
            <a:off x="7150650" y="182022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4"/>
          <p:cNvCxnSpPr>
            <a:stCxn id="151" idx="4"/>
            <a:endCxn id="153" idx="0"/>
          </p:cNvCxnSpPr>
          <p:nvPr/>
        </p:nvCxnSpPr>
        <p:spPr>
          <a:xfrm>
            <a:off x="7150650" y="1820225"/>
            <a:ext cx="62220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4"/>
          <p:cNvCxnSpPr>
            <a:stCxn id="153" idx="6"/>
            <a:endCxn id="154" idx="2"/>
          </p:cNvCxnSpPr>
          <p:nvPr/>
        </p:nvCxnSpPr>
        <p:spPr>
          <a:xfrm>
            <a:off x="7871550" y="2319625"/>
            <a:ext cx="424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4"/>
          <p:cNvCxnSpPr>
            <a:stCxn id="152" idx="4"/>
            <a:endCxn id="155" idx="0"/>
          </p:cNvCxnSpPr>
          <p:nvPr/>
        </p:nvCxnSpPr>
        <p:spPr>
          <a:xfrm>
            <a:off x="7150650" y="2418475"/>
            <a:ext cx="0" cy="38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4"/>
          <p:cNvSpPr/>
          <p:nvPr/>
        </p:nvSpPr>
        <p:spPr>
          <a:xfrm>
            <a:off x="7673850" y="28190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162" name="Google Shape;162;p24"/>
          <p:cNvSpPr/>
          <p:nvPr/>
        </p:nvSpPr>
        <p:spPr>
          <a:xfrm>
            <a:off x="8224950" y="2778012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AF4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" name="Google Shape;163;p24"/>
          <p:cNvCxnSpPr>
            <a:stCxn id="153" idx="4"/>
            <a:endCxn id="161" idx="0"/>
          </p:cNvCxnSpPr>
          <p:nvPr/>
        </p:nvCxnSpPr>
        <p:spPr>
          <a:xfrm>
            <a:off x="7772700" y="2418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4"/>
          <p:cNvCxnSpPr/>
          <p:nvPr/>
        </p:nvCxnSpPr>
        <p:spPr>
          <a:xfrm>
            <a:off x="8382300" y="2418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4"/>
          <p:cNvSpPr/>
          <p:nvPr/>
        </p:nvSpPr>
        <p:spPr>
          <a:xfrm>
            <a:off x="7051800" y="3417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166" name="Google Shape;166;p24"/>
          <p:cNvSpPr/>
          <p:nvPr/>
        </p:nvSpPr>
        <p:spPr>
          <a:xfrm>
            <a:off x="8712800" y="3417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167" name="Google Shape;167;p24"/>
          <p:cNvSpPr/>
          <p:nvPr/>
        </p:nvSpPr>
        <p:spPr>
          <a:xfrm>
            <a:off x="7673850" y="3417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168" name="Google Shape;168;p24"/>
          <p:cNvSpPr/>
          <p:nvPr/>
        </p:nvSpPr>
        <p:spPr>
          <a:xfrm>
            <a:off x="8193325" y="34172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169" name="Google Shape;169;p24"/>
          <p:cNvCxnSpPr>
            <a:stCxn id="167" idx="6"/>
            <a:endCxn id="168" idx="2"/>
          </p:cNvCxnSpPr>
          <p:nvPr/>
        </p:nvCxnSpPr>
        <p:spPr>
          <a:xfrm>
            <a:off x="7871550" y="3516125"/>
            <a:ext cx="321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4"/>
          <p:cNvSpPr/>
          <p:nvPr/>
        </p:nvSpPr>
        <p:spPr>
          <a:xfrm>
            <a:off x="8712800" y="3976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171" name="Google Shape;171;p24"/>
          <p:cNvSpPr/>
          <p:nvPr/>
        </p:nvSpPr>
        <p:spPr>
          <a:xfrm>
            <a:off x="8193325" y="3976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172" name="Google Shape;172;p24"/>
          <p:cNvCxnSpPr>
            <a:stCxn id="168" idx="4"/>
            <a:endCxn id="171" idx="0"/>
          </p:cNvCxnSpPr>
          <p:nvPr/>
        </p:nvCxnSpPr>
        <p:spPr>
          <a:xfrm>
            <a:off x="8292175" y="361492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4"/>
          <p:cNvCxnSpPr>
            <a:stCxn id="166" idx="4"/>
            <a:endCxn id="170" idx="0"/>
          </p:cNvCxnSpPr>
          <p:nvPr/>
        </p:nvCxnSpPr>
        <p:spPr>
          <a:xfrm>
            <a:off x="8811650" y="361497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4"/>
          <p:cNvSpPr/>
          <p:nvPr/>
        </p:nvSpPr>
        <p:spPr>
          <a:xfrm>
            <a:off x="7615350" y="39704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AF4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" name="Google Shape;175;p24"/>
          <p:cNvCxnSpPr/>
          <p:nvPr/>
        </p:nvCxnSpPr>
        <p:spPr>
          <a:xfrm>
            <a:off x="7772700" y="36109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4"/>
          <p:cNvSpPr/>
          <p:nvPr/>
        </p:nvSpPr>
        <p:spPr>
          <a:xfrm>
            <a:off x="7051800" y="3951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177" name="Google Shape;177;p24"/>
          <p:cNvSpPr/>
          <p:nvPr/>
        </p:nvSpPr>
        <p:spPr>
          <a:xfrm>
            <a:off x="6530850" y="39506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178" name="Google Shape;178;p24"/>
          <p:cNvSpPr/>
          <p:nvPr/>
        </p:nvSpPr>
        <p:spPr>
          <a:xfrm>
            <a:off x="5983525" y="39506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179" name="Google Shape;179;p24"/>
          <p:cNvCxnSpPr>
            <a:stCxn id="165" idx="4"/>
            <a:endCxn id="176" idx="0"/>
          </p:cNvCxnSpPr>
          <p:nvPr/>
        </p:nvCxnSpPr>
        <p:spPr>
          <a:xfrm>
            <a:off x="7150650" y="3615450"/>
            <a:ext cx="0" cy="335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4"/>
          <p:cNvCxnSpPr>
            <a:stCxn id="165" idx="4"/>
            <a:endCxn id="177" idx="0"/>
          </p:cNvCxnSpPr>
          <p:nvPr/>
        </p:nvCxnSpPr>
        <p:spPr>
          <a:xfrm flipH="1">
            <a:off x="6629850" y="3615450"/>
            <a:ext cx="520800" cy="335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4"/>
          <p:cNvCxnSpPr>
            <a:stCxn id="177" idx="2"/>
            <a:endCxn id="178" idx="6"/>
          </p:cNvCxnSpPr>
          <p:nvPr/>
        </p:nvCxnSpPr>
        <p:spPr>
          <a:xfrm rot="10800000">
            <a:off x="6181350" y="4049525"/>
            <a:ext cx="349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4"/>
          <p:cNvSpPr/>
          <p:nvPr/>
        </p:nvSpPr>
        <p:spPr>
          <a:xfrm>
            <a:off x="8712800" y="4585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183" name="Google Shape;183;p24"/>
          <p:cNvSpPr/>
          <p:nvPr/>
        </p:nvSpPr>
        <p:spPr>
          <a:xfrm>
            <a:off x="8193325" y="4585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184" name="Google Shape;184;p24"/>
          <p:cNvCxnSpPr>
            <a:stCxn id="170" idx="4"/>
            <a:endCxn id="182" idx="0"/>
          </p:cNvCxnSpPr>
          <p:nvPr/>
        </p:nvCxnSpPr>
        <p:spPr>
          <a:xfrm>
            <a:off x="8811650" y="4173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4"/>
          <p:cNvCxnSpPr>
            <a:stCxn id="171" idx="4"/>
            <a:endCxn id="183" idx="0"/>
          </p:cNvCxnSpPr>
          <p:nvPr/>
        </p:nvCxnSpPr>
        <p:spPr>
          <a:xfrm>
            <a:off x="8292175" y="4173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4"/>
          <p:cNvSpPr/>
          <p:nvPr/>
        </p:nvSpPr>
        <p:spPr>
          <a:xfrm>
            <a:off x="7051800" y="4560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187" name="Google Shape;187;p24"/>
          <p:cNvCxnSpPr>
            <a:stCxn id="176" idx="4"/>
            <a:endCxn id="186" idx="0"/>
          </p:cNvCxnSpPr>
          <p:nvPr/>
        </p:nvCxnSpPr>
        <p:spPr>
          <a:xfrm>
            <a:off x="7150650" y="41488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4"/>
          <p:cNvSpPr/>
          <p:nvPr/>
        </p:nvSpPr>
        <p:spPr>
          <a:xfrm>
            <a:off x="6530846" y="4560747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189" name="Google Shape;189;p24"/>
          <p:cNvCxnSpPr>
            <a:stCxn id="177" idx="4"/>
            <a:endCxn id="188" idx="0"/>
          </p:cNvCxnSpPr>
          <p:nvPr/>
        </p:nvCxnSpPr>
        <p:spPr>
          <a:xfrm>
            <a:off x="6629700" y="4148375"/>
            <a:ext cx="0" cy="412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4"/>
          <p:cNvSpPr/>
          <p:nvPr/>
        </p:nvSpPr>
        <p:spPr>
          <a:xfrm>
            <a:off x="5914222" y="45038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AF4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24"/>
          <p:cNvCxnSpPr/>
          <p:nvPr/>
        </p:nvCxnSpPr>
        <p:spPr>
          <a:xfrm>
            <a:off x="6071572" y="41443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4"/>
          <p:cNvSpPr/>
          <p:nvPr/>
        </p:nvSpPr>
        <p:spPr>
          <a:xfrm>
            <a:off x="6629699" y="4689876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AF4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7150649" y="4682851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AF4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5175" y="4555050"/>
            <a:ext cx="278908" cy="3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8575" y="4555050"/>
            <a:ext cx="278908" cy="3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7319100" y="3016875"/>
            <a:ext cx="10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…………….</a:t>
            </a:r>
            <a:endParaRPr>
              <a:solidFill>
                <a:srgbClr val="00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97" name="Google Shape;197;p24"/>
          <p:cNvCxnSpPr/>
          <p:nvPr/>
        </p:nvCxnSpPr>
        <p:spPr>
          <a:xfrm>
            <a:off x="5588600" y="1154000"/>
            <a:ext cx="0" cy="36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4"/>
          <p:cNvSpPr txBox="1"/>
          <p:nvPr/>
        </p:nvSpPr>
        <p:spPr>
          <a:xfrm>
            <a:off x="5207250" y="24975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f(n)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Clases de complejidad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311700" y="1171600"/>
            <a:ext cx="8520600" cy="21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P: Corresponde a los lenguajes que son decidibles en tiempo Polinómico utilizando una Máquina de Turing </a:t>
            </a:r>
            <a:r>
              <a:rPr b="1" lang="es"/>
              <a:t>Determinística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NP: Corresponde a los lenguajes que son decidibles en tiempo Polinómico utilizando una Máquina de Turing </a:t>
            </a:r>
            <a:r>
              <a:rPr b="1" lang="es"/>
              <a:t>No Determinística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NP: Non-Deterministic Polynomial Time. 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467" y="2819050"/>
            <a:ext cx="3149050" cy="182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/>
        </p:nvSpPr>
        <p:spPr>
          <a:xfrm>
            <a:off x="274675" y="3676275"/>
            <a:ext cx="47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(También vale la anterior: que existe una MT determinística que verifica en tiempo polinomial una solución…)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 Computables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función f es computable si existe una TM tal que finaliza su ejecución sólo con f(w) en su cinta, para cualquier w.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Esto se puede usar para hacer composición de TMs.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Esto también nos permite plantear el concepto de reducción para TMs: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 &lt;=</a:t>
            </a:r>
            <a:r>
              <a:rPr baseline="-25000" lang="es"/>
              <a:t>m</a:t>
            </a:r>
            <a:r>
              <a:rPr lang="es"/>
              <a:t> B sii existe una función computable tal que para todo w en A, f(w) pertenece a B.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f es polinomial, la reducción es polinomial.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David Hilbert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1900 planteó 23 problemas "a resolver en el siguiente siglo".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 el problema 10 plantea: "Encontrar un </a:t>
            </a:r>
            <a:r>
              <a:rPr i="1" lang="es"/>
              <a:t>algoritmo</a:t>
            </a:r>
            <a:r>
              <a:rPr lang="es"/>
              <a:t> que dada una ecuación con 2 o más incógnitas y coeficientes enteros, determine si hay solución entera".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 ningún momento se planteó que esto se podía o no, sino cuándo.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Entscheidungsproblem - Problema de Decisión</a:t>
            </a:r>
            <a:endParaRPr/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Otro problema más, entre Hilbert y Ackermann (1928).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¿Existe un algoritmo/máquina que dada cualquier fórmula de cálculo de primer orden nos indique si es un teorema (si es válida)?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Vino Turing y dijo "aún no existe el problema de P vs NP para ganarme el millón, así que me veo esto".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→ Turing propone su máquina automática (1936), y también Church labura en paralelo sobre el Cálculo Lambda. Turing demuestra que λ-calculus y su máquina son equivalentes.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Tesis de Church-Turing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 noción de algoritmo: algo es un algoritmo si es equivalente a alguna máquina de Turing.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→ Sólo podemos generar un algoritmo para un problema sii existe una máquina de Turing que reconozca el lenguaje del problema.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Todos los modelos computacionales reales son de menor o igual capacidad de cómputo que una TM (al menos de momento). Ej: poder realizar infinitas operaciones en tiempo finito… ¿Computación Cuántica?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IMPORTANTE</a:t>
            </a:r>
            <a:endParaRPr b="1"/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es una Tesis, no un Teorema → Esto no está demostrado.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Aunque hay una amplia aceptación de que esto es así.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mismo problema de antes, más sencillo</a:t>
            </a:r>
            <a:endParaRPr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ahora trabajamos con una sóla variable, podemos plantear un polinomio genérico.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Podemos crear una TM: toma como input un polinomio, cuya variable es x. Evaluamos p bajo la secuencia 0, 1, -1, 2, -2, 3, -3, 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¿Y si no hay solución?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acotar el rango</a:t>
            </a:r>
            <a:endParaRPr/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311700" y="1171600"/>
            <a:ext cx="85206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Haciendo un poco de operatoria algebráica, nos queda que, si hay raíz entera,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se encuentra si o si con: </a:t>
            </a:r>
            <a:endParaRPr/>
          </a:p>
        </p:txBody>
      </p:sp>
      <p:pic>
        <p:nvPicPr>
          <p:cNvPr id="249" name="Google Shape;2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950" y="1628500"/>
            <a:ext cx="2497300" cy="9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 txBox="1"/>
          <p:nvPr/>
        </p:nvSpPr>
        <p:spPr>
          <a:xfrm>
            <a:off x="311700" y="2647950"/>
            <a:ext cx="8087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Podemos calcular ese valor e iterar a estos valores, entonces nuestra TM va a ser decidora (no va a loopear). → Problema Turing Decidible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Volviendo al problema original</a:t>
            </a:r>
            <a:endParaRPr/>
          </a:p>
        </p:txBody>
      </p:sp>
      <p:sp>
        <p:nvSpPr>
          <p:cNvPr id="256" name="Google Shape;256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 más de una variable, podemos plantear algo similar para iterar, en más variables… hay más combinaciones, pero se puede → Es Turing-Reconocible.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 1971 se demostró que este problema no es Turing-Decidible.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Máquina de Turing Universal</a:t>
            </a:r>
            <a:endParaRPr/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TM que simula cualquier otra con un input arbitrario (la máquina original es parte del input de la universal).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 como un programa que corre otro programa… Como un </a:t>
            </a:r>
            <a:r>
              <a:rPr b="1" lang="es"/>
              <a:t>Sistema Operativo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Nuestra UTM acepta si la TM acepta, y rechaza si se rechaza.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Halting Problem</a:t>
            </a:r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¿Existe una TM que agarre otra y diga si esta termina (decide, no loopea) para todo input?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Demostracion que Halting Problem no es Turing Decidible</a:t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311700" y="14002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Asumimos que dicha máquina existe (para llegar a absurdo), y se llama H.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H(&lt;M, w&gt;) = {acepta si M acepta w, rechaza si M no acepta w}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Definimos a D como una TM que usa H: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D&lt;M&gt; = H&lt;M, &lt;M&gt;&gt; = {acepta si M no acepta a &lt;M&gt; y rechaza si acepta &lt;M&gt;}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Aplicamos D&lt;D&gt; = {acepta si D no acepta &lt;D&gt; y rechaza si D no acepta &lt;D&gt;}.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Entonces D no puede ni aceptar ni rechazar → Absurdo → Existen lenguajes no decidibles → no puedo determinar algo que lo decida.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Algunos Problemas no computables</a:t>
            </a:r>
            <a:endParaRPr/>
          </a:p>
        </p:txBody>
      </p:sp>
      <p:sp>
        <p:nvSpPr>
          <p:cNvPr id="280" name="Google Shape;280;p3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Halting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Post Correspondence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Wang Tiles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Juego de la vida (dados dos patrones, definir si partiendo de uno puede que el segundo aparezca en alguna generación)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10mo problema de Hilbert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Turing No-Reconocibles</a:t>
            </a:r>
            <a:endParaRPr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Esto es importante porque hay infinitas Máquinas de Turing. ¿Pueden haber entonces lenguajes no reconocibles?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Hablemos entonces sobre infinitos.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infinito</a:t>
            </a:r>
            <a:endParaRPr/>
          </a:p>
        </p:txBody>
      </p:sp>
      <p:sp>
        <p:nvSpPr>
          <p:cNvPr id="292" name="Google Shape;292;p3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Gestionamos un hotel muy particular, que tiene infinitas habitaciones. Inicialmente lo tenemos vacío.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Viene un colectivo con infinitos jubilados, ¿cómo los ubicamos?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Viene un colectivo con infinitas familias, ¿podemos ponerlos también, teniendo también a los jubilados? ¿Y si pudiéramos mover a los jubilados?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Vienen infinitos colectivos cada uno con infinitos alumnos para una olimpíada de informática… ¿y ahora?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Tamaño de los infinitos → Georg Cantor</a:t>
            </a:r>
            <a:endParaRPr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311700" y="1171600"/>
            <a:ext cx="8520600" cy="10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Cantor dice que los conjuntos infinitos también se pueden contar → Se comió una zarpada cancelación.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850" y="1727119"/>
            <a:ext cx="3737424" cy="22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 txBox="1"/>
          <p:nvPr/>
        </p:nvSpPr>
        <p:spPr>
          <a:xfrm>
            <a:off x="311700" y="1892250"/>
            <a:ext cx="77991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Planteó que dos conjuntos son correspondientes si existe una función biyectiva que mapee elementos de A a B.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→ Dos conjuntos infinitos tienen mismo tamaño si puedo plantear una correspondencia.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Ya vimos algunos casos (enteros, pares, primos).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Más infinitos</a:t>
            </a:r>
            <a:endParaRPr/>
          </a:p>
        </p:txBody>
      </p:sp>
      <p:sp>
        <p:nvSpPr>
          <p:cNvPr id="306" name="Google Shape;306;p41"/>
          <p:cNvSpPr txBox="1"/>
          <p:nvPr>
            <p:ph idx="1" type="body"/>
          </p:nvPr>
        </p:nvSpPr>
        <p:spPr>
          <a:xfrm>
            <a:off x="311700" y="1171600"/>
            <a:ext cx="85206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¿Los números enteros son más que los números naturales?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¿Los números racionales son más que los números naturales?</a:t>
            </a:r>
            <a:endParaRPr/>
          </a:p>
        </p:txBody>
      </p:sp>
      <p:pic>
        <p:nvPicPr>
          <p:cNvPr id="307" name="Google Shape;3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417" y="2048200"/>
            <a:ext cx="3961166" cy="29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los números reales? ¿Se pueden contar?</a:t>
            </a:r>
            <a:endParaRPr/>
          </a:p>
        </p:txBody>
      </p:sp>
      <p:pic>
        <p:nvPicPr>
          <p:cNvPr id="313" name="Google Shape;3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835" y="1210625"/>
            <a:ext cx="3942330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Y… a mí qué me importa?</a:t>
            </a:r>
            <a:endParaRPr/>
          </a:p>
        </p:txBody>
      </p:sp>
      <p:pic>
        <p:nvPicPr>
          <p:cNvPr id="319" name="Google Shape;3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413" y="445025"/>
            <a:ext cx="513397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una secuencia binaria infinita → se puede mapear a los reales → incontable (se puede plantear la misma tabla y ver que no funciona el mapeo a naturales).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conjunto de las TMs… ¿es contable?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Planteamos la UTM → TM era un parámetro y lo podemos plantear como un string en un alfabeto con n símbolos, entonces con k caractéres puedo representar n</a:t>
            </a:r>
            <a:r>
              <a:rPr baseline="30000" lang="es"/>
              <a:t>k</a:t>
            </a:r>
            <a:r>
              <a:rPr lang="es"/>
              <a:t> TMs → Podemos hacer una correspondencia con los naturales (primer los de long 1, luego 2, etc…)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Ok, las TMs son contables, </a:t>
            </a:r>
            <a:r>
              <a:rPr b="1" lang="es"/>
              <a:t>¿Y?</a:t>
            </a:r>
            <a:endParaRPr b="1"/>
          </a:p>
        </p:txBody>
      </p:sp>
      <p:sp>
        <p:nvSpPr>
          <p:cNvPr id="326" name="Google Shape;326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a cada </a:t>
            </a:r>
            <a:r>
              <a:rPr b="1" lang="es"/>
              <a:t>problema</a:t>
            </a:r>
            <a:r>
              <a:rPr lang="es"/>
              <a:t> lo puedo representar como un binario infinito, ese infinito es no contable.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→ hay más problemas que TMs que puedan reconocerlo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→ hay problemas que no se pueden reconocer por una TM.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Ok, cerremos acá</a:t>
            </a:r>
            <a:endParaRPr/>
          </a:p>
        </p:txBody>
      </p:sp>
      <p:sp>
        <p:nvSpPr>
          <p:cNvPr id="332" name="Google Shape;332;p4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Ciencia de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Teoría de la Computabilidad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Lenguajes y Compiladores 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Criptografía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Teoría Algorítmica de Juegos (autochivo?)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Redes Complejas (autochivo never ends)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Teoría de la Información</a:t>
            </a:r>
            <a:endParaRPr/>
          </a:p>
        </p:txBody>
      </p:sp>
      <p:sp>
        <p:nvSpPr>
          <p:cNvPr id="338" name="Google Shape;338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le sigue a Teoría de Algoritmos?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Encuesta!</a:t>
            </a:r>
            <a:endParaRPr/>
          </a:p>
        </p:txBody>
      </p:sp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